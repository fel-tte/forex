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9" r:id="rId6"/>
    <p:sldId id="270" r:id="rId7"/>
    <p:sldId id="271" r:id="rId8"/>
    <p:sldId id="258" r:id="rId9"/>
    <p:sldId id="259" r:id="rId10"/>
    <p:sldId id="260" r:id="rId11"/>
    <p:sldId id="261" r:id="rId12"/>
    <p:sldId id="262" r:id="rId13"/>
    <p:sldId id="263" r:id="rId14"/>
    <p:sldId id="265" r:id="rId15"/>
    <p:sldId id="264" r:id="rId16"/>
    <p:sldId id="266" r:id="rId17"/>
    <p:sldId id="267" r:id="rId18"/>
    <p:sldId id="284" r:id="rId19"/>
    <p:sldId id="272" r:id="rId20"/>
    <p:sldId id="268"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4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4" name="Google Shape;104;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9" name="Google Shape;10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5" name="Google Shape;115;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9"/>
        <p:cNvGrpSpPr/>
        <p:nvPr/>
      </p:nvGrpSpPr>
      <p:grpSpPr>
        <a:xfrm>
          <a:off x="0" y="0"/>
          <a:ext cx="0" cy="0"/>
          <a:chOff x="0" y="0"/>
          <a:chExt cx="0" cy="0"/>
        </a:xfrm>
      </p:grpSpPr>
      <p:sp>
        <p:nvSpPr>
          <p:cNvPr id="120" name="Google Shape;12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1" name="Google Shape;121;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5"/>
        <p:cNvGrpSpPr/>
        <p:nvPr/>
      </p:nvGrpSpPr>
      <p:grpSpPr>
        <a:xfrm>
          <a:off x="0" y="0"/>
          <a:ext cx="0" cy="0"/>
          <a:chOff x="0" y="0"/>
          <a:chExt cx="0" cy="0"/>
        </a:xfrm>
      </p:grpSpPr>
      <p:sp>
        <p:nvSpPr>
          <p:cNvPr id="126" name="Google Shape;12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9" name="Google Shape;139;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3" name="Google Shape;133;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5" name="Google Shape;145;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2" name="Google Shape;152;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2" name="Google Shape;152;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2" name="Google Shape;152;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7"/>
        <p:cNvGrpSpPr/>
        <p:nvPr/>
      </p:nvGrpSpPr>
      <p:grpSpPr>
        <a:xfrm>
          <a:off x="0" y="0"/>
          <a:ext cx="0" cy="0"/>
          <a:chOff x="0" y="0"/>
          <a:chExt cx="0" cy="0"/>
        </a:xfrm>
      </p:grpSpPr>
      <p:sp>
        <p:nvSpPr>
          <p:cNvPr id="158" name="Google Shape;158;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9" name="Google Shape;159;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hyperlink" Target="https://drive.google.com/file/d/1t89PvnPdzJVz6W6Hgr0Mef0JiabhbIfz/view?usp=drive_link" TargetMode="External"/><Relationship Id="rId2" Type="http://schemas.openxmlformats.org/officeDocument/2006/relationships/hyperlink" Target="https://drive.google.com/file/d/1t3DWGKh7r8dTJh7RhOyMkXl574C1tceg/view?usp=drive_link" TargetMode="Externa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1" i="1" u="none" strike="noStrike" cap="none">
                <a:solidFill>
                  <a:srgbClr val="FF0000"/>
                </a:solidFill>
                <a:latin typeface="Arial" panose="020B0604020202020204"/>
                <a:ea typeface="Arial" panose="020B0604020202020204"/>
                <a:cs typeface="Arial" panose="020B0604020202020204"/>
                <a:sym typeface="Arial" panose="020B0604020202020204"/>
              </a:rPr>
              <a:t>Chủ đề: Cách thiết kế Auto Trade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2800" b="1" i="1"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482536" y="4841005"/>
            <a:ext cx="3402846"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a:solidFill>
                  <a:schemeClr val="dk1"/>
                </a:solidFill>
                <a:latin typeface="Arial" panose="020B0604020202020204"/>
                <a:ea typeface="Arial" panose="020B0604020202020204"/>
                <a:cs typeface="Arial" panose="020B0604020202020204"/>
                <a:sym typeface="Arial" panose="020B0604020202020204"/>
              </a:rPr>
              <a:t>GV.Đặng Trí Thanh</a:t>
            </a:r>
            <a:endParaRPr lang="vi-VN" sz="2800" b="0" i="1"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305"/>
            <a:ext cx="8545195" cy="45910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Đặt</a:t>
            </a: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1"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câu</a:t>
            </a: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a:t>
            </a:r>
            <a:r>
              <a:rPr kumimoji="0" lang="en-US" sz="2400" b="1"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hỏi</a:t>
            </a: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1: </a:t>
            </a:r>
            <a:r>
              <a:rPr kumimoji="0" lang="en-US" sz="2400" b="1"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Trên</a:t>
            </a:r>
            <a:r>
              <a:rPr kumimoji="0" lang="en-US" sz="2400" b="1" i="0" u="none" strike="noStrike" kern="0" cap="none" spc="0" normalizeH="0" baseline="0" noProof="0" dirty="0" smtClean="0">
                <a:ln>
                  <a:noFill/>
                </a:ln>
                <a:solidFill>
                  <a:srgbClr val="FFFFFF"/>
                </a:solidFill>
                <a:effectLst/>
                <a:uLnTx/>
                <a:uFillTx/>
                <a:latin typeface="Arial" panose="020B0604020202020204"/>
                <a:cs typeface="Arial" panose="020B0604020202020204"/>
                <a:sym typeface="Arial" panose="020B0604020202020204"/>
              </a:rPr>
              <a:t> Crypto </a:t>
            </a:r>
            <a:r>
              <a:rPr kumimoji="0" lang="en-US" sz="2400" b="1" i="0" u="none" strike="noStrike" kern="0" cap="none" spc="0" normalizeH="0" baseline="0" noProof="0" dirty="0" err="1" smtClean="0">
                <a:ln>
                  <a:noFill/>
                </a:ln>
                <a:solidFill>
                  <a:srgbClr val="FFFFFF"/>
                </a:solidFill>
                <a:effectLst/>
                <a:uLnTx/>
                <a:uFillTx/>
                <a:latin typeface="Arial" panose="020B0604020202020204"/>
                <a:cs typeface="Arial" panose="020B0604020202020204"/>
                <a:sym typeface="Arial" panose="020B0604020202020204"/>
              </a:rPr>
              <a:t>Binance, Bitget, BingX</a:t>
            </a:r>
            <a:endParaRPr kumimoji="0" sz="2400" b="1" i="0" u="none" strike="noStrike" kern="0" cap="none" spc="0" normalizeH="0" baseline="0" noProof="0" dirty="0">
              <a:ln>
                <a:noFill/>
              </a:ln>
              <a:solidFill>
                <a:srgbClr val="FFFFFF"/>
              </a:solidFill>
              <a:effectLst/>
              <a:uLnTx/>
              <a:uFillTx/>
              <a:latin typeface="Arial" panose="020B0604020202020204"/>
              <a:cs typeface="Arial" panose="020B0604020202020204"/>
              <a:sym typeface="Arial" panose="020B0604020202020204"/>
            </a:endParaRPr>
          </a:p>
        </p:txBody>
      </p:sp>
      <p:sp>
        <p:nvSpPr>
          <p:cNvPr id="101"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Chúng</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ta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có</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như</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sau</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smtClean="0">
                <a:ln>
                  <a:noFill/>
                </a:ln>
                <a:solidFill>
                  <a:srgbClr val="FF0000"/>
                </a:solidFill>
                <a:effectLst/>
                <a:uLnTx/>
                <a:uFillTx/>
                <a:latin typeface="Arial" panose="020B0604020202020204"/>
                <a:ea typeface="Arial" panose="020B0604020202020204"/>
                <a:cs typeface="Arial" panose="020B0604020202020204"/>
                <a:sym typeface="Arial" panose="020B0604020202020204"/>
              </a:rPr>
              <a:t>ML, Momentum, RSI</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hoặc</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smtClean="0">
                <a:ln>
                  <a:noFill/>
                </a:ln>
                <a:solidFill>
                  <a:srgbClr val="FF0000"/>
                </a:solidFill>
                <a:effectLst/>
                <a:uLnTx/>
                <a:uFillTx/>
                <a:latin typeface="Arial" panose="020B0604020202020204"/>
                <a:ea typeface="Arial" panose="020B0604020202020204"/>
                <a:cs typeface="Arial" panose="020B0604020202020204"/>
                <a:sym typeface="Arial" panose="020B0604020202020204"/>
              </a:rPr>
              <a:t>MA, ATR</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a:t>
            </a:r>
            <a:endPar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làm</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sao</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thực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thi</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ML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này</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tự</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động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pic>
        <p:nvPicPr>
          <p:cNvPr id="5" name="Picture 4"/>
          <p:cNvPicPr>
            <a:picLocks noChangeAspect="1"/>
          </p:cNvPicPr>
          <p:nvPr/>
        </p:nvPicPr>
        <p:blipFill>
          <a:blip r:embed="rId2"/>
          <a:stretch>
            <a:fillRect/>
          </a:stretch>
        </p:blipFill>
        <p:spPr>
          <a:xfrm>
            <a:off x="574099" y="2352242"/>
            <a:ext cx="3499137" cy="1745619"/>
          </a:xfrm>
          <a:prstGeom prst="rect">
            <a:avLst/>
          </a:prstGeom>
        </p:spPr>
      </p:pic>
      <p:pic>
        <p:nvPicPr>
          <p:cNvPr id="6" name="Picture 5"/>
          <p:cNvPicPr>
            <a:picLocks noChangeAspect="1"/>
          </p:cNvPicPr>
          <p:nvPr/>
        </p:nvPicPr>
        <p:blipFill>
          <a:blip r:embed="rId3"/>
          <a:stretch>
            <a:fillRect/>
          </a:stretch>
        </p:blipFill>
        <p:spPr>
          <a:xfrm>
            <a:off x="4806093" y="2287997"/>
            <a:ext cx="3765254" cy="1874108"/>
          </a:xfrm>
          <a:prstGeom prst="rect">
            <a:avLst/>
          </a:prstGeom>
        </p:spPr>
      </p:pic>
      <p:pic>
        <p:nvPicPr>
          <p:cNvPr id="7" name="Picture 6"/>
          <p:cNvPicPr>
            <a:picLocks noChangeAspect="1"/>
          </p:cNvPicPr>
          <p:nvPr/>
        </p:nvPicPr>
        <p:blipFill>
          <a:blip r:embed="rId4"/>
          <a:stretch>
            <a:fillRect/>
          </a:stretch>
        </p:blipFill>
        <p:spPr>
          <a:xfrm>
            <a:off x="574099" y="4171373"/>
            <a:ext cx="3981450" cy="1914525"/>
          </a:xfrm>
          <a:prstGeom prst="rect">
            <a:avLst/>
          </a:prstGeom>
        </p:spPr>
      </p:pic>
      <p:pic>
        <p:nvPicPr>
          <p:cNvPr id="8" name="Picture 7"/>
          <p:cNvPicPr>
            <a:picLocks noChangeAspect="1"/>
          </p:cNvPicPr>
          <p:nvPr/>
        </p:nvPicPr>
        <p:blipFill>
          <a:blip r:embed="rId5"/>
          <a:stretch>
            <a:fillRect/>
          </a:stretch>
        </p:blipFill>
        <p:spPr>
          <a:xfrm>
            <a:off x="4806093" y="4287119"/>
            <a:ext cx="4337907" cy="204015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kumimoji="0" lang="en-US" sz="2400" b="1" i="0" u="none" strike="noStrike" kern="0" cap="none" spc="0" normalizeH="0" baseline="0" noProof="0" dirty="0" err="1" smtClean="0">
                <a:ln>
                  <a:noFill/>
                </a:ln>
                <a:solidFill>
                  <a:srgbClr val="FFFFFF"/>
                </a:solidFill>
                <a:effectLst/>
                <a:uLnTx/>
                <a:uFillTx/>
                <a:latin typeface="Arial (body)"/>
                <a:cs typeface="Arial" panose="020B0604020202020204"/>
                <a:sym typeface="Arial" panose="020B0604020202020204"/>
              </a:rPr>
              <a:t>Đặt</a:t>
            </a:r>
            <a:r>
              <a:rPr kumimoji="0" lang="en-US" sz="2400" b="1" i="0" u="none" strike="noStrike" kern="0" cap="none" spc="0" normalizeH="0" baseline="0" noProof="0" dirty="0" smtClean="0">
                <a:ln>
                  <a:noFill/>
                </a:ln>
                <a:solidFill>
                  <a:srgbClr val="FFFFFF"/>
                </a:solidFill>
                <a:effectLst/>
                <a:uLnTx/>
                <a:uFillTx/>
                <a:latin typeface="Arial (body)"/>
                <a:cs typeface="Arial" panose="020B0604020202020204"/>
                <a:sym typeface="Arial" panose="020B0604020202020204"/>
              </a:rPr>
              <a:t> </a:t>
            </a:r>
            <a:r>
              <a:rPr kumimoji="0" lang="en-US" sz="2400" b="1" i="0" u="none" strike="noStrike" kern="0" cap="none" spc="0" normalizeH="0" baseline="0" noProof="0" dirty="0" err="1" smtClean="0">
                <a:ln>
                  <a:noFill/>
                </a:ln>
                <a:solidFill>
                  <a:srgbClr val="FFFFFF"/>
                </a:solidFill>
                <a:effectLst/>
                <a:uLnTx/>
                <a:uFillTx/>
                <a:latin typeface="Arial (body)"/>
                <a:cs typeface="Arial" panose="020B0604020202020204"/>
                <a:sym typeface="Arial" panose="020B0604020202020204"/>
              </a:rPr>
              <a:t>câu</a:t>
            </a:r>
            <a:r>
              <a:rPr kumimoji="0" lang="en-US" sz="2400" b="1" i="0" u="none" strike="noStrike" kern="0" cap="none" spc="0" normalizeH="0" baseline="0" noProof="0" dirty="0" smtClean="0">
                <a:ln>
                  <a:noFill/>
                </a:ln>
                <a:solidFill>
                  <a:srgbClr val="FFFFFF"/>
                </a:solidFill>
                <a:effectLst/>
                <a:uLnTx/>
                <a:uFillTx/>
                <a:latin typeface="Arial (body)"/>
                <a:cs typeface="Arial" panose="020B0604020202020204"/>
                <a:sym typeface="Arial" panose="020B0604020202020204"/>
              </a:rPr>
              <a:t> </a:t>
            </a:r>
            <a:r>
              <a:rPr kumimoji="0" lang="en-US" sz="2400" b="1" i="0" u="none" strike="noStrike" kern="0" cap="none" spc="0" normalizeH="0" baseline="0" noProof="0" dirty="0" err="1" smtClean="0">
                <a:ln>
                  <a:noFill/>
                </a:ln>
                <a:solidFill>
                  <a:srgbClr val="FFFFFF"/>
                </a:solidFill>
                <a:effectLst/>
                <a:uLnTx/>
                <a:uFillTx/>
                <a:latin typeface="Arial (body)"/>
                <a:cs typeface="Arial" panose="020B0604020202020204"/>
                <a:sym typeface="Arial" panose="020B0604020202020204"/>
              </a:rPr>
              <a:t>hỏi</a:t>
            </a:r>
            <a:r>
              <a:rPr kumimoji="0" lang="en-US" sz="2400" b="1" i="0" u="none" strike="noStrike" kern="0" cap="none" spc="0" normalizeH="0" baseline="0" noProof="0" dirty="0" smtClean="0">
                <a:ln>
                  <a:noFill/>
                </a:ln>
                <a:solidFill>
                  <a:srgbClr val="FFFFFF"/>
                </a:solidFill>
                <a:effectLst/>
                <a:uLnTx/>
                <a:uFillTx/>
                <a:latin typeface="Arial (body)"/>
                <a:cs typeface="Arial" panose="020B0604020202020204"/>
                <a:sym typeface="Arial" panose="020B0604020202020204"/>
              </a:rPr>
              <a:t> 2, 3: </a:t>
            </a:r>
            <a:r>
              <a:rPr kumimoji="0" lang="en-US" sz="2400" b="1" i="0" u="none" strike="noStrike" kern="0" cap="none" spc="0" normalizeH="0" baseline="0" noProof="0" dirty="0" err="1" smtClean="0">
                <a:ln>
                  <a:noFill/>
                </a:ln>
                <a:solidFill>
                  <a:srgbClr val="FFFFFF"/>
                </a:solidFill>
                <a:effectLst/>
                <a:uLnTx/>
                <a:uFillTx/>
                <a:latin typeface="Arial (body)"/>
                <a:cs typeface="Arial" panose="020B0604020202020204"/>
                <a:sym typeface="Arial" panose="020B0604020202020204"/>
              </a:rPr>
              <a:t>Trên</a:t>
            </a:r>
            <a:r>
              <a:rPr kumimoji="0" lang="en-US" sz="2400" b="1" i="0" u="none" strike="noStrike" kern="0" cap="none" spc="0" normalizeH="0" baseline="0" noProof="0" dirty="0" smtClean="0">
                <a:ln>
                  <a:noFill/>
                </a:ln>
                <a:solidFill>
                  <a:srgbClr val="FFFFFF"/>
                </a:solidFill>
                <a:effectLst/>
                <a:uLnTx/>
                <a:uFillTx/>
                <a:latin typeface="Arial (body)"/>
                <a:cs typeface="Arial" panose="020B0604020202020204"/>
                <a:sym typeface="Arial" panose="020B0604020202020204"/>
              </a:rPr>
              <a:t> </a:t>
            </a:r>
            <a:r>
              <a:rPr kumimoji="0" lang="en-US" sz="2400" b="1" i="0" u="none" strike="noStrike" kern="0" cap="none" spc="0" normalizeH="0" baseline="0" noProof="0" dirty="0" err="1" smtClean="0">
                <a:ln>
                  <a:noFill/>
                </a:ln>
                <a:solidFill>
                  <a:srgbClr val="FFFFFF"/>
                </a:solidFill>
                <a:effectLst/>
                <a:uLnTx/>
                <a:uFillTx/>
                <a:latin typeface="Arial (body)"/>
                <a:cs typeface="Arial" panose="020B0604020202020204"/>
                <a:sym typeface="Arial" panose="020B0604020202020204"/>
              </a:rPr>
              <a:t>Chứng</a:t>
            </a:r>
            <a:r>
              <a:rPr kumimoji="0" lang="en-US" sz="2400" b="1" i="0" u="none" strike="noStrike" kern="0" cap="none" spc="0" normalizeH="0" baseline="0" noProof="0" dirty="0" smtClean="0">
                <a:ln>
                  <a:noFill/>
                </a:ln>
                <a:solidFill>
                  <a:srgbClr val="FFFFFF"/>
                </a:solidFill>
                <a:effectLst/>
                <a:uLnTx/>
                <a:uFillTx/>
                <a:latin typeface="Arial (body)"/>
                <a:cs typeface="Arial" panose="020B0604020202020204"/>
                <a:sym typeface="Arial" panose="020B0604020202020204"/>
              </a:rPr>
              <a:t> </a:t>
            </a:r>
            <a:r>
              <a:rPr kumimoji="0" lang="en-US" sz="2400" b="1" i="0" u="none" strike="noStrike" kern="0" cap="none" spc="0" normalizeH="0" baseline="0" noProof="0" dirty="0" err="1" smtClean="0">
                <a:ln>
                  <a:noFill/>
                </a:ln>
                <a:solidFill>
                  <a:srgbClr val="FFFFFF"/>
                </a:solidFill>
                <a:effectLst/>
                <a:uLnTx/>
                <a:uFillTx/>
                <a:latin typeface="Arial (body)"/>
                <a:cs typeface="Arial" panose="020B0604020202020204"/>
                <a:sym typeface="Arial" panose="020B0604020202020204"/>
              </a:rPr>
              <a:t>khoán</a:t>
            </a:r>
            <a:r>
              <a:rPr kumimoji="0" lang="en-US" sz="2400" b="1" i="0" u="none" strike="noStrike" kern="0" cap="none" spc="0" normalizeH="0" baseline="0" noProof="0" dirty="0">
                <a:ln>
                  <a:noFill/>
                </a:ln>
                <a:solidFill>
                  <a:srgbClr val="FFFFFF"/>
                </a:solidFill>
                <a:effectLst/>
                <a:uLnTx/>
                <a:uFillTx/>
                <a:latin typeface="Arial (body)"/>
                <a:cs typeface="Arial" panose="020B0604020202020204"/>
                <a:sym typeface="Arial" panose="020B0604020202020204"/>
              </a:rPr>
              <a:t> </a:t>
            </a:r>
            <a:r>
              <a:rPr kumimoji="0" lang="en-US" sz="2400" b="1" i="0" u="none" strike="noStrike" kern="0" cap="none" spc="0" normalizeH="0" baseline="0" noProof="0" dirty="0" err="1" smtClean="0">
                <a:ln>
                  <a:noFill/>
                </a:ln>
                <a:solidFill>
                  <a:srgbClr val="FFFFFF"/>
                </a:solidFill>
                <a:effectLst/>
                <a:uLnTx/>
                <a:uFillTx/>
                <a:latin typeface="Arial (body)"/>
                <a:cs typeface="Arial" panose="020B0604020202020204"/>
                <a:sym typeface="Arial" panose="020B0604020202020204"/>
              </a:rPr>
              <a:t>và</a:t>
            </a:r>
            <a:r>
              <a:rPr kumimoji="0" lang="en-US" sz="2400" b="1" i="0" u="none" strike="noStrike" kern="0" cap="none" spc="0" normalizeH="0" baseline="0" noProof="0" dirty="0" smtClean="0">
                <a:ln>
                  <a:noFill/>
                </a:ln>
                <a:solidFill>
                  <a:srgbClr val="FFFFFF"/>
                </a:solidFill>
                <a:effectLst/>
                <a:uLnTx/>
                <a:uFillTx/>
                <a:latin typeface="Arial (body)"/>
                <a:cs typeface="Arial" panose="020B0604020202020204"/>
                <a:sym typeface="Arial" panose="020B0604020202020204"/>
              </a:rPr>
              <a:t> Forex</a:t>
            </a:r>
            <a:endParaRPr kumimoji="0" sz="2400" b="1" i="0" u="none" strike="noStrike" kern="0" cap="none" spc="0" normalizeH="0" baseline="0" noProof="0" dirty="0">
              <a:ln>
                <a:noFill/>
              </a:ln>
              <a:solidFill>
                <a:srgbClr val="FFFFFF"/>
              </a:solidFill>
              <a:effectLst/>
              <a:uLnTx/>
              <a:uFillTx/>
              <a:latin typeface="Arial (body)"/>
              <a:cs typeface="Arial" panose="020B0604020202020204"/>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Chúng</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ta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có</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như</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sau</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smtClean="0">
                <a:ln>
                  <a:noFill/>
                </a:ln>
                <a:solidFill>
                  <a:srgbClr val="FF0000"/>
                </a:solidFill>
                <a:effectLst/>
                <a:uLnTx/>
                <a:uFillTx/>
                <a:latin typeface="Arial" panose="020B0604020202020204"/>
                <a:ea typeface="Arial" panose="020B0604020202020204"/>
                <a:cs typeface="Arial" panose="020B0604020202020204"/>
                <a:sym typeface="Arial" panose="020B0604020202020204"/>
              </a:rPr>
              <a:t>ML, Momentum, RSI</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hoặc</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chiến</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err="1"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lược</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 </a:t>
            </a:r>
            <a:r>
              <a:rPr kumimoji="0" lang="en-US" sz="1800" b="1" i="0" u="none" strike="noStrike" kern="0" cap="none" spc="0" normalizeH="0" baseline="0" noProof="0" dirty="0" smtClean="0">
                <a:ln>
                  <a:noFill/>
                </a:ln>
                <a:solidFill>
                  <a:srgbClr val="FF0000"/>
                </a:solidFill>
                <a:effectLst/>
                <a:uLnTx/>
                <a:uFillTx/>
                <a:latin typeface="Arial" panose="020B0604020202020204"/>
                <a:ea typeface="Arial" panose="020B0604020202020204"/>
                <a:cs typeface="Arial" panose="020B0604020202020204"/>
                <a:sym typeface="Arial" panose="020B0604020202020204"/>
              </a:rPr>
              <a:t>Bollinger Bands, RSI</a:t>
            </a:r>
            <a:r>
              <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rPr>
              <a:t>…</a:t>
            </a:r>
            <a:endParaRPr kumimoji="0" lang="en-US" sz="1800" b="1" i="0" u="none" strike="noStrike" kern="0" cap="none" spc="0" normalizeH="0" baseline="0" noProof="0" dirty="0" smtClean="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để</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làm</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sao</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thực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thi</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chiến</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lược</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ML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này</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tự</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baseline="0" noProof="0" dirty="0" err="1">
                <a:ln>
                  <a:noFill/>
                </a:ln>
                <a:solidFill>
                  <a:srgbClr val="000000"/>
                </a:solidFill>
                <a:effectLst/>
                <a:uLnTx/>
                <a:uFillTx/>
                <a:latin typeface="Arial" panose="020B0604020202020204"/>
                <a:cs typeface="Arial" panose="020B0604020202020204"/>
                <a:sym typeface="Arial" panose="020B0604020202020204"/>
              </a:rPr>
              <a:t>động</a:t>
            </a:r>
            <a:r>
              <a:rPr kumimoji="0" lang="en-US" sz="1800" b="1"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rPr>
              <a:t>?</a:t>
            </a: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689986" y="2482406"/>
            <a:ext cx="3438669" cy="1697916"/>
          </a:xfrm>
          <a:prstGeom prst="rect">
            <a:avLst/>
          </a:prstGeom>
        </p:spPr>
      </p:pic>
      <p:pic>
        <p:nvPicPr>
          <p:cNvPr id="5" name="Picture 4"/>
          <p:cNvPicPr>
            <a:picLocks noChangeAspect="1"/>
          </p:cNvPicPr>
          <p:nvPr/>
        </p:nvPicPr>
        <p:blipFill>
          <a:blip r:embed="rId3"/>
          <a:stretch>
            <a:fillRect/>
          </a:stretch>
        </p:blipFill>
        <p:spPr>
          <a:xfrm>
            <a:off x="4878280" y="2421181"/>
            <a:ext cx="3831695" cy="1895959"/>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799" y="154525"/>
            <a:ext cx="8839201" cy="4616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panose="020B0604020202020204"/>
              <a:buNone/>
              <a:defRPr/>
            </a:pPr>
            <a:r>
              <a:rPr lang="en-US" sz="2400" b="1" dirty="0" err="1" smtClean="0">
                <a:solidFill>
                  <a:srgbClr val="FFFFFF"/>
                </a:solidFill>
                <a:latin typeface="Arial (body)"/>
              </a:rPr>
              <a:t>Thiết</a:t>
            </a:r>
            <a:r>
              <a:rPr lang="en-US" sz="2400" b="1" dirty="0" smtClean="0">
                <a:solidFill>
                  <a:srgbClr val="FFFFFF"/>
                </a:solidFill>
                <a:latin typeface="Arial (body)"/>
              </a:rPr>
              <a:t> </a:t>
            </a:r>
            <a:r>
              <a:rPr lang="en-US" sz="2400" b="1" dirty="0" err="1" smtClean="0">
                <a:solidFill>
                  <a:srgbClr val="FFFFFF"/>
                </a:solidFill>
                <a:latin typeface="Arial (body)"/>
              </a:rPr>
              <a:t>kế</a:t>
            </a:r>
            <a:r>
              <a:rPr lang="en-US" sz="2400" b="1" dirty="0" smtClean="0">
                <a:solidFill>
                  <a:srgbClr val="FFFFFF"/>
                </a:solidFill>
                <a:latin typeface="Arial (body)"/>
              </a:rPr>
              <a:t> </a:t>
            </a:r>
            <a:r>
              <a:rPr lang="en-US" sz="2400" b="1" dirty="0" err="1" smtClean="0">
                <a:solidFill>
                  <a:srgbClr val="FFFFFF"/>
                </a:solidFill>
                <a:latin typeface="Arial (body)"/>
              </a:rPr>
              <a:t>Autotrade</a:t>
            </a:r>
            <a:r>
              <a:rPr lang="en-US" sz="2400" b="1" dirty="0" smtClean="0">
                <a:solidFill>
                  <a:srgbClr val="FFFFFF"/>
                </a:solidFill>
                <a:latin typeface="Arial (body)"/>
              </a:rPr>
              <a:t> </a:t>
            </a:r>
            <a:r>
              <a:rPr lang="en-US" sz="2400" b="1" dirty="0" err="1" smtClean="0">
                <a:solidFill>
                  <a:srgbClr val="FFFFFF"/>
                </a:solidFill>
                <a:latin typeface="Arial (body)"/>
              </a:rPr>
              <a:t>cho</a:t>
            </a:r>
            <a:r>
              <a:rPr lang="en-US" sz="2400" b="1" dirty="0" smtClean="0">
                <a:solidFill>
                  <a:srgbClr val="FFFFFF"/>
                </a:solidFill>
                <a:latin typeface="Arial (body)"/>
              </a:rPr>
              <a:t> </a:t>
            </a:r>
            <a:r>
              <a:rPr lang="en-US" sz="2400" b="1" dirty="0" err="1" smtClean="0">
                <a:solidFill>
                  <a:srgbClr val="FFFFFF"/>
                </a:solidFill>
                <a:latin typeface="Arial (body)"/>
              </a:rPr>
              <a:t>các</a:t>
            </a:r>
            <a:r>
              <a:rPr lang="en-US" sz="2400" b="1" dirty="0" smtClean="0">
                <a:solidFill>
                  <a:srgbClr val="FFFFFF"/>
                </a:solidFill>
                <a:latin typeface="Arial (body)"/>
              </a:rPr>
              <a:t> </a:t>
            </a:r>
            <a:r>
              <a:rPr lang="en-US" sz="2400" b="1" dirty="0" err="1" smtClean="0">
                <a:solidFill>
                  <a:srgbClr val="FFFFFF"/>
                </a:solidFill>
                <a:latin typeface="Arial (body)"/>
              </a:rPr>
              <a:t>chiến</a:t>
            </a:r>
            <a:r>
              <a:rPr lang="en-US" sz="2400" b="1" dirty="0" smtClean="0">
                <a:solidFill>
                  <a:srgbClr val="FFFFFF"/>
                </a:solidFill>
                <a:latin typeface="Arial (body)"/>
              </a:rPr>
              <a:t> </a:t>
            </a:r>
            <a:r>
              <a:rPr lang="en-US" sz="2400" b="1" dirty="0" err="1" smtClean="0">
                <a:solidFill>
                  <a:srgbClr val="FFFFFF"/>
                </a:solidFill>
                <a:latin typeface="Arial (body)"/>
              </a:rPr>
              <a:t>lược</a:t>
            </a:r>
            <a:r>
              <a:rPr lang="en-US" sz="2400" b="1" dirty="0" smtClean="0">
                <a:solidFill>
                  <a:srgbClr val="FFFFFF"/>
                </a:solidFill>
                <a:latin typeface="Arial (body)"/>
              </a:rPr>
              <a:t> ở </a:t>
            </a:r>
            <a:r>
              <a:rPr lang="en-US" sz="2400" b="1" dirty="0" err="1" smtClean="0">
                <a:solidFill>
                  <a:srgbClr val="FFFFFF"/>
                </a:solidFill>
                <a:latin typeface="Arial (body)"/>
              </a:rPr>
              <a:t>điểm</a:t>
            </a:r>
            <a:r>
              <a:rPr lang="en-US" sz="2400" b="1" dirty="0" smtClean="0">
                <a:solidFill>
                  <a:srgbClr val="FFFFFF"/>
                </a:solidFill>
                <a:latin typeface="Arial (body)"/>
              </a:rPr>
              <a:t> </a:t>
            </a:r>
            <a:r>
              <a:rPr lang="en-US" sz="2400" b="1" dirty="0" err="1" smtClean="0">
                <a:solidFill>
                  <a:srgbClr val="FFFFFF"/>
                </a:solidFill>
                <a:latin typeface="Arial (body)"/>
              </a:rPr>
              <a:t>nào</a:t>
            </a:r>
            <a:r>
              <a:rPr lang="en-US" sz="2400" b="1" dirty="0" smtClean="0">
                <a:solidFill>
                  <a:srgbClr val="FFFFFF"/>
                </a:solidFill>
                <a:latin typeface="Arial (body)"/>
              </a:rPr>
              <a:t>?</a:t>
            </a:r>
            <a:endParaRPr kumimoji="0" sz="2400" b="1" i="0" u="none" strike="noStrike" kern="0" cap="none" spc="0" normalizeH="0" baseline="0" noProof="0" dirty="0">
              <a:ln>
                <a:noFill/>
              </a:ln>
              <a:solidFill>
                <a:srgbClr val="FFFFFF"/>
              </a:solidFill>
              <a:effectLst/>
              <a:uLnTx/>
              <a:uFillTx/>
              <a:latin typeface="Arial (body)"/>
              <a:cs typeface="Arial" panose="020B0604020202020204"/>
              <a:sym typeface="Arial" panose="020B0604020202020204"/>
            </a:endParaRPr>
          </a:p>
        </p:txBody>
      </p:sp>
      <p:sp>
        <p:nvSpPr>
          <p:cNvPr id="101" name="Google Shape;101;p3"/>
          <p:cNvSpPr txBox="1"/>
          <p:nvPr/>
        </p:nvSpPr>
        <p:spPr>
          <a:xfrm>
            <a:off x="341744" y="773540"/>
            <a:ext cx="8469745" cy="5243801"/>
          </a:xfrm>
          <a:prstGeom prst="rect">
            <a:avLst/>
          </a:prstGeom>
          <a:noFill/>
          <a:ln>
            <a:noFill/>
          </a:ln>
        </p:spPr>
        <p:txBody>
          <a:bodyPr spcFirstLastPara="1" wrap="square" lIns="91425" tIns="91425" rIns="91425" bIns="91425" anchor="t" anchorCtr="0">
            <a:noAutofit/>
          </a:bodyPr>
          <a:lstStyle/>
          <a:p>
            <a:pPr marL="0" marR="0" lvl="0" indent="0" algn="just" defTabSz="914400" rtl="0" eaLnBrk="1" fontAlgn="base" latinLnBrk="0" hangingPunct="1">
              <a:lnSpc>
                <a:spcPct val="100000"/>
              </a:lnSpc>
              <a:spcBef>
                <a:spcPts val="0"/>
              </a:spcBef>
              <a:spcAft>
                <a:spcPts val="0"/>
              </a:spcAft>
              <a:buClr>
                <a:srgbClr val="000000"/>
              </a:buClr>
              <a:buSzTx/>
              <a:buFont typeface="Arial" panose="020B0604020202020204"/>
              <a:buNone/>
              <a:defRPr/>
            </a:pPr>
            <a:endParaRPr kumimoji="0" lang="vi-VN" sz="2400" b="1" i="0" u="none" strike="noStrike" kern="0" cap="none" spc="0" normalizeH="0" baseline="0" noProof="0" dirty="0">
              <a:ln>
                <a:noFill/>
              </a:ln>
              <a:solidFill>
                <a:srgbClr val="2B2F33"/>
              </a:solidFill>
              <a:effectLst/>
              <a:uLnTx/>
              <a:uFillTx/>
              <a:latin typeface="Open Sans" panose="020B0606030504020204" pitchFamily="34" charset="0"/>
              <a:cs typeface="Arial" panose="020B0604020202020204"/>
              <a:sym typeface="Arial" panose="020B0604020202020204"/>
            </a:endParaRPr>
          </a:p>
        </p:txBody>
      </p:sp>
      <p:sp>
        <p:nvSpPr>
          <p:cNvPr id="4" name="Google Shape;101;p3"/>
          <p:cNvSpPr txBox="1"/>
          <p:nvPr/>
        </p:nvSpPr>
        <p:spPr>
          <a:xfrm>
            <a:off x="424875" y="692425"/>
            <a:ext cx="8285100" cy="3467400"/>
          </a:xfrm>
          <a:prstGeom prst="rect">
            <a:avLst/>
          </a:prstGeom>
          <a:noFill/>
          <a:ln>
            <a:noFill/>
          </a:ln>
        </p:spPr>
        <p:txBody>
          <a:bodyPr spcFirstLastPara="1" wrap="square" lIns="91425" tIns="91425" rIns="91425" bIns="91425" anchor="t" anchorCtr="0">
            <a:noAutofit/>
          </a:bodyPr>
          <a:lstStyle/>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Chúng</a:t>
            </a:r>
            <a:r>
              <a:rPr kumimoji="0" lang="en-US" sz="1800" b="1" i="0" u="none" strike="noStrike" kern="0" cap="none" spc="0" normalizeH="0" baseline="0" noProof="0" dirty="0" smtClean="0">
                <a:ln>
                  <a:noFill/>
                </a:ln>
                <a:solidFill>
                  <a:srgbClr val="000000"/>
                </a:solidFill>
                <a:effectLst/>
                <a:uLnTx/>
                <a:uFillTx/>
                <a:latin typeface="Arial" panose="020B0604020202020204"/>
                <a:cs typeface="Arial" panose="020B0604020202020204"/>
                <a:sym typeface="Arial" panose="020B0604020202020204"/>
              </a:rPr>
              <a:t> ta </a:t>
            </a:r>
            <a:r>
              <a:rPr kumimoji="0" lang="en-US" sz="1800" b="1" i="0" u="none" strike="noStrike" kern="0" cap="none" spc="0" normalizeH="0" baseline="0" noProof="0" dirty="0" err="1" smtClean="0">
                <a:ln>
                  <a:noFill/>
                </a:ln>
                <a:solidFill>
                  <a:srgbClr val="000000"/>
                </a:solidFill>
                <a:effectLst/>
                <a:uLnTx/>
                <a:uFillTx/>
                <a:latin typeface="Arial" panose="020B0604020202020204"/>
                <a:cs typeface="Arial" panose="020B0604020202020204"/>
                <a:sym typeface="Arial" panose="020B0604020202020204"/>
              </a:rPr>
              <a:t>thiết</a:t>
            </a:r>
            <a:r>
              <a:rPr kumimoji="0" lang="en-US" sz="1800" b="1" i="0" u="none" strike="noStrike" kern="0" cap="none" spc="0" normalizeH="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noProof="0" dirty="0" err="1" smtClean="0">
                <a:ln>
                  <a:noFill/>
                </a:ln>
                <a:solidFill>
                  <a:srgbClr val="000000"/>
                </a:solidFill>
                <a:effectLst/>
                <a:uLnTx/>
                <a:uFillTx/>
                <a:latin typeface="Arial" panose="020B0604020202020204"/>
                <a:cs typeface="Arial" panose="020B0604020202020204"/>
                <a:sym typeface="Arial" panose="020B0604020202020204"/>
              </a:rPr>
              <a:t>kế</a:t>
            </a:r>
            <a:r>
              <a:rPr kumimoji="0" lang="en-US" sz="1800" b="1" i="0" u="none" strike="noStrike" kern="0" cap="none" spc="0" normalizeH="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noProof="0" dirty="0" err="1" smtClean="0">
                <a:ln>
                  <a:noFill/>
                </a:ln>
                <a:solidFill>
                  <a:srgbClr val="000000"/>
                </a:solidFill>
                <a:effectLst/>
                <a:uLnTx/>
                <a:uFillTx/>
                <a:latin typeface="Arial" panose="020B0604020202020204"/>
                <a:cs typeface="Arial" panose="020B0604020202020204"/>
                <a:sym typeface="Arial" panose="020B0604020202020204"/>
              </a:rPr>
              <a:t>Autotrade</a:t>
            </a:r>
            <a:r>
              <a:rPr kumimoji="0" lang="en-US" sz="1800" b="1" i="0" u="none" strike="noStrike" kern="0" cap="none" spc="0" normalizeH="0" noProof="0" dirty="0" smtClean="0">
                <a:ln>
                  <a:noFill/>
                </a:ln>
                <a:solidFill>
                  <a:srgbClr val="000000"/>
                </a:solidFill>
                <a:effectLst/>
                <a:uLnTx/>
                <a:uFillTx/>
                <a:latin typeface="Arial" panose="020B0604020202020204"/>
                <a:cs typeface="Arial" panose="020B0604020202020204"/>
                <a:sym typeface="Arial" panose="020B0604020202020204"/>
              </a:rPr>
              <a:t> </a:t>
            </a:r>
            <a:r>
              <a:rPr kumimoji="0" lang="en-US" sz="1800" b="1" i="0" u="none" strike="noStrike" kern="0" cap="none" spc="0" normalizeH="0" noProof="0" dirty="0" err="1" smtClean="0">
                <a:ln>
                  <a:noFill/>
                </a:ln>
                <a:solidFill>
                  <a:srgbClr val="000000"/>
                </a:solidFill>
                <a:effectLst/>
                <a:uLnTx/>
                <a:uFillTx/>
                <a:latin typeface="Arial" panose="020B0604020202020204"/>
                <a:cs typeface="Arial" panose="020B0604020202020204"/>
                <a:sym typeface="Arial" panose="020B0604020202020204"/>
              </a:rPr>
              <a:t>tại</a:t>
            </a:r>
            <a:r>
              <a:rPr kumimoji="0" lang="en-US" sz="1800" b="1" i="0" u="none" strike="noStrike" kern="0" cap="none" spc="0" normalizeH="0" noProof="0" dirty="0" smtClean="0">
                <a:ln>
                  <a:noFill/>
                </a:ln>
                <a:solidFill>
                  <a:srgbClr val="000000"/>
                </a:solidFill>
                <a:effectLst/>
                <a:uLnTx/>
                <a:uFillTx/>
                <a:latin typeface="Arial" panose="020B0604020202020204"/>
                <a:cs typeface="Arial" panose="020B0604020202020204"/>
                <a:sym typeface="Arial" panose="020B0604020202020204"/>
              </a:rPr>
              <a:t>:</a:t>
            </a:r>
            <a:endParaRPr kumimoji="0" lang="en-US" sz="1800" b="1" i="0" u="none" strike="noStrike" kern="0" cap="none" spc="0" normalizeH="0" noProof="0" dirty="0" smtClean="0">
              <a:ln>
                <a:noFill/>
              </a:ln>
              <a:solidFill>
                <a:srgbClr val="000000"/>
              </a:solidFill>
              <a:effectLst/>
              <a:uLnTx/>
              <a:uFillTx/>
              <a:latin typeface="Arial" panose="020B0604020202020204"/>
              <a:cs typeface="Arial" panose="020B0604020202020204"/>
              <a:sym typeface="Arial" panose="020B0604020202020204"/>
            </a:endParaRPr>
          </a:p>
          <a:p>
            <a:pPr marL="387350" marR="0" lvl="0" indent="-285750" algn="just" defTabSz="914400" rtl="0" eaLnBrk="1" fontAlgn="auto" latinLnBrk="0" hangingPunct="1">
              <a:lnSpc>
                <a:spcPct val="115000"/>
              </a:lnSpc>
              <a:spcBef>
                <a:spcPts val="1600"/>
              </a:spcBef>
              <a:spcAft>
                <a:spcPts val="0"/>
              </a:spcAft>
              <a:buClr>
                <a:srgbClr val="000000"/>
              </a:buClr>
              <a:buSzTx/>
              <a:buFontTx/>
              <a:buChar char="-"/>
              <a:defRPr/>
            </a:pPr>
            <a:r>
              <a:rPr lang="en-US" sz="1800" dirty="0" err="1" smtClean="0"/>
              <a:t>Lấy</a:t>
            </a:r>
            <a:r>
              <a:rPr lang="en-US" sz="1800" dirty="0" smtClean="0"/>
              <a:t> </a:t>
            </a:r>
            <a:r>
              <a:rPr lang="en-US" sz="1800" dirty="0" err="1" smtClean="0"/>
              <a:t>dữ</a:t>
            </a:r>
            <a:r>
              <a:rPr lang="en-US" sz="1800" dirty="0" smtClean="0"/>
              <a:t> </a:t>
            </a:r>
            <a:r>
              <a:rPr lang="en-US" sz="1800" dirty="0" err="1" smtClean="0"/>
              <a:t>liệu</a:t>
            </a:r>
            <a:r>
              <a:rPr lang="en-US" sz="1800" dirty="0"/>
              <a:t> </a:t>
            </a:r>
            <a:r>
              <a:rPr lang="en-US" sz="1800" dirty="0" smtClean="0"/>
              <a:t>(</a:t>
            </a:r>
            <a:r>
              <a:rPr lang="en-US" sz="1800" b="1" dirty="0" err="1" smtClean="0"/>
              <a:t>bao</a:t>
            </a:r>
            <a:r>
              <a:rPr lang="en-US" sz="1800" b="1" dirty="0" smtClean="0"/>
              <a:t> </a:t>
            </a:r>
            <a:r>
              <a:rPr lang="en-US" sz="1800" b="1" dirty="0" err="1" smtClean="0"/>
              <a:t>gồm</a:t>
            </a:r>
            <a:r>
              <a:rPr lang="en-US" sz="1800" b="1" dirty="0" smtClean="0"/>
              <a:t> </a:t>
            </a:r>
            <a:r>
              <a:rPr lang="en-US" sz="1800" b="1" dirty="0" err="1" smtClean="0"/>
              <a:t>lấy</a:t>
            </a:r>
            <a:r>
              <a:rPr lang="en-US" sz="1800" b="1" dirty="0" smtClean="0"/>
              <a:t> </a:t>
            </a:r>
            <a:r>
              <a:rPr lang="en-US" sz="1800" b="1" dirty="0" err="1" smtClean="0"/>
              <a:t>dữ</a:t>
            </a:r>
            <a:r>
              <a:rPr lang="en-US" sz="1800" b="1" dirty="0" smtClean="0"/>
              <a:t> </a:t>
            </a:r>
            <a:r>
              <a:rPr lang="en-US" sz="1800" b="1" dirty="0" err="1" smtClean="0"/>
              <a:t>liệu</a:t>
            </a:r>
            <a:r>
              <a:rPr lang="en-US" sz="1800" dirty="0" smtClean="0"/>
              <a:t>, </a:t>
            </a:r>
            <a:r>
              <a:rPr lang="en-US" sz="1800" b="1" dirty="0" err="1" smtClean="0"/>
              <a:t>phân</a:t>
            </a:r>
            <a:r>
              <a:rPr lang="en-US" sz="1800" b="1" dirty="0" smtClean="0"/>
              <a:t> </a:t>
            </a:r>
            <a:r>
              <a:rPr lang="en-US" sz="1800" b="1" dirty="0" err="1" smtClean="0"/>
              <a:t>tích</a:t>
            </a:r>
            <a:r>
              <a:rPr lang="en-US" sz="1800" b="1" dirty="0" smtClean="0"/>
              <a:t> </a:t>
            </a:r>
            <a:r>
              <a:rPr lang="en-US" sz="1800" b="1" dirty="0" err="1" smtClean="0"/>
              <a:t>chiến</a:t>
            </a:r>
            <a:r>
              <a:rPr lang="en-US" sz="1800" b="1" dirty="0" smtClean="0"/>
              <a:t> </a:t>
            </a:r>
            <a:r>
              <a:rPr lang="en-US" sz="1800" b="1" dirty="0" err="1" smtClean="0"/>
              <a:t>lược</a:t>
            </a:r>
            <a:r>
              <a:rPr lang="en-US" sz="1800" dirty="0" smtClean="0"/>
              <a:t>, </a:t>
            </a:r>
            <a:r>
              <a:rPr lang="en-US" sz="1800" b="1" dirty="0" smtClean="0"/>
              <a:t>đ</a:t>
            </a:r>
            <a:r>
              <a:rPr lang="en-US" sz="1800" b="1" dirty="0" err="1" smtClean="0"/>
              <a:t>ưa</a:t>
            </a:r>
            <a:r>
              <a:rPr lang="en-US" sz="1800" b="1" dirty="0" smtClean="0"/>
              <a:t> </a:t>
            </a:r>
            <a:r>
              <a:rPr lang="en-US" sz="1800" b="1" dirty="0" err="1" smtClean="0"/>
              <a:t>ra</a:t>
            </a:r>
            <a:r>
              <a:rPr lang="en-US" sz="1800" b="1" dirty="0" smtClean="0"/>
              <a:t> </a:t>
            </a:r>
            <a:r>
              <a:rPr lang="en-US" sz="1800" b="1" dirty="0" err="1" smtClean="0"/>
              <a:t>tín</a:t>
            </a:r>
            <a:r>
              <a:rPr lang="en-US" sz="1800" b="1" dirty="0" smtClean="0"/>
              <a:t> </a:t>
            </a:r>
            <a:r>
              <a:rPr lang="en-US" sz="1800" b="1" dirty="0" err="1" smtClean="0"/>
              <a:t>hiệu</a:t>
            </a:r>
            <a:r>
              <a:rPr lang="en-US" sz="1800" b="1" dirty="0" smtClean="0"/>
              <a:t> </a:t>
            </a:r>
            <a:r>
              <a:rPr lang="en-US" sz="1800" b="1" dirty="0" err="1" smtClean="0"/>
              <a:t>Buy_Signal</a:t>
            </a:r>
            <a:r>
              <a:rPr lang="en-US" sz="1800" b="1" dirty="0" smtClean="0"/>
              <a:t>, </a:t>
            </a:r>
            <a:r>
              <a:rPr lang="en-US" sz="1800" b="1" dirty="0" err="1" smtClean="0"/>
              <a:t>Sell_Signal</a:t>
            </a:r>
            <a:r>
              <a:rPr lang="en-US" sz="1800" dirty="0" smtClean="0"/>
              <a:t>): </a:t>
            </a:r>
            <a:r>
              <a:rPr lang="en-US" sz="1800" b="1" dirty="0" smtClean="0">
                <a:highlight>
                  <a:srgbClr val="FFFF00"/>
                </a:highlight>
              </a:rPr>
              <a:t>OG (Order Good)</a:t>
            </a:r>
            <a:endParaRPr lang="en-US" sz="1800" b="1" dirty="0" smtClean="0"/>
          </a:p>
          <a:p>
            <a:pPr marL="387350" marR="0" lvl="0" indent="-285750" algn="just" defTabSz="914400" rtl="0" eaLnBrk="1" fontAlgn="auto" latinLnBrk="0" hangingPunct="1">
              <a:lnSpc>
                <a:spcPct val="115000"/>
              </a:lnSpc>
              <a:spcBef>
                <a:spcPts val="1600"/>
              </a:spcBef>
              <a:spcAft>
                <a:spcPts val="0"/>
              </a:spcAft>
              <a:buClr>
                <a:srgbClr val="000000"/>
              </a:buClr>
              <a:buSzTx/>
              <a:buFontTx/>
              <a:buChar char="-"/>
              <a:defRPr/>
            </a:pPr>
            <a:r>
              <a:rPr lang="en-US" sz="1800" dirty="0" err="1" smtClean="0"/>
              <a:t>Từ</a:t>
            </a:r>
            <a:r>
              <a:rPr lang="en-US" sz="1800" dirty="0" smtClean="0"/>
              <a:t> </a:t>
            </a:r>
            <a:r>
              <a:rPr lang="en-US" sz="1800" b="1" dirty="0" smtClean="0"/>
              <a:t>OG </a:t>
            </a:r>
            <a:r>
              <a:rPr lang="en-US" sz="1800" b="1" dirty="0" err="1" smtClean="0"/>
              <a:t>sẽ</a:t>
            </a:r>
            <a:r>
              <a:rPr lang="en-US" sz="1800" b="1" dirty="0" smtClean="0"/>
              <a:t> </a:t>
            </a:r>
            <a:r>
              <a:rPr lang="en-US" sz="1800" b="1" dirty="0" err="1" smtClean="0"/>
              <a:t>đẩy</a:t>
            </a:r>
            <a:r>
              <a:rPr lang="en-US" sz="1800" b="1" dirty="0" smtClean="0"/>
              <a:t> qua </a:t>
            </a:r>
            <a:r>
              <a:rPr lang="en-US" sz="1800" b="1" dirty="0" err="1" smtClean="0"/>
              <a:t>hệ</a:t>
            </a:r>
            <a:r>
              <a:rPr lang="en-US" sz="1800" b="1" dirty="0" smtClean="0"/>
              <a:t> </a:t>
            </a:r>
            <a:r>
              <a:rPr lang="en-US" sz="1800" b="1" dirty="0" err="1" smtClean="0"/>
              <a:t>thống</a:t>
            </a:r>
            <a:r>
              <a:rPr lang="en-US" sz="1800" b="1" dirty="0" smtClean="0"/>
              <a:t> </a:t>
            </a:r>
            <a:r>
              <a:rPr lang="en-US" sz="1800" b="1" dirty="0" err="1" smtClean="0"/>
              <a:t>bộ</a:t>
            </a:r>
            <a:r>
              <a:rPr lang="en-US" sz="1800" b="1" dirty="0" smtClean="0"/>
              <a:t> </a:t>
            </a:r>
            <a:r>
              <a:rPr lang="en-US" sz="1800" b="1" dirty="0" err="1" smtClean="0"/>
              <a:t>nhớ</a:t>
            </a:r>
            <a:r>
              <a:rPr lang="en-US" sz="1800" b="1" dirty="0" smtClean="0"/>
              <a:t> </a:t>
            </a:r>
            <a:r>
              <a:rPr lang="en-US" sz="1800" b="1" dirty="0" err="1" smtClean="0"/>
              <a:t>tạm</a:t>
            </a:r>
            <a:r>
              <a:rPr lang="en-US" sz="1800" b="1" dirty="0" smtClean="0"/>
              <a:t> (real-time): </a:t>
            </a:r>
            <a:r>
              <a:rPr lang="en-US" sz="1800" b="1" dirty="0" smtClean="0">
                <a:highlight>
                  <a:srgbClr val="FFFF00"/>
                </a:highlight>
              </a:rPr>
              <a:t>Redis</a:t>
            </a:r>
            <a:endParaRPr lang="en-US" sz="1800" b="1" dirty="0" smtClean="0"/>
          </a:p>
          <a:p>
            <a:pPr marL="387350" marR="0" lvl="0" indent="-285750" algn="just" defTabSz="914400" rtl="0" eaLnBrk="1" fontAlgn="auto" latinLnBrk="0" hangingPunct="1">
              <a:lnSpc>
                <a:spcPct val="115000"/>
              </a:lnSpc>
              <a:spcBef>
                <a:spcPts val="1600"/>
              </a:spcBef>
              <a:spcAft>
                <a:spcPts val="0"/>
              </a:spcAft>
              <a:buClr>
                <a:srgbClr val="000000"/>
              </a:buClr>
              <a:buSzTx/>
              <a:buFontTx/>
              <a:buChar char="-"/>
              <a:defRPr/>
            </a:pPr>
            <a:r>
              <a:rPr kumimoji="0" lang="en-US" sz="1800" b="1" i="0" u="none" strike="noStrike" kern="0" cap="none" spc="0" normalizeH="0" baseline="0" noProof="0" dirty="0" err="1" smtClean="0">
                <a:ln>
                  <a:noFill/>
                </a:ln>
                <a:solidFill>
                  <a:srgbClr val="000000"/>
                </a:solidFill>
                <a:effectLst/>
                <a:uLnTx/>
                <a:uFillTx/>
                <a:sym typeface="Arial" panose="020B0604020202020204"/>
              </a:rPr>
              <a:t>Vào</a:t>
            </a:r>
            <a:r>
              <a:rPr kumimoji="0" lang="en-US" sz="1800" b="1" i="0" u="none" strike="noStrike" kern="0" cap="none" spc="0" normalizeH="0" noProof="0" dirty="0" smtClean="0">
                <a:ln>
                  <a:noFill/>
                </a:ln>
                <a:solidFill>
                  <a:srgbClr val="000000"/>
                </a:solidFill>
                <a:effectLst/>
                <a:uLnTx/>
                <a:uFillTx/>
                <a:sym typeface="Arial" panose="020B0604020202020204"/>
              </a:rPr>
              <a:t> </a:t>
            </a:r>
            <a:r>
              <a:rPr kumimoji="0" lang="en-US" sz="1800" b="1" i="0" u="none" strike="noStrike" kern="0" cap="none" spc="0" normalizeH="0" noProof="0" dirty="0" err="1" smtClean="0">
                <a:ln>
                  <a:noFill/>
                </a:ln>
                <a:solidFill>
                  <a:srgbClr val="000000"/>
                </a:solidFill>
                <a:effectLst/>
                <a:uLnTx/>
                <a:uFillTx/>
                <a:sym typeface="Arial" panose="020B0604020202020204"/>
              </a:rPr>
              <a:t>lệnh</a:t>
            </a:r>
            <a:r>
              <a:rPr kumimoji="0" lang="en-US" sz="1800" b="1" i="0" u="none" strike="noStrike" kern="0" cap="none" spc="0" normalizeH="0" noProof="0" dirty="0" smtClean="0">
                <a:ln>
                  <a:noFill/>
                </a:ln>
                <a:solidFill>
                  <a:srgbClr val="000000"/>
                </a:solidFill>
                <a:effectLst/>
                <a:uLnTx/>
                <a:uFillTx/>
                <a:sym typeface="Arial" panose="020B0604020202020204"/>
              </a:rPr>
              <a:t> </a:t>
            </a:r>
            <a:r>
              <a:rPr kumimoji="0" lang="en-US" sz="1800" b="1" i="0" u="none" strike="noStrike" kern="0" cap="none" spc="0" normalizeH="0" noProof="0" dirty="0" err="1" smtClean="0">
                <a:ln>
                  <a:noFill/>
                </a:ln>
                <a:solidFill>
                  <a:srgbClr val="000000"/>
                </a:solidFill>
                <a:effectLst/>
                <a:uLnTx/>
                <a:uFillTx/>
                <a:sym typeface="Arial" panose="020B0604020202020204"/>
              </a:rPr>
              <a:t>giao</a:t>
            </a:r>
            <a:r>
              <a:rPr kumimoji="0" lang="en-US" sz="1800" b="1" i="0" u="none" strike="noStrike" kern="0" cap="none" spc="0" normalizeH="0" noProof="0" dirty="0" smtClean="0">
                <a:ln>
                  <a:noFill/>
                </a:ln>
                <a:solidFill>
                  <a:srgbClr val="000000"/>
                </a:solidFill>
                <a:effectLst/>
                <a:uLnTx/>
                <a:uFillTx/>
                <a:sym typeface="Arial" panose="020B0604020202020204"/>
              </a:rPr>
              <a:t> </a:t>
            </a:r>
            <a:r>
              <a:rPr kumimoji="0" lang="en-US" sz="1800" b="1" i="0" u="none" strike="noStrike" kern="0" cap="none" spc="0" normalizeH="0" noProof="0" dirty="0" err="1" smtClean="0">
                <a:ln>
                  <a:noFill/>
                </a:ln>
                <a:solidFill>
                  <a:srgbClr val="000000"/>
                </a:solidFill>
                <a:effectLst/>
                <a:uLnTx/>
                <a:uFillTx/>
                <a:sym typeface="Arial" panose="020B0604020202020204"/>
              </a:rPr>
              <a:t>dịch</a:t>
            </a:r>
            <a:r>
              <a:rPr kumimoji="0" lang="en-US" sz="1800" i="0" u="none" strike="noStrike" kern="0" cap="none" spc="0" normalizeH="0" noProof="0" dirty="0" smtClean="0">
                <a:ln>
                  <a:noFill/>
                </a:ln>
                <a:solidFill>
                  <a:srgbClr val="000000"/>
                </a:solidFill>
                <a:effectLst/>
                <a:uLnTx/>
                <a:uFillTx/>
                <a:sym typeface="Arial" panose="020B0604020202020204"/>
              </a:rPr>
              <a:t>: </a:t>
            </a:r>
            <a:r>
              <a:rPr kumimoji="0" lang="en-US" sz="1800" b="1" i="0" u="none" strike="noStrike" kern="0" cap="none" spc="0" normalizeH="0" noProof="0" dirty="0" smtClean="0">
                <a:ln>
                  <a:noFill/>
                </a:ln>
                <a:solidFill>
                  <a:srgbClr val="000000"/>
                </a:solidFill>
                <a:effectLst/>
                <a:highlight>
                  <a:srgbClr val="FFFF00"/>
                </a:highlight>
                <a:uLnTx/>
                <a:uFillTx/>
                <a:sym typeface="Arial" panose="020B0604020202020204"/>
              </a:rPr>
              <a:t>OF (Order Follower)</a:t>
            </a:r>
            <a:r>
              <a:rPr kumimoji="0" lang="en-US" sz="1800" b="1" i="0" u="none" strike="noStrike" kern="0" cap="none" spc="0" normalizeH="0" noProof="0" dirty="0" smtClean="0">
                <a:ln>
                  <a:noFill/>
                </a:ln>
                <a:solidFill>
                  <a:srgbClr val="000000"/>
                </a:solidFill>
                <a:effectLst/>
                <a:uLnTx/>
                <a:uFillTx/>
                <a:sym typeface="Arial" panose="020B0604020202020204"/>
              </a:rPr>
              <a:t> follow </a:t>
            </a:r>
            <a:r>
              <a:rPr kumimoji="0" lang="en-US" sz="1800" b="1" i="0" u="none" strike="noStrike" kern="0" cap="none" spc="0" normalizeH="0" noProof="0" dirty="0" err="1" smtClean="0">
                <a:ln>
                  <a:noFill/>
                </a:ln>
                <a:solidFill>
                  <a:srgbClr val="000000"/>
                </a:solidFill>
                <a:effectLst/>
                <a:uLnTx/>
                <a:uFillTx/>
                <a:sym typeface="Arial" panose="020B0604020202020204"/>
              </a:rPr>
              <a:t>bộ</a:t>
            </a:r>
            <a:r>
              <a:rPr kumimoji="0" lang="en-US" sz="1800" b="1" i="0" u="none" strike="noStrike" kern="0" cap="none" spc="0" normalizeH="0" noProof="0" dirty="0" smtClean="0">
                <a:ln>
                  <a:noFill/>
                </a:ln>
                <a:solidFill>
                  <a:srgbClr val="000000"/>
                </a:solidFill>
                <a:effectLst/>
                <a:uLnTx/>
                <a:uFillTx/>
                <a:sym typeface="Arial" panose="020B0604020202020204"/>
              </a:rPr>
              <a:t> </a:t>
            </a:r>
            <a:r>
              <a:rPr kumimoji="0" lang="en-US" sz="1800" b="1" i="0" u="none" strike="noStrike" kern="0" cap="none" spc="0" normalizeH="0" noProof="0" dirty="0" err="1" smtClean="0">
                <a:ln>
                  <a:noFill/>
                </a:ln>
                <a:solidFill>
                  <a:srgbClr val="000000"/>
                </a:solidFill>
                <a:effectLst/>
                <a:uLnTx/>
                <a:uFillTx/>
                <a:sym typeface="Arial" panose="020B0604020202020204"/>
              </a:rPr>
              <a:t>nhớ</a:t>
            </a:r>
            <a:r>
              <a:rPr kumimoji="0" lang="en-US" sz="1800" b="1" i="0" u="none" strike="noStrike" kern="0" cap="none" spc="0" normalizeH="0" noProof="0" dirty="0" smtClean="0">
                <a:ln>
                  <a:noFill/>
                </a:ln>
                <a:solidFill>
                  <a:srgbClr val="000000"/>
                </a:solidFill>
                <a:effectLst/>
                <a:uLnTx/>
                <a:uFillTx/>
                <a:sym typeface="Arial" panose="020B0604020202020204"/>
              </a:rPr>
              <a:t> </a:t>
            </a:r>
            <a:r>
              <a:rPr kumimoji="0" lang="en-US" sz="1800" b="1" i="0" u="none" strike="noStrike" kern="0" cap="none" spc="0" normalizeH="0" noProof="0" dirty="0" err="1" smtClean="0">
                <a:ln>
                  <a:noFill/>
                </a:ln>
                <a:solidFill>
                  <a:srgbClr val="000000"/>
                </a:solidFill>
                <a:effectLst/>
                <a:uLnTx/>
                <a:uFillTx/>
                <a:sym typeface="Arial" panose="020B0604020202020204"/>
              </a:rPr>
              <a:t>tạm</a:t>
            </a:r>
            <a:r>
              <a:rPr kumimoji="0" lang="en-US" sz="1800" b="1" i="0" u="none" strike="noStrike" kern="0" cap="none" spc="0" normalizeH="0" noProof="0" dirty="0" smtClean="0">
                <a:ln>
                  <a:noFill/>
                </a:ln>
                <a:solidFill>
                  <a:srgbClr val="000000"/>
                </a:solidFill>
                <a:effectLst/>
                <a:uLnTx/>
                <a:uFillTx/>
                <a:sym typeface="Arial" panose="020B0604020202020204"/>
              </a:rPr>
              <a:t> Redis liên tục </a:t>
            </a:r>
            <a:r>
              <a:rPr kumimoji="0" lang="en-US" sz="1800" b="1" i="0" u="none" strike="noStrike" kern="0" cap="none" spc="0" normalizeH="0" noProof="0" dirty="0" err="1" smtClean="0">
                <a:ln>
                  <a:noFill/>
                </a:ln>
                <a:solidFill>
                  <a:srgbClr val="000000"/>
                </a:solidFill>
                <a:effectLst/>
                <a:uLnTx/>
                <a:uFillTx/>
                <a:sym typeface="Arial" panose="020B0604020202020204"/>
              </a:rPr>
              <a:t>để</a:t>
            </a:r>
            <a:r>
              <a:rPr kumimoji="0" lang="en-US" sz="1800" b="1" i="0" u="none" strike="noStrike" kern="0" cap="none" spc="0" normalizeH="0" noProof="0" dirty="0" smtClean="0">
                <a:ln>
                  <a:noFill/>
                </a:ln>
                <a:solidFill>
                  <a:srgbClr val="000000"/>
                </a:solidFill>
                <a:effectLst/>
                <a:uLnTx/>
                <a:uFillTx/>
                <a:sym typeface="Arial" panose="020B0604020202020204"/>
              </a:rPr>
              <a:t> </a:t>
            </a:r>
            <a:r>
              <a:rPr kumimoji="0" lang="en-US" sz="1800" b="1" i="0" u="none" strike="noStrike" kern="0" cap="none" spc="0" normalizeH="0" noProof="0" dirty="0" err="1" smtClean="0">
                <a:ln>
                  <a:noFill/>
                </a:ln>
                <a:solidFill>
                  <a:srgbClr val="000000"/>
                </a:solidFill>
                <a:effectLst/>
                <a:uLnTx/>
                <a:uFillTx/>
                <a:sym typeface="Arial" panose="020B0604020202020204"/>
              </a:rPr>
              <a:t>vào</a:t>
            </a:r>
            <a:r>
              <a:rPr kumimoji="0" lang="en-US" sz="1800" b="1" i="0" u="none" strike="noStrike" kern="0" cap="none" spc="0" normalizeH="0" noProof="0" dirty="0" smtClean="0">
                <a:ln>
                  <a:noFill/>
                </a:ln>
                <a:solidFill>
                  <a:srgbClr val="000000"/>
                </a:solidFill>
                <a:effectLst/>
                <a:uLnTx/>
                <a:uFillTx/>
                <a:sym typeface="Arial" panose="020B0604020202020204"/>
              </a:rPr>
              <a:t> </a:t>
            </a:r>
            <a:r>
              <a:rPr kumimoji="0" lang="en-US" sz="1800" b="1" i="0" u="none" strike="noStrike" kern="0" cap="none" spc="0" normalizeH="0" noProof="0" dirty="0" err="1" smtClean="0">
                <a:ln>
                  <a:noFill/>
                </a:ln>
                <a:solidFill>
                  <a:srgbClr val="000000"/>
                </a:solidFill>
                <a:effectLst/>
                <a:uLnTx/>
                <a:uFillTx/>
                <a:sym typeface="Arial" panose="020B0604020202020204"/>
              </a:rPr>
              <a:t>lệnh trên sàn</a:t>
            </a:r>
            <a:endParaRPr kumimoji="0" sz="1800" b="1" i="0" u="none" strike="noStrike" kern="0" cap="none" spc="0" normalizeH="0" baseline="0" noProof="0" dirty="0">
              <a:ln>
                <a:noFill/>
              </a:ln>
              <a:solidFill>
                <a:srgbClr val="000000"/>
              </a:solidFill>
              <a:effectLst/>
              <a:uLnTx/>
              <a:uFillTx/>
              <a:sym typeface="Arial" panose="020B0604020202020204"/>
            </a:endParaRPr>
          </a:p>
          <a:p>
            <a:pPr marL="101600" marR="0" lvl="0" indent="0" algn="just" defTabSz="914400" rtl="0" eaLnBrk="1" fontAlgn="auto" latinLnBrk="0" hangingPunct="1">
              <a:lnSpc>
                <a:spcPct val="115000"/>
              </a:lnSpc>
              <a:spcBef>
                <a:spcPts val="1600"/>
              </a:spcBef>
              <a:spcAft>
                <a:spcPts val="0"/>
              </a:spcAft>
              <a:buClr>
                <a:srgbClr val="000000"/>
              </a:buClr>
              <a:buSzTx/>
              <a:buFont typeface="Arial" panose="020B0604020202020204"/>
              <a:buNone/>
              <a:defRPr/>
            </a:pPr>
            <a:endParaRPr kumimoji="0" sz="1800" b="1" i="0" u="none" strike="noStrike" kern="0" cap="none" spc="0" normalizeH="0" baseline="0" noProof="0" dirty="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2668011" y="3599371"/>
            <a:ext cx="3438669" cy="16979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Nội dung chính</a:t>
            </a:r>
            <a:endParaRPr sz="2400" b="1"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1"/>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vi-VN" sz="1800" b="1" i="0" u="none" strike="noStrike" cap="none" dirty="0" smtClean="0">
                <a:solidFill>
                  <a:schemeClr val="dk1"/>
                </a:solidFill>
                <a:sym typeface="Arial" panose="020B0604020202020204"/>
              </a:rPr>
              <a:t>1</a:t>
            </a:r>
            <a:r>
              <a:rPr lang="vi-VN" sz="1800" b="1" i="0" u="none" strike="noStrike" cap="none" dirty="0">
                <a:solidFill>
                  <a:schemeClr val="dk1"/>
                </a:solidFill>
                <a:sym typeface="Arial" panose="020B0604020202020204"/>
              </a:rPr>
              <a:t>. Giới thiệu về cách thiết kế Auto Trade Chứng khoán </a:t>
            </a:r>
            <a:r>
              <a:rPr lang="vi-VN" sz="1800" b="1" i="0" u="none" strike="noStrike" cap="none" dirty="0">
                <a:solidFill>
                  <a:srgbClr val="FF0000"/>
                </a:solidFill>
                <a:sym typeface="Arial" panose="020B0604020202020204"/>
              </a:rPr>
              <a:t>SSI</a:t>
            </a:r>
            <a:endParaRPr sz="1800" dirty="0">
              <a:solidFill>
                <a:srgbClr val="FF0000"/>
              </a:solidFill>
            </a:endParaRPr>
          </a:p>
          <a:p>
            <a:pPr marL="101600" marR="0" lvl="0" indent="0" algn="l" rtl="0">
              <a:lnSpc>
                <a:spcPct val="115000"/>
              </a:lnSpc>
              <a:spcBef>
                <a:spcPts val="1600"/>
              </a:spcBef>
              <a:spcAft>
                <a:spcPts val="0"/>
              </a:spcAft>
              <a:buNone/>
            </a:pPr>
            <a:r>
              <a:rPr lang="en-US" sz="1800" b="1" i="0" u="none" strike="noStrike" cap="none" dirty="0" smtClean="0">
                <a:solidFill>
                  <a:schemeClr val="dk1"/>
                </a:solidFill>
                <a:sym typeface="Arial" panose="020B0604020202020204"/>
              </a:rPr>
              <a:t>2</a:t>
            </a:r>
            <a:r>
              <a:rPr lang="vi-VN" sz="1800" b="1" i="0" u="none" strike="noStrike" cap="none" dirty="0" smtClean="0">
                <a:solidFill>
                  <a:schemeClr val="dk1"/>
                </a:solidFill>
                <a:sym typeface="Arial" panose="020B0604020202020204"/>
              </a:rPr>
              <a:t>. </a:t>
            </a:r>
            <a:r>
              <a:rPr lang="vi-VN" sz="1800" b="1" i="0" u="none" strike="noStrike" cap="none" dirty="0">
                <a:solidFill>
                  <a:schemeClr val="dk1"/>
                </a:solidFill>
                <a:sym typeface="Arial" panose="020B0604020202020204"/>
              </a:rPr>
              <a:t>Giới thiệu về cách thiết kế Auto Trade Forex </a:t>
            </a:r>
            <a:r>
              <a:rPr lang="vi-VN" sz="1800" b="1" i="0" u="none" strike="noStrike" cap="none" dirty="0" smtClean="0">
                <a:solidFill>
                  <a:srgbClr val="FF0000"/>
                </a:solidFill>
                <a:sym typeface="Arial" panose="020B0604020202020204"/>
              </a:rPr>
              <a:t>MT5</a:t>
            </a:r>
            <a:endParaRPr lang="en-US" sz="1800" b="1" i="0" u="none" strike="noStrike" cap="none" dirty="0" smtClean="0">
              <a:solidFill>
                <a:srgbClr val="FF0000"/>
              </a:solidFill>
              <a:sym typeface="Arial" panose="020B0604020202020204"/>
            </a:endParaRPr>
          </a:p>
          <a:p>
            <a:pPr marL="101600">
              <a:lnSpc>
                <a:spcPct val="115000"/>
              </a:lnSpc>
              <a:spcBef>
                <a:spcPts val="1600"/>
              </a:spcBef>
            </a:pPr>
            <a:r>
              <a:rPr lang="en-US" sz="1800" b="1" dirty="0" smtClean="0">
                <a:solidFill>
                  <a:schemeClr val="dk1"/>
                </a:solidFill>
              </a:rPr>
              <a:t>3</a:t>
            </a:r>
            <a:r>
              <a:rPr lang="vi-VN" sz="1800" b="1" dirty="0" smtClean="0">
                <a:solidFill>
                  <a:schemeClr val="dk1"/>
                </a:solidFill>
              </a:rPr>
              <a:t>. </a:t>
            </a:r>
            <a:r>
              <a:rPr lang="vi-VN" sz="1800" b="1" dirty="0">
                <a:solidFill>
                  <a:schemeClr val="dk1"/>
                </a:solidFill>
              </a:rPr>
              <a:t>Giới thiệu về cách thiết kế Auto Trade Coin sàn </a:t>
            </a:r>
            <a:r>
              <a:rPr lang="vi-VN" sz="1800" b="1" dirty="0">
                <a:solidFill>
                  <a:srgbClr val="FF0000"/>
                </a:solidFill>
              </a:rPr>
              <a:t>Binance</a:t>
            </a:r>
            <a:endParaRPr lang="vi-VN" sz="1800" b="1" dirty="0">
              <a:solidFill>
                <a:srgbClr val="FF0000"/>
              </a:solidFill>
            </a:endParaRPr>
          </a:p>
          <a:p>
            <a:pPr marL="101600" marR="0" lvl="0" indent="0" algn="l" rtl="0">
              <a:lnSpc>
                <a:spcPct val="115000"/>
              </a:lnSpc>
              <a:spcBef>
                <a:spcPts val="1600"/>
              </a:spcBef>
              <a:spcAft>
                <a:spcPts val="0"/>
              </a:spcAft>
              <a:buNone/>
            </a:pPr>
            <a:r>
              <a:rPr lang="vi-VN"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Video</a:t>
            </a: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r>
              <a:rPr lang="vi-VN" sz="1400" b="1" i="0" u="sng" strike="noStrike" cap="none" dirty="0">
                <a:solidFill>
                  <a:schemeClr val="dk1"/>
                </a:solidFill>
                <a:latin typeface="Arial" panose="020B0604020202020204"/>
                <a:ea typeface="Arial" panose="020B0604020202020204"/>
                <a:cs typeface="Arial" panose="020B0604020202020204"/>
                <a:sym typeface="Arial" panose="020B0604020202020204"/>
                <a:hlinkClick r:id="rId2"/>
              </a:rPr>
              <a:t>https://drive.google.com/file/d/1t3DWGKh7r8dTJh7RhOyMkXl574C1tceg/view?usp=drive_link</a:t>
            </a:r>
            <a:r>
              <a:rPr lang="vi-VN"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dirty="0"/>
          </a:p>
          <a:p>
            <a:pPr marL="101600" marR="0" lvl="0" indent="0" algn="l" rtl="0">
              <a:lnSpc>
                <a:spcPct val="115000"/>
              </a:lnSpc>
              <a:spcBef>
                <a:spcPts val="1600"/>
              </a:spcBef>
              <a:spcAft>
                <a:spcPts val="0"/>
              </a:spcAft>
              <a:buNone/>
            </a:pPr>
            <a:r>
              <a:rPr lang="vi-VN" sz="1400" b="1" i="0" u="sng" strike="noStrike" cap="none" dirty="0">
                <a:solidFill>
                  <a:schemeClr val="dk1"/>
                </a:solidFill>
                <a:latin typeface="Arial" panose="020B0604020202020204"/>
                <a:ea typeface="Arial" panose="020B0604020202020204"/>
                <a:cs typeface="Arial" panose="020B0604020202020204"/>
                <a:sym typeface="Arial" panose="020B0604020202020204"/>
                <a:hlinkClick r:id="rId3"/>
              </a:rPr>
              <a:t>https://drive.google.com/file/d/1t89PvnPdzJVz6W6Hgr0Mef0JiabhbIfz/view?usp=drive_link</a:t>
            </a:r>
            <a:r>
              <a:rPr lang="vi-VN" sz="1400" b="1" i="0" u="none" strike="noStrike" cap="none" dirty="0">
                <a:solidFill>
                  <a:schemeClr val="dk1"/>
                </a:solidFill>
                <a:latin typeface="Arial" panose="020B0604020202020204"/>
                <a:ea typeface="Arial" panose="020B0604020202020204"/>
                <a:cs typeface="Arial" panose="020B0604020202020204"/>
                <a:sym typeface="Arial" panose="020B0604020202020204"/>
              </a:rPr>
              <a:t> </a:t>
            </a:r>
            <a:endParaRPr sz="14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p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ctr"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ctr"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ctr"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ctr"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ctr" rtl="0">
              <a:lnSpc>
                <a:spcPct val="115000"/>
              </a:lnSpc>
              <a:spcBef>
                <a:spcPts val="1600"/>
              </a:spcBef>
              <a:spcAft>
                <a:spcPts val="0"/>
              </a:spcAft>
              <a:buNone/>
            </a:pPr>
            <a:r>
              <a:rPr lang="vi-VN" sz="24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1. Cách thiết kế Auto Trade Chứng khoán SSI</a:t>
            </a:r>
            <a:endParaRPr sz="24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101600" marR="0" lvl="0" indent="0" algn="l" rtl="0">
              <a:lnSpc>
                <a:spcPct val="115000"/>
              </a:lnSpc>
              <a:spcBef>
                <a:spcPts val="160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0"/>
        <p:cNvGrpSpPr/>
        <p:nvPr/>
      </p:nvGrpSpPr>
      <p:grpSpPr>
        <a:xfrm>
          <a:off x="0" y="0"/>
          <a:ext cx="0" cy="0"/>
          <a:chOff x="0" y="0"/>
          <a:chExt cx="0" cy="0"/>
        </a:xfrm>
      </p:grpSpPr>
      <p:sp>
        <p:nvSpPr>
          <p:cNvPr id="111" name="Google Shape;111;p5"/>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vi-VN"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1. Cách thiết kế Auto Trade Chứng khoán SSI</a:t>
            </a: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12" name="Google Shape;112;p5"/>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Đặt câu hỏi: Thế nào là </a:t>
            </a:r>
            <a:r>
              <a:rPr lang="vi-VN" sz="1800" b="1" i="0" u="none" strike="noStrike" cap="none" dirty="0">
                <a:solidFill>
                  <a:srgbClr val="FF0000"/>
                </a:solidFill>
                <a:sym typeface="Arial" panose="020B0604020202020204"/>
              </a:rPr>
              <a:t>Auto Trade</a:t>
            </a:r>
            <a:endParaRPr dirty="0">
              <a:solidFill>
                <a:srgbClr val="FF0000"/>
              </a:solidFill>
            </a:endParaRPr>
          </a:p>
          <a:p>
            <a:pPr marL="101600" marR="0" lvl="0" indent="0" algn="just" rtl="0">
              <a:lnSpc>
                <a:spcPct val="115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Auto Trade, còn được gọi là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giao dịch tự động</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là một phương thức trong đó các quyết định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giao dịch được thực hiện </a:t>
            </a:r>
            <a:r>
              <a:rPr lang="vi-VN" sz="1400" b="1" i="0" u="none" strike="noStrike" cap="none" dirty="0">
                <a:solidFill>
                  <a:srgbClr val="FF0000"/>
                </a:solidFill>
                <a:latin typeface="Arial" panose="020B0604020202020204"/>
                <a:ea typeface="Arial" panose="020B0604020202020204"/>
                <a:cs typeface="Arial" panose="020B0604020202020204"/>
                <a:sym typeface="Arial" panose="020B0604020202020204"/>
              </a:rPr>
              <a:t>tự động bởi một hệ thống máy tính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dựa trên một </a:t>
            </a:r>
            <a:r>
              <a:rPr lang="vi-VN" sz="1400" b="1" i="0" u="sng" strike="noStrike" cap="none" dirty="0">
                <a:solidFill>
                  <a:srgbClr val="FF0000"/>
                </a:solidFill>
                <a:latin typeface="Arial" panose="020B0604020202020204"/>
                <a:ea typeface="Arial" panose="020B0604020202020204"/>
                <a:cs typeface="Arial" panose="020B0604020202020204"/>
                <a:sym typeface="Arial" panose="020B0604020202020204"/>
              </a:rPr>
              <a:t>tập hợp các quy tắc đã được xác định trước</a:t>
            </a:r>
            <a:endParaRPr sz="1800" b="1" i="0" u="sng" strike="noStrike" cap="none" dirty="0">
              <a:solidFill>
                <a:srgbClr val="FF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6"/>
        <p:cNvGrpSpPr/>
        <p:nvPr/>
      </p:nvGrpSpPr>
      <p:grpSpPr>
        <a:xfrm>
          <a:off x="0" y="0"/>
          <a:ext cx="0" cy="0"/>
          <a:chOff x="0" y="0"/>
          <a:chExt cx="0" cy="0"/>
        </a:xfrm>
      </p:grpSpPr>
      <p:sp>
        <p:nvSpPr>
          <p:cNvPr id="117" name="Google Shape;117;p6"/>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Cách thiết kế Auto Trade Chứng khoán SSI</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8" name="Google Shape;118;p6"/>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800" b="1" i="0" u="none" strike="noStrike" cap="none" dirty="0">
                <a:solidFill>
                  <a:srgbClr val="000000"/>
                </a:solidFill>
                <a:latin typeface="Arial" panose="020B0604020202020204"/>
                <a:ea typeface="Arial" panose="020B0604020202020204"/>
                <a:cs typeface="Arial" panose="020B0604020202020204"/>
                <a:sym typeface="Arial" panose="020B0604020202020204"/>
              </a:rPr>
              <a:t>Đây là những điểm chính của Auto Trade/ Các yếu tố cơ bản cần thiết thiết lập Autotrade</a:t>
            </a:r>
            <a:endParaRPr sz="18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444500" marR="0" lvl="0" indent="-330200" algn="just" rtl="0">
              <a:lnSpc>
                <a:spcPct val="115000"/>
              </a:lnSpc>
              <a:spcBef>
                <a:spcPts val="1600"/>
              </a:spcBef>
              <a:spcAft>
                <a:spcPts val="0"/>
              </a:spcAft>
              <a:buClr>
                <a:schemeClr val="dk1"/>
              </a:buClr>
              <a:buSzPts val="1800"/>
              <a:buFont typeface="Arial" panose="020B0604020202020204"/>
              <a:buAutoNum type="arabicPeriod"/>
            </a:pPr>
            <a:r>
              <a:rPr lang="vi-VN" sz="1100" b="1" i="0" u="sng" strike="noStrike" cap="none" dirty="0">
                <a:solidFill>
                  <a:srgbClr val="000000"/>
                </a:solidFill>
                <a:sym typeface="Arial" panose="020B0604020202020204"/>
              </a:rPr>
              <a:t>Các Quy Tắc Giao Dịch</a:t>
            </a:r>
            <a:r>
              <a:rPr lang="vi-VN" sz="1100" b="0" i="0" u="none" strike="noStrike" cap="none" dirty="0">
                <a:solidFill>
                  <a:srgbClr val="000000"/>
                </a:solidFill>
                <a:sym typeface="Arial" panose="020B0604020202020204"/>
              </a:rPr>
              <a:t>: Auto Trade yêu cầu việc thiết lập </a:t>
            </a:r>
            <a:r>
              <a:rPr lang="vi-VN" sz="1100" b="1" i="0" u="sng" strike="noStrike" cap="none" dirty="0">
                <a:solidFill>
                  <a:srgbClr val="FF0000"/>
                </a:solidFill>
                <a:sym typeface="Arial" panose="020B0604020202020204"/>
              </a:rPr>
              <a:t>các quy tắc giao dịch rõ ràng và cụ thể</a:t>
            </a:r>
            <a:r>
              <a:rPr lang="vi-VN" sz="1100" b="0" i="0" u="none" strike="noStrike" cap="none" dirty="0">
                <a:solidFill>
                  <a:srgbClr val="000000"/>
                </a:solidFill>
                <a:sym typeface="Arial" panose="020B0604020202020204"/>
              </a:rPr>
              <a:t>. Những quy tắc này có thể dựa trên các </a:t>
            </a:r>
            <a:r>
              <a:rPr lang="vi-VN" sz="1100" b="0" i="0" u="sng" strike="noStrike" cap="none" dirty="0">
                <a:solidFill>
                  <a:srgbClr val="FF0000"/>
                </a:solidFill>
                <a:sym typeface="Arial" panose="020B0604020202020204"/>
              </a:rPr>
              <a:t>chỉ báo kỹ thuật</a:t>
            </a:r>
            <a:r>
              <a:rPr lang="vi-VN" sz="1100" b="0" i="0" u="sng" strike="noStrike" cap="none" dirty="0">
                <a:solidFill>
                  <a:srgbClr val="000000"/>
                </a:solidFill>
                <a:sym typeface="Arial" panose="020B0604020202020204"/>
              </a:rPr>
              <a:t>, </a:t>
            </a:r>
            <a:r>
              <a:rPr lang="vi-VN" sz="1100" b="0" i="0" u="sng" strike="noStrike" cap="none" dirty="0">
                <a:solidFill>
                  <a:srgbClr val="FF0000"/>
                </a:solidFill>
                <a:sym typeface="Arial" panose="020B0604020202020204"/>
              </a:rPr>
              <a:t>mô hình giá</a:t>
            </a:r>
            <a:r>
              <a:rPr lang="vi-VN" sz="1100" b="0" i="0" u="none" strike="noStrike" cap="none" dirty="0">
                <a:solidFill>
                  <a:srgbClr val="000000"/>
                </a:solidFill>
                <a:sym typeface="Arial" panose="020B0604020202020204"/>
              </a:rPr>
              <a:t>, hoặc </a:t>
            </a:r>
            <a:r>
              <a:rPr lang="vi-VN" sz="1100" b="0" i="0" u="sng" strike="noStrike" cap="none" dirty="0">
                <a:solidFill>
                  <a:srgbClr val="FF0000"/>
                </a:solidFill>
                <a:sym typeface="Arial" panose="020B0604020202020204"/>
              </a:rPr>
              <a:t>các loại phân tích khác như phân tích cơ bản hoặc tin tức</a:t>
            </a:r>
            <a:r>
              <a:rPr lang="vi-VN" sz="1100" b="0" i="0" u="sng" strike="noStrike" cap="none" dirty="0">
                <a:solidFill>
                  <a:srgbClr val="000000"/>
                </a:solidFill>
                <a:sym typeface="Arial" panose="020B0604020202020204"/>
              </a:rPr>
              <a:t>.</a:t>
            </a:r>
            <a:endParaRPr sz="1100" b="0" i="0" u="sng" strike="noStrike" cap="none" dirty="0">
              <a:solidFill>
                <a:srgbClr val="000000"/>
              </a:solidFill>
              <a:sym typeface="Arial" panose="020B0604020202020204"/>
            </a:endParaRPr>
          </a:p>
          <a:p>
            <a:pPr marL="444500" marR="0" lvl="0" indent="-330200" algn="just" rtl="0">
              <a:lnSpc>
                <a:spcPct val="115000"/>
              </a:lnSpc>
              <a:spcBef>
                <a:spcPts val="1600"/>
              </a:spcBef>
              <a:spcAft>
                <a:spcPts val="0"/>
              </a:spcAft>
              <a:buClr>
                <a:schemeClr val="dk1"/>
              </a:buClr>
              <a:buSzPts val="1800"/>
              <a:buFont typeface="Arial" panose="020B0604020202020204"/>
              <a:buAutoNum type="arabicPeriod"/>
            </a:pPr>
            <a:r>
              <a:rPr lang="vi-VN" sz="1100" b="1" i="0" u="sng" strike="noStrike" cap="none" dirty="0">
                <a:solidFill>
                  <a:srgbClr val="000000"/>
                </a:solidFill>
                <a:sym typeface="Arial" panose="020B0604020202020204"/>
              </a:rPr>
              <a:t>Lập Trình</a:t>
            </a:r>
            <a:r>
              <a:rPr lang="vi-VN" sz="1100" b="0" i="0" u="sng" strike="noStrike" cap="none" dirty="0">
                <a:solidFill>
                  <a:srgbClr val="000000"/>
                </a:solidFill>
                <a:sym typeface="Arial" panose="020B0604020202020204"/>
              </a:rPr>
              <a:t>: </a:t>
            </a:r>
            <a:r>
              <a:rPr lang="vi-VN" sz="1100" b="0" i="0" u="none" strike="noStrike" cap="none" dirty="0">
                <a:solidFill>
                  <a:srgbClr val="000000"/>
                </a:solidFill>
                <a:sym typeface="Arial" panose="020B0604020202020204"/>
              </a:rPr>
              <a:t>Các quy tắc giao dịch được </a:t>
            </a:r>
            <a:r>
              <a:rPr lang="vi-VN" sz="1100" b="1" i="0" u="none" strike="noStrike" cap="none" dirty="0">
                <a:solidFill>
                  <a:srgbClr val="FF0000"/>
                </a:solidFill>
                <a:sym typeface="Arial" panose="020B0604020202020204"/>
              </a:rPr>
              <a:t>mã hóa vào trong một chương trình máy tính</a:t>
            </a:r>
            <a:r>
              <a:rPr lang="vi-VN" sz="1100" b="0" i="0" u="none" strike="noStrike" cap="none" dirty="0">
                <a:solidFill>
                  <a:srgbClr val="000000"/>
                </a:solidFill>
                <a:sym typeface="Arial" panose="020B0604020202020204"/>
              </a:rPr>
              <a:t>. Mã hóa này </a:t>
            </a:r>
            <a:r>
              <a:rPr lang="vi-VN" sz="1100" b="1" i="0" u="none" strike="noStrike" cap="none" dirty="0">
                <a:solidFill>
                  <a:srgbClr val="000000"/>
                </a:solidFill>
                <a:sym typeface="Arial" panose="020B0604020202020204"/>
              </a:rPr>
              <a:t>cho phép máy tính thực hiện giao dịch</a:t>
            </a:r>
            <a:r>
              <a:rPr lang="vi-VN" sz="1100" b="0" i="0" u="none" strike="noStrike" cap="none" dirty="0">
                <a:solidFill>
                  <a:srgbClr val="000000"/>
                </a:solidFill>
                <a:sym typeface="Arial" panose="020B0604020202020204"/>
              </a:rPr>
              <a:t> mà </a:t>
            </a:r>
            <a:r>
              <a:rPr lang="vi-VN" sz="1100" b="1" i="0" u="none" strike="noStrike" cap="none" dirty="0">
                <a:solidFill>
                  <a:srgbClr val="FF0000"/>
                </a:solidFill>
                <a:sym typeface="Arial" panose="020B0604020202020204"/>
              </a:rPr>
              <a:t>không cần sự can thiệp của con người</a:t>
            </a:r>
            <a:r>
              <a:rPr lang="vi-VN" sz="1100" b="0" i="0" u="none" strike="noStrike" cap="none" dirty="0">
                <a:solidFill>
                  <a:srgbClr val="000000"/>
                </a:solidFill>
                <a:sym typeface="Arial" panose="020B0604020202020204"/>
              </a:rPr>
              <a:t>.</a:t>
            </a:r>
            <a:endParaRPr sz="1100" b="0" i="0" u="none" strike="noStrike" cap="none" dirty="0">
              <a:solidFill>
                <a:srgbClr val="000000"/>
              </a:solidFill>
              <a:sym typeface="Arial" panose="020B0604020202020204"/>
            </a:endParaRPr>
          </a:p>
          <a:p>
            <a:pPr marL="444500" marR="0" lvl="0" indent="-330200" algn="just" rtl="0">
              <a:lnSpc>
                <a:spcPct val="115000"/>
              </a:lnSpc>
              <a:spcBef>
                <a:spcPts val="1600"/>
              </a:spcBef>
              <a:spcAft>
                <a:spcPts val="0"/>
              </a:spcAft>
              <a:buClr>
                <a:schemeClr val="dk1"/>
              </a:buClr>
              <a:buSzPts val="1800"/>
              <a:buFont typeface="Arial" panose="020B0604020202020204"/>
              <a:buAutoNum type="arabicPeriod"/>
            </a:pPr>
            <a:r>
              <a:rPr lang="vi-VN" sz="1100" b="1" i="0" u="sng" strike="noStrike" cap="none" dirty="0">
                <a:solidFill>
                  <a:srgbClr val="000000"/>
                </a:solidFill>
                <a:sym typeface="Arial" panose="020B0604020202020204"/>
              </a:rPr>
              <a:t>Tự Động Hóa</a:t>
            </a:r>
            <a:r>
              <a:rPr lang="vi-VN" sz="1100" b="0" i="0" u="sng" strike="noStrike" cap="none" dirty="0">
                <a:solidFill>
                  <a:srgbClr val="000000"/>
                </a:solidFill>
                <a:sym typeface="Arial" panose="020B0604020202020204"/>
              </a:rPr>
              <a:t>: </a:t>
            </a:r>
            <a:r>
              <a:rPr lang="vi-VN" sz="1100" b="0" i="0" u="none" strike="noStrike" cap="none" dirty="0">
                <a:solidFill>
                  <a:srgbClr val="000000"/>
                </a:solidFill>
                <a:sym typeface="Arial" panose="020B0604020202020204"/>
              </a:rPr>
              <a:t>Hệ thống tự động có khả năng </a:t>
            </a:r>
            <a:r>
              <a:rPr lang="vi-VN" sz="1100" b="1" i="0" u="none" strike="noStrike" cap="none" dirty="0">
                <a:solidFill>
                  <a:srgbClr val="FF0000"/>
                </a:solidFill>
                <a:sym typeface="Arial" panose="020B0604020202020204"/>
              </a:rPr>
              <a:t>quét qua thị trường để tìm cơ hội giao dịch</a:t>
            </a:r>
            <a:r>
              <a:rPr lang="vi-VN" sz="1100" b="0" i="0" u="none" strike="noStrike" cap="none" dirty="0">
                <a:solidFill>
                  <a:srgbClr val="000000"/>
                </a:solidFill>
                <a:sym typeface="Arial" panose="020B0604020202020204"/>
              </a:rPr>
              <a:t>, </a:t>
            </a:r>
            <a:r>
              <a:rPr lang="vi-VN" sz="1100" b="1" i="0" u="none" strike="noStrike" cap="none" dirty="0">
                <a:solidFill>
                  <a:srgbClr val="000000"/>
                </a:solidFill>
                <a:sym typeface="Arial" panose="020B0604020202020204"/>
              </a:rPr>
              <a:t>đồng thời thực hiện </a:t>
            </a:r>
            <a:r>
              <a:rPr lang="vi-VN" sz="1100" b="1" i="0" u="none" strike="noStrike" cap="none" dirty="0">
                <a:solidFill>
                  <a:srgbClr val="FF0000"/>
                </a:solidFill>
                <a:sym typeface="Arial" panose="020B0604020202020204"/>
              </a:rPr>
              <a:t>mua </a:t>
            </a:r>
            <a:r>
              <a:rPr lang="en-US" sz="1100" b="1" i="0" u="none" strike="noStrike" cap="none" dirty="0" err="1" smtClean="0">
                <a:solidFill>
                  <a:srgbClr val="FF0000"/>
                </a:solidFill>
                <a:sym typeface="Arial" panose="020B0604020202020204"/>
              </a:rPr>
              <a:t>hoặc</a:t>
            </a:r>
            <a:r>
              <a:rPr lang="vi-VN" sz="1100" b="1" i="0" u="none" strike="noStrike" cap="none" dirty="0" smtClean="0">
                <a:solidFill>
                  <a:srgbClr val="FF0000"/>
                </a:solidFill>
                <a:sym typeface="Arial" panose="020B0604020202020204"/>
              </a:rPr>
              <a:t> </a:t>
            </a:r>
            <a:r>
              <a:rPr lang="vi-VN" sz="1100" b="1" i="0" u="none" strike="noStrike" cap="none" dirty="0">
                <a:solidFill>
                  <a:srgbClr val="FF0000"/>
                </a:solidFill>
                <a:sym typeface="Arial" panose="020B0604020202020204"/>
              </a:rPr>
              <a:t>bán </a:t>
            </a:r>
            <a:r>
              <a:rPr lang="vi-VN" sz="1100" b="1" i="0" u="none" strike="noStrike" cap="none" dirty="0">
                <a:solidFill>
                  <a:srgbClr val="000000"/>
                </a:solidFill>
                <a:sym typeface="Arial" panose="020B0604020202020204"/>
              </a:rPr>
              <a:t>mà không cần sự </a:t>
            </a:r>
            <a:r>
              <a:rPr lang="vi-VN" sz="1100" b="1" i="0" u="none" strike="noStrike" cap="none" dirty="0">
                <a:solidFill>
                  <a:srgbClr val="FF0000"/>
                </a:solidFill>
                <a:sym typeface="Arial" panose="020B0604020202020204"/>
              </a:rPr>
              <a:t>chấp thuận thủ công </a:t>
            </a:r>
            <a:r>
              <a:rPr lang="vi-VN" sz="1100" b="1" i="0" u="none" strike="noStrike" cap="none" dirty="0">
                <a:solidFill>
                  <a:srgbClr val="000000"/>
                </a:solidFill>
                <a:sym typeface="Arial" panose="020B0604020202020204"/>
              </a:rPr>
              <a:t>từ nhà đầu tư</a:t>
            </a:r>
            <a:r>
              <a:rPr lang="vi-VN" sz="1100" b="0" i="0" u="none" strike="noStrike" cap="none" dirty="0">
                <a:solidFill>
                  <a:srgbClr val="000000"/>
                </a:solidFill>
                <a:sym typeface="Arial" panose="020B0604020202020204"/>
              </a:rPr>
              <a:t>.</a:t>
            </a:r>
            <a:endParaRPr sz="1100" b="0" i="0" u="none" strike="noStrike" cap="none" dirty="0">
              <a:solidFill>
                <a:srgbClr val="000000"/>
              </a:solidFill>
              <a:sym typeface="Arial" panose="020B0604020202020204"/>
            </a:endParaRPr>
          </a:p>
          <a:p>
            <a:pPr marL="444500" marR="0" lvl="0" indent="-330200" algn="just" rtl="0">
              <a:lnSpc>
                <a:spcPct val="115000"/>
              </a:lnSpc>
              <a:spcBef>
                <a:spcPts val="1600"/>
              </a:spcBef>
              <a:spcAft>
                <a:spcPts val="0"/>
              </a:spcAft>
              <a:buClr>
                <a:schemeClr val="dk1"/>
              </a:buClr>
              <a:buSzPts val="1800"/>
              <a:buFont typeface="Arial" panose="020B0604020202020204"/>
              <a:buAutoNum type="arabicPeriod"/>
            </a:pPr>
            <a:r>
              <a:rPr lang="vi-VN" sz="1100" b="1" i="0" u="sng" strike="noStrike" cap="none" dirty="0">
                <a:solidFill>
                  <a:srgbClr val="000000"/>
                </a:solidFill>
                <a:sym typeface="Arial" panose="020B0604020202020204"/>
              </a:rPr>
              <a:t>Quản Lý Rủi Ro</a:t>
            </a:r>
            <a:r>
              <a:rPr lang="vi-VN" sz="1100" b="0" i="0" u="none" strike="noStrike" cap="none" dirty="0">
                <a:solidFill>
                  <a:srgbClr val="000000"/>
                </a:solidFill>
                <a:sym typeface="Arial" panose="020B0604020202020204"/>
              </a:rPr>
              <a:t>: Các hệ thống giao dịch tự động thường có các tính năng quản lý rủi ro để </a:t>
            </a:r>
            <a:r>
              <a:rPr lang="vi-VN" sz="1100" b="1" i="0" u="sng" strike="noStrike" cap="none" dirty="0">
                <a:solidFill>
                  <a:srgbClr val="000000"/>
                </a:solidFill>
                <a:sym typeface="Arial" panose="020B0604020202020204"/>
              </a:rPr>
              <a:t>giới hạn thua lỗ</a:t>
            </a:r>
            <a:r>
              <a:rPr lang="vi-VN" sz="1100" b="0" i="0" u="none" strike="noStrike" cap="none" dirty="0">
                <a:solidFill>
                  <a:srgbClr val="000000"/>
                </a:solidFill>
                <a:sym typeface="Arial" panose="020B0604020202020204"/>
              </a:rPr>
              <a:t>, như việc đặt các lệnh dừng lỗ </a:t>
            </a:r>
            <a:r>
              <a:rPr lang="vi-VN" sz="1100" b="1" i="0" u="none" strike="noStrike" cap="none" dirty="0">
                <a:solidFill>
                  <a:srgbClr val="000000"/>
                </a:solidFill>
                <a:sym typeface="Arial" panose="020B0604020202020204"/>
              </a:rPr>
              <a:t>(stop-loss orders) </a:t>
            </a:r>
            <a:r>
              <a:rPr lang="vi-VN" sz="1100" b="0" i="0" u="none" strike="noStrike" cap="none" dirty="0">
                <a:solidFill>
                  <a:srgbClr val="000000"/>
                </a:solidFill>
                <a:sym typeface="Arial" panose="020B0604020202020204"/>
              </a:rPr>
              <a:t>và lấy lợi nhuận </a:t>
            </a:r>
            <a:r>
              <a:rPr lang="vi-VN" sz="1100" b="1" i="0" u="none" strike="noStrike" cap="none" dirty="0">
                <a:solidFill>
                  <a:srgbClr val="000000"/>
                </a:solidFill>
                <a:sym typeface="Arial" panose="020B0604020202020204"/>
              </a:rPr>
              <a:t>(take-profit orders).</a:t>
            </a:r>
            <a:endParaRPr sz="1100" b="1" i="0" u="none" strike="noStrike" cap="none" dirty="0">
              <a:solidFill>
                <a:srgbClr val="000000"/>
              </a:solidFill>
              <a:sym typeface="Arial" panose="020B0604020202020204"/>
            </a:endParaRPr>
          </a:p>
          <a:p>
            <a:pPr marL="444500" marR="0" lvl="0" indent="-330200" algn="just" rtl="0">
              <a:lnSpc>
                <a:spcPct val="115000"/>
              </a:lnSpc>
              <a:spcBef>
                <a:spcPts val="1600"/>
              </a:spcBef>
              <a:spcAft>
                <a:spcPts val="0"/>
              </a:spcAft>
              <a:buClr>
                <a:schemeClr val="dk1"/>
              </a:buClr>
              <a:buSzPts val="1800"/>
              <a:buFont typeface="Arial" panose="020B0604020202020204"/>
              <a:buAutoNum type="arabicPeriod"/>
            </a:pPr>
            <a:r>
              <a:rPr lang="vi-VN" sz="1100" b="1" i="0" u="sng" strike="noStrike" cap="none" dirty="0">
                <a:solidFill>
                  <a:srgbClr val="000000"/>
                </a:solidFill>
                <a:sym typeface="Arial" panose="020B0604020202020204"/>
              </a:rPr>
              <a:t>Backtesting</a:t>
            </a:r>
            <a:r>
              <a:rPr lang="vi-VN" sz="1100" b="0" i="0" u="sng" strike="noStrike" cap="none" dirty="0">
                <a:solidFill>
                  <a:srgbClr val="000000"/>
                </a:solidFill>
                <a:sym typeface="Arial" panose="020B0604020202020204"/>
              </a:rPr>
              <a:t>:</a:t>
            </a:r>
            <a:r>
              <a:rPr lang="vi-VN" sz="1100" b="0" i="0" u="none" strike="noStrike" cap="none" dirty="0">
                <a:solidFill>
                  <a:srgbClr val="000000"/>
                </a:solidFill>
                <a:sym typeface="Arial" panose="020B0604020202020204"/>
              </a:rPr>
              <a:t> Trước khi triển khai, hệ thống tự động thường được backtest, nghĩa là được kiểm tra trên </a:t>
            </a:r>
            <a:r>
              <a:rPr lang="vi-VN" sz="1100" b="1" i="0" u="none" strike="noStrike" cap="none" dirty="0">
                <a:solidFill>
                  <a:srgbClr val="000000"/>
                </a:solidFill>
                <a:sym typeface="Arial" panose="020B0604020202020204"/>
              </a:rPr>
              <a:t>dữ liệu lịch sử </a:t>
            </a:r>
            <a:r>
              <a:rPr lang="vi-VN" sz="1100" b="0" i="0" u="none" strike="noStrike" cap="none" dirty="0">
                <a:solidFill>
                  <a:srgbClr val="000000"/>
                </a:solidFill>
                <a:sym typeface="Arial" panose="020B0604020202020204"/>
              </a:rPr>
              <a:t>để </a:t>
            </a:r>
            <a:r>
              <a:rPr lang="vi-VN" sz="1100" b="1" i="0" u="none" strike="noStrike" cap="none" dirty="0">
                <a:solidFill>
                  <a:srgbClr val="000000"/>
                </a:solidFill>
                <a:sym typeface="Arial" panose="020B0604020202020204"/>
              </a:rPr>
              <a:t>đánh giá hiệu quả của chiến lược</a:t>
            </a:r>
            <a:r>
              <a:rPr lang="vi-VN" sz="1100" b="0" i="0" u="none" strike="noStrike" cap="none" dirty="0">
                <a:solidFill>
                  <a:srgbClr val="000000"/>
                </a:solidFill>
                <a:sym typeface="Arial" panose="020B0604020202020204"/>
              </a:rPr>
              <a:t>.</a:t>
            </a:r>
            <a:endParaRPr sz="1100" b="0" i="0" u="none" strike="noStrike" cap="none" dirty="0">
              <a:solidFill>
                <a:srgbClr val="000000"/>
              </a:solidFill>
              <a:sym typeface="Arial" panose="020B0604020202020204"/>
            </a:endParaRPr>
          </a:p>
          <a:p>
            <a:pPr marL="444500" marR="0" lvl="0" indent="-330200" algn="just" rtl="0">
              <a:lnSpc>
                <a:spcPct val="115000"/>
              </a:lnSpc>
              <a:spcBef>
                <a:spcPts val="1600"/>
              </a:spcBef>
              <a:spcAft>
                <a:spcPts val="0"/>
              </a:spcAft>
              <a:buClr>
                <a:schemeClr val="dk1"/>
              </a:buClr>
              <a:buSzPts val="1800"/>
              <a:buFont typeface="Arial" panose="020B0604020202020204"/>
              <a:buAutoNum type="arabicPeriod"/>
            </a:pPr>
            <a:r>
              <a:rPr lang="vi-VN" sz="1100" b="1" i="0" u="sng" strike="noStrike" cap="none" dirty="0">
                <a:solidFill>
                  <a:srgbClr val="000000"/>
                </a:solidFill>
                <a:sym typeface="Arial" panose="020B0604020202020204"/>
              </a:rPr>
              <a:t>Tối Ưu Hóa</a:t>
            </a:r>
            <a:r>
              <a:rPr lang="vi-VN" sz="1100" b="0" i="0" u="sng" strike="noStrike" cap="none" dirty="0">
                <a:solidFill>
                  <a:srgbClr val="000000"/>
                </a:solidFill>
                <a:sym typeface="Arial" panose="020B0604020202020204"/>
              </a:rPr>
              <a:t>:</a:t>
            </a:r>
            <a:r>
              <a:rPr lang="vi-VN" sz="1100" b="0" i="0" u="none" strike="noStrike" cap="none" dirty="0">
                <a:solidFill>
                  <a:srgbClr val="000000"/>
                </a:solidFill>
                <a:sym typeface="Arial" panose="020B0604020202020204"/>
              </a:rPr>
              <a:t> Hệ thống cần được tối ưu hóa liên tục để đảm bảo rằng nó phản ánh chính xác các điều kiện thị trường hiện tại và duy trì hiệu suất.</a:t>
            </a:r>
            <a:endParaRPr sz="1100" b="0" i="0" u="none" strike="noStrike" cap="none" dirty="0">
              <a:solidFill>
                <a:srgbClr val="000000"/>
              </a:solidFill>
              <a:sym typeface="Arial" panose="020B0604020202020204"/>
            </a:endParaRPr>
          </a:p>
          <a:p>
            <a:pPr marL="444500" marR="0" lvl="0" indent="-330200" algn="just" rtl="0">
              <a:lnSpc>
                <a:spcPct val="115000"/>
              </a:lnSpc>
              <a:spcBef>
                <a:spcPts val="1600"/>
              </a:spcBef>
              <a:spcAft>
                <a:spcPts val="0"/>
              </a:spcAft>
              <a:buClr>
                <a:schemeClr val="dk1"/>
              </a:buClr>
              <a:buSzPts val="1800"/>
              <a:buFont typeface="Arial" panose="020B0604020202020204"/>
              <a:buAutoNum type="arabicPeriod"/>
            </a:pPr>
            <a:r>
              <a:rPr lang="vi-VN" sz="1100" b="1" i="0" u="sng" strike="noStrike" cap="none" dirty="0">
                <a:solidFill>
                  <a:srgbClr val="000000"/>
                </a:solidFill>
                <a:sym typeface="Arial" panose="020B0604020202020204"/>
              </a:rPr>
              <a:t>Giám Sát</a:t>
            </a:r>
            <a:r>
              <a:rPr lang="vi-VN" sz="1100" b="0" i="0" u="sng" strike="noStrike" cap="none" dirty="0">
                <a:solidFill>
                  <a:srgbClr val="000000"/>
                </a:solidFill>
                <a:sym typeface="Arial" panose="020B0604020202020204"/>
              </a:rPr>
              <a:t>: </a:t>
            </a:r>
            <a:r>
              <a:rPr lang="vi-VN" sz="1100" b="0" i="0" u="none" strike="noStrike" cap="none" dirty="0">
                <a:solidFill>
                  <a:srgbClr val="000000"/>
                </a:solidFill>
                <a:sym typeface="Arial" panose="020B0604020202020204"/>
              </a:rPr>
              <a:t>Mặc dù giao dịch tự động giảm bớt cần thiết cho sự can thiệp của con người, nhưng các hệ thống này vẫn cần được giám sát để tránh các </a:t>
            </a:r>
            <a:r>
              <a:rPr lang="vi-VN" sz="1100" b="1" i="0" u="none" strike="noStrike" cap="none" dirty="0">
                <a:solidFill>
                  <a:srgbClr val="000000"/>
                </a:solidFill>
                <a:sym typeface="Arial" panose="020B0604020202020204"/>
              </a:rPr>
              <a:t>lỗi kỹ thuật hoặc để điều chỉnh trong trường hợp xảy ra sự kiện thị trường không lường trước được.</a:t>
            </a:r>
            <a:endParaRPr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22"/>
        <p:cNvGrpSpPr/>
        <p:nvPr/>
      </p:nvGrpSpPr>
      <p:grpSpPr>
        <a:xfrm>
          <a:off x="0" y="0"/>
          <a:ext cx="0" cy="0"/>
          <a:chOff x="0" y="0"/>
          <a:chExt cx="0" cy="0"/>
        </a:xfrm>
      </p:grpSpPr>
      <p:sp>
        <p:nvSpPr>
          <p:cNvPr id="123" name="Google Shape;123;p7"/>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Cách thiết kế Auto Trade Chứng khoán SSI</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4" name="Google Shape;124;p7"/>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Các Quy Tắc Giao Dịch</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Auto Trade yêu cầu việc thiết lập các quy tắc giao dịch rõ ràng và cụ thể. Những quy tắc này có thể dựa trên các chỉ báo kỹ thuật, mô hình giá, hoặc các loại phân tích khác như phân tích cơ bản hoặc tin tức.</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400" b="0" i="0" u="none" strike="noStrike" cap="none" dirty="0">
                <a:solidFill>
                  <a:schemeClr val="tx1"/>
                </a:solidFill>
                <a:latin typeface="Arial" panose="020B0604020202020204"/>
                <a:ea typeface="Arial" panose="020B0604020202020204"/>
                <a:cs typeface="Arial" panose="020B0604020202020204"/>
                <a:sym typeface="Arial" panose="020B0604020202020204"/>
              </a:rPr>
              <a:t>Cụ thể hóa những quy tắc này thành các hướng dẫn chi tiết về </a:t>
            </a:r>
            <a:r>
              <a:rPr lang="vi-VN" sz="1400" b="1" i="0" u="none" strike="noStrike" cap="none" dirty="0">
                <a:solidFill>
                  <a:srgbClr val="FF0000"/>
                </a:solidFill>
                <a:latin typeface="Arial" panose="020B0604020202020204"/>
                <a:ea typeface="Arial" panose="020B0604020202020204"/>
                <a:cs typeface="Arial" panose="020B0604020202020204"/>
                <a:sym typeface="Arial" panose="020B0604020202020204"/>
              </a:rPr>
              <a:t>khi nào </a:t>
            </a:r>
            <a:r>
              <a:rPr lang="en-US" sz="1400" b="1" i="0" u="none" strike="noStrike" cap="none" dirty="0" err="1" smtClean="0">
                <a:solidFill>
                  <a:srgbClr val="FF0000"/>
                </a:solidFill>
                <a:latin typeface="Arial" panose="020B0604020202020204"/>
                <a:ea typeface="Arial" panose="020B0604020202020204"/>
                <a:cs typeface="Arial" panose="020B0604020202020204"/>
                <a:sym typeface="Arial" panose="020B0604020202020204"/>
              </a:rPr>
              <a:t>làm</a:t>
            </a:r>
            <a:r>
              <a:rPr lang="en-US" sz="14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 </a:t>
            </a:r>
            <a:r>
              <a:rPr lang="vi-VN" sz="1400" b="1" i="0" u="none" strike="noStrike" cap="none" dirty="0" smtClean="0">
                <a:solidFill>
                  <a:srgbClr val="FF0000"/>
                </a:solidFill>
                <a:latin typeface="Arial" panose="020B0604020202020204"/>
                <a:ea typeface="Arial" panose="020B0604020202020204"/>
                <a:cs typeface="Arial" panose="020B0604020202020204"/>
                <a:sym typeface="Arial" panose="020B0604020202020204"/>
              </a:rPr>
              <a:t>và </a:t>
            </a:r>
            <a:r>
              <a:rPr lang="vi-VN" sz="1400" b="1" i="0" u="none" strike="noStrike" cap="none" dirty="0">
                <a:solidFill>
                  <a:srgbClr val="FF0000"/>
                </a:solidFill>
                <a:latin typeface="Arial" panose="020B0604020202020204"/>
                <a:ea typeface="Arial" panose="020B0604020202020204"/>
                <a:cs typeface="Arial" panose="020B0604020202020204"/>
                <a:sym typeface="Arial" panose="020B0604020202020204"/>
              </a:rPr>
              <a:t>làm thế nào </a:t>
            </a:r>
            <a:r>
              <a:rPr lang="vi-VN" sz="1400" b="0" i="0" u="none" strike="noStrike" cap="none" dirty="0">
                <a:solidFill>
                  <a:schemeClr val="tx1"/>
                </a:solidFill>
                <a:latin typeface="Arial" panose="020B0604020202020204"/>
                <a:ea typeface="Arial" panose="020B0604020202020204"/>
                <a:cs typeface="Arial" panose="020B0604020202020204"/>
                <a:sym typeface="Arial" panose="020B0604020202020204"/>
              </a:rPr>
              <a:t>để thực hiện giao dịch</a:t>
            </a:r>
            <a:endParaRPr sz="1400" b="0" i="0" u="none" strike="noStrike" cap="none" dirty="0">
              <a:solidFill>
                <a:schemeClr val="tx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Ví dụ cho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Chiến lược Doji chân dài </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Mua</a:t>
            </a:r>
            <a:r>
              <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en-US" sz="1400" b="1" i="0" u="none" strike="noStrike" cap="none" dirty="0" err="1" smtClean="0">
                <a:solidFill>
                  <a:srgbClr val="000000"/>
                </a:solidFill>
                <a:latin typeface="Arial" panose="020B0604020202020204"/>
                <a:ea typeface="Arial" panose="020B0604020202020204"/>
                <a:cs typeface="Arial" panose="020B0604020202020204"/>
                <a:sym typeface="Arial" panose="020B0604020202020204"/>
              </a:rPr>
              <a:t>bán</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chứng khoán</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a:t>
            </a:r>
            <a:endParaRPr dirty="0"/>
          </a:p>
          <a:p>
            <a:pPr marL="101600" marR="0" lvl="0" indent="0" algn="just" rtl="0">
              <a:lnSpc>
                <a:spcPct val="115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Tần Suất Giao Dịch</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Nến theo khung nào =&gt;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Ngày</a:t>
            </a:r>
            <a:endParaRPr dirty="0"/>
          </a:p>
          <a:p>
            <a:pPr marL="101600" marR="0" lvl="0" indent="0" algn="just" rtl="0">
              <a:lnSpc>
                <a:spcPct val="115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Biểu đồ giá: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Các chỉ số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OHLC (tieu chuan cua San) / OHLC (5m+2)</a:t>
            </a:r>
            <a:endParaRPr sz="14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Chỉ Báo Kỹ Thuật: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Sử dụng các chỉ báo như </a:t>
            </a:r>
            <a:r>
              <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MA</a:t>
            </a: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RSI (Relative Strength Index), MACD (Moving Average Convergence Divergence</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a:t>
            </a:r>
            <a:r>
              <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để xác định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điểm mua hoặc bán </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a:t>
            </a:r>
            <a:r>
              <a:rPr lang="en-US" b="1" dirty="0" err="1" smtClean="0"/>
              <a:t>điểm</a:t>
            </a:r>
            <a:r>
              <a:rPr lang="en-US" b="1" dirty="0" smtClean="0"/>
              <a:t> </a:t>
            </a:r>
            <a:r>
              <a:rPr lang="en-US" b="1" dirty="0" err="1" smtClean="0"/>
              <a:t>vào</a:t>
            </a:r>
            <a:r>
              <a:rPr lang="en-US" b="1" dirty="0" smtClean="0"/>
              <a:t> </a:t>
            </a:r>
            <a:r>
              <a:rPr lang="en-US" b="1" dirty="0" err="1" smtClean="0"/>
              <a:t>lệnh</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a:t>
            </a: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endParaRPr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Font typeface="Symbol" panose="05050102010706020507" pitchFamily="18" charset="2"/>
              <a:buChar char="Þ"/>
            </a:pP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Tín hiệu Mua hoặc Bán</a:t>
            </a:r>
            <a:endPar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endParaRPr>
          </a:p>
          <a:p>
            <a:pPr marL="101600" algn="just">
              <a:lnSpc>
                <a:spcPct val="115000"/>
              </a:lnSpc>
              <a:spcBef>
                <a:spcPts val="1600"/>
              </a:spcBef>
            </a:pPr>
            <a:r>
              <a:rPr lang="en-US" dirty="0" smtClean="0"/>
              <a:t>  + </a:t>
            </a:r>
            <a:r>
              <a:rPr lang="en-US" dirty="0" err="1"/>
              <a:t>Chiến</a:t>
            </a:r>
            <a:r>
              <a:rPr lang="en-US" dirty="0"/>
              <a:t> </a:t>
            </a:r>
            <a:r>
              <a:rPr lang="en-US" dirty="0" err="1"/>
              <a:t>lược</a:t>
            </a:r>
            <a:r>
              <a:rPr lang="en-US" dirty="0"/>
              <a:t> </a:t>
            </a:r>
            <a:r>
              <a:rPr lang="en-US" dirty="0" err="1"/>
              <a:t>mua</a:t>
            </a:r>
            <a:r>
              <a:rPr lang="en-US" dirty="0"/>
              <a:t>: </a:t>
            </a:r>
            <a:r>
              <a:rPr lang="en-US" dirty="0" err="1"/>
              <a:t>Mua</a:t>
            </a:r>
            <a:r>
              <a:rPr lang="en-US" dirty="0"/>
              <a:t> </a:t>
            </a:r>
            <a:r>
              <a:rPr lang="en-US" dirty="0" err="1"/>
              <a:t>với</a:t>
            </a:r>
            <a:r>
              <a:rPr lang="en-US" dirty="0"/>
              <a:t> 1 </a:t>
            </a:r>
            <a:r>
              <a:rPr lang="en-US" dirty="0" err="1"/>
              <a:t>số</a:t>
            </a:r>
            <a:r>
              <a:rPr lang="en-US" dirty="0"/>
              <a:t> </a:t>
            </a:r>
            <a:r>
              <a:rPr lang="en-US" dirty="0" err="1"/>
              <a:t>lượng</a:t>
            </a:r>
            <a:r>
              <a:rPr lang="en-US" dirty="0"/>
              <a:t> </a:t>
            </a:r>
            <a:r>
              <a:rPr lang="en-US" dirty="0" err="1"/>
              <a:t>cổ</a:t>
            </a:r>
            <a:r>
              <a:rPr lang="en-US" dirty="0"/>
              <a:t> </a:t>
            </a:r>
            <a:r>
              <a:rPr lang="en-US" dirty="0" err="1"/>
              <a:t>phiếu</a:t>
            </a:r>
            <a:r>
              <a:rPr lang="en-US" dirty="0"/>
              <a:t> </a:t>
            </a:r>
            <a:r>
              <a:rPr lang="en-US" dirty="0" err="1"/>
              <a:t>cố</a:t>
            </a:r>
            <a:r>
              <a:rPr lang="en-US" dirty="0"/>
              <a:t> </a:t>
            </a:r>
            <a:r>
              <a:rPr lang="en-US" dirty="0" err="1"/>
              <a:t>định</a:t>
            </a:r>
            <a:r>
              <a:rPr lang="en-US" dirty="0"/>
              <a:t> hay </a:t>
            </a:r>
            <a:r>
              <a:rPr lang="en-US" dirty="0" err="1"/>
              <a:t>mua</a:t>
            </a:r>
            <a:r>
              <a:rPr lang="en-US" dirty="0"/>
              <a:t> </a:t>
            </a:r>
            <a:r>
              <a:rPr lang="en-US" dirty="0" err="1"/>
              <a:t>theo</a:t>
            </a:r>
            <a:r>
              <a:rPr lang="en-US" dirty="0"/>
              <a:t> </a:t>
            </a:r>
            <a:r>
              <a:rPr lang="en-US" dirty="0" err="1"/>
              <a:t>giá</a:t>
            </a:r>
            <a:r>
              <a:rPr lang="en-US" dirty="0"/>
              <a:t> </a:t>
            </a:r>
            <a:r>
              <a:rPr lang="en-US" dirty="0" err="1"/>
              <a:t>trị</a:t>
            </a:r>
            <a:r>
              <a:rPr lang="en-US" dirty="0"/>
              <a:t> </a:t>
            </a:r>
            <a:r>
              <a:rPr lang="en-US" dirty="0" err="1"/>
              <a:t>tiền</a:t>
            </a:r>
            <a:r>
              <a:rPr lang="en-US" dirty="0"/>
              <a:t>…</a:t>
            </a:r>
            <a:endParaRPr lang="en-US" dirty="0"/>
          </a:p>
          <a:p>
            <a:pPr marL="101600" algn="just">
              <a:lnSpc>
                <a:spcPct val="115000"/>
              </a:lnSpc>
              <a:spcBef>
                <a:spcPts val="1600"/>
              </a:spcBef>
            </a:pPr>
            <a:r>
              <a:rPr lang="en-US" dirty="0" smtClean="0"/>
              <a:t>  + </a:t>
            </a:r>
            <a:r>
              <a:rPr lang="en-US" dirty="0" err="1"/>
              <a:t>Chiến</a:t>
            </a:r>
            <a:r>
              <a:rPr lang="en-US" dirty="0"/>
              <a:t> </a:t>
            </a:r>
            <a:r>
              <a:rPr lang="en-US" dirty="0" err="1"/>
              <a:t>lược</a:t>
            </a:r>
            <a:r>
              <a:rPr lang="en-US" dirty="0"/>
              <a:t> </a:t>
            </a:r>
            <a:r>
              <a:rPr lang="en-US" dirty="0" err="1"/>
              <a:t>bán</a:t>
            </a:r>
            <a:r>
              <a:rPr lang="en-US" dirty="0"/>
              <a:t>: </a:t>
            </a:r>
            <a:r>
              <a:rPr lang="en-US" dirty="0" err="1"/>
              <a:t>Bán</a:t>
            </a:r>
            <a:r>
              <a:rPr lang="en-US" dirty="0"/>
              <a:t> </a:t>
            </a:r>
            <a:r>
              <a:rPr lang="en-US" dirty="0" err="1"/>
              <a:t>toàn</a:t>
            </a:r>
            <a:r>
              <a:rPr lang="en-US" dirty="0"/>
              <a:t> </a:t>
            </a:r>
            <a:r>
              <a:rPr lang="en-US" dirty="0" err="1"/>
              <a:t>bộ</a:t>
            </a:r>
            <a:r>
              <a:rPr lang="en-US" dirty="0"/>
              <a:t> hay </a:t>
            </a:r>
            <a:r>
              <a:rPr lang="en-US" dirty="0" err="1"/>
              <a:t>bán</a:t>
            </a:r>
            <a:r>
              <a:rPr lang="en-US" dirty="0"/>
              <a:t> 1 </a:t>
            </a:r>
            <a:r>
              <a:rPr lang="en-US" dirty="0" err="1"/>
              <a:t>phần</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28"/>
        <p:cNvGrpSpPr/>
        <p:nvPr/>
      </p:nvGrpSpPr>
      <p:grpSpPr>
        <a:xfrm>
          <a:off x="0" y="0"/>
          <a:ext cx="0" cy="0"/>
          <a:chOff x="0" y="0"/>
          <a:chExt cx="0" cy="0"/>
        </a:xfrm>
      </p:grpSpPr>
      <p:sp>
        <p:nvSpPr>
          <p:cNvPr id="129" name="Google Shape;129;p8"/>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Cách thiết kế Auto Trade Chứng khoán SSI</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0" name="Google Shape;130;p8"/>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Lập Trình</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Các quy tắc giao dịch được mã hóa vào trong một chương trình máy tính. Mã hóa này cho phép máy tính thực hiện giao dịch mà không cần sự can thiệp của con người.</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FontTx/>
              <a:buChar char="-"/>
            </a:pP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Cụ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thể hóa các quy tắc giao dịch thành mã </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code</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en-US"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Viết hàm xác định </a:t>
            </a:r>
            <a:r>
              <a:rPr lang="vi-VN" sz="1400" i="0" u="none" strike="noStrike" cap="none" dirty="0">
                <a:solidFill>
                  <a:srgbClr val="000000"/>
                </a:solidFill>
                <a:latin typeface="Arial" panose="020B0604020202020204"/>
                <a:ea typeface="Arial" panose="020B0604020202020204"/>
                <a:cs typeface="Arial" panose="020B0604020202020204"/>
                <a:sym typeface="Arial" panose="020B0604020202020204"/>
              </a:rPr>
              <a:t>mô hình Doji</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vi-VN" sz="1400" b="1" i="0" u="sng" strike="noStrike" cap="none" dirty="0">
                <a:solidFill>
                  <a:srgbClr val="000000"/>
                </a:solidFill>
                <a:latin typeface="Arial" panose="020B0604020202020204"/>
                <a:ea typeface="Arial" panose="020B0604020202020204"/>
                <a:cs typeface="Arial" panose="020B0604020202020204"/>
                <a:sym typeface="Arial" panose="020B0604020202020204"/>
              </a:rPr>
              <a:t>chân dài</a:t>
            </a:r>
            <a:endParaRPr u="sng" dirty="0"/>
          </a:p>
          <a:p>
            <a:pPr marL="101600" marR="0" lvl="0" indent="0" algn="just" rtl="0">
              <a:lnSpc>
                <a:spcPct val="115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en-US"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Viết các hàm điều kiện để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xác định tín hiệu </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mua</a:t>
            </a:r>
            <a:r>
              <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en-US" sz="1400" b="1" i="0" u="none" strike="noStrike" cap="none" dirty="0" err="1" smtClean="0">
                <a:solidFill>
                  <a:srgbClr val="000000"/>
                </a:solidFill>
                <a:latin typeface="Arial" panose="020B0604020202020204"/>
                <a:ea typeface="Arial" panose="020B0604020202020204"/>
                <a:cs typeface="Arial" panose="020B0604020202020204"/>
                <a:sym typeface="Arial" panose="020B0604020202020204"/>
              </a:rPr>
              <a:t>bán</a:t>
            </a:r>
            <a:endParaRPr dirty="0"/>
          </a:p>
          <a:p>
            <a:pPr marL="101600" marR="0" lvl="0" indent="0" algn="just" rtl="0">
              <a:lnSpc>
                <a:spcPct val="115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en-US"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Viết hàm để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tính toán giá </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mua</a:t>
            </a:r>
            <a:r>
              <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en-US" sz="1400" b="1" i="0" u="none" strike="noStrike" cap="none" dirty="0" err="1" smtClean="0">
                <a:solidFill>
                  <a:srgbClr val="000000"/>
                </a:solidFill>
                <a:latin typeface="Arial" panose="020B0604020202020204"/>
                <a:ea typeface="Arial" panose="020B0604020202020204"/>
                <a:cs typeface="Arial" panose="020B0604020202020204"/>
                <a:sym typeface="Arial" panose="020B0604020202020204"/>
              </a:rPr>
              <a:t>bán</a:t>
            </a:r>
            <a:endParaRPr dirty="0"/>
          </a:p>
          <a:p>
            <a:pPr marL="101600" marR="0" lvl="0" indent="0" algn="just" rtl="0">
              <a:lnSpc>
                <a:spcPct val="115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en-US"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Viết hàm để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tính toán số lượng </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mua</a:t>
            </a:r>
            <a:r>
              <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en-US" sz="1400" b="1" i="0" u="none" strike="noStrike" cap="none" dirty="0" err="1" smtClean="0">
                <a:solidFill>
                  <a:srgbClr val="000000"/>
                </a:solidFill>
                <a:latin typeface="Arial" panose="020B0604020202020204"/>
                <a:ea typeface="Arial" panose="020B0604020202020204"/>
                <a:cs typeface="Arial" panose="020B0604020202020204"/>
                <a:sym typeface="Arial" panose="020B0604020202020204"/>
              </a:rPr>
              <a:t>bán</a:t>
            </a:r>
            <a:endParaRPr lang="en-US"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dirty="0"/>
              <a:t> </a:t>
            </a:r>
            <a:r>
              <a:rPr lang="en-US" dirty="0" smtClean="0"/>
              <a:t>     + …</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40"/>
        <p:cNvGrpSpPr/>
        <p:nvPr/>
      </p:nvGrpSpPr>
      <p:grpSpPr>
        <a:xfrm>
          <a:off x="0" y="0"/>
          <a:ext cx="0" cy="0"/>
          <a:chOff x="0" y="0"/>
          <a:chExt cx="0" cy="0"/>
        </a:xfrm>
      </p:grpSpPr>
      <p:sp>
        <p:nvSpPr>
          <p:cNvPr id="141" name="Google Shape;141;p10"/>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Cách thiết kế Auto Trade Chứng khoán SSI</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42" name="Google Shape;142;p10"/>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400" i="0" u="none" strike="noStrike" cap="none" dirty="0">
                <a:solidFill>
                  <a:srgbClr val="000000"/>
                </a:solidFill>
                <a:sym typeface="Arial" panose="020B0604020202020204"/>
              </a:rPr>
              <a:t>Bài tập cho mục 1, </a:t>
            </a:r>
            <a:r>
              <a:rPr lang="vi-VN" sz="1400" i="0" u="none" strike="noStrike" cap="none" dirty="0" smtClean="0">
                <a:solidFill>
                  <a:srgbClr val="000000"/>
                </a:solidFill>
                <a:sym typeface="Arial" panose="020B0604020202020204"/>
              </a:rPr>
              <a:t>2: </a:t>
            </a:r>
            <a:endParaRPr dirty="0"/>
          </a:p>
          <a:p>
            <a:pPr marL="387350" marR="0" lvl="0" indent="-285750" algn="just" rtl="0">
              <a:lnSpc>
                <a:spcPct val="115000"/>
              </a:lnSpc>
              <a:spcBef>
                <a:spcPts val="1600"/>
              </a:spcBef>
              <a:spcAft>
                <a:spcPts val="0"/>
              </a:spcAft>
              <a:buClr>
                <a:schemeClr val="dk1"/>
              </a:buClr>
              <a:buSzPts val="2000"/>
              <a:buFont typeface="Arial" panose="020B0604020202020204"/>
              <a:buChar char="-"/>
            </a:pPr>
            <a:r>
              <a:rPr lang="vi-VN" sz="1400" i="0" u="none" strike="noStrike" cap="none" dirty="0">
                <a:solidFill>
                  <a:srgbClr val="000000"/>
                </a:solidFill>
                <a:sym typeface="Arial" panose="020B0604020202020204"/>
              </a:rPr>
              <a:t>Code VS Code: Cho chiến lược SPY 500, VIX (có sẵn code)</a:t>
            </a:r>
            <a:endParaRPr dirty="0"/>
          </a:p>
          <a:p>
            <a:pPr marL="387350" marR="0" lvl="0" indent="-285750" algn="just" rtl="0">
              <a:lnSpc>
                <a:spcPct val="115000"/>
              </a:lnSpc>
              <a:spcBef>
                <a:spcPts val="1600"/>
              </a:spcBef>
              <a:spcAft>
                <a:spcPts val="0"/>
              </a:spcAft>
              <a:buClr>
                <a:schemeClr val="dk1"/>
              </a:buClr>
              <a:buSzPts val="2000"/>
              <a:buFont typeface="Arial" panose="020B0604020202020204"/>
              <a:buChar char="-"/>
            </a:pPr>
            <a:r>
              <a:rPr lang="vi-VN" sz="1400" i="0" u="none" strike="noStrike" cap="none" dirty="0">
                <a:solidFill>
                  <a:srgbClr val="000000"/>
                </a:solidFill>
                <a:sym typeface="Arial" panose="020B0604020202020204"/>
              </a:rPr>
              <a:t>Code VS Code: Cho chiến lược Doji Chân dài – Mua (học viên thực hành)</a:t>
            </a:r>
            <a:endParaRPr dirty="0"/>
          </a:p>
          <a:p>
            <a:pPr marL="101600" marR="0" lvl="0" indent="0" algn="just" rtl="0">
              <a:lnSpc>
                <a:spcPct val="115000"/>
              </a:lnSpc>
              <a:spcBef>
                <a:spcPts val="1600"/>
              </a:spcBef>
              <a:spcAft>
                <a:spcPts val="0"/>
              </a:spcAft>
              <a:buNone/>
            </a:pP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4"/>
        <p:cNvGrpSpPr/>
        <p:nvPr/>
      </p:nvGrpSpPr>
      <p:grpSpPr>
        <a:xfrm>
          <a:off x="0" y="0"/>
          <a:ext cx="0" cy="0"/>
          <a:chOff x="0" y="0"/>
          <a:chExt cx="0" cy="0"/>
        </a:xfrm>
      </p:grpSpPr>
      <p:sp>
        <p:nvSpPr>
          <p:cNvPr id="135" name="Google Shape;135;p9"/>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Cách thiết kế Auto Trade Chứng khoán SSI</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6" name="Google Shape;136;p9"/>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3"/>
            </a:pP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Tự Động Hóa</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Hệ thống tự động có khả năng </a:t>
            </a:r>
            <a:r>
              <a:rPr lang="vi-VN" sz="1400" b="1" i="0" u="sng" strike="noStrike" cap="none" dirty="0">
                <a:solidFill>
                  <a:srgbClr val="000000"/>
                </a:solidFill>
                <a:latin typeface="Arial" panose="020B0604020202020204"/>
                <a:ea typeface="Arial" panose="020B0604020202020204"/>
                <a:cs typeface="Arial" panose="020B0604020202020204"/>
                <a:sym typeface="Arial" panose="020B0604020202020204"/>
              </a:rPr>
              <a:t>quét qua thị trường để tìm cơ hội giao dịch,</a:t>
            </a:r>
            <a:r>
              <a:rPr lang="vi-VN" sz="1400" b="0" i="0" u="sng"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đồng thời thực hiện</a:t>
            </a:r>
            <a:r>
              <a:rPr lang="vi-VN" sz="1400" b="0" i="0" u="sng"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vi-VN" sz="1400" b="1" i="0" u="sng" strike="noStrike" cap="none" dirty="0">
                <a:solidFill>
                  <a:srgbClr val="000000"/>
                </a:solidFill>
                <a:latin typeface="Arial" panose="020B0604020202020204"/>
                <a:ea typeface="Arial" panose="020B0604020202020204"/>
                <a:cs typeface="Arial" panose="020B0604020202020204"/>
                <a:sym typeface="Arial" panose="020B0604020202020204"/>
              </a:rPr>
              <a:t>mua và bán</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mà không cần sự chấp thuận thủ công từ nhà đầu tư.</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387350" marR="0" lvl="0" indent="-285750" rtl="0">
              <a:lnSpc>
                <a:spcPct val="115000"/>
              </a:lnSpc>
              <a:spcBef>
                <a:spcPts val="1600"/>
              </a:spcBef>
              <a:spcAft>
                <a:spcPts val="0"/>
              </a:spcAft>
              <a:buFontTx/>
              <a:buChar char="-"/>
            </a:pP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Cụ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thể hóa lịch quét qua thị </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trường</a:t>
            </a:r>
            <a:endPar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endParaRPr>
          </a:p>
          <a:p>
            <a:pPr marL="101600" marR="0" lvl="0" rtl="0">
              <a:lnSpc>
                <a:spcPct val="115000"/>
              </a:lnSpc>
              <a:spcBef>
                <a:spcPts val="1600"/>
              </a:spcBef>
              <a:spcAft>
                <a:spcPts val="0"/>
              </a:spcAft>
            </a:pPr>
            <a:r>
              <a:rPr lang="en-US"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Tần suất quét:</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vi-VN" sz="1400" b="0" i="0" u="sng" strike="noStrike" cap="none" dirty="0">
                <a:solidFill>
                  <a:srgbClr val="000000"/>
                </a:solidFill>
                <a:latin typeface="Arial" panose="020B0604020202020204"/>
                <a:ea typeface="Arial" panose="020B0604020202020204"/>
                <a:cs typeface="Arial" panose="020B0604020202020204"/>
                <a:sym typeface="Arial" panose="020B0604020202020204"/>
              </a:rPr>
              <a:t>1 ngày/ 1 lần</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tại thời điểm từ thời điểm thị trường đóng cửa =&gt; đến trước thị trường mở cửa</a:t>
            </a:r>
            <a:b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b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a:t>
            </a:r>
            <a:r>
              <a:rPr lang="en-US"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Điều này có thể được thực hiện sử dụng </a:t>
            </a:r>
            <a:r>
              <a:rPr lang="vi-VN" sz="1400" b="1" i="0" u="none" strike="noStrike" cap="none" dirty="0">
                <a:solidFill>
                  <a:srgbClr val="FF0000"/>
                </a:solidFill>
                <a:latin typeface="Arial" panose="020B0604020202020204"/>
                <a:ea typeface="Arial" panose="020B0604020202020204"/>
                <a:cs typeface="Arial" panose="020B0604020202020204"/>
                <a:sym typeface="Arial" panose="020B0604020202020204"/>
              </a:rPr>
              <a:t>shedule</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trên Python hoặc </a:t>
            </a:r>
            <a:r>
              <a:rPr lang="vi-VN" sz="1400" b="1" i="0" u="none" strike="noStrike" cap="none" dirty="0">
                <a:solidFill>
                  <a:srgbClr val="FF0000"/>
                </a:solidFill>
                <a:latin typeface="Arial" panose="020B0604020202020204"/>
                <a:ea typeface="Arial" panose="020B0604020202020204"/>
                <a:cs typeface="Arial" panose="020B0604020202020204"/>
                <a:sym typeface="Arial" panose="020B0604020202020204"/>
              </a:rPr>
              <a:t>while true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và sleep (24h)</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46"/>
        <p:cNvGrpSpPr/>
        <p:nvPr/>
      </p:nvGrpSpPr>
      <p:grpSpPr>
        <a:xfrm>
          <a:off x="0" y="0"/>
          <a:ext cx="0" cy="0"/>
          <a:chOff x="0" y="0"/>
          <a:chExt cx="0" cy="0"/>
        </a:xfrm>
      </p:grpSpPr>
      <p:sp>
        <p:nvSpPr>
          <p:cNvPr id="147" name="Google Shape;147;p11"/>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Cách thiết kế Auto Trade Chứng khoán SSI</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48" name="Google Shape;148;p11"/>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3"/>
            </a:pP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Tự Động Hóa</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(tt)</a:t>
            </a:r>
            <a:endParaRPr dirty="0"/>
          </a:p>
          <a:p>
            <a:pPr marL="387350" marR="0" lvl="0" indent="-285750" algn="just" rtl="0">
              <a:lnSpc>
                <a:spcPct val="115000"/>
              </a:lnSpc>
              <a:spcBef>
                <a:spcPts val="1600"/>
              </a:spcBef>
              <a:spcAft>
                <a:spcPts val="0"/>
              </a:spcAft>
              <a:buFontTx/>
              <a:buChar char="-"/>
            </a:pP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Sử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dụng Thư Viện Lịch Trình </a:t>
            </a:r>
            <a:r>
              <a:rPr lang="vi-VN" sz="1400" b="1" i="0" u="none" strike="noStrike" cap="none" dirty="0" smtClean="0">
                <a:solidFill>
                  <a:srgbClr val="FF0000"/>
                </a:solidFill>
                <a:sym typeface="Arial" panose="020B0604020202020204"/>
              </a:rPr>
              <a:t>(</a:t>
            </a:r>
            <a:r>
              <a:rPr lang="en-US" altLang="vi-VN" sz="1400" b="1" i="0" u="none" strike="noStrike" cap="none" dirty="0" smtClean="0">
                <a:solidFill>
                  <a:srgbClr val="FF0000"/>
                </a:solidFill>
                <a:sym typeface="Arial" panose="020B0604020202020204"/>
              </a:rPr>
              <a:t>pip install </a:t>
            </a:r>
            <a:r>
              <a:rPr lang="en-US" sz="1400" b="1" i="0" u="none" strike="noStrike" cap="none" dirty="0" smtClean="0">
                <a:solidFill>
                  <a:srgbClr val="FF0000"/>
                </a:solidFill>
                <a:sym typeface="Arial" panose="020B0604020202020204"/>
              </a:rPr>
              <a:t>s</a:t>
            </a:r>
            <a:r>
              <a:rPr lang="vi-VN" sz="1400" b="1" i="0" u="none" strike="noStrike" cap="none" dirty="0" smtClean="0">
                <a:solidFill>
                  <a:srgbClr val="FF0000"/>
                </a:solidFill>
                <a:sym typeface="Arial" panose="020B0604020202020204"/>
              </a:rPr>
              <a:t>chedule)</a:t>
            </a:r>
            <a:endParaRPr lang="en-US" sz="1400" b="1" i="0" u="none" strike="noStrike" cap="none" dirty="0" smtClean="0">
              <a:solidFill>
                <a:srgbClr val="FF0000"/>
              </a:solidFill>
              <a:sym typeface="Arial" panose="020B0604020202020204"/>
            </a:endParaRPr>
          </a:p>
          <a:p>
            <a:pPr marL="101600" marR="0" lvl="0" indent="0" algn="just" rtl="0">
              <a:lnSpc>
                <a:spcPct val="71000"/>
              </a:lnSpc>
              <a:spcBef>
                <a:spcPts val="1600"/>
              </a:spcBef>
              <a:spcAft>
                <a:spcPts val="0"/>
              </a:spcAft>
              <a:buNone/>
            </a:pP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Thư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viện schedule cho phép bạn lên lịch thực hiện một hàm tại một thời điểm cụ </a:t>
            </a: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thể</a:t>
            </a:r>
            <a:r>
              <a:rPr lang="en-US"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 </a:t>
            </a: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hàng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ngày.</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71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Đây là cách tiếp cận được </a:t>
            </a:r>
            <a:r>
              <a:rPr lang="vi-VN" sz="1400" b="1" i="0" u="none" strike="noStrike" cap="none" dirty="0">
                <a:solidFill>
                  <a:srgbClr val="FF0000"/>
                </a:solidFill>
                <a:latin typeface="Arial" panose="020B0604020202020204"/>
                <a:ea typeface="Arial" panose="020B0604020202020204"/>
                <a:cs typeface="Arial" panose="020B0604020202020204"/>
                <a:sym typeface="Arial" panose="020B0604020202020204"/>
              </a:rPr>
              <a:t>khuyên dùng vì nó dễ quản lý và không tốn quá nhiều tài nguyên hệ thống</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149" name="Google Shape;149;p11"/>
          <p:cNvPicPr preferRelativeResize="0"/>
          <p:nvPr/>
        </p:nvPicPr>
        <p:blipFill rotWithShape="1">
          <a:blip r:embed="rId2"/>
          <a:srcRect/>
          <a:stretch>
            <a:fillRect/>
          </a:stretch>
        </p:blipFill>
        <p:spPr>
          <a:xfrm>
            <a:off x="618836" y="2503053"/>
            <a:ext cx="4664363" cy="356729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53"/>
        <p:cNvGrpSpPr/>
        <p:nvPr/>
      </p:nvGrpSpPr>
      <p:grpSpPr>
        <a:xfrm>
          <a:off x="0" y="0"/>
          <a:ext cx="0" cy="0"/>
          <a:chOff x="0" y="0"/>
          <a:chExt cx="0" cy="0"/>
        </a:xfrm>
      </p:grpSpPr>
      <p:sp>
        <p:nvSpPr>
          <p:cNvPr id="154" name="Google Shape;154;p12"/>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Cách thiết kế Auto Trade Chứng khoán SSI</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5" name="Google Shape;155;p1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3"/>
            </a:pP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Tự Động Hóa</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(tt)</a:t>
            </a:r>
            <a:endParaRPr dirty="0"/>
          </a:p>
          <a:p>
            <a:pPr marL="387350" marR="0" lvl="0" indent="-285750" algn="just" rtl="0">
              <a:lnSpc>
                <a:spcPct val="115000"/>
              </a:lnSpc>
              <a:spcBef>
                <a:spcPts val="1600"/>
              </a:spcBef>
              <a:spcAft>
                <a:spcPts val="0"/>
              </a:spcAft>
              <a:buFontTx/>
              <a:buChar char="-"/>
            </a:pP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Sử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dụng Thư Viện Lịch Trình </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a:t>
            </a:r>
            <a:r>
              <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s</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chedule)</a:t>
            </a:r>
            <a:endPar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71000"/>
              </a:lnSpc>
              <a:spcBef>
                <a:spcPts val="1600"/>
              </a:spcBef>
              <a:spcAft>
                <a:spcPts val="0"/>
              </a:spcAft>
              <a:buNone/>
            </a:pP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Thư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viện schedule cho phép bạn lên lịch thực hiện một hàm tại một thời điểm cụ thể hàng ngày.</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71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Đây là cách tiếp cận được khuyên dùng vì nó dễ quản lý và không tốn quá nhiều tài nguyên hệ thống.</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156" name="Google Shape;156;p12"/>
          <p:cNvPicPr preferRelativeResize="0"/>
          <p:nvPr/>
        </p:nvPicPr>
        <p:blipFill rotWithShape="1">
          <a:blip r:embed="rId2"/>
          <a:srcRect/>
          <a:stretch>
            <a:fillRect/>
          </a:stretch>
        </p:blipFill>
        <p:spPr>
          <a:xfrm>
            <a:off x="618836" y="2340594"/>
            <a:ext cx="5581171" cy="372769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53"/>
        <p:cNvGrpSpPr/>
        <p:nvPr/>
      </p:nvGrpSpPr>
      <p:grpSpPr>
        <a:xfrm>
          <a:off x="0" y="0"/>
          <a:ext cx="0" cy="0"/>
          <a:chOff x="0" y="0"/>
          <a:chExt cx="0" cy="0"/>
        </a:xfrm>
      </p:grpSpPr>
      <p:sp>
        <p:nvSpPr>
          <p:cNvPr id="154" name="Google Shape;154;p12"/>
          <p:cNvSpPr txBox="1"/>
          <p:nvPr/>
        </p:nvSpPr>
        <p:spPr>
          <a:xfrm>
            <a:off x="304800" y="154525"/>
            <a:ext cx="686580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1. Cách thiết kế Auto Trade Chứng khoán SSI</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5" name="Google Shape;155;p1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3"/>
            </a:pP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Tự Động Hóa</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(tt)</a:t>
            </a:r>
            <a:endParaRPr dirty="0"/>
          </a:p>
          <a:p>
            <a:pPr marL="387350" marR="0" lvl="0" indent="-285750" algn="just" rtl="0">
              <a:lnSpc>
                <a:spcPct val="115000"/>
              </a:lnSpc>
              <a:spcBef>
                <a:spcPts val="1600"/>
              </a:spcBef>
              <a:spcAft>
                <a:spcPts val="0"/>
              </a:spcAft>
              <a:buFontTx/>
              <a:buChar char="-"/>
            </a:pP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Sử </a:t>
            </a:r>
            <a:r>
              <a:rPr lang="vi-VN" sz="1400" b="1" i="0" u="none" strike="noStrike" cap="none" dirty="0">
                <a:solidFill>
                  <a:srgbClr val="000000"/>
                </a:solidFill>
                <a:latin typeface="Arial" panose="020B0604020202020204"/>
                <a:ea typeface="Arial" panose="020B0604020202020204"/>
                <a:cs typeface="Arial" panose="020B0604020202020204"/>
                <a:sym typeface="Arial" panose="020B0604020202020204"/>
              </a:rPr>
              <a:t>dụng Thư Viện Lịch Trình </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a:t>
            </a:r>
            <a:r>
              <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s</a:t>
            </a:r>
            <a:r>
              <a:rPr lang="vi-VN"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chedule)</a:t>
            </a:r>
            <a:endParaRPr lang="en-US" sz="1400" b="1" i="0" u="none" strike="noStrike" cap="none" dirty="0" smtClean="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71000"/>
              </a:lnSpc>
              <a:spcBef>
                <a:spcPts val="1600"/>
              </a:spcBef>
              <a:spcAft>
                <a:spcPts val="0"/>
              </a:spcAft>
              <a:buNone/>
            </a:pPr>
            <a:r>
              <a:rPr lang="vi-VN" sz="1400" b="0" i="0" u="none" strike="noStrike" cap="none" dirty="0" smtClean="0">
                <a:solidFill>
                  <a:srgbClr val="000000"/>
                </a:solidFill>
                <a:latin typeface="Arial" panose="020B0604020202020204"/>
                <a:ea typeface="Arial" panose="020B0604020202020204"/>
                <a:cs typeface="Arial" panose="020B0604020202020204"/>
                <a:sym typeface="Arial" panose="020B0604020202020204"/>
              </a:rPr>
              <a:t>Thư </a:t>
            </a: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viện schedule cho phép bạn lên lịch thực hiện một hàm tại một thời điểm cụ thể hàng ngày.</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71000"/>
              </a:lnSpc>
              <a:spcBef>
                <a:spcPts val="1600"/>
              </a:spcBef>
              <a:spcAft>
                <a:spcPts val="0"/>
              </a:spcAft>
              <a:buNone/>
            </a:pPr>
            <a:r>
              <a:rPr lang="vi-VN"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Đây là cách tiếp cận được khuyên dùng vì nó dễ quản lý và không tốn quá nhiều tài nguyên hệ thống.</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156" name="Google Shape;156;p12"/>
          <p:cNvPicPr preferRelativeResize="0"/>
          <p:nvPr/>
        </p:nvPicPr>
        <p:blipFill rotWithShape="1">
          <a:blip r:embed="rId2"/>
          <a:srcRect/>
          <a:stretch>
            <a:fillRect/>
          </a:stretch>
        </p:blipFill>
        <p:spPr>
          <a:xfrm>
            <a:off x="618836" y="2340594"/>
            <a:ext cx="5581171" cy="372769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53"/>
        <p:cNvGrpSpPr/>
        <p:nvPr/>
      </p:nvGrpSpPr>
      <p:grpSpPr>
        <a:xfrm>
          <a:off x="0" y="0"/>
          <a:ext cx="0" cy="0"/>
          <a:chOff x="0" y="0"/>
          <a:chExt cx="0" cy="0"/>
        </a:xfrm>
      </p:grpSpPr>
      <p:sp>
        <p:nvSpPr>
          <p:cNvPr id="154" name="Google Shape;154;p12"/>
          <p:cNvSpPr txBox="1"/>
          <p:nvPr/>
        </p:nvSpPr>
        <p:spPr>
          <a:xfrm>
            <a:off x="304800" y="154305"/>
            <a:ext cx="8044815" cy="4591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altLang="vi-VN" sz="2400" b="1" i="0" u="none" strike="noStrike" cap="none">
                <a:solidFill>
                  <a:schemeClr val="lt1"/>
                </a:solidFill>
                <a:latin typeface="Arial" panose="020B0604020202020204"/>
                <a:ea typeface="Arial" panose="020B0604020202020204"/>
                <a:cs typeface="Arial" panose="020B0604020202020204"/>
                <a:sym typeface="Arial" panose="020B0604020202020204"/>
              </a:rPr>
              <a:t>Thiết kế OG, thiết kế OF chạy Bot Auto Trading</a:t>
            </a:r>
            <a:endParaRPr lang="en-US" altLang="vi-VN" sz="24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2" name="Picture 1"/>
          <p:cNvPicPr>
            <a:picLocks noChangeAspect="1"/>
          </p:cNvPicPr>
          <p:nvPr/>
        </p:nvPicPr>
        <p:blipFill>
          <a:blip r:embed="rId2"/>
          <a:stretch>
            <a:fillRect/>
          </a:stretch>
        </p:blipFill>
        <p:spPr>
          <a:xfrm>
            <a:off x="412750" y="836295"/>
            <a:ext cx="3733800" cy="1874520"/>
          </a:xfrm>
          <a:prstGeom prst="rect">
            <a:avLst/>
          </a:prstGeom>
        </p:spPr>
      </p:pic>
      <p:sp>
        <p:nvSpPr>
          <p:cNvPr id="3" name="Google Shape;155;p12"/>
          <p:cNvSpPr txBox="1"/>
          <p:nvPr/>
        </p:nvSpPr>
        <p:spPr>
          <a:xfrm>
            <a:off x="412810" y="2711090"/>
            <a:ext cx="8285017" cy="3467400"/>
          </a:xfrm>
          <a:prstGeom prst="rect">
            <a:avLst/>
          </a:prstGeom>
          <a:noFill/>
          <a:ln>
            <a:noFill/>
          </a:ln>
        </p:spPr>
        <p:txBody>
          <a:bodyPr spcFirstLastPara="1" wrap="square" lIns="91425" tIns="91425" rIns="91425" bIns="91425" anchor="t" anchorCtr="0">
            <a:noAutofit/>
          </a:bodyPr>
          <a:p>
            <a:pPr marL="101600" marR="0" lvl="0" indent="0" algn="just" rtl="0">
              <a:lnSpc>
                <a:spcPct val="115000"/>
              </a:lnSpc>
              <a:spcBef>
                <a:spcPts val="1600"/>
              </a:spcBef>
              <a:spcAft>
                <a:spcPts val="0"/>
              </a:spcAft>
              <a:buClr>
                <a:schemeClr val="dk1"/>
              </a:buClr>
              <a:buSzPts val="2000"/>
              <a:buFont typeface="Arial" panose="020B0604020202020204"/>
              <a:buNone/>
            </a:pPr>
            <a:r>
              <a:rPr lang="en-US" sz="1400" b="1" i="0" u="sng" strike="noStrike" cap="none" dirty="0">
                <a:solidFill>
                  <a:srgbClr val="000000"/>
                </a:solidFill>
                <a:latin typeface="Arial" panose="020B0604020202020204"/>
                <a:ea typeface="Arial" panose="020B0604020202020204"/>
                <a:cs typeface="Arial" panose="020B0604020202020204"/>
                <a:sym typeface="Arial" panose="020B0604020202020204"/>
              </a:rPr>
              <a:t>1. OG</a:t>
            </a:r>
            <a:endParaRPr lang="en-US" sz="1400" b="1" i="0" u="sng"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chemeClr val="dk1"/>
              </a:buClr>
              <a:buSzPts val="2000"/>
              <a:buFont typeface="Arial" panose="020B0604020202020204"/>
              <a:buNone/>
            </a:pPr>
            <a:r>
              <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Schedule: 1m</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chemeClr val="dk1"/>
              </a:buClr>
              <a:buSzPts val="2000"/>
              <a:buFont typeface="Arial" panose="020B0604020202020204"/>
              <a:buNone/>
            </a:pPr>
            <a:r>
              <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Timeframe: 1m</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chemeClr val="dk1"/>
              </a:buClr>
              <a:buSzPts val="2000"/>
              <a:buFont typeface="Arial" panose="020B0604020202020204"/>
              <a:buNone/>
            </a:pPr>
            <a:r>
              <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Đẩy Buy_Signal, Sell_Signal của LastRecord (Record mới nhất) qua Redis</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chemeClr val="dk1"/>
              </a:buClr>
              <a:buSzPts val="2000"/>
              <a:buFont typeface="Arial" panose="020B0604020202020204"/>
              <a:buNone/>
            </a:pPr>
            <a:r>
              <a:rPr lang="en-US" sz="1400" b="1" i="0" u="sng" strike="noStrike" cap="none" dirty="0">
                <a:solidFill>
                  <a:srgbClr val="000000"/>
                </a:solidFill>
                <a:latin typeface="Arial" panose="020B0604020202020204"/>
                <a:ea typeface="Arial" panose="020B0604020202020204"/>
                <a:cs typeface="Arial" panose="020B0604020202020204"/>
                <a:sym typeface="Arial" panose="020B0604020202020204"/>
              </a:rPr>
              <a:t>2. OF</a:t>
            </a:r>
            <a:endParaRPr lang="en-US" sz="1400" b="1" i="0" u="sng"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chemeClr val="dk1"/>
              </a:buClr>
              <a:buSzPts val="2000"/>
              <a:buFont typeface="Arial" panose="020B0604020202020204"/>
              <a:buNone/>
            </a:pPr>
            <a:r>
              <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Đọc Redis để lấy thông tin Buy_Signal, Sell_Signal</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Clr>
                <a:schemeClr val="dk1"/>
              </a:buClr>
              <a:buSzPts val="2000"/>
              <a:buFont typeface="Arial" panose="020B0604020202020204"/>
              <a:buNone/>
            </a:pPr>
            <a:r>
              <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rPr>
              <a:t>- Vào lệnh Buy/ Sell</a:t>
            </a:r>
            <a:endParaRPr lang="en-US"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6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5999</Words>
  <Application>WPS Presentation</Application>
  <PresentationFormat>On-screen Show (4:3)</PresentationFormat>
  <Paragraphs>126</Paragraphs>
  <Slides>18</Slides>
  <Notes>17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18</vt:i4>
      </vt:variant>
    </vt:vector>
  </HeadingPairs>
  <TitlesOfParts>
    <vt:vector size="31" baseType="lpstr">
      <vt:lpstr>Arial</vt:lpstr>
      <vt:lpstr>SimSun</vt:lpstr>
      <vt:lpstr>Wingdings</vt:lpstr>
      <vt:lpstr>Arial</vt:lpstr>
      <vt:lpstr>Calibri</vt:lpstr>
      <vt:lpstr>Arial (body)</vt:lpstr>
      <vt:lpstr>Open Sans</vt:lpstr>
      <vt:lpstr>Times New Roman</vt:lpstr>
      <vt:lpstr>Symbol</vt:lpstr>
      <vt:lpstr>Microsoft YaHei</vt:lpstr>
      <vt:lpstr>Arial Unicode MS</vt:lpstr>
      <vt:lpstr>Segoe Print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Đặng Trí Thanh</cp:lastModifiedBy>
  <cp:revision>37</cp:revision>
  <dcterms:created xsi:type="dcterms:W3CDTF">2021-10-18T16:01:00Z</dcterms:created>
  <dcterms:modified xsi:type="dcterms:W3CDTF">2025-10-08T13:32:28Z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7E3999F8B00049AF84DAEC93FD748619_12</vt:lpwstr>
  </property>
  <property fmtid="{D5CDD505-2E9C-101B-9397-08002B2CF9AE}" pid="3" name="KSOProductBuildVer">
    <vt:lpwstr>1033-12.2.0.22549</vt:lpwstr>
  </property>
</Properties>
</file>