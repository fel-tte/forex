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318" r:id="rId7"/>
    <p:sldId id="259" r:id="rId8"/>
    <p:sldId id="299" r:id="rId9"/>
    <p:sldId id="377" r:id="rId10"/>
    <p:sldId id="378" r:id="rId11"/>
    <p:sldId id="379" r:id="rId12"/>
    <p:sldId id="380" r:id="rId13"/>
    <p:sldId id="381" r:id="rId14"/>
    <p:sldId id="382" r:id="rId15"/>
    <p:sldId id="383" r:id="rId16"/>
    <p:sldId id="384" r:id="rId17"/>
    <p:sldId id="385" r:id="rId18"/>
    <p:sldId id="386" r:id="rId19"/>
    <p:sldId id="300" r:id="rId20"/>
    <p:sldId id="301" r:id="rId21"/>
    <p:sldId id="302" r:id="rId22"/>
    <p:sldId id="316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298" r:id="rId31"/>
  </p:sldIdLst>
  <p:sldSz cx="9144000" cy="6858000" type="screen4x3"/>
  <p:notesSz cx="6858000" cy="9144000"/>
  <p:embeddedFontLst>
    <p:embeddedFont>
      <p:font typeface="Calibri" panose="020F0502020204030204"/>
      <p:regular r:id="rId35"/>
      <p:bold r:id="rId36"/>
      <p:italic r:id="rId37"/>
      <p:boldItalic r:id="rId38"/>
    </p:embeddedFont>
    <p:embeddedFont>
      <p:font typeface="Maven Pro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4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vi-V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0ee0ad7006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6" name="Google Shape;86;g20ee0ad700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vi-VN" sz="1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Market Hypothesis, ChatGPT, etc.</a:t>
            </a:r>
            <a:endParaRPr lang="vi-VN" sz="11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51" name="Google Shape;35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9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0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2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3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33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3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33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5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7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.xml"/><Relationship Id="rId3" Type="http://schemas.openxmlformats.org/officeDocument/2006/relationships/image" Target="../media/image12.png"/><Relationship Id="rId2" Type="http://schemas.openxmlformats.org/officeDocument/2006/relationships/tags" Target="../tags/tag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tags" Target="../tags/tag3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tags" Target="../tags/tag4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tags" Target="../tags/tag5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tags" Target="../tags/tag6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tags" Target="../tags/tag7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tags" Target="../tags/tag9.xml"/><Relationship Id="rId3" Type="http://schemas.openxmlformats.org/officeDocument/2006/relationships/image" Target="../media/image18.png"/><Relationship Id="rId2" Type="http://schemas.openxmlformats.org/officeDocument/2006/relationships/tags" Target="../tags/tag8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2.png"/><Relationship Id="rId6" Type="http://schemas.openxmlformats.org/officeDocument/2006/relationships/tags" Target="../tags/tag12.xml"/><Relationship Id="rId5" Type="http://schemas.openxmlformats.org/officeDocument/2006/relationships/image" Target="../media/image21.png"/><Relationship Id="rId4" Type="http://schemas.openxmlformats.org/officeDocument/2006/relationships/tags" Target="../tags/tag11.xml"/><Relationship Id="rId3" Type="http://schemas.openxmlformats.org/officeDocument/2006/relationships/image" Target="../media/image20.png"/><Relationship Id="rId2" Type="http://schemas.openxmlformats.org/officeDocument/2006/relationships/tags" Target="../tags/tag10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tags" Target="../tags/tag16.xml"/><Relationship Id="rId7" Type="http://schemas.openxmlformats.org/officeDocument/2006/relationships/image" Target="../media/image25.png"/><Relationship Id="rId6" Type="http://schemas.openxmlformats.org/officeDocument/2006/relationships/tags" Target="../tags/tag15.xml"/><Relationship Id="rId5" Type="http://schemas.openxmlformats.org/officeDocument/2006/relationships/image" Target="../media/image24.png"/><Relationship Id="rId4" Type="http://schemas.openxmlformats.org/officeDocument/2006/relationships/tags" Target="../tags/tag14.xml"/><Relationship Id="rId3" Type="http://schemas.openxmlformats.org/officeDocument/2006/relationships/image" Target="../media/image23.png"/><Relationship Id="rId2" Type="http://schemas.openxmlformats.org/officeDocument/2006/relationships/tags" Target="../tags/tag13.xml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tags" Target="../tags/tag18.xml"/><Relationship Id="rId3" Type="http://schemas.openxmlformats.org/officeDocument/2006/relationships/image" Target="../media/image27.png"/><Relationship Id="rId2" Type="http://schemas.openxmlformats.org/officeDocument/2006/relationships/tags" Target="../tags/tag17.xml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1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20ee0ad7006_1_0" descr="Logo&#10;&#10;Description automatically generated with medium confidence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1710635" y="1809406"/>
            <a:ext cx="6531666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altLang="vi-VN" sz="2800" b="1" i="0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Lập trình Auto Trading</a:t>
            </a:r>
            <a:endParaRPr lang="en-US" altLang="vi-VN" sz="2800" b="1" i="0" u="none" strike="noStrike" cap="none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781301" y="3025123"/>
            <a:ext cx="6191400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vi-VN" sz="2800" b="1" i="1" u="none" strike="noStrike" cap="none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Chủ đề:</a:t>
            </a:r>
            <a:r>
              <a:rPr lang="en-US" sz="2800" b="1" i="1" u="none" strike="noStrike" cap="none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800" b="1" i="1" u="none" strike="noStrike" cap="none" dirty="0" err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Giới</a:t>
            </a:r>
            <a:r>
              <a:rPr lang="en-US" sz="2800" b="1" i="1" u="none" strike="noStrike" cap="none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800" b="1" i="1" u="none" strike="noStrike" cap="none" dirty="0" err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thiệu</a:t>
            </a:r>
            <a:r>
              <a:rPr lang="en-US" sz="2800" b="1" i="1" u="none" strike="noStrike" cap="none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800" b="1" i="1" u="none" strike="noStrike" cap="none" dirty="0" err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về</a:t>
            </a:r>
            <a:r>
              <a:rPr lang="en-US" sz="2800" b="1" i="1" u="none" strike="noStrike" cap="none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800" b="1" i="1" u="none" strike="noStrike" cap="none" dirty="0" err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công</a:t>
            </a:r>
            <a:r>
              <a:rPr lang="en-US" sz="2800" b="1" i="1" u="none" strike="noStrike" cap="none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800" b="1" i="1" u="none" strike="noStrike" cap="none" dirty="0" err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cụ</a:t>
            </a:r>
            <a:r>
              <a:rPr lang="en-US" sz="2800" b="1" i="1" u="none" strike="noStrike" cap="none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800" b="1" i="1" u="none" strike="noStrike" cap="none" dirty="0" err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lập</a:t>
            </a:r>
            <a:r>
              <a:rPr lang="en-US" sz="2800" b="1" i="1" u="none" strike="noStrike" cap="none" dirty="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800" b="1" i="1" u="none" strike="noStrike" cap="none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trình Python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endParaRPr sz="2800" b="1" i="1" u="none" strike="noStrike" cap="none" dirty="0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5375564" y="4841005"/>
            <a:ext cx="3509818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vi-VN" sz="2800" b="0" i="1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GV.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800" i="1" dirty="0" err="1">
                <a:solidFill>
                  <a:schemeClr val="dk1"/>
                </a:solidFill>
              </a:rPr>
              <a:t>Đặng</a:t>
            </a:r>
            <a:r>
              <a:rPr lang="en-US" sz="2800" i="1" dirty="0">
                <a:solidFill>
                  <a:schemeClr val="dk1"/>
                </a:solidFill>
              </a:rPr>
              <a:t> </a:t>
            </a:r>
            <a:r>
              <a:rPr lang="en-US" sz="2800" i="1" dirty="0" err="1">
                <a:solidFill>
                  <a:schemeClr val="dk1"/>
                </a:solidFill>
              </a:rPr>
              <a:t>Trí</a:t>
            </a:r>
            <a:r>
              <a:rPr lang="en-US" sz="2800" i="1" dirty="0">
                <a:solidFill>
                  <a:schemeClr val="dk1"/>
                </a:solidFill>
              </a:rPr>
              <a:t> Thanh</a:t>
            </a:r>
            <a:endParaRPr lang="en-US" sz="2800" i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0" i="1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3"/>
          <p:cNvSpPr txBox="1"/>
          <p:nvPr/>
        </p:nvSpPr>
        <p:spPr>
          <a:xfrm>
            <a:off x="304800" y="154525"/>
            <a:ext cx="686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dirty="0" err="1">
                <a:solidFill>
                  <a:schemeClr val="lt1"/>
                </a:solidFill>
              </a:rPr>
              <a:t>Tại</a:t>
            </a:r>
            <a:r>
              <a:rPr lang="en-US" sz="2400" dirty="0">
                <a:solidFill>
                  <a:schemeClr val="lt1"/>
                </a:solidFill>
              </a:rPr>
              <a:t> </a:t>
            </a:r>
            <a:r>
              <a:rPr lang="en-US" sz="2400" dirty="0" err="1">
                <a:solidFill>
                  <a:schemeClr val="lt1"/>
                </a:solidFill>
              </a:rPr>
              <a:t>sao</a:t>
            </a:r>
            <a:r>
              <a:rPr lang="en-US" sz="2400" dirty="0">
                <a:solidFill>
                  <a:schemeClr val="lt1"/>
                </a:solidFill>
              </a:rPr>
              <a:t> </a:t>
            </a:r>
            <a:r>
              <a:rPr lang="en-US" sz="2400" dirty="0" err="1">
                <a:solidFill>
                  <a:schemeClr val="lt1"/>
                </a:solidFill>
              </a:rPr>
              <a:t>là</a:t>
            </a:r>
            <a:r>
              <a:rPr lang="en-US" sz="2400" dirty="0">
                <a:solidFill>
                  <a:schemeClr val="lt1"/>
                </a:solidFill>
              </a:rPr>
              <a:t> Python?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Google Shape;101;p3"/>
          <p:cNvSpPr txBox="1"/>
          <p:nvPr/>
        </p:nvSpPr>
        <p:spPr>
          <a:xfrm>
            <a:off x="424875" y="616225"/>
            <a:ext cx="8285017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lvl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Python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bao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trùm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tất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cả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các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giao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dịch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tự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động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…</a:t>
            </a:r>
            <a:endParaRPr sz="1600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49" y="1527520"/>
            <a:ext cx="4237876" cy="20689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428" y="1527520"/>
            <a:ext cx="4078615" cy="20139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428" y="3907708"/>
            <a:ext cx="4071932" cy="20148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3907708"/>
            <a:ext cx="4429125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304800" y="154525"/>
            <a:ext cx="686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>
                <a:solidFill>
                  <a:schemeClr val="lt1"/>
                </a:solidFill>
              </a:rPr>
              <a:t>Nội dung chính</a:t>
            </a:r>
            <a:endParaRPr sz="24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424875" y="616225"/>
            <a:ext cx="8285017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r>
              <a:rPr lang="vi-VN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Basic data types 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–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kiểu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dữ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liệu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cơ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bản</a:t>
            </a:r>
            <a:endParaRPr lang="en-US" sz="1600" dirty="0" err="1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Cấu trúc if...else, while, for</a:t>
            </a:r>
            <a:endParaRPr sz="1600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r>
              <a:rPr lang="vi-VN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Functions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–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hàm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endParaRPr sz="1600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r>
              <a:rPr lang="vi-VN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Classes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–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lớp</a:t>
            </a:r>
            <a:endParaRPr sz="1600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r>
              <a:rPr lang="vi-VN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External library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–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thư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viên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bên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ngoài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endParaRPr sz="1600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13716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lphaLcPeriod"/>
            </a:pPr>
            <a:r>
              <a:rPr lang="vi-VN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Numpy</a:t>
            </a:r>
            <a:endParaRPr sz="1600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13716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lphaLcPeriod"/>
            </a:pPr>
            <a:r>
              <a:rPr lang="vi-VN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Matplotlib</a:t>
            </a:r>
            <a:endParaRPr sz="1600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13716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lphaLcPeriod"/>
            </a:pPr>
            <a:r>
              <a:rPr lang="vi-VN" sz="1600" b="1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Pandas</a:t>
            </a:r>
            <a:endParaRPr lang="vi-VN" sz="1600" b="1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dirty="0">
                <a:solidFill>
                  <a:schemeClr val="lt1"/>
                </a:solidFill>
              </a:rPr>
              <a:t>Python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66" y="1119619"/>
            <a:ext cx="7118472" cy="14573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66" y="3095080"/>
            <a:ext cx="7155460" cy="2877997"/>
          </a:xfrm>
          <a:prstGeom prst="rect">
            <a:avLst/>
          </a:prstGeom>
        </p:spPr>
      </p:pic>
      <p:sp>
        <p:nvSpPr>
          <p:cNvPr id="8" name="Google Shape;101;p3"/>
          <p:cNvSpPr txBox="1"/>
          <p:nvPr/>
        </p:nvSpPr>
        <p:spPr>
          <a:xfrm>
            <a:off x="184727" y="508000"/>
            <a:ext cx="8525166" cy="357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Python: In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ra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màn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hình</a:t>
            </a:r>
            <a:endParaRPr lang="en-US" sz="1600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endParaRPr lang="en-US" sz="1600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endParaRPr lang="en-US" sz="1600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AutoNum type="arabicPeriod"/>
            </a:pPr>
            <a:endParaRPr lang="en-US" sz="1600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457200" lvl="0" indent="-355600">
              <a:lnSpc>
                <a:spcPct val="115000"/>
              </a:lnSpc>
              <a:spcBef>
                <a:spcPts val="1600"/>
              </a:spcBef>
              <a:buClr>
                <a:schemeClr val="dk1"/>
              </a:buClr>
              <a:buSzPts val="2000"/>
              <a:buFont typeface="Maven Pro"/>
              <a:buAutoNum type="arabicPeriod"/>
            </a:pP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Python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Jupyter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Notebook: In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ra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màn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hình</a:t>
            </a:r>
            <a:endParaRPr sz="1600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 dirty="0">
                <a:solidFill>
                  <a:schemeClr val="lt1"/>
                </a:solidFill>
              </a:rPr>
              <a:t>Basic data types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5561"/>
            <a:ext cx="9120696" cy="25557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08" y="3375508"/>
            <a:ext cx="6710010" cy="20462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 dirty="0">
                <a:solidFill>
                  <a:schemeClr val="lt1"/>
                </a:solidFill>
              </a:rPr>
              <a:t>Basic data types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14655" y="902970"/>
            <a:ext cx="8317865" cy="2633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/>
              <a:t>b. Các kiểu dữ liệu nâng cao</a:t>
            </a:r>
            <a:endParaRPr lang="en-US" sz="2000"/>
          </a:p>
          <a:p>
            <a:endParaRPr lang="en-US" sz="2000"/>
          </a:p>
          <a:p>
            <a:r>
              <a:rPr lang="en-US" sz="2000"/>
              <a:t>Kiểu dữ liệu list</a:t>
            </a:r>
            <a:endParaRPr lang="en-US" sz="2000"/>
          </a:p>
          <a:p>
            <a:r>
              <a:rPr lang="en-US" sz="2000"/>
              <a:t>Cú pháp: &lt;&lt;tên biến&gt;&gt; =</a:t>
            </a:r>
            <a:r>
              <a:rPr lang="en-US" sz="2000" b="1"/>
              <a:t> [</a:t>
            </a:r>
            <a:r>
              <a:rPr lang="en-US" sz="2000"/>
              <a:t>&lt;&lt;giá trị 1&gt;&gt;</a:t>
            </a:r>
            <a:r>
              <a:rPr lang="en-US" sz="2000" b="1"/>
              <a:t>,</a:t>
            </a:r>
            <a:r>
              <a:rPr lang="en-US" sz="2000"/>
              <a:t>&lt;&lt;giá trị 2&gt;&gt;,…</a:t>
            </a:r>
            <a:r>
              <a:rPr lang="en-US" sz="2000" b="1"/>
              <a:t>]</a:t>
            </a:r>
            <a:endParaRPr lang="en-US" sz="2000"/>
          </a:p>
          <a:p>
            <a:r>
              <a:rPr lang="en-US" sz="2000"/>
              <a:t>Ví dụ:</a:t>
            </a:r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</p:txBody>
      </p:sp>
      <p:pic>
        <p:nvPicPr>
          <p:cNvPr id="5" name="Picture 4"/>
          <p:cNvPicPr/>
          <p:nvPr>
            <p:custDataLst>
              <p:tags r:id="rId2"/>
            </p:custDataLst>
          </p:nvPr>
        </p:nvPicPr>
        <p:blipFill>
          <a:blip r:embed="rId3"/>
        </p:blipFill>
        <p:spPr>
          <a:xfrm>
            <a:off x="1390650" y="2212975"/>
            <a:ext cx="3618230" cy="1216660"/>
          </a:xfrm>
          <a:prstGeom prst="rect">
            <a:avLst/>
          </a:prstGeom>
        </p:spPr>
      </p:pic>
      <p:graphicFrame>
        <p:nvGraphicFramePr>
          <p:cNvPr id="8" name="Table 4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399540" y="3402330"/>
          <a:ext cx="7271385" cy="283146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54455"/>
                <a:gridCol w="5916930"/>
              </a:tblGrid>
              <a:tr h="292100">
                <a:tc>
                  <a:txBody>
                    <a:bodyPr/>
                    <a:p>
                      <a:r>
                        <a:rPr lang="en-SG" sz="900" dirty="0" err="1"/>
                        <a:t>Phương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thức</a:t>
                      </a:r>
                      <a:endParaRPr lang="en-SG" sz="900" dirty="0" err="1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SG" sz="900" dirty="0" err="1"/>
                        <a:t>Mô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tả</a:t>
                      </a:r>
                      <a:endParaRPr lang="en-SG" sz="900" dirty="0" err="1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r>
                        <a:rPr lang="en-SG" sz="900" dirty="0"/>
                        <a:t>append()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SG" sz="900" dirty="0" err="1"/>
                        <a:t>Thêm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một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phần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tử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vào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cuối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danh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sách</a:t>
                      </a:r>
                      <a:endParaRPr lang="en-SG" sz="900" dirty="0" err="1"/>
                    </a:p>
                  </a:txBody>
                  <a:tcPr/>
                </a:tc>
              </a:tr>
              <a:tr h="152400">
                <a:tc>
                  <a:txBody>
                    <a:bodyPr/>
                    <a:p>
                      <a:r>
                        <a:rPr lang="en-SG" sz="900" dirty="0"/>
                        <a:t>clear()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SG" sz="900" dirty="0" err="1"/>
                        <a:t>Xóa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tất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cả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các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phần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tử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khỏi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danh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sách</a:t>
                      </a:r>
                      <a:endParaRPr lang="en-SG" sz="900" dirty="0" err="1"/>
                    </a:p>
                  </a:txBody>
                  <a:tcPr/>
                </a:tc>
              </a:tr>
              <a:tr h="253365">
                <a:tc>
                  <a:txBody>
                    <a:bodyPr/>
                    <a:p>
                      <a:r>
                        <a:rPr lang="en-SG" sz="900" dirty="0"/>
                        <a:t>copy()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SG" sz="900" dirty="0" err="1"/>
                        <a:t>Trả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lại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một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bản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sao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của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danh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sách</a:t>
                      </a:r>
                      <a:endParaRPr lang="en-SG" sz="900" dirty="0" err="1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r>
                        <a:rPr lang="en-SG" sz="900" dirty="0"/>
                        <a:t>count()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SG" sz="900" dirty="0" err="1"/>
                        <a:t>Trả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lại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số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các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phần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tử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có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một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giá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trị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cụ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thể</a:t>
                      </a:r>
                      <a:endParaRPr lang="en-SG" sz="900" dirty="0" err="1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r>
                        <a:rPr lang="en-SG" sz="900" dirty="0"/>
                        <a:t>extend()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SG" sz="900" dirty="0" err="1"/>
                        <a:t>Thêm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các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phần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tử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từ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một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tập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hợp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khác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vào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cuối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danh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sách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hiện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tại</a:t>
                      </a:r>
                      <a:endParaRPr lang="en-SG" sz="900" dirty="0" err="1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r>
                        <a:rPr lang="en-SG" sz="900" dirty="0"/>
                        <a:t>index()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SG" sz="900" dirty="0" err="1"/>
                        <a:t>Trả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lại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chỉ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mục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của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phần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tử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đầu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tiên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có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một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giá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trị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cụ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thể</a:t>
                      </a:r>
                      <a:endParaRPr lang="en-SG" sz="900" dirty="0" err="1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r>
                        <a:rPr lang="en-SG" sz="900" dirty="0"/>
                        <a:t>insert()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SG" sz="900" dirty="0" err="1"/>
                        <a:t>Chèn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một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phần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tử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vào</a:t>
                      </a:r>
                      <a:r>
                        <a:rPr lang="en-SG" sz="900" dirty="0"/>
                        <a:t> 1 </a:t>
                      </a:r>
                      <a:r>
                        <a:rPr lang="en-SG" sz="900" dirty="0" err="1"/>
                        <a:t>vị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trí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cụ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thể</a:t>
                      </a:r>
                      <a:endParaRPr lang="en-SG" sz="900" dirty="0" err="1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r>
                        <a:rPr lang="en-SG" sz="900" dirty="0"/>
                        <a:t>pop()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SG" sz="900" dirty="0" err="1"/>
                        <a:t>Xóa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phần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tử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theo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chỉ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mục</a:t>
                      </a:r>
                      <a:endParaRPr lang="en-SG" sz="900" dirty="0" err="1"/>
                    </a:p>
                  </a:txBody>
                  <a:tcPr/>
                </a:tc>
              </a:tr>
              <a:tr h="187325">
                <a:tc>
                  <a:txBody>
                    <a:bodyPr/>
                    <a:p>
                      <a:r>
                        <a:rPr lang="en-SG" sz="900" dirty="0"/>
                        <a:t>remove()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SG" sz="900" dirty="0" err="1"/>
                        <a:t>Xóa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các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phần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tử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theo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giá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trị</a:t>
                      </a:r>
                      <a:endParaRPr lang="en-SG" sz="900" dirty="0" err="1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r>
                        <a:rPr lang="en-SG" sz="900" dirty="0"/>
                        <a:t>reverse()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SG" sz="900" dirty="0" err="1"/>
                        <a:t>Đảo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ngược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thứ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tự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sắp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xếp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của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danh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sách</a:t>
                      </a:r>
                      <a:endParaRPr lang="en-SG" sz="900" dirty="0" err="1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r>
                        <a:rPr lang="en-SG" sz="900" dirty="0"/>
                        <a:t>sort()</a:t>
                      </a:r>
                      <a:endParaRPr lang="en-SG" sz="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SG" sz="900" dirty="0" err="1"/>
                        <a:t>Sắp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xếp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danh</a:t>
                      </a:r>
                      <a:r>
                        <a:rPr lang="en-SG" sz="900" dirty="0"/>
                        <a:t> </a:t>
                      </a:r>
                      <a:r>
                        <a:rPr lang="en-SG" sz="900" dirty="0" err="1"/>
                        <a:t>sách</a:t>
                      </a:r>
                      <a:endParaRPr lang="en-SG" sz="900" dirty="0" err="1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 dirty="0">
                <a:solidFill>
                  <a:schemeClr val="lt1"/>
                </a:solidFill>
              </a:rPr>
              <a:t>Basic data types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14655" y="902970"/>
            <a:ext cx="8317865" cy="2633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/>
              <a:t>b. Các kiểu dữ liệu nâng cao</a:t>
            </a:r>
            <a:endParaRPr lang="en-US" sz="2000"/>
          </a:p>
          <a:p>
            <a:endParaRPr lang="en-US" sz="2000"/>
          </a:p>
          <a:p>
            <a:r>
              <a:rPr lang="en-US" sz="2000"/>
              <a:t>Kiểu dữ liệu tuple</a:t>
            </a:r>
            <a:endParaRPr lang="en-US" sz="2000"/>
          </a:p>
          <a:p>
            <a:r>
              <a:rPr lang="en-US" sz="2000"/>
              <a:t>Cú pháp: &lt;&lt;tên biến&gt;&gt; = </a:t>
            </a:r>
            <a:r>
              <a:rPr lang="en-US" sz="2000" b="1"/>
              <a:t>(</a:t>
            </a:r>
            <a:r>
              <a:rPr lang="en-US" sz="2000"/>
              <a:t>&lt;&lt;giá trị 1&gt;&gt;, &lt;&lt;giá trị 2&gt;&gt;, …</a:t>
            </a:r>
            <a:r>
              <a:rPr lang="en-US" sz="2000" b="1"/>
              <a:t>)</a:t>
            </a:r>
            <a:endParaRPr lang="en-US" sz="2000" b="1"/>
          </a:p>
          <a:p>
            <a:r>
              <a:rPr lang="en-US" sz="2000"/>
              <a:t>Ví dụ:</a:t>
            </a:r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r>
              <a:rPr lang="en-US" sz="2000"/>
              <a:t>Các phương thức của tuple</a:t>
            </a:r>
            <a:endParaRPr lang="en-US" sz="2000"/>
          </a:p>
          <a:p>
            <a:pPr lvl="1"/>
            <a:r>
              <a:rPr lang="en-US" sz="2000"/>
              <a:t>count()</a:t>
            </a:r>
            <a:endParaRPr lang="en-US" sz="2000"/>
          </a:p>
          <a:p>
            <a:pPr lvl="1"/>
            <a:r>
              <a:rPr lang="en-US" sz="2000"/>
              <a:t>index()</a:t>
            </a:r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</p:txBody>
      </p:sp>
      <p:pic>
        <p:nvPicPr>
          <p:cNvPr id="2" name="Picture 1"/>
          <p:cNvPicPr/>
          <p:nvPr>
            <p:custDataLst>
              <p:tags r:id="rId2"/>
            </p:custDataLst>
          </p:nvPr>
        </p:nvPicPr>
        <p:blipFill>
          <a:blip r:embed="rId3"/>
        </p:blipFill>
        <p:spPr>
          <a:xfrm>
            <a:off x="1363980" y="2235835"/>
            <a:ext cx="4170680" cy="12465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 dirty="0">
                <a:solidFill>
                  <a:schemeClr val="lt1"/>
                </a:solidFill>
              </a:rPr>
              <a:t>Basic data types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14655" y="902970"/>
            <a:ext cx="8317865" cy="2633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/>
              <a:t>c. Các kiểu dữ liệu nâng cao</a:t>
            </a:r>
            <a:endParaRPr lang="en-US" sz="2000"/>
          </a:p>
          <a:p>
            <a:endParaRPr lang="en-US" sz="2000"/>
          </a:p>
          <a:p>
            <a:r>
              <a:rPr lang="en-US" sz="2000"/>
              <a:t>Kiểu dữ liệu set</a:t>
            </a:r>
            <a:endParaRPr lang="en-US" sz="2000"/>
          </a:p>
          <a:p>
            <a:r>
              <a:rPr lang="en-US" sz="2000"/>
              <a:t>Cú pháp: &lt;&lt;tên biến&gt;&gt; = {&lt;&lt;giá trị 1&gt;&gt;, &lt;&lt;giá trị 2&gt;&gt;, …}</a:t>
            </a:r>
            <a:endParaRPr lang="en-US" sz="2000"/>
          </a:p>
          <a:p>
            <a:r>
              <a:rPr lang="en-US" sz="2000"/>
              <a:t>Ví dụ:</a:t>
            </a:r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</p:txBody>
      </p:sp>
      <p:pic>
        <p:nvPicPr>
          <p:cNvPr id="3" name="Picture 2"/>
          <p:cNvPicPr/>
          <p:nvPr>
            <p:custDataLst>
              <p:tags r:id="rId2"/>
            </p:custDataLst>
          </p:nvPr>
        </p:nvPicPr>
        <p:blipFill>
          <a:blip r:embed="rId3"/>
        </p:blipFill>
        <p:spPr>
          <a:xfrm>
            <a:off x="1438275" y="2229485"/>
            <a:ext cx="4074795" cy="14662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vi-VN" sz="2400" dirty="0">
                <a:solidFill>
                  <a:schemeClr val="lt1"/>
                </a:solidFill>
              </a:rPr>
              <a:t>Basic data types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14655" y="902970"/>
            <a:ext cx="8317865" cy="2633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/>
              <a:t>d. Các kiểu dữ liệu nâng cao</a:t>
            </a:r>
            <a:endParaRPr lang="en-US" sz="2000"/>
          </a:p>
          <a:p>
            <a:endParaRPr lang="en-US" sz="2000"/>
          </a:p>
          <a:p>
            <a:r>
              <a:rPr lang="en-US" sz="2000"/>
              <a:t>Kiểu dữ liệu </a:t>
            </a:r>
            <a:r>
              <a:rPr lang="en-US" sz="2000" b="1"/>
              <a:t>dictionary</a:t>
            </a:r>
            <a:endParaRPr lang="en-US" sz="2000"/>
          </a:p>
          <a:p>
            <a:r>
              <a:rPr lang="en-US" sz="2000"/>
              <a:t>Cú pháp: &lt;&lt;tên biến&gt;&gt; = </a:t>
            </a:r>
            <a:r>
              <a:rPr lang="en-US" sz="2000" b="1"/>
              <a:t>{</a:t>
            </a:r>
            <a:r>
              <a:rPr lang="en-US" sz="2000"/>
              <a:t>&lt;&lt;</a:t>
            </a:r>
            <a:r>
              <a:rPr lang="en-US" sz="2000" b="1"/>
              <a:t>khóa 1</a:t>
            </a:r>
            <a:r>
              <a:rPr lang="en-US" sz="2000" b="1"/>
              <a:t>: giá trị 1</a:t>
            </a:r>
            <a:r>
              <a:rPr lang="en-US" sz="2000"/>
              <a:t>&gt;&gt;, &lt;&lt;khóa 2: giá trị 2&gt;&gt;, …</a:t>
            </a:r>
            <a:r>
              <a:rPr lang="en-US" sz="2000" b="1"/>
              <a:t>}</a:t>
            </a:r>
            <a:endParaRPr lang="en-US" sz="2000"/>
          </a:p>
          <a:p>
            <a:r>
              <a:rPr lang="en-US" sz="2000"/>
              <a:t>Ví dụ:</a:t>
            </a:r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</p:txBody>
      </p:sp>
      <p:pic>
        <p:nvPicPr>
          <p:cNvPr id="2" name="Picture 1"/>
          <p:cNvPicPr/>
          <p:nvPr>
            <p:custDataLst>
              <p:tags r:id="rId2"/>
            </p:custDataLst>
          </p:nvPr>
        </p:nvPicPr>
        <p:blipFill>
          <a:blip r:embed="rId3"/>
        </p:blipFill>
        <p:spPr>
          <a:xfrm>
            <a:off x="1431925" y="2543175"/>
            <a:ext cx="2751455" cy="21609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altLang="vi-VN" sz="2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Cấu trúc if...else, while..., for</a:t>
            </a:r>
            <a:endParaRPr lang="en-US" altLang="vi-VN"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14655" y="902970"/>
            <a:ext cx="8317865" cy="2633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/>
              <a:t>Cấu trúc </a:t>
            </a:r>
            <a:r>
              <a:rPr lang="en-US" sz="2000" b="1"/>
              <a:t>if...else</a:t>
            </a:r>
            <a:r>
              <a:rPr lang="en-US" sz="2000"/>
              <a:t>: Từ khóa if, elif, else</a:t>
            </a:r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r>
              <a:rPr lang="en-US" sz="1500"/>
              <a:t>if &lt;&lt;điều kiện&gt;&gt;:</a:t>
            </a:r>
            <a:endParaRPr lang="en-US" sz="1500"/>
          </a:p>
          <a:p>
            <a:r>
              <a:rPr lang="en-US" sz="1500"/>
              <a:t>	&lt;&lt;công việc 1&gt;&gt;</a:t>
            </a:r>
            <a:endParaRPr lang="en-US" sz="1500"/>
          </a:p>
          <a:p>
            <a:r>
              <a:rPr lang="en-US" sz="1500"/>
              <a:t>else:</a:t>
            </a:r>
            <a:endParaRPr lang="en-US" sz="1500"/>
          </a:p>
          <a:p>
            <a:r>
              <a:rPr lang="en-US" sz="1500"/>
              <a:t>	&lt;&lt;công việc 2&gt;&gt;</a:t>
            </a:r>
            <a:endParaRPr lang="en-US" sz="1500"/>
          </a:p>
          <a:p>
            <a:endParaRPr lang="en-US" sz="1500"/>
          </a:p>
          <a:p>
            <a:r>
              <a:rPr lang="en-US" sz="1500"/>
              <a:t>Diễn giải</a:t>
            </a:r>
            <a:endParaRPr lang="en-US" sz="1500"/>
          </a:p>
          <a:p>
            <a:r>
              <a:rPr lang="en-US" sz="1500"/>
              <a:t>Nếu điều kiện có giá trị </a:t>
            </a:r>
            <a:r>
              <a:rPr lang="en-US" sz="1500" b="1"/>
              <a:t>True thì công việc 1 </a:t>
            </a:r>
            <a:r>
              <a:rPr lang="en-US" sz="1500"/>
              <a:t>được thực hiện, ngược lại </a:t>
            </a:r>
            <a:r>
              <a:rPr lang="en-US" sz="1500" b="1"/>
              <a:t>công việc 2 được thực hiện</a:t>
            </a:r>
            <a:endParaRPr lang="en-US" sz="1500" b="1"/>
          </a:p>
          <a:p>
            <a:r>
              <a:rPr lang="en-US" sz="1500"/>
              <a:t>Sử dụng thụt dòng (hoặc khoảng trắng/ tab) để định nghĩa 1 khối lệnh</a:t>
            </a:r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</p:txBody>
      </p:sp>
      <p:pic>
        <p:nvPicPr>
          <p:cNvPr id="3" name="Picture 2"/>
          <p:cNvPicPr/>
          <p:nvPr>
            <p:custDataLst>
              <p:tags r:id="rId2"/>
            </p:custDataLst>
          </p:nvPr>
        </p:nvPicPr>
        <p:blipFill>
          <a:blip r:embed="rId3"/>
        </p:blipFill>
        <p:spPr>
          <a:xfrm>
            <a:off x="523875" y="1312545"/>
            <a:ext cx="4251325" cy="25393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altLang="vi-VN" sz="2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Cấu trúc if...else, while..., for</a:t>
            </a:r>
            <a:endParaRPr lang="en-US" altLang="vi-VN"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14655" y="902970"/>
            <a:ext cx="8317865" cy="2633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/>
              <a:t>Cấu trúc </a:t>
            </a:r>
            <a:r>
              <a:rPr lang="en-US" sz="2000" b="1"/>
              <a:t>while</a:t>
            </a:r>
            <a:endParaRPr lang="en-US" sz="2000"/>
          </a:p>
          <a:p>
            <a:endParaRPr lang="en-US" sz="2000"/>
          </a:p>
          <a:p>
            <a:r>
              <a:rPr lang="en-US" sz="2000"/>
              <a:t>Cú pháp:</a:t>
            </a:r>
            <a:endParaRPr lang="en-US" sz="2000"/>
          </a:p>
          <a:p>
            <a:r>
              <a:rPr lang="en-US" sz="2000"/>
              <a:t>while &lt;&lt;</a:t>
            </a:r>
            <a:r>
              <a:rPr lang="en-US" sz="2000" b="1"/>
              <a:t>điều kiện</a:t>
            </a:r>
            <a:r>
              <a:rPr lang="en-US" sz="2000"/>
              <a:t>&gt;&gt;</a:t>
            </a:r>
            <a:r>
              <a:rPr lang="en-US" sz="2000" b="1"/>
              <a:t>:</a:t>
            </a:r>
            <a:endParaRPr lang="en-US" sz="2000"/>
          </a:p>
          <a:p>
            <a:r>
              <a:rPr lang="en-US" sz="2000"/>
              <a:t>	&lt;&lt;công việc&gt;&gt;</a:t>
            </a:r>
            <a:endParaRPr lang="en-US" sz="2000"/>
          </a:p>
          <a:p>
            <a:endParaRPr lang="en-US" sz="2000"/>
          </a:p>
          <a:p>
            <a:r>
              <a:rPr lang="en-US" sz="2000" b="1"/>
              <a:t>Diễn giải:</a:t>
            </a:r>
            <a:endParaRPr lang="en-US" sz="2000"/>
          </a:p>
          <a:p>
            <a:r>
              <a:rPr lang="en-US" sz="2000"/>
              <a:t>Thực hiện công việc trong khi</a:t>
            </a:r>
            <a:r>
              <a:rPr lang="en-US" sz="2000" b="1"/>
              <a:t> biểu thức điều kiện có giá trị là True</a:t>
            </a:r>
            <a:endParaRPr lang="en-US" sz="2000"/>
          </a:p>
          <a:p>
            <a:r>
              <a:rPr lang="en-US" sz="2000"/>
              <a:t>Sử dụng </a:t>
            </a:r>
            <a:r>
              <a:rPr lang="en-US" sz="2000" b="1"/>
              <a:t>thụt đầu dòng</a:t>
            </a:r>
            <a:r>
              <a:rPr lang="en-US" sz="2000"/>
              <a:t> (hoặc khoảng trắng/ thường là tab) để định nghĩa 1 khối lệnh</a:t>
            </a:r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</p:txBody>
      </p:sp>
      <p:pic>
        <p:nvPicPr>
          <p:cNvPr id="2" name="Picture 1"/>
          <p:cNvPicPr/>
          <p:nvPr>
            <p:custDataLst>
              <p:tags r:id="rId2"/>
            </p:custDataLst>
          </p:nvPr>
        </p:nvPicPr>
        <p:blipFill>
          <a:blip r:embed="rId3"/>
        </p:blipFill>
        <p:spPr>
          <a:xfrm>
            <a:off x="515620" y="4080510"/>
            <a:ext cx="1853565" cy="137795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032000" y="4469448"/>
            <a:ext cx="5080000" cy="337185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1600" b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 </a:t>
            </a:r>
            <a:endParaRPr lang="en-US" altLang="zh-CN" sz="1600" b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altLang="vi-VN" sz="2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Cấu trúc if...else, while..., for</a:t>
            </a:r>
            <a:endParaRPr lang="en-US" altLang="vi-VN"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14655" y="902970"/>
            <a:ext cx="8317865" cy="2633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/>
              <a:t>Cấu trúc </a:t>
            </a:r>
            <a:r>
              <a:rPr lang="en-US" sz="2000" b="1"/>
              <a:t>for</a:t>
            </a:r>
            <a:endParaRPr lang="en-US" sz="2000"/>
          </a:p>
          <a:p>
            <a:r>
              <a:rPr lang="en-US" sz="2000"/>
              <a:t>Cú pháp</a:t>
            </a:r>
            <a:endParaRPr lang="en-US" sz="2000"/>
          </a:p>
          <a:p>
            <a:r>
              <a:rPr lang="en-US" sz="2000"/>
              <a:t>	for &lt;&lt;phần tử&gt;&gt; in &lt;&lt;tập hợp&gt;&gt;:</a:t>
            </a:r>
            <a:endParaRPr lang="en-US" sz="2000"/>
          </a:p>
          <a:p>
            <a:r>
              <a:rPr lang="en-US" sz="2000"/>
              <a:t>		&lt;&lt;công việc&gt;&gt;</a:t>
            </a:r>
            <a:endParaRPr lang="en-US" sz="2000"/>
          </a:p>
          <a:p>
            <a:endParaRPr lang="en-US" sz="2000"/>
          </a:p>
          <a:p>
            <a:r>
              <a:rPr lang="en-US" sz="2000"/>
              <a:t>Diễn giải</a:t>
            </a:r>
            <a:endParaRPr lang="en-US" sz="2000"/>
          </a:p>
          <a:p>
            <a:pPr lvl="1" indent="457200"/>
            <a:r>
              <a:rPr lang="en-US" sz="2000"/>
              <a:t>Lệnh lặp for được sử dụng với các tập hợp như list, tuple, set hay dictionary</a:t>
            </a:r>
            <a:endParaRPr lang="en-US" sz="2000"/>
          </a:p>
          <a:p>
            <a:pPr lvl="1" indent="457200"/>
            <a:r>
              <a:rPr lang="en-US" sz="2000"/>
              <a:t>Thực hiện công việc với mỗi phần tử trong tập hợp</a:t>
            </a:r>
            <a:endParaRPr lang="en-US" sz="2000"/>
          </a:p>
          <a:p>
            <a:pPr lvl="1" indent="457200"/>
            <a:r>
              <a:rPr lang="en-US" sz="2000"/>
              <a:t>Lệnh lặp for có thể được dùng với chuỗi</a:t>
            </a:r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2032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 b="0"/>
              <a:t> </a:t>
            </a:r>
            <a:endParaRPr lang="en-US" altLang="zh-CN" sz="1600" b="0"/>
          </a:p>
        </p:txBody>
      </p:sp>
      <p:sp>
        <p:nvSpPr>
          <p:cNvPr id="6" name="Text Box 5"/>
          <p:cNvSpPr txBox="1"/>
          <p:nvPr/>
        </p:nvSpPr>
        <p:spPr>
          <a:xfrm>
            <a:off x="2032000" y="4469448"/>
            <a:ext cx="5080000" cy="337185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1600" b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 </a:t>
            </a:r>
            <a:endParaRPr lang="en-US" altLang="zh-CN" sz="1600" b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/>
          <p:cNvPicPr/>
          <p:nvPr>
            <p:custDataLst>
              <p:tags r:id="rId2"/>
            </p:custDataLst>
          </p:nvPr>
        </p:nvPicPr>
        <p:blipFill>
          <a:blip r:embed="rId3"/>
        </p:blipFill>
        <p:spPr>
          <a:xfrm>
            <a:off x="568325" y="4203700"/>
            <a:ext cx="3688715" cy="1202690"/>
          </a:xfrm>
          <a:prstGeom prst="rect">
            <a:avLst/>
          </a:prstGeom>
        </p:spPr>
      </p:pic>
      <p:pic>
        <p:nvPicPr>
          <p:cNvPr id="7" name="Picture 6"/>
          <p:cNvPicPr/>
          <p:nvPr>
            <p:custDataLst>
              <p:tags r:id="rId4"/>
            </p:custDataLst>
          </p:nvPr>
        </p:nvPicPr>
        <p:blipFill>
          <a:blip r:embed="rId5"/>
        </p:blipFill>
        <p:spPr>
          <a:xfrm>
            <a:off x="5026660" y="4203700"/>
            <a:ext cx="2399030" cy="12026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altLang="vi-VN" sz="2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Cấu trúc if...else, while..., for</a:t>
            </a:r>
            <a:endParaRPr lang="en-US" altLang="vi-VN"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14655" y="902970"/>
            <a:ext cx="8317865" cy="2633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sz="2000"/>
              <a:t>Sử dụng lệnh lặp </a:t>
            </a:r>
            <a:r>
              <a:rPr lang="en-US" sz="2000" b="1"/>
              <a:t>for với hàm range()</a:t>
            </a:r>
            <a:endParaRPr lang="en-US" sz="2000"/>
          </a:p>
          <a:p>
            <a:pPr algn="just"/>
            <a:r>
              <a:rPr lang="en-US" sz="2000"/>
              <a:t>Hàm range() trả về một dãy số, mặc định bắt đầu từ 0, tăng dần 1 và kết thúc tại số / giá trị đã được xác định -  đi cho 1</a:t>
            </a:r>
            <a:endParaRPr lang="en-US" sz="2000"/>
          </a:p>
          <a:p>
            <a:pPr algn="just"/>
            <a:r>
              <a:rPr lang="en-US" sz="2000"/>
              <a:t>Có thể thay đổi số bắt đầu và bước nhảy của các số</a:t>
            </a:r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2032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 b="0"/>
              <a:t> </a:t>
            </a:r>
            <a:endParaRPr lang="en-US" altLang="zh-CN" sz="1600" b="0"/>
          </a:p>
        </p:txBody>
      </p:sp>
      <p:sp>
        <p:nvSpPr>
          <p:cNvPr id="6" name="Text Box 5"/>
          <p:cNvSpPr txBox="1"/>
          <p:nvPr/>
        </p:nvSpPr>
        <p:spPr>
          <a:xfrm>
            <a:off x="2032000" y="4469448"/>
            <a:ext cx="5080000" cy="337185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1600" b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 </a:t>
            </a:r>
            <a:endParaRPr lang="en-US" altLang="zh-CN" sz="1600" b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" name="Picture 1"/>
          <p:cNvPicPr/>
          <p:nvPr>
            <p:custDataLst>
              <p:tags r:id="rId2"/>
            </p:custDataLst>
          </p:nvPr>
        </p:nvPicPr>
        <p:blipFill>
          <a:blip r:embed="rId3"/>
        </p:blipFill>
        <p:spPr>
          <a:xfrm>
            <a:off x="506095" y="2381250"/>
            <a:ext cx="2044065" cy="799465"/>
          </a:xfrm>
          <a:prstGeom prst="rect">
            <a:avLst/>
          </a:prstGeom>
        </p:spPr>
      </p:pic>
      <p:pic>
        <p:nvPicPr>
          <p:cNvPr id="8" name="Picture 7"/>
          <p:cNvPicPr/>
          <p:nvPr>
            <p:custDataLst>
              <p:tags r:id="rId4"/>
            </p:custDataLst>
          </p:nvPr>
        </p:nvPicPr>
        <p:blipFill>
          <a:blip r:embed="rId5"/>
        </p:blipFill>
        <p:spPr>
          <a:xfrm>
            <a:off x="506095" y="3410585"/>
            <a:ext cx="2043430" cy="822960"/>
          </a:xfrm>
          <a:prstGeom prst="rect">
            <a:avLst/>
          </a:prstGeom>
        </p:spPr>
      </p:pic>
      <p:pic>
        <p:nvPicPr>
          <p:cNvPr id="9" name="Picture 8"/>
          <p:cNvPicPr/>
          <p:nvPr>
            <p:custDataLst>
              <p:tags r:id="rId6"/>
            </p:custDataLst>
          </p:nvPr>
        </p:nvPicPr>
        <p:blipFill>
          <a:blip r:embed="rId7"/>
        </p:blipFill>
        <p:spPr>
          <a:xfrm>
            <a:off x="506095" y="4469765"/>
            <a:ext cx="2266950" cy="843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altLang="vi-VN" sz="2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Cấu trúc if...else, while..., for</a:t>
            </a:r>
            <a:endParaRPr lang="en-US" altLang="vi-VN"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14655" y="902970"/>
            <a:ext cx="8317865" cy="2633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sz="2000"/>
              <a:t>Các lệnh </a:t>
            </a:r>
            <a:r>
              <a:rPr lang="en-US" sz="2000" b="1"/>
              <a:t>ngắt</a:t>
            </a:r>
            <a:r>
              <a:rPr lang="en-US" sz="2000"/>
              <a:t> vòng lặp</a:t>
            </a:r>
            <a:endParaRPr lang="en-US" sz="2000"/>
          </a:p>
          <a:p>
            <a:pPr algn="just"/>
            <a:r>
              <a:rPr lang="en-US" sz="2000"/>
              <a:t>Lệnh </a:t>
            </a:r>
            <a:r>
              <a:rPr lang="en-US" sz="2000" b="1"/>
              <a:t>break </a:t>
            </a:r>
            <a:r>
              <a:rPr lang="en-US" sz="2000"/>
              <a:t>dùng để dừng vòng lặp, ngay cả khi điều kiện vẫn đúng</a:t>
            </a:r>
            <a:endParaRPr lang="en-US" sz="2000"/>
          </a:p>
          <a:p>
            <a:pPr algn="just"/>
            <a:r>
              <a:rPr lang="en-US" sz="2000"/>
              <a:t>Ví dụ:</a:t>
            </a:r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r>
              <a:rPr lang="en-US" sz="2000"/>
              <a:t>Lệnh </a:t>
            </a:r>
            <a:r>
              <a:rPr lang="en-US" sz="2000" b="1"/>
              <a:t>continue</a:t>
            </a:r>
            <a:r>
              <a:rPr lang="en-US" sz="2000"/>
              <a:t>: dừng vòng lặp hiện tại và chuyển sang vòng lặp tiếp theo</a:t>
            </a:r>
            <a:endParaRPr lang="en-US" sz="2000"/>
          </a:p>
          <a:p>
            <a:pPr algn="just"/>
            <a:r>
              <a:rPr lang="en-US" sz="2000"/>
              <a:t>Ví dụ:</a:t>
            </a:r>
            <a:endParaRPr 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2032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 b="0"/>
              <a:t> </a:t>
            </a:r>
            <a:endParaRPr lang="en-US" altLang="zh-CN" sz="1600" b="0"/>
          </a:p>
        </p:txBody>
      </p:sp>
      <p:sp>
        <p:nvSpPr>
          <p:cNvPr id="6" name="Text Box 5"/>
          <p:cNvSpPr txBox="1"/>
          <p:nvPr/>
        </p:nvSpPr>
        <p:spPr>
          <a:xfrm>
            <a:off x="2032000" y="4469448"/>
            <a:ext cx="5080000" cy="337185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1600" b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 </a:t>
            </a:r>
            <a:endParaRPr lang="en-US" altLang="zh-CN" sz="1600" b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/>
          <p:cNvPicPr/>
          <p:nvPr>
            <p:custDataLst>
              <p:tags r:id="rId2"/>
            </p:custDataLst>
          </p:nvPr>
        </p:nvPicPr>
        <p:blipFill>
          <a:blip r:embed="rId3"/>
        </p:blipFill>
        <p:spPr>
          <a:xfrm>
            <a:off x="521970" y="2025015"/>
            <a:ext cx="1936115" cy="1948180"/>
          </a:xfrm>
          <a:prstGeom prst="rect">
            <a:avLst/>
          </a:prstGeom>
        </p:spPr>
      </p:pic>
      <p:pic>
        <p:nvPicPr>
          <p:cNvPr id="7" name="Picture 6"/>
          <p:cNvPicPr/>
          <p:nvPr>
            <p:custDataLst>
              <p:tags r:id="rId4"/>
            </p:custDataLst>
          </p:nvPr>
        </p:nvPicPr>
        <p:blipFill>
          <a:blip r:embed="rId5"/>
        </p:blipFill>
        <p:spPr>
          <a:xfrm>
            <a:off x="3465830" y="2025015"/>
            <a:ext cx="3534410" cy="1947545"/>
          </a:xfrm>
          <a:prstGeom prst="rect">
            <a:avLst/>
          </a:prstGeom>
        </p:spPr>
      </p:pic>
      <p:pic>
        <p:nvPicPr>
          <p:cNvPr id="10" name="Picture 9"/>
          <p:cNvPicPr/>
          <p:nvPr>
            <p:custDataLst>
              <p:tags r:id="rId6"/>
            </p:custDataLst>
          </p:nvPr>
        </p:nvPicPr>
        <p:blipFill>
          <a:blip r:embed="rId7"/>
        </p:blipFill>
        <p:spPr>
          <a:xfrm>
            <a:off x="6443345" y="4651375"/>
            <a:ext cx="1393825" cy="1581150"/>
          </a:xfrm>
          <a:prstGeom prst="rect">
            <a:avLst/>
          </a:prstGeom>
        </p:spPr>
      </p:pic>
      <p:pic>
        <p:nvPicPr>
          <p:cNvPr id="11" name="Picture 10"/>
          <p:cNvPicPr/>
          <p:nvPr>
            <p:custDataLst>
              <p:tags r:id="rId8"/>
            </p:custDataLst>
          </p:nvPr>
        </p:nvPicPr>
        <p:blipFill>
          <a:blip r:embed="rId9"/>
        </p:blipFill>
        <p:spPr>
          <a:xfrm>
            <a:off x="1768475" y="4651375"/>
            <a:ext cx="3400425" cy="14249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5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altLang="vi-VN" sz="2400" b="0" i="0" u="none" strike="noStrike" cap="none" dirty="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Cấu trúc if...else, while..., for</a:t>
            </a:r>
            <a:endParaRPr lang="en-US" altLang="vi-VN"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14655" y="902970"/>
            <a:ext cx="8317865" cy="2633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sz="2000"/>
              <a:t>Lệnh else: chạy khối lệnh 1 lần sau khi điều kiện không còn đúng nữa</a:t>
            </a:r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endParaRPr lang="en-US" sz="2000"/>
          </a:p>
          <a:p>
            <a:pPr algn="just"/>
            <a:r>
              <a:rPr lang="en-US" sz="2000"/>
              <a:t>* Với lệnh lặp for, khối else sẽ không được thực hiện nếu vòng lặp bị dừng bởi lệnh break</a:t>
            </a:r>
            <a:endParaRPr lang="en-US" sz="2000"/>
          </a:p>
        </p:txBody>
      </p:sp>
      <p:sp>
        <p:nvSpPr>
          <p:cNvPr id="5" name="Text Box 4"/>
          <p:cNvSpPr txBox="1"/>
          <p:nvPr/>
        </p:nvSpPr>
        <p:spPr>
          <a:xfrm>
            <a:off x="2032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 b="0"/>
              <a:t> </a:t>
            </a:r>
            <a:endParaRPr lang="en-US" altLang="zh-CN" sz="1600" b="0"/>
          </a:p>
        </p:txBody>
      </p:sp>
      <p:sp>
        <p:nvSpPr>
          <p:cNvPr id="6" name="Text Box 5"/>
          <p:cNvSpPr txBox="1"/>
          <p:nvPr/>
        </p:nvSpPr>
        <p:spPr>
          <a:xfrm>
            <a:off x="2032000" y="4469448"/>
            <a:ext cx="5080000" cy="337185"/>
          </a:xfrm>
          <a:prstGeom prst="rect">
            <a:avLst/>
          </a:prstGeom>
        </p:spPr>
        <p:txBody>
          <a:bodyPr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1600" b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 </a:t>
            </a:r>
            <a:endParaRPr lang="en-US" altLang="zh-CN" sz="1600" b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" name="Picture 1"/>
          <p:cNvPicPr/>
          <p:nvPr>
            <p:custDataLst>
              <p:tags r:id="rId2"/>
            </p:custDataLst>
          </p:nvPr>
        </p:nvPicPr>
        <p:blipFill>
          <a:blip r:embed="rId3"/>
        </p:blipFill>
        <p:spPr>
          <a:xfrm>
            <a:off x="508000" y="1447800"/>
            <a:ext cx="3162300" cy="1543050"/>
          </a:xfrm>
          <a:prstGeom prst="rect">
            <a:avLst/>
          </a:prstGeom>
        </p:spPr>
      </p:pic>
      <p:pic>
        <p:nvPicPr>
          <p:cNvPr id="8" name="Picture 7"/>
          <p:cNvPicPr/>
          <p:nvPr>
            <p:custDataLst>
              <p:tags r:id="rId4"/>
            </p:custDataLst>
          </p:nvPr>
        </p:nvPicPr>
        <p:blipFill>
          <a:blip r:embed="rId5"/>
        </p:blipFill>
        <p:spPr>
          <a:xfrm>
            <a:off x="4008755" y="1447800"/>
            <a:ext cx="2419350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dirty="0">
                <a:solidFill>
                  <a:schemeClr val="lt1"/>
                </a:solidFill>
              </a:rPr>
              <a:t>Variables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66618"/>
            <a:ext cx="9144000" cy="18473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36" y="2549342"/>
            <a:ext cx="8931564" cy="347308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dirty="0">
                <a:solidFill>
                  <a:schemeClr val="lt1"/>
                </a:solidFill>
              </a:rPr>
              <a:t>Variables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5675"/>
            <a:ext cx="9144000" cy="348195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dirty="0">
                <a:solidFill>
                  <a:schemeClr val="lt1"/>
                </a:solidFill>
              </a:rPr>
              <a:t>Comment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Google Shape;101;p3"/>
          <p:cNvSpPr txBox="1"/>
          <p:nvPr/>
        </p:nvSpPr>
        <p:spPr>
          <a:xfrm>
            <a:off x="424875" y="616225"/>
            <a:ext cx="8285017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lvl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a. Comment: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ghi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chú</a:t>
            </a:r>
            <a:endParaRPr lang="en-US" sz="2400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101600" lvl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Khi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chúng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ta code,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chúng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ta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cần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giải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thích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code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hoặc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cần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ghi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lại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nội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dung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cần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nhớ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cho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đoạn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code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nào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đó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=&gt; Ta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dùng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ghi</a:t>
            </a: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chú</a:t>
            </a:r>
            <a:endParaRPr lang="en-US" sz="2400" dirty="0" err="1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  <a:p>
            <a:pPr marL="101600" lvl="0" algn="just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400" dirty="0">
                <a:solidFill>
                  <a:schemeClr val="dk1"/>
                </a:solidFill>
                <a:latin typeface="+mn-lt"/>
                <a:ea typeface="Maven Pro"/>
                <a:cs typeface="Maven Pro"/>
                <a:sym typeface="Maven Pro"/>
              </a:rPr>
              <a:t># Comment</a:t>
            </a:r>
            <a:endParaRPr lang="en-US" sz="2400" dirty="0">
              <a:solidFill>
                <a:schemeClr val="dk1"/>
              </a:solidFill>
              <a:latin typeface="+mn-lt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dirty="0">
                <a:solidFill>
                  <a:schemeClr val="lt1"/>
                </a:solidFill>
              </a:rPr>
              <a:t>Comment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089"/>
            <a:ext cx="9144000" cy="447397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dirty="0">
                <a:solidFill>
                  <a:schemeClr val="lt1"/>
                </a:solidFill>
              </a:rPr>
              <a:t>Comment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6617"/>
            <a:ext cx="9107055" cy="500443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dirty="0">
                <a:solidFill>
                  <a:schemeClr val="lt1"/>
                </a:solidFill>
              </a:rPr>
              <a:t>Operators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80460"/>
            <a:ext cx="9144000" cy="367510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dirty="0">
                <a:solidFill>
                  <a:schemeClr val="lt1"/>
                </a:solidFill>
              </a:rPr>
              <a:t>Operators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5343"/>
            <a:ext cx="9144000" cy="446193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dirty="0">
                <a:solidFill>
                  <a:schemeClr val="lt1"/>
                </a:solidFill>
              </a:rPr>
              <a:t>Operators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3570"/>
            <a:ext cx="9146162" cy="463798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dirty="0">
                <a:solidFill>
                  <a:schemeClr val="lt1"/>
                </a:solidFill>
              </a:rPr>
              <a:t>Operators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63571"/>
            <a:ext cx="9144000" cy="447066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dirty="0">
                <a:solidFill>
                  <a:schemeClr val="lt1"/>
                </a:solidFill>
              </a:rPr>
              <a:t>Operators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91851"/>
            <a:ext cx="9145603" cy="47039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/>
        </p:nvSpPr>
        <p:spPr>
          <a:xfrm>
            <a:off x="304800" y="139783"/>
            <a:ext cx="5208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400" dirty="0">
                <a:solidFill>
                  <a:schemeClr val="lt1"/>
                </a:solidFill>
              </a:rPr>
              <a:t>Operators</a:t>
            </a:r>
            <a:endParaRPr sz="2400" b="0" i="0" u="none" strike="noStrike" cap="none" dirty="0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3306"/>
            <a:ext cx="9144000" cy="18418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615178"/>
            <a:ext cx="7173798" cy="343501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  <p:tag name="TABLE_ENDDRAG_ORIGIN_RECT" val="572*169"/>
  <p:tag name="TABLE_ENDDRAG_RECT" val="261*387*572*169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3183</Words>
  <Application>WPS Presentation</Application>
  <PresentationFormat>On-screen Show (4:3)</PresentationFormat>
  <Paragraphs>315</Paragraphs>
  <Slides>28</Slides>
  <Notes>62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Arial</vt:lpstr>
      <vt:lpstr>SimSun</vt:lpstr>
      <vt:lpstr>Wingdings</vt:lpstr>
      <vt:lpstr>Arial</vt:lpstr>
      <vt:lpstr>Calibri</vt:lpstr>
      <vt:lpstr>Maven Pro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Huy</dc:creator>
  <cp:lastModifiedBy>Đặng Trí Thanh</cp:lastModifiedBy>
  <cp:revision>99</cp:revision>
  <dcterms:created xsi:type="dcterms:W3CDTF">2021-10-18T16:01:00Z</dcterms:created>
  <dcterms:modified xsi:type="dcterms:W3CDTF">2025-09-12T14:05:24Z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6DBFEB332A0A43E584E1949F325B1FD9_12</vt:lpwstr>
  </property>
  <property fmtid="{D5CDD505-2E9C-101B-9397-08002B2CF9AE}" pid="3" name="KSOProductBuildVer">
    <vt:lpwstr>1033-12.2.0.22549</vt:lpwstr>
  </property>
</Properties>
</file>