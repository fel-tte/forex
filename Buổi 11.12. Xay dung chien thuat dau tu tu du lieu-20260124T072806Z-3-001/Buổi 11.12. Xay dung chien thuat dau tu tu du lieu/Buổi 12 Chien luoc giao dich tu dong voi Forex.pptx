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99" r:id="rId7"/>
    <p:sldId id="300" r:id="rId8"/>
    <p:sldId id="301" r:id="rId9"/>
    <p:sldId id="302" r:id="rId10"/>
    <p:sldId id="303" r:id="rId11"/>
    <p:sldId id="304" r:id="rId12"/>
    <p:sldId id="305" r:id="rId13"/>
    <p:sldId id="306" r:id="rId14"/>
    <p:sldId id="307" r:id="rId15"/>
    <p:sldId id="308" r:id="rId16"/>
    <p:sldId id="309" r:id="rId17"/>
    <p:sldId id="310" r:id="rId18"/>
    <p:sldId id="311" r:id="rId19"/>
    <p:sldId id="312" r:id="rId20"/>
    <p:sldId id="313" r:id="rId21"/>
    <p:sldId id="314" r:id="rId22"/>
    <p:sldId id="315" r:id="rId23"/>
    <p:sldId id="316" r:id="rId24"/>
    <p:sldId id="317" r:id="rId25"/>
    <p:sldId id="318" r:id="rId26"/>
    <p:sldId id="319" r:id="rId27"/>
    <p:sldId id="320" r:id="rId28"/>
    <p:sldId id="321" r:id="rId29"/>
    <p:sldId id="322" r:id="rId30"/>
    <p:sldId id="323" r:id="rId31"/>
    <p:sldId id="324" r:id="rId32"/>
    <p:sldId id="325" r:id="rId33"/>
    <p:sldId id="326" r:id="rId34"/>
    <p:sldId id="327" r:id="rId35"/>
    <p:sldId id="328" r:id="rId36"/>
    <p:sldId id="298" r:id="rId37"/>
  </p:sldIdLst>
  <p:sldSz cx="9144000" cy="6858000" type="screen4x3"/>
  <p:notesSz cx="6858000" cy="9144000"/>
  <p:embeddedFontLst>
    <p:embeddedFont>
      <p:font typeface="Calibri" panose="020F0502020204030204"/>
      <p:regular r:id="rId41"/>
      <p:bold r:id="rId42"/>
      <p:italic r:id="rId43"/>
      <p:boldItalic r:id="rId44"/>
    </p:embeddedFont>
    <p:embeddedFont>
      <p:font typeface="Maven Pro" panose="020B0604020202020204"/>
      <p:regular r:id="rId45"/>
      <p:bold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38"/>
    <p:restoredTop sz="94695"/>
  </p:normalViewPr>
  <p:slideViewPr>
    <p:cSldViewPr snapToGrid="0">
      <p:cViewPr varScale="1">
        <p:scale>
          <a:sx n="83" d="100"/>
          <a:sy n="83" d="100"/>
        </p:scale>
        <p:origin x="15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font" Target="fonts/font6.fntdata"/><Relationship Id="rId45" Type="http://schemas.openxmlformats.org/officeDocument/2006/relationships/font" Target="fonts/font5.fntdata"/><Relationship Id="rId44" Type="http://schemas.openxmlformats.org/officeDocument/2006/relationships/font" Target="fonts/font4.fntdata"/><Relationship Id="rId43" Type="http://schemas.openxmlformats.org/officeDocument/2006/relationships/font" Target="fonts/font3.fntdata"/><Relationship Id="rId42" Type="http://schemas.openxmlformats.org/officeDocument/2006/relationships/font" Target="fonts/font2.fntdata"/><Relationship Id="rId41" Type="http://schemas.openxmlformats.org/officeDocument/2006/relationships/font" Target="fonts/font1.fntdata"/><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vi-V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g20ee0ad700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g20ee0ad700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1" name="Google Shape;9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9"/>
        <p:cNvGrpSpPr/>
        <p:nvPr/>
      </p:nvGrpSpPr>
      <p:grpSpPr>
        <a:xfrm>
          <a:off x="0" y="0"/>
          <a:ext cx="0" cy="0"/>
          <a:chOff x="0" y="0"/>
          <a:chExt cx="0" cy="0"/>
        </a:xfrm>
      </p:grpSpPr>
      <p:sp>
        <p:nvSpPr>
          <p:cNvPr id="350" name="Google Shape;35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1" name="Google Shape;351;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5"/>
        <p:cNvGrpSpPr/>
        <p:nvPr/>
      </p:nvGrpSpPr>
      <p:grpSpPr>
        <a:xfrm>
          <a:off x="0" y="0"/>
          <a:ext cx="0" cy="0"/>
          <a:chOff x="0" y="0"/>
          <a:chExt cx="0" cy="0"/>
        </a:xfrm>
      </p:grpSpPr>
      <p:sp>
        <p:nvSpPr>
          <p:cNvPr id="16" name="Google Shape;16;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9"/>
        <p:cNvGrpSpPr/>
        <p:nvPr/>
      </p:nvGrpSpPr>
      <p:grpSpPr>
        <a:xfrm>
          <a:off x="0" y="0"/>
          <a:ext cx="0" cy="0"/>
          <a:chOff x="0" y="0"/>
          <a:chExt cx="0" cy="0"/>
        </a:xfrm>
      </p:grpSpPr>
      <p:sp>
        <p:nvSpPr>
          <p:cNvPr id="20" name="Google Shape;20;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2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3" name="Google Shape;23;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6"/>
        <p:cNvGrpSpPr/>
        <p:nvPr/>
      </p:nvGrpSpPr>
      <p:grpSpPr>
        <a:xfrm>
          <a:off x="0" y="0"/>
          <a:ext cx="0" cy="0"/>
          <a:chOff x="0" y="0"/>
          <a:chExt cx="0" cy="0"/>
        </a:xfrm>
      </p:grpSpPr>
      <p:sp>
        <p:nvSpPr>
          <p:cNvPr id="27" name="Google Shape;27;p3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5" name="Google Shape;35;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8"/>
        <p:cNvGrpSpPr/>
        <p:nvPr/>
      </p:nvGrpSpPr>
      <p:grpSpPr>
        <a:xfrm>
          <a:off x="0" y="0"/>
          <a:ext cx="0" cy="0"/>
          <a:chOff x="0" y="0"/>
          <a:chExt cx="0" cy="0"/>
        </a:xfrm>
      </p:grpSpPr>
      <p:sp>
        <p:nvSpPr>
          <p:cNvPr id="39" name="Google Shape;39;p3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3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3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3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35"/>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a:spLocks noGrp="1"/>
          </p:cNvSpPr>
          <p:nvPr>
            <p:ph type="pic" idx="2"/>
          </p:nvPr>
        </p:nvSpPr>
        <p:spPr>
          <a:xfrm>
            <a:off x="3887391" y="987426"/>
            <a:ext cx="4629150" cy="4873625"/>
          </a:xfrm>
          <a:prstGeom prst="rect">
            <a:avLst/>
          </a:prstGeom>
          <a:noFill/>
          <a:ln>
            <a:noFill/>
          </a:ln>
        </p:spPr>
      </p:sp>
      <p:sp>
        <p:nvSpPr>
          <p:cNvPr id="68" name="Google Shape;68;p36"/>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3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7"/>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8"/>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hyperlink" Target="https://goanother.com/" TargetMode="External"/><Relationship Id="rId2" Type="http://schemas.openxmlformats.org/officeDocument/2006/relationships/hyperlink" Target="https://github.com/microsoftarchive/redis/releases/download/win-3.0.504/Redis-x64-3.0.504.msi" TargetMode="Externa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9.jpeg"/><Relationship Id="rId1" Type="http://schemas.openxmlformats.org/officeDocument/2006/relationships/image" Target="../media/image3.jpe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10.jpeg"/><Relationship Id="rId1" Type="http://schemas.openxmlformats.org/officeDocument/2006/relationships/image" Target="../media/image3.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11.jpeg"/><Relationship Id="rId1" Type="http://schemas.openxmlformats.org/officeDocument/2006/relationships/image" Target="../media/image3.jpe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image" Target="../media/image12.jpeg"/><Relationship Id="rId1" Type="http://schemas.openxmlformats.org/officeDocument/2006/relationships/image" Target="../media/image3.jpe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image" Target="../media/image13.jpeg"/><Relationship Id="rId1" Type="http://schemas.openxmlformats.org/officeDocument/2006/relationships/image" Target="../media/image3.jpe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image" Target="../media/image14.jpeg"/><Relationship Id="rId1" Type="http://schemas.openxmlformats.org/officeDocument/2006/relationships/image" Target="../media/image3.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20ee0ad7006_1_0" descr="Logo&#10;&#10;Description automatically generated with medium confidence"/>
          <p:cNvPicPr preferRelativeResize="0"/>
          <p:nvPr/>
        </p:nvPicPr>
        <p:blipFill rotWithShape="1">
          <a:blip r:embed="rId1"/>
          <a:srcRect/>
          <a:stretch>
            <a:fill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2"/>
        <p:cNvGrpSpPr/>
        <p:nvPr/>
      </p:nvGrpSpPr>
      <p:grpSpPr>
        <a:xfrm>
          <a:off x="0" y="0"/>
          <a:ext cx="0" cy="0"/>
          <a:chOff x="0" y="0"/>
          <a:chExt cx="0" cy="0"/>
        </a:xfrm>
      </p:grpSpPr>
      <p:sp>
        <p:nvSpPr>
          <p:cNvPr id="93" name="Google Shape;93;p2"/>
          <p:cNvSpPr txBox="1"/>
          <p:nvPr/>
        </p:nvSpPr>
        <p:spPr>
          <a:xfrm>
            <a:off x="1710635" y="1809406"/>
            <a:ext cx="65316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1" i="0" u="none" strike="noStrike" cap="none">
                <a:solidFill>
                  <a:srgbClr val="FF0000"/>
                </a:solidFill>
                <a:latin typeface="Arial" panose="020B0604020202020204"/>
                <a:ea typeface="Arial" panose="020B0604020202020204"/>
                <a:cs typeface="Arial" panose="020B0604020202020204"/>
                <a:sym typeface="Arial" panose="020B0604020202020204"/>
              </a:rPr>
              <a:t>Machine Learning For Investment</a:t>
            </a:r>
            <a:endParaRPr sz="2800" b="1" i="0"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4" name="Google Shape;94;p2"/>
          <p:cNvSpPr txBox="1"/>
          <p:nvPr/>
        </p:nvSpPr>
        <p:spPr>
          <a:xfrm>
            <a:off x="2781301" y="3025123"/>
            <a:ext cx="6191400" cy="954067"/>
          </a:xfrm>
          <a:prstGeom prst="rect">
            <a:avLst/>
          </a:prstGeom>
          <a:noFill/>
          <a:ln>
            <a:noFill/>
          </a:ln>
        </p:spPr>
        <p:txBody>
          <a:bodyPr spcFirstLastPara="1" wrap="square" lIns="91425" tIns="45700" rIns="91425" bIns="45700" anchor="t" anchorCtr="0">
            <a:spAutoFit/>
          </a:bodyPr>
          <a:lstStyle/>
          <a:p>
            <a:pPr lvl="0">
              <a:buSzPts val="2800"/>
            </a:pPr>
            <a:r>
              <a:rPr lang="vi-VN"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Chủ đề:</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 </a:t>
            </a:r>
            <a:r>
              <a:rPr lang="vi-VN" sz="2800" b="1" i="1" dirty="0">
                <a:solidFill>
                  <a:srgbClr val="FF0000"/>
                </a:solidFill>
              </a:rPr>
              <a:t>Xây dựng Chiến lược và vào lệnh giao </a:t>
            </a:r>
            <a:r>
              <a:rPr lang="vi-VN" sz="2800" b="1" i="1" dirty="0" smtClean="0">
                <a:solidFill>
                  <a:srgbClr val="FF0000"/>
                </a:solidFill>
              </a:rPr>
              <a:t>dịch</a:t>
            </a:r>
            <a:endParaRPr lang="vi-VN" dirty="0"/>
          </a:p>
        </p:txBody>
      </p:sp>
      <p:sp>
        <p:nvSpPr>
          <p:cNvPr id="95" name="Google Shape;95;p2"/>
          <p:cNvSpPr txBox="1"/>
          <p:nvPr/>
        </p:nvSpPr>
        <p:spPr>
          <a:xfrm>
            <a:off x="5370786" y="4841005"/>
            <a:ext cx="3514596" cy="7359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0" i="1" u="none" strike="noStrike" cap="none" dirty="0">
                <a:solidFill>
                  <a:schemeClr val="dk1"/>
                </a:solidFill>
                <a:latin typeface="Arial" panose="020B0604020202020204"/>
                <a:ea typeface="Arial" panose="020B0604020202020204"/>
                <a:cs typeface="Arial" panose="020B0604020202020204"/>
                <a:sym typeface="Arial" panose="020B0604020202020204"/>
              </a:rPr>
              <a:t>GV.</a:t>
            </a:r>
            <a:r>
              <a:rPr lang="en-US" sz="2800" i="1" dirty="0">
                <a:solidFill>
                  <a:schemeClr val="dk1"/>
                </a:solidFill>
              </a:rPr>
              <a:t>Đặng </a:t>
            </a:r>
            <a:r>
              <a:rPr lang="en-US" sz="2800" i="1" dirty="0" err="1">
                <a:solidFill>
                  <a:schemeClr val="dk1"/>
                </a:solidFill>
              </a:rPr>
              <a:t>Trí</a:t>
            </a:r>
            <a:r>
              <a:rPr lang="en-US" sz="2800" i="1" dirty="0">
                <a:solidFill>
                  <a:schemeClr val="dk1"/>
                </a:solidFill>
              </a:rPr>
              <a:t> Thanh</a:t>
            </a:r>
            <a:endParaRPr lang="en-US" sz="2800" i="1" dirty="0">
              <a:solidFill>
                <a:schemeClr val="dk1"/>
              </a:solidFill>
            </a:endParaRPr>
          </a:p>
          <a:p>
            <a:pPr marL="0" marR="0" lvl="0" indent="0" algn="l" rtl="0">
              <a:lnSpc>
                <a:spcPct val="100000"/>
              </a:lnSpc>
              <a:spcBef>
                <a:spcPts val="0"/>
              </a:spcBef>
              <a:spcAft>
                <a:spcPts val="0"/>
              </a:spcAft>
              <a:buClr>
                <a:srgbClr val="000000"/>
              </a:buClr>
              <a:buSzPts val="28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latin typeface="Arial (body)"/>
              </a:rPr>
              <a:t>Đặt</a:t>
            </a:r>
            <a:r>
              <a:rPr lang="en-US" sz="2400" b="1" dirty="0" smtClean="0">
                <a:solidFill>
                  <a:schemeClr val="lt1"/>
                </a:solidFill>
                <a:latin typeface="Arial (body)"/>
              </a:rPr>
              <a:t> </a:t>
            </a:r>
            <a:r>
              <a:rPr lang="en-US" sz="2400" b="1" dirty="0" err="1" smtClean="0">
                <a:solidFill>
                  <a:schemeClr val="lt1"/>
                </a:solidFill>
                <a:latin typeface="Arial (body)"/>
              </a:rPr>
              <a:t>câu</a:t>
            </a:r>
            <a:r>
              <a:rPr lang="en-US" sz="2400" b="1" dirty="0" smtClean="0">
                <a:solidFill>
                  <a:schemeClr val="lt1"/>
                </a:solidFill>
                <a:latin typeface="Arial (body)"/>
              </a:rPr>
              <a:t> </a:t>
            </a:r>
            <a:r>
              <a:rPr lang="en-US" sz="2400" b="1" dirty="0" err="1" smtClean="0">
                <a:solidFill>
                  <a:schemeClr val="lt1"/>
                </a:solidFill>
                <a:latin typeface="Arial (body)"/>
              </a:rPr>
              <a:t>hỏi</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smtClean="0">
                <a:solidFill>
                  <a:schemeClr val="dk1"/>
                </a:solidFill>
              </a:rPr>
              <a:t>Chúng</a:t>
            </a:r>
            <a:r>
              <a:rPr lang="en-US" sz="1800" b="1" dirty="0" smtClean="0">
                <a:solidFill>
                  <a:schemeClr val="dk1"/>
                </a:solidFill>
              </a:rPr>
              <a:t> ta </a:t>
            </a:r>
            <a:r>
              <a:rPr lang="en-US" sz="1800" b="1" dirty="0" err="1" smtClean="0">
                <a:solidFill>
                  <a:schemeClr val="dk1"/>
                </a:solidFill>
              </a:rPr>
              <a:t>có</a:t>
            </a:r>
            <a:r>
              <a:rPr lang="en-US" sz="1800" b="1" dirty="0" smtClean="0">
                <a:solidFill>
                  <a:schemeClr val="dk1"/>
                </a:solidFill>
              </a:rPr>
              <a:t> </a:t>
            </a:r>
            <a:r>
              <a:rPr lang="en-US" sz="1800" b="1" dirty="0" err="1" smtClean="0">
                <a:solidFill>
                  <a:schemeClr val="dk1"/>
                </a:solidFill>
              </a:rPr>
              <a:t>chiến</a:t>
            </a:r>
            <a:r>
              <a:rPr lang="en-US" sz="1800" b="1" dirty="0" smtClean="0">
                <a:solidFill>
                  <a:schemeClr val="dk1"/>
                </a:solidFill>
              </a:rPr>
              <a:t> </a:t>
            </a:r>
            <a:r>
              <a:rPr lang="en-US" sz="1800" b="1" dirty="0" err="1" smtClean="0">
                <a:solidFill>
                  <a:schemeClr val="dk1"/>
                </a:solidFill>
              </a:rPr>
              <a:t>lược</a:t>
            </a:r>
            <a:r>
              <a:rPr lang="en-US" sz="1800" b="1" dirty="0" smtClean="0">
                <a:solidFill>
                  <a:schemeClr val="dk1"/>
                </a:solidFill>
              </a:rPr>
              <a:t> </a:t>
            </a:r>
            <a:r>
              <a:rPr lang="en-US" sz="1800" b="1" dirty="0" err="1" smtClean="0">
                <a:solidFill>
                  <a:schemeClr val="dk1"/>
                </a:solidFill>
              </a:rPr>
              <a:t>như</a:t>
            </a:r>
            <a:r>
              <a:rPr lang="en-US" sz="1800" b="1" dirty="0" smtClean="0">
                <a:solidFill>
                  <a:schemeClr val="dk1"/>
                </a:solidFill>
              </a:rPr>
              <a:t> </a:t>
            </a:r>
            <a:r>
              <a:rPr lang="en-US" sz="1800" b="1" dirty="0" err="1" smtClean="0">
                <a:solidFill>
                  <a:schemeClr val="dk1"/>
                </a:solidFill>
              </a:rPr>
              <a:t>sau</a:t>
            </a:r>
            <a:r>
              <a:rPr lang="en-US" sz="1800" b="1" dirty="0">
                <a:solidFill>
                  <a:schemeClr val="dk1"/>
                </a:solidFill>
              </a:rPr>
              <a:t>:</a:t>
            </a:r>
            <a:endParaRPr lang="en-US" sz="1800" b="1" dirty="0" smtClean="0">
              <a:solidFill>
                <a:schemeClr val="dk1"/>
              </a:solidFill>
            </a:endParaRPr>
          </a:p>
          <a:p>
            <a:pPr marL="101600" marR="0" lvl="0" indent="0" algn="just" rtl="0">
              <a:lnSpc>
                <a:spcPct val="115000"/>
              </a:lnSpc>
              <a:spcBef>
                <a:spcPts val="1600"/>
              </a:spcBef>
              <a:spcAft>
                <a:spcPts val="0"/>
              </a:spcAft>
              <a:buNone/>
            </a:pP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Chiến</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lược</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smtClean="0">
                <a:solidFill>
                  <a:srgbClr val="FF0000"/>
                </a:solidFill>
                <a:latin typeface="Arial" panose="020B0604020202020204"/>
                <a:ea typeface="Arial" panose="020B0604020202020204"/>
                <a:cs typeface="Arial" panose="020B0604020202020204"/>
                <a:sym typeface="Arial" panose="020B0604020202020204"/>
              </a:rPr>
              <a:t>ML, Momentum, RSI</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hoặc</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chiến</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lược</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rgbClr val="FF0000"/>
                </a:solidFill>
                <a:latin typeface="Arial" panose="020B0604020202020204"/>
                <a:ea typeface="Arial" panose="020B0604020202020204"/>
                <a:cs typeface="Arial" panose="020B0604020202020204"/>
                <a:sym typeface="Arial" panose="020B0604020202020204"/>
              </a:rPr>
              <a:t>Arima</a:t>
            </a:r>
            <a:r>
              <a:rPr lang="en-US" sz="1800" b="1" i="0" u="none" strike="noStrike" cap="none" dirty="0" smtClean="0">
                <a:solidFill>
                  <a:srgbClr val="FF0000"/>
                </a:solidFill>
                <a:latin typeface="Arial" panose="020B0604020202020204"/>
                <a:ea typeface="Arial" panose="020B0604020202020204"/>
                <a:cs typeface="Arial" panose="020B0604020202020204"/>
                <a:sym typeface="Arial" panose="020B0604020202020204"/>
              </a:rPr>
              <a:t>, Momentum, RSI</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a:t>
            </a:r>
            <a:endPar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lvl="0" algn="just">
              <a:lnSpc>
                <a:spcPct val="115000"/>
              </a:lnSpc>
              <a:spcBef>
                <a:spcPts val="1600"/>
              </a:spcBef>
            </a:pPr>
            <a:r>
              <a:rPr lang="en-US" sz="1800" b="1" dirty="0" err="1">
                <a:solidFill>
                  <a:schemeClr val="dk1"/>
                </a:solidFill>
              </a:rPr>
              <a:t>để</a:t>
            </a:r>
            <a:r>
              <a:rPr lang="en-US" sz="1800" b="1" dirty="0">
                <a:solidFill>
                  <a:schemeClr val="dk1"/>
                </a:solidFill>
              </a:rPr>
              <a:t> </a:t>
            </a:r>
            <a:r>
              <a:rPr lang="en-US" sz="1800" b="1" dirty="0" err="1">
                <a:solidFill>
                  <a:schemeClr val="dk1"/>
                </a:solidFill>
              </a:rPr>
              <a:t>làm</a:t>
            </a:r>
            <a:r>
              <a:rPr lang="en-US" sz="1800" b="1" dirty="0">
                <a:solidFill>
                  <a:schemeClr val="dk1"/>
                </a:solidFill>
              </a:rPr>
              <a:t> </a:t>
            </a:r>
            <a:r>
              <a:rPr lang="en-US" sz="1800" b="1" dirty="0" err="1">
                <a:solidFill>
                  <a:schemeClr val="dk1"/>
                </a:solidFill>
              </a:rPr>
              <a:t>sao</a:t>
            </a:r>
            <a:r>
              <a:rPr lang="en-US" sz="1800" b="1" dirty="0">
                <a:solidFill>
                  <a:schemeClr val="dk1"/>
                </a:solidFill>
              </a:rPr>
              <a:t> </a:t>
            </a:r>
            <a:r>
              <a:rPr lang="en-US" sz="1800" b="1" dirty="0" err="1">
                <a:solidFill>
                  <a:schemeClr val="dk1"/>
                </a:solidFill>
              </a:rPr>
              <a:t>thực</a:t>
            </a:r>
            <a:r>
              <a:rPr lang="en-US" sz="1800" b="1" dirty="0">
                <a:solidFill>
                  <a:schemeClr val="dk1"/>
                </a:solidFill>
              </a:rPr>
              <a:t> </a:t>
            </a:r>
            <a:r>
              <a:rPr lang="en-US" sz="1800" b="1" dirty="0" err="1">
                <a:solidFill>
                  <a:schemeClr val="dk1"/>
                </a:solidFill>
              </a:rPr>
              <a:t>thi</a:t>
            </a:r>
            <a:r>
              <a:rPr lang="en-US" sz="1800" b="1" dirty="0">
                <a:solidFill>
                  <a:schemeClr val="dk1"/>
                </a:solidFill>
              </a:rPr>
              <a:t> </a:t>
            </a:r>
            <a:r>
              <a:rPr lang="en-US" sz="1800" b="1" dirty="0" err="1">
                <a:solidFill>
                  <a:schemeClr val="dk1"/>
                </a:solidFill>
              </a:rPr>
              <a:t>chiến</a:t>
            </a:r>
            <a:r>
              <a:rPr lang="en-US" sz="1800" b="1" dirty="0">
                <a:solidFill>
                  <a:schemeClr val="dk1"/>
                </a:solidFill>
              </a:rPr>
              <a:t> </a:t>
            </a:r>
            <a:r>
              <a:rPr lang="en-US" sz="1800" b="1" dirty="0" err="1">
                <a:solidFill>
                  <a:schemeClr val="dk1"/>
                </a:solidFill>
              </a:rPr>
              <a:t>lược</a:t>
            </a:r>
            <a:r>
              <a:rPr lang="en-US" sz="1800" b="1" dirty="0">
                <a:solidFill>
                  <a:schemeClr val="dk1"/>
                </a:solidFill>
              </a:rPr>
              <a:t> ML </a:t>
            </a:r>
            <a:r>
              <a:rPr lang="en-US" sz="1800" b="1" dirty="0" err="1">
                <a:solidFill>
                  <a:schemeClr val="dk1"/>
                </a:solidFill>
              </a:rPr>
              <a:t>này</a:t>
            </a:r>
            <a:r>
              <a:rPr lang="en-US" sz="1800" b="1" dirty="0">
                <a:solidFill>
                  <a:schemeClr val="dk1"/>
                </a:solidFill>
              </a:rPr>
              <a:t> </a:t>
            </a:r>
            <a:r>
              <a:rPr lang="en-US" sz="1800" b="1" dirty="0" err="1">
                <a:solidFill>
                  <a:schemeClr val="dk1"/>
                </a:solidFill>
              </a:rPr>
              <a:t>tự</a:t>
            </a:r>
            <a:r>
              <a:rPr lang="en-US" sz="1800" b="1" dirty="0">
                <a:solidFill>
                  <a:schemeClr val="dk1"/>
                </a:solidFill>
              </a:rPr>
              <a:t> </a:t>
            </a:r>
            <a:r>
              <a:rPr lang="en-US" sz="1800" b="1" dirty="0" err="1">
                <a:solidFill>
                  <a:schemeClr val="dk1"/>
                </a:solidFill>
              </a:rPr>
              <a:t>động</a:t>
            </a:r>
            <a:r>
              <a:rPr lang="en-US" sz="1800" b="1" dirty="0">
                <a:solidFill>
                  <a:schemeClr val="dk1"/>
                </a:solidFill>
              </a:rPr>
              <a:t>?</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680750" y="2613514"/>
            <a:ext cx="4078615" cy="2013903"/>
          </a:xfrm>
          <a:prstGeom prst="rect">
            <a:avLst/>
          </a:prstGeom>
        </p:spPr>
      </p:pic>
      <p:pic>
        <p:nvPicPr>
          <p:cNvPr id="3" name="Picture 2"/>
          <p:cNvPicPr>
            <a:picLocks noChangeAspect="1"/>
          </p:cNvPicPr>
          <p:nvPr/>
        </p:nvPicPr>
        <p:blipFill>
          <a:blip r:embed="rId3"/>
          <a:stretch>
            <a:fillRect/>
          </a:stretch>
        </p:blipFill>
        <p:spPr>
          <a:xfrm>
            <a:off x="4714875" y="4236025"/>
            <a:ext cx="4429125" cy="2057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latin typeface="Arial (body)"/>
              </a:rPr>
              <a:t>Giải</a:t>
            </a:r>
            <a:r>
              <a:rPr lang="en-US" sz="2400" b="1" dirty="0" smtClean="0">
                <a:solidFill>
                  <a:schemeClr val="lt1"/>
                </a:solidFill>
                <a:latin typeface="Arial (body)"/>
              </a:rPr>
              <a:t> </a:t>
            </a:r>
            <a:r>
              <a:rPr lang="en-US" sz="2400" b="1" dirty="0" err="1" smtClean="0">
                <a:solidFill>
                  <a:schemeClr val="lt1"/>
                </a:solidFill>
                <a:latin typeface="Arial (body)"/>
              </a:rPr>
              <a:t>quyết</a:t>
            </a:r>
            <a:r>
              <a:rPr lang="en-US" sz="2400" b="1" dirty="0" smtClean="0">
                <a:solidFill>
                  <a:schemeClr val="lt1"/>
                </a:solidFill>
                <a:latin typeface="Arial (body)"/>
              </a:rPr>
              <a:t> </a:t>
            </a:r>
            <a:r>
              <a:rPr lang="en-US" sz="2400" b="1" dirty="0" err="1" smtClean="0">
                <a:solidFill>
                  <a:schemeClr val="lt1"/>
                </a:solidFill>
                <a:latin typeface="Arial (body)"/>
              </a:rPr>
              <a:t>vấn</a:t>
            </a:r>
            <a:r>
              <a:rPr lang="en-US" sz="2400" b="1" dirty="0" smtClean="0">
                <a:solidFill>
                  <a:schemeClr val="lt1"/>
                </a:solidFill>
                <a:latin typeface="Arial (body)"/>
              </a:rPr>
              <a:t> </a:t>
            </a:r>
            <a:r>
              <a:rPr lang="en-US" sz="2400" b="1" dirty="0" err="1" smtClean="0">
                <a:solidFill>
                  <a:schemeClr val="lt1"/>
                </a:solidFill>
                <a:latin typeface="Arial (body)"/>
              </a:rPr>
              <a:t>đề</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smtClean="0">
                <a:solidFill>
                  <a:schemeClr val="dk1"/>
                </a:solidFill>
              </a:rPr>
              <a:t>Phần</a:t>
            </a:r>
            <a:r>
              <a:rPr lang="en-US" sz="1800" b="1" dirty="0" smtClean="0">
                <a:solidFill>
                  <a:schemeClr val="dk1"/>
                </a:solidFill>
              </a:rPr>
              <a:t> data:</a:t>
            </a:r>
            <a:endParaRPr lang="en-US" sz="1800" b="1" dirty="0" smtClean="0">
              <a:solidFill>
                <a:schemeClr val="dk1"/>
              </a:solidFill>
            </a:endParaRPr>
          </a:p>
          <a:p>
            <a:pPr marL="444500" marR="0" lvl="0" indent="-342900" algn="just" rtl="0">
              <a:lnSpc>
                <a:spcPct val="115000"/>
              </a:lnSpc>
              <a:spcBef>
                <a:spcPts val="1600"/>
              </a:spcBef>
              <a:spcAft>
                <a:spcPts val="0"/>
              </a:spcAft>
              <a:buAutoNum type="arabicPeriod"/>
            </a:pPr>
            <a:r>
              <a:rPr lang="en-US" sz="1800" b="1" dirty="0" smtClean="0">
                <a:solidFill>
                  <a:schemeClr val="dk1"/>
                </a:solidFill>
              </a:rPr>
              <a:t>Load </a:t>
            </a:r>
            <a:r>
              <a:rPr lang="en-US" sz="1800" b="1" dirty="0" err="1" smtClean="0">
                <a:solidFill>
                  <a:schemeClr val="dk1"/>
                </a:solidFill>
              </a:rPr>
              <a:t>dữ</a:t>
            </a:r>
            <a:r>
              <a:rPr lang="en-US" sz="1800" b="1" dirty="0" smtClean="0">
                <a:solidFill>
                  <a:schemeClr val="dk1"/>
                </a:solidFill>
              </a:rPr>
              <a:t> </a:t>
            </a:r>
            <a:r>
              <a:rPr lang="en-US" sz="1800" b="1" dirty="0" err="1" smtClean="0">
                <a:solidFill>
                  <a:schemeClr val="dk1"/>
                </a:solidFill>
              </a:rPr>
              <a:t>liệu</a:t>
            </a:r>
            <a:endParaRPr lang="en-US" sz="1800" b="1" dirty="0" smtClean="0">
              <a:solidFill>
                <a:schemeClr val="dk1"/>
              </a:solidFill>
            </a:endParaRPr>
          </a:p>
          <a:p>
            <a:pPr marL="101600" marR="0" lvl="0" algn="just" rtl="0">
              <a:lnSpc>
                <a:spcPct val="115000"/>
              </a:lnSpc>
              <a:spcBef>
                <a:spcPts val="1600"/>
              </a:spcBef>
              <a:spcAft>
                <a:spcPts val="0"/>
              </a:spcAft>
            </a:pP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Chúng</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ta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chọn</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nơi</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cung</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cấp</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dữ</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liệu</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để</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lấy</a:t>
            </a:r>
            <a:r>
              <a:rPr lang="en-US" sz="1800" dirty="0" smtClean="0">
                <a:solidFill>
                  <a:schemeClr val="dk1"/>
                </a:solidFill>
              </a:rPr>
              <a:t>:</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Có</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thể</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lấy</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từ</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yfinance</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hoặc</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MT5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hoặc</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bất</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cứ</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sàn</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nào</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cho</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phép</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lấy</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dữ</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liệu</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Forex</a:t>
            </a:r>
            <a:endPar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387350" marR="0" lvl="0" indent="-285750" algn="just" rtl="0">
              <a:lnSpc>
                <a:spcPct val="115000"/>
              </a:lnSpc>
              <a:spcBef>
                <a:spcPts val="1600"/>
              </a:spcBef>
              <a:spcAft>
                <a:spcPts val="0"/>
              </a:spcAft>
              <a:buFontTx/>
              <a:buChar char="-"/>
            </a:pPr>
            <a:r>
              <a:rPr lang="en-US" sz="1800" dirty="0" err="1" smtClean="0">
                <a:solidFill>
                  <a:schemeClr val="dk1"/>
                </a:solidFill>
              </a:rPr>
              <a:t>Có</a:t>
            </a:r>
            <a:r>
              <a:rPr lang="en-US" sz="1800" dirty="0" smtClean="0">
                <a:solidFill>
                  <a:schemeClr val="dk1"/>
                </a:solidFill>
              </a:rPr>
              <a:t> </a:t>
            </a:r>
            <a:r>
              <a:rPr lang="en-US" sz="1800" dirty="0" err="1" smtClean="0">
                <a:solidFill>
                  <a:schemeClr val="dk1"/>
                </a:solidFill>
              </a:rPr>
              <a:t>thể</a:t>
            </a:r>
            <a:r>
              <a:rPr lang="en-US" sz="1800" dirty="0" smtClean="0">
                <a:solidFill>
                  <a:schemeClr val="dk1"/>
                </a:solidFill>
              </a:rPr>
              <a:t> </a:t>
            </a:r>
            <a:r>
              <a:rPr lang="en-US" sz="1800" dirty="0" err="1" smtClean="0">
                <a:solidFill>
                  <a:schemeClr val="dk1"/>
                </a:solidFill>
              </a:rPr>
              <a:t>lấy</a:t>
            </a:r>
            <a:r>
              <a:rPr lang="en-US" sz="1800" dirty="0" smtClean="0">
                <a:solidFill>
                  <a:schemeClr val="dk1"/>
                </a:solidFill>
              </a:rPr>
              <a:t> </a:t>
            </a:r>
            <a:r>
              <a:rPr lang="en-US" sz="1800" dirty="0" err="1" smtClean="0">
                <a:solidFill>
                  <a:schemeClr val="dk1"/>
                </a:solidFill>
              </a:rPr>
              <a:t>trực</a:t>
            </a:r>
            <a:r>
              <a:rPr lang="en-US" sz="1800" dirty="0" smtClean="0">
                <a:solidFill>
                  <a:schemeClr val="dk1"/>
                </a:solidFill>
              </a:rPr>
              <a:t> </a:t>
            </a:r>
            <a:r>
              <a:rPr lang="en-US" sz="1800" dirty="0" err="1" smtClean="0">
                <a:solidFill>
                  <a:schemeClr val="dk1"/>
                </a:solidFill>
              </a:rPr>
              <a:t>tiếp</a:t>
            </a:r>
            <a:r>
              <a:rPr lang="en-US" sz="1800" dirty="0" smtClean="0">
                <a:solidFill>
                  <a:schemeClr val="dk1"/>
                </a:solidFill>
              </a:rPr>
              <a:t> </a:t>
            </a:r>
            <a:r>
              <a:rPr lang="en-US" sz="1800" dirty="0" err="1" smtClean="0">
                <a:solidFill>
                  <a:schemeClr val="dk1"/>
                </a:solidFill>
              </a:rPr>
              <a:t>hoặc</a:t>
            </a:r>
            <a:r>
              <a:rPr lang="en-US" sz="1800" dirty="0" smtClean="0">
                <a:solidFill>
                  <a:schemeClr val="dk1"/>
                </a:solidFill>
              </a:rPr>
              <a:t> </a:t>
            </a:r>
            <a:r>
              <a:rPr lang="en-US" sz="1800" dirty="0" err="1" smtClean="0">
                <a:solidFill>
                  <a:schemeClr val="dk1"/>
                </a:solidFill>
              </a:rPr>
              <a:t>lấy</a:t>
            </a:r>
            <a:r>
              <a:rPr lang="en-US" sz="1800" dirty="0" smtClean="0">
                <a:solidFill>
                  <a:schemeClr val="dk1"/>
                </a:solidFill>
              </a:rPr>
              <a:t> </a:t>
            </a:r>
            <a:r>
              <a:rPr lang="en-US" sz="1800" dirty="0" err="1" smtClean="0">
                <a:solidFill>
                  <a:schemeClr val="dk1"/>
                </a:solidFill>
              </a:rPr>
              <a:t>từ</a:t>
            </a:r>
            <a:r>
              <a:rPr lang="en-US" sz="1800" dirty="0" smtClean="0">
                <a:solidFill>
                  <a:schemeClr val="dk1"/>
                </a:solidFill>
              </a:rPr>
              <a:t> </a:t>
            </a:r>
            <a:r>
              <a:rPr lang="en-US" sz="1800" dirty="0" err="1" smtClean="0">
                <a:solidFill>
                  <a:schemeClr val="dk1"/>
                </a:solidFill>
              </a:rPr>
              <a:t>các</a:t>
            </a:r>
            <a:r>
              <a:rPr lang="en-US" sz="1800" dirty="0" smtClean="0">
                <a:solidFill>
                  <a:schemeClr val="dk1"/>
                </a:solidFill>
              </a:rPr>
              <a:t> </a:t>
            </a:r>
            <a:r>
              <a:rPr lang="en-US" sz="1800" dirty="0" err="1" smtClean="0">
                <a:solidFill>
                  <a:schemeClr val="dk1"/>
                </a:solidFill>
              </a:rPr>
              <a:t>hàm</a:t>
            </a:r>
            <a:r>
              <a:rPr lang="en-US" sz="1800" dirty="0" smtClean="0">
                <a:solidFill>
                  <a:schemeClr val="dk1"/>
                </a:solidFill>
              </a:rPr>
              <a:t> common </a:t>
            </a:r>
            <a:r>
              <a:rPr lang="en-US" sz="1800" dirty="0" err="1" smtClean="0">
                <a:solidFill>
                  <a:schemeClr val="dk1"/>
                </a:solidFill>
              </a:rPr>
              <a:t>viết</a:t>
            </a:r>
            <a:r>
              <a:rPr lang="en-US" sz="1800" dirty="0" smtClean="0">
                <a:solidFill>
                  <a:schemeClr val="dk1"/>
                </a:solidFill>
              </a:rPr>
              <a:t> </a:t>
            </a:r>
            <a:r>
              <a:rPr lang="en-US" sz="1800" dirty="0" err="1" smtClean="0">
                <a:solidFill>
                  <a:schemeClr val="dk1"/>
                </a:solidFill>
              </a:rPr>
              <a:t>sẵn</a:t>
            </a:r>
            <a:r>
              <a:rPr lang="en-US" sz="1800" dirty="0" smtClean="0">
                <a:solidFill>
                  <a:schemeClr val="dk1"/>
                </a:solidFill>
              </a:rPr>
              <a:t> </a:t>
            </a:r>
            <a:r>
              <a:rPr lang="en-US" sz="1800" dirty="0" err="1" smtClean="0">
                <a:solidFill>
                  <a:schemeClr val="dk1"/>
                </a:solidFill>
              </a:rPr>
              <a:t>trong</a:t>
            </a:r>
            <a:r>
              <a:rPr lang="en-US" sz="1800" dirty="0" smtClean="0">
                <a:solidFill>
                  <a:schemeClr val="dk1"/>
                </a:solidFill>
              </a:rPr>
              <a:t> </a:t>
            </a:r>
            <a:r>
              <a:rPr lang="en-US" sz="1800" dirty="0" err="1" smtClean="0">
                <a:solidFill>
                  <a:schemeClr val="dk1"/>
                </a:solidFill>
              </a:rPr>
              <a:t>thư</a:t>
            </a:r>
            <a:r>
              <a:rPr lang="en-US" sz="1800" dirty="0" smtClean="0">
                <a:solidFill>
                  <a:schemeClr val="dk1"/>
                </a:solidFill>
              </a:rPr>
              <a:t> </a:t>
            </a:r>
            <a:r>
              <a:rPr lang="en-US" sz="1800" dirty="0" err="1" smtClean="0">
                <a:solidFill>
                  <a:schemeClr val="dk1"/>
                </a:solidFill>
              </a:rPr>
              <a:t>mục</a:t>
            </a:r>
            <a:r>
              <a:rPr lang="en-US" sz="1800" dirty="0" smtClean="0">
                <a:solidFill>
                  <a:schemeClr val="dk1"/>
                </a:solidFill>
              </a:rPr>
              <a:t> common</a:t>
            </a:r>
            <a:endParaRPr lang="en-US" sz="1800" dirty="0" smtClean="0">
              <a:solidFill>
                <a:schemeClr val="dk1"/>
              </a:solidFill>
            </a:endParaRPr>
          </a:p>
          <a:p>
            <a:pPr marL="101600" marR="0" lvl="0" algn="just" rtl="0">
              <a:lnSpc>
                <a:spcPct val="115000"/>
              </a:lnSpc>
              <a:spcBef>
                <a:spcPts val="1600"/>
              </a:spcBef>
              <a:spcAft>
                <a:spcPts val="0"/>
              </a:spcAft>
            </a:pP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2.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Xử</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lý</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dữ</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liệu</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Bị</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thiếu</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NaN</a:t>
            </a:r>
            <a:r>
              <a:rPr lang="en-US" sz="1800" dirty="0" smtClean="0">
                <a:solidFill>
                  <a:schemeClr val="dk1"/>
                </a:solidFill>
              </a:rPr>
              <a:t>, </a:t>
            </a:r>
            <a:r>
              <a:rPr lang="en-US" sz="1800" dirty="0" err="1" smtClean="0">
                <a:solidFill>
                  <a:schemeClr val="dk1"/>
                </a:solidFill>
              </a:rPr>
              <a:t>sai</a:t>
            </a:r>
            <a:r>
              <a:rPr lang="en-US" sz="1800" dirty="0" smtClean="0">
                <a:solidFill>
                  <a:schemeClr val="dk1"/>
                </a:solidFill>
              </a:rPr>
              <a:t> </a:t>
            </a:r>
            <a:r>
              <a:rPr lang="en-US" sz="1800" dirty="0" err="1" smtClean="0">
                <a:solidFill>
                  <a:schemeClr val="dk1"/>
                </a:solidFill>
              </a:rPr>
              <a:t>định</a:t>
            </a:r>
            <a:r>
              <a:rPr lang="en-US" sz="1800" dirty="0" smtClean="0">
                <a:solidFill>
                  <a:schemeClr val="dk1"/>
                </a:solidFill>
              </a:rPr>
              <a:t> </a:t>
            </a:r>
            <a:r>
              <a:rPr lang="en-US" sz="1800" dirty="0" err="1" smtClean="0">
                <a:solidFill>
                  <a:schemeClr val="dk1"/>
                </a:solidFill>
              </a:rPr>
              <a:t>dạng</a:t>
            </a:r>
            <a:r>
              <a:rPr lang="en-US" sz="1800" dirty="0" smtClean="0">
                <a:solidFill>
                  <a:schemeClr val="dk1"/>
                </a:solidFill>
              </a:rPr>
              <a:t>…(</a:t>
            </a:r>
            <a:r>
              <a:rPr lang="en-US" sz="1800" dirty="0" err="1" smtClean="0">
                <a:solidFill>
                  <a:schemeClr val="dk1"/>
                </a:solidFill>
              </a:rPr>
              <a:t>datetime</a:t>
            </a:r>
            <a:r>
              <a:rPr lang="en-US" sz="1800" dirty="0" smtClean="0">
                <a:solidFill>
                  <a:schemeClr val="dk1"/>
                </a:solidFill>
              </a:rPr>
              <a:t>, float/ </a:t>
            </a:r>
            <a:r>
              <a:rPr lang="en-US" sz="1800" dirty="0" err="1" smtClean="0">
                <a:solidFill>
                  <a:schemeClr val="dk1"/>
                </a:solidFill>
              </a:rPr>
              <a:t>int</a:t>
            </a:r>
            <a:r>
              <a:rPr lang="en-US" sz="1800" dirty="0" smtClean="0">
                <a:solidFill>
                  <a:schemeClr val="dk1"/>
                </a:solidFill>
              </a:rPr>
              <a:t>…)</a:t>
            </a:r>
            <a:endParaRPr lang="en-US" sz="1800" dirty="0" smtClean="0">
              <a:solidFill>
                <a:schemeClr val="dk1"/>
              </a:solidFill>
            </a:endParaRPr>
          </a:p>
          <a:p>
            <a:pPr marL="387350" indent="-285750" algn="just">
              <a:lnSpc>
                <a:spcPct val="115000"/>
              </a:lnSpc>
              <a:spcBef>
                <a:spcPts val="1600"/>
              </a:spcBef>
              <a:buFontTx/>
              <a:buChar char="-"/>
            </a:pPr>
            <a:r>
              <a:rPr lang="en-US" sz="1800" dirty="0" err="1" smtClean="0">
                <a:solidFill>
                  <a:schemeClr val="dk1"/>
                </a:solidFill>
              </a:rPr>
              <a:t>Giá</a:t>
            </a:r>
            <a:r>
              <a:rPr lang="en-US" sz="1800" dirty="0" smtClean="0">
                <a:solidFill>
                  <a:schemeClr val="dk1"/>
                </a:solidFill>
              </a:rPr>
              <a:t> </a:t>
            </a:r>
            <a:r>
              <a:rPr lang="en-US" sz="1800" dirty="0" err="1">
                <a:solidFill>
                  <a:schemeClr val="dk1"/>
                </a:solidFill>
              </a:rPr>
              <a:t>trị</a:t>
            </a:r>
            <a:r>
              <a:rPr lang="en-US" sz="1800" dirty="0">
                <a:solidFill>
                  <a:schemeClr val="dk1"/>
                </a:solidFill>
              </a:rPr>
              <a:t> </a:t>
            </a:r>
            <a:r>
              <a:rPr lang="en-US" sz="1800" dirty="0" err="1">
                <a:solidFill>
                  <a:schemeClr val="dk1"/>
                </a:solidFill>
              </a:rPr>
              <a:t>trả</a:t>
            </a:r>
            <a:r>
              <a:rPr lang="en-US" sz="1800" dirty="0">
                <a:solidFill>
                  <a:schemeClr val="dk1"/>
                </a:solidFill>
              </a:rPr>
              <a:t> </a:t>
            </a:r>
            <a:r>
              <a:rPr lang="en-US" sz="1800" dirty="0" err="1">
                <a:solidFill>
                  <a:schemeClr val="dk1"/>
                </a:solidFill>
              </a:rPr>
              <a:t>về</a:t>
            </a:r>
            <a:r>
              <a:rPr lang="en-US" sz="1800" dirty="0">
                <a:solidFill>
                  <a:schemeClr val="dk1"/>
                </a:solidFill>
              </a:rPr>
              <a:t> </a:t>
            </a:r>
            <a:r>
              <a:rPr lang="en-US" sz="1800" dirty="0" err="1">
                <a:solidFill>
                  <a:schemeClr val="dk1"/>
                </a:solidFill>
              </a:rPr>
              <a:t>là</a:t>
            </a:r>
            <a:r>
              <a:rPr lang="en-US" sz="1800" dirty="0">
                <a:solidFill>
                  <a:schemeClr val="dk1"/>
                </a:solidFill>
              </a:rPr>
              <a:t> </a:t>
            </a:r>
            <a:r>
              <a:rPr lang="en-US" sz="1800" dirty="0" err="1">
                <a:solidFill>
                  <a:schemeClr val="dk1"/>
                </a:solidFill>
              </a:rPr>
              <a:t>dataframe</a:t>
            </a:r>
            <a:r>
              <a:rPr lang="en-US" sz="1800" dirty="0">
                <a:solidFill>
                  <a:schemeClr val="dk1"/>
                </a:solidFill>
              </a:rPr>
              <a:t> </a:t>
            </a:r>
            <a:r>
              <a:rPr lang="en-US" sz="1800" dirty="0" err="1">
                <a:solidFill>
                  <a:schemeClr val="dk1"/>
                </a:solidFill>
              </a:rPr>
              <a:t>bao</a:t>
            </a:r>
            <a:r>
              <a:rPr lang="en-US" sz="1800" dirty="0">
                <a:solidFill>
                  <a:schemeClr val="dk1"/>
                </a:solidFill>
              </a:rPr>
              <a:t> </a:t>
            </a:r>
            <a:r>
              <a:rPr lang="en-US" sz="1800" dirty="0" err="1">
                <a:solidFill>
                  <a:schemeClr val="dk1"/>
                </a:solidFill>
              </a:rPr>
              <a:t>gồm</a:t>
            </a:r>
            <a:r>
              <a:rPr lang="en-US" sz="1800" dirty="0">
                <a:solidFill>
                  <a:schemeClr val="dk1"/>
                </a:solidFill>
              </a:rPr>
              <a:t> </a:t>
            </a:r>
            <a:r>
              <a:rPr lang="en-US" sz="1800" dirty="0" err="1">
                <a:solidFill>
                  <a:schemeClr val="dk1"/>
                </a:solidFill>
              </a:rPr>
              <a:t>các</a:t>
            </a:r>
            <a:r>
              <a:rPr lang="en-US" sz="1800" dirty="0">
                <a:solidFill>
                  <a:schemeClr val="dk1"/>
                </a:solidFill>
              </a:rPr>
              <a:t> </a:t>
            </a:r>
            <a:r>
              <a:rPr lang="en-US" sz="1800" dirty="0" err="1">
                <a:solidFill>
                  <a:schemeClr val="dk1"/>
                </a:solidFill>
              </a:rPr>
              <a:t>cột</a:t>
            </a:r>
            <a:r>
              <a:rPr lang="en-US" sz="1800" dirty="0">
                <a:solidFill>
                  <a:schemeClr val="dk1"/>
                </a:solidFill>
              </a:rPr>
              <a:t>: </a:t>
            </a:r>
            <a:r>
              <a:rPr lang="en-US" sz="1800" b="1" dirty="0" err="1">
                <a:solidFill>
                  <a:schemeClr val="dk1"/>
                </a:solidFill>
              </a:rPr>
              <a:t>Datetime</a:t>
            </a:r>
            <a:r>
              <a:rPr lang="en-US" sz="1800" dirty="0">
                <a:solidFill>
                  <a:schemeClr val="dk1"/>
                </a:solidFill>
              </a:rPr>
              <a:t>, </a:t>
            </a:r>
            <a:r>
              <a:rPr lang="en-US" sz="1800" b="1" dirty="0">
                <a:solidFill>
                  <a:schemeClr val="dk1"/>
                </a:solidFill>
              </a:rPr>
              <a:t>Open</a:t>
            </a:r>
            <a:r>
              <a:rPr lang="en-US" sz="1800" dirty="0">
                <a:solidFill>
                  <a:schemeClr val="dk1"/>
                </a:solidFill>
              </a:rPr>
              <a:t>, </a:t>
            </a:r>
            <a:r>
              <a:rPr lang="en-US" sz="1800" b="1" dirty="0">
                <a:solidFill>
                  <a:schemeClr val="dk1"/>
                </a:solidFill>
              </a:rPr>
              <a:t>High</a:t>
            </a:r>
            <a:r>
              <a:rPr lang="en-US" sz="1800" dirty="0">
                <a:solidFill>
                  <a:schemeClr val="dk1"/>
                </a:solidFill>
              </a:rPr>
              <a:t>, </a:t>
            </a:r>
            <a:r>
              <a:rPr lang="en-US" sz="1800" b="1" dirty="0">
                <a:solidFill>
                  <a:schemeClr val="dk1"/>
                </a:solidFill>
              </a:rPr>
              <a:t>Low</a:t>
            </a:r>
            <a:r>
              <a:rPr lang="en-US" sz="1800" dirty="0">
                <a:solidFill>
                  <a:schemeClr val="dk1"/>
                </a:solidFill>
              </a:rPr>
              <a:t>, </a:t>
            </a:r>
            <a:r>
              <a:rPr lang="en-US" sz="1800" b="1" dirty="0">
                <a:solidFill>
                  <a:schemeClr val="dk1"/>
                </a:solidFill>
              </a:rPr>
              <a:t>Close</a:t>
            </a:r>
            <a:r>
              <a:rPr lang="en-US" sz="1800" dirty="0">
                <a:solidFill>
                  <a:schemeClr val="dk1"/>
                </a:solidFill>
              </a:rPr>
              <a:t>, </a:t>
            </a:r>
            <a:r>
              <a:rPr lang="en-US" sz="1800" b="1" dirty="0" smtClean="0">
                <a:solidFill>
                  <a:schemeClr val="dk1"/>
                </a:solidFill>
              </a:rPr>
              <a:t>Volume</a:t>
            </a:r>
            <a:endParaRPr lang="en-US" sz="1800" b="1" dirty="0">
              <a:solidFill>
                <a:schemeClr val="dk1"/>
              </a:solidFill>
            </a:endParaRPr>
          </a:p>
          <a:p>
            <a:pPr marL="101600" marR="0" lvl="0" algn="just" rtl="0">
              <a:lnSpc>
                <a:spcPct val="115000"/>
              </a:lnSpc>
              <a:spcBef>
                <a:spcPts val="1600"/>
              </a:spcBef>
              <a:spcAft>
                <a:spcPts val="0"/>
              </a:spcAft>
            </a:pPr>
            <a:endParaRPr sz="180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latin typeface="Arial (body)"/>
              </a:rPr>
              <a:t>Giải</a:t>
            </a:r>
            <a:r>
              <a:rPr lang="en-US" sz="2400" b="1" dirty="0" smtClean="0">
                <a:solidFill>
                  <a:schemeClr val="lt1"/>
                </a:solidFill>
                <a:latin typeface="Arial (body)"/>
              </a:rPr>
              <a:t> </a:t>
            </a:r>
            <a:r>
              <a:rPr lang="en-US" sz="2400" b="1" dirty="0" err="1" smtClean="0">
                <a:solidFill>
                  <a:schemeClr val="lt1"/>
                </a:solidFill>
                <a:latin typeface="Arial (body)"/>
              </a:rPr>
              <a:t>quyết</a:t>
            </a:r>
            <a:r>
              <a:rPr lang="en-US" sz="2400" b="1" dirty="0" smtClean="0">
                <a:solidFill>
                  <a:schemeClr val="lt1"/>
                </a:solidFill>
                <a:latin typeface="Arial (body)"/>
              </a:rPr>
              <a:t> </a:t>
            </a:r>
            <a:r>
              <a:rPr lang="en-US" sz="2400" b="1" dirty="0" err="1" smtClean="0">
                <a:solidFill>
                  <a:schemeClr val="lt1"/>
                </a:solidFill>
                <a:latin typeface="Arial (body)"/>
              </a:rPr>
              <a:t>vấn</a:t>
            </a:r>
            <a:r>
              <a:rPr lang="en-US" sz="2400" b="1" dirty="0" smtClean="0">
                <a:solidFill>
                  <a:schemeClr val="lt1"/>
                </a:solidFill>
                <a:latin typeface="Arial (body)"/>
              </a:rPr>
              <a:t> </a:t>
            </a:r>
            <a:r>
              <a:rPr lang="en-US" sz="2400" b="1" dirty="0" err="1" smtClean="0">
                <a:solidFill>
                  <a:schemeClr val="lt1"/>
                </a:solidFill>
                <a:latin typeface="Arial (body)"/>
              </a:rPr>
              <a:t>đề</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smtClean="0">
                <a:solidFill>
                  <a:schemeClr val="dk1"/>
                </a:solidFill>
              </a:rPr>
              <a:t>Phần</a:t>
            </a:r>
            <a:r>
              <a:rPr lang="en-US" sz="1800" b="1" dirty="0" smtClean="0">
                <a:solidFill>
                  <a:schemeClr val="dk1"/>
                </a:solidFill>
              </a:rPr>
              <a:t> </a:t>
            </a:r>
            <a:r>
              <a:rPr lang="en-US" sz="1800" b="1" dirty="0" err="1" smtClean="0">
                <a:solidFill>
                  <a:schemeClr val="dk1"/>
                </a:solidFill>
              </a:rPr>
              <a:t>chiến</a:t>
            </a:r>
            <a:r>
              <a:rPr lang="en-US" sz="1800" b="1" dirty="0" smtClean="0">
                <a:solidFill>
                  <a:schemeClr val="dk1"/>
                </a:solidFill>
              </a:rPr>
              <a:t> </a:t>
            </a:r>
            <a:r>
              <a:rPr lang="en-US" sz="1800" b="1" dirty="0" err="1" smtClean="0">
                <a:solidFill>
                  <a:schemeClr val="dk1"/>
                </a:solidFill>
              </a:rPr>
              <a:t>lược</a:t>
            </a:r>
            <a:r>
              <a:rPr lang="en-US" sz="1800" b="1" dirty="0" smtClean="0">
                <a:solidFill>
                  <a:schemeClr val="dk1"/>
                </a:solidFill>
              </a:rPr>
              <a:t>:</a:t>
            </a:r>
            <a:endParaRPr lang="en-US" sz="1800" b="1" dirty="0" smtClean="0">
              <a:solidFill>
                <a:schemeClr val="dk1"/>
              </a:solidFill>
            </a:endParaRPr>
          </a:p>
          <a:p>
            <a:pPr marL="101600" marR="0" lvl="0" indent="0" algn="just" rtl="0">
              <a:lnSpc>
                <a:spcPct val="115000"/>
              </a:lnSpc>
              <a:spcBef>
                <a:spcPts val="1600"/>
              </a:spcBef>
              <a:spcAft>
                <a:spcPts val="0"/>
              </a:spcAft>
              <a:buNone/>
            </a:pPr>
            <a:r>
              <a:rPr lang="en-US" sz="1800" dirty="0" err="1" smtClean="0">
                <a:solidFill>
                  <a:schemeClr val="dk1"/>
                </a:solidFill>
              </a:rPr>
              <a:t>Xác</a:t>
            </a:r>
            <a:r>
              <a:rPr lang="en-US" sz="1800" dirty="0" smtClean="0">
                <a:solidFill>
                  <a:schemeClr val="dk1"/>
                </a:solidFill>
              </a:rPr>
              <a:t> </a:t>
            </a:r>
            <a:r>
              <a:rPr lang="en-US" sz="1800" dirty="0" err="1" smtClean="0">
                <a:solidFill>
                  <a:schemeClr val="dk1"/>
                </a:solidFill>
              </a:rPr>
              <a:t>định</a:t>
            </a:r>
            <a:r>
              <a:rPr lang="en-US" sz="1800" dirty="0" smtClean="0">
                <a:solidFill>
                  <a:schemeClr val="dk1"/>
                </a:solidFill>
              </a:rPr>
              <a:t> </a:t>
            </a:r>
            <a:r>
              <a:rPr lang="en-US" sz="1800" dirty="0" err="1" smtClean="0">
                <a:solidFill>
                  <a:schemeClr val="dk1"/>
                </a:solidFill>
              </a:rPr>
              <a:t>chiến</a:t>
            </a:r>
            <a:r>
              <a:rPr lang="en-US" sz="1800" dirty="0" smtClean="0">
                <a:solidFill>
                  <a:schemeClr val="dk1"/>
                </a:solidFill>
              </a:rPr>
              <a:t> </a:t>
            </a:r>
            <a:r>
              <a:rPr lang="en-US" sz="1800" dirty="0" err="1" smtClean="0">
                <a:solidFill>
                  <a:schemeClr val="dk1"/>
                </a:solidFill>
              </a:rPr>
              <a:t>lược</a:t>
            </a:r>
            <a:r>
              <a:rPr lang="en-US" sz="1800" dirty="0" smtClean="0">
                <a:solidFill>
                  <a:schemeClr val="dk1"/>
                </a:solidFill>
              </a:rPr>
              <a:t> </a:t>
            </a:r>
            <a:r>
              <a:rPr lang="en-US" sz="1800" dirty="0" err="1" smtClean="0">
                <a:solidFill>
                  <a:schemeClr val="dk1"/>
                </a:solidFill>
              </a:rPr>
              <a:t>sẽ</a:t>
            </a:r>
            <a:r>
              <a:rPr lang="en-US" sz="1800" dirty="0" smtClean="0">
                <a:solidFill>
                  <a:schemeClr val="dk1"/>
                </a:solidFill>
              </a:rPr>
              <a:t> </a:t>
            </a:r>
            <a:r>
              <a:rPr lang="en-US" sz="1800" dirty="0" err="1" smtClean="0">
                <a:solidFill>
                  <a:schemeClr val="dk1"/>
                </a:solidFill>
              </a:rPr>
              <a:t>thực</a:t>
            </a:r>
            <a:r>
              <a:rPr lang="en-US" sz="1800" dirty="0" smtClean="0">
                <a:solidFill>
                  <a:schemeClr val="dk1"/>
                </a:solidFill>
              </a:rPr>
              <a:t> </a:t>
            </a:r>
            <a:r>
              <a:rPr lang="en-US" sz="1800" dirty="0" err="1" smtClean="0">
                <a:solidFill>
                  <a:schemeClr val="dk1"/>
                </a:solidFill>
              </a:rPr>
              <a:t>hiện</a:t>
            </a:r>
            <a:r>
              <a:rPr lang="en-US" sz="1800" dirty="0" smtClean="0">
                <a:solidFill>
                  <a:schemeClr val="dk1"/>
                </a:solidFill>
              </a:rPr>
              <a:t>: </a:t>
            </a:r>
            <a:r>
              <a:rPr lang="en-US" sz="1800" dirty="0" err="1" smtClean="0">
                <a:solidFill>
                  <a:schemeClr val="dk1"/>
                </a:solidFill>
              </a:rPr>
              <a:t>Arima</a:t>
            </a:r>
            <a:r>
              <a:rPr lang="en-US" sz="1800" dirty="0" smtClean="0">
                <a:solidFill>
                  <a:schemeClr val="dk1"/>
                </a:solidFill>
              </a:rPr>
              <a:t>, Momentum, RSI</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err="1" smtClean="0">
                <a:solidFill>
                  <a:schemeClr val="dk1"/>
                </a:solidFill>
              </a:rPr>
              <a:t>Một</a:t>
            </a:r>
            <a:r>
              <a:rPr lang="en-US" sz="1800" dirty="0" smtClean="0">
                <a:solidFill>
                  <a:schemeClr val="dk1"/>
                </a:solidFill>
              </a:rPr>
              <a:t> </a:t>
            </a:r>
            <a:r>
              <a:rPr lang="en-US" sz="1800" dirty="0" err="1" smtClean="0">
                <a:solidFill>
                  <a:schemeClr val="dk1"/>
                </a:solidFill>
              </a:rPr>
              <a:t>cơ</a:t>
            </a:r>
            <a:r>
              <a:rPr lang="en-US" sz="1800" dirty="0" smtClean="0">
                <a:solidFill>
                  <a:schemeClr val="dk1"/>
                </a:solidFill>
              </a:rPr>
              <a:t> </a:t>
            </a:r>
            <a:r>
              <a:rPr lang="en-US" sz="1800" dirty="0" err="1" smtClean="0">
                <a:solidFill>
                  <a:schemeClr val="dk1"/>
                </a:solidFill>
              </a:rPr>
              <a:t>hội</a:t>
            </a:r>
            <a:r>
              <a:rPr lang="en-US" sz="1800" dirty="0" smtClean="0">
                <a:solidFill>
                  <a:schemeClr val="dk1"/>
                </a:solidFill>
              </a:rPr>
              <a:t> </a:t>
            </a:r>
            <a:r>
              <a:rPr lang="en-US" sz="1800" dirty="0" err="1" smtClean="0">
                <a:solidFill>
                  <a:schemeClr val="dk1"/>
                </a:solidFill>
              </a:rPr>
              <a:t>mua</a:t>
            </a:r>
            <a:r>
              <a:rPr lang="en-US" sz="1800" dirty="0" smtClean="0">
                <a:solidFill>
                  <a:schemeClr val="dk1"/>
                </a:solidFill>
              </a:rPr>
              <a:t> </a:t>
            </a:r>
            <a:r>
              <a:rPr lang="en-US" sz="1800" dirty="0" err="1" smtClean="0">
                <a:solidFill>
                  <a:schemeClr val="dk1"/>
                </a:solidFill>
              </a:rPr>
              <a:t>khi</a:t>
            </a:r>
            <a:r>
              <a:rPr lang="en-US" sz="1800" dirty="0" smtClean="0">
                <a:solidFill>
                  <a:schemeClr val="dk1"/>
                </a:solidFill>
              </a:rPr>
              <a:t>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dự</a:t>
            </a:r>
            <a:r>
              <a:rPr lang="en-US" sz="1800" dirty="0" smtClean="0">
                <a:solidFill>
                  <a:schemeClr val="dk1"/>
                </a:solidFill>
              </a:rPr>
              <a:t> </a:t>
            </a:r>
            <a:r>
              <a:rPr lang="en-US" sz="1800" dirty="0" err="1" smtClean="0">
                <a:solidFill>
                  <a:schemeClr val="dk1"/>
                </a:solidFill>
              </a:rPr>
              <a:t>đoán</a:t>
            </a:r>
            <a:r>
              <a:rPr lang="en-US" sz="1800" dirty="0" smtClean="0">
                <a:solidFill>
                  <a:schemeClr val="dk1"/>
                </a:solidFill>
              </a:rPr>
              <a:t> </a:t>
            </a:r>
            <a:r>
              <a:rPr lang="en-US" sz="1800" dirty="0" err="1" smtClean="0">
                <a:solidFill>
                  <a:schemeClr val="dk1"/>
                </a:solidFill>
              </a:rPr>
              <a:t>cao</a:t>
            </a:r>
            <a:r>
              <a:rPr lang="en-US" sz="1800" dirty="0" smtClean="0">
                <a:solidFill>
                  <a:schemeClr val="dk1"/>
                </a:solidFill>
              </a:rPr>
              <a:t> </a:t>
            </a:r>
            <a:r>
              <a:rPr lang="en-US" sz="1800" dirty="0" err="1" smtClean="0">
                <a:solidFill>
                  <a:schemeClr val="dk1"/>
                </a:solidFill>
              </a:rPr>
              <a:t>hơn</a:t>
            </a:r>
            <a:r>
              <a:rPr lang="en-US" sz="1800" dirty="0" smtClean="0">
                <a:solidFill>
                  <a:schemeClr val="dk1"/>
                </a:solidFill>
              </a:rPr>
              <a:t>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thực</a:t>
            </a:r>
            <a:r>
              <a:rPr lang="en-US" sz="1800" dirty="0" smtClean="0">
                <a:solidFill>
                  <a:schemeClr val="dk1"/>
                </a:solidFill>
              </a:rPr>
              <a:t> </a:t>
            </a:r>
            <a:r>
              <a:rPr lang="en-US" sz="1800" dirty="0" err="1" smtClean="0">
                <a:solidFill>
                  <a:schemeClr val="dk1"/>
                </a:solidFill>
              </a:rPr>
              <a:t>tế</a:t>
            </a:r>
            <a:r>
              <a:rPr lang="en-US" sz="1800" dirty="0" smtClean="0">
                <a:solidFill>
                  <a:schemeClr val="dk1"/>
                </a:solidFill>
              </a:rPr>
              <a:t> </a:t>
            </a:r>
            <a:r>
              <a:rPr lang="en-US" sz="1800" dirty="0" err="1" smtClean="0">
                <a:solidFill>
                  <a:schemeClr val="dk1"/>
                </a:solidFill>
              </a:rPr>
              <a:t>và</a:t>
            </a:r>
            <a:r>
              <a:rPr lang="en-US" sz="1800" dirty="0" smtClean="0">
                <a:solidFill>
                  <a:schemeClr val="dk1"/>
                </a:solidFill>
              </a:rPr>
              <a:t> momentum &gt; 0 </a:t>
            </a:r>
            <a:r>
              <a:rPr lang="en-US" sz="1800" dirty="0" err="1" smtClean="0">
                <a:solidFill>
                  <a:schemeClr val="dk1"/>
                </a:solidFill>
              </a:rPr>
              <a:t>và</a:t>
            </a:r>
            <a:r>
              <a:rPr lang="en-US" sz="1800" dirty="0" smtClean="0">
                <a:solidFill>
                  <a:schemeClr val="dk1"/>
                </a:solidFill>
              </a:rPr>
              <a:t> RSI &lt;= 30</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err="1" smtClean="0">
                <a:solidFill>
                  <a:schemeClr val="dk1"/>
                </a:solidFill>
              </a:rPr>
              <a:t>Một</a:t>
            </a:r>
            <a:r>
              <a:rPr lang="en-US" sz="1800" dirty="0" smtClean="0">
                <a:solidFill>
                  <a:schemeClr val="dk1"/>
                </a:solidFill>
              </a:rPr>
              <a:t> </a:t>
            </a:r>
            <a:r>
              <a:rPr lang="en-US" sz="1800" dirty="0" err="1" smtClean="0">
                <a:solidFill>
                  <a:schemeClr val="dk1"/>
                </a:solidFill>
              </a:rPr>
              <a:t>cơ</a:t>
            </a:r>
            <a:r>
              <a:rPr lang="en-US" sz="1800" dirty="0" smtClean="0">
                <a:solidFill>
                  <a:schemeClr val="dk1"/>
                </a:solidFill>
              </a:rPr>
              <a:t> </a:t>
            </a:r>
            <a:r>
              <a:rPr lang="en-US" sz="1800" dirty="0" err="1" smtClean="0">
                <a:solidFill>
                  <a:schemeClr val="dk1"/>
                </a:solidFill>
              </a:rPr>
              <a:t>hội</a:t>
            </a:r>
            <a:r>
              <a:rPr lang="en-US" sz="1800" dirty="0" smtClean="0">
                <a:solidFill>
                  <a:schemeClr val="dk1"/>
                </a:solidFill>
              </a:rPr>
              <a:t> </a:t>
            </a:r>
            <a:r>
              <a:rPr lang="en-US" sz="1800" dirty="0" err="1" smtClean="0">
                <a:solidFill>
                  <a:schemeClr val="dk1"/>
                </a:solidFill>
              </a:rPr>
              <a:t>bán</a:t>
            </a:r>
            <a:r>
              <a:rPr lang="en-US" sz="1800" dirty="0" smtClean="0">
                <a:solidFill>
                  <a:schemeClr val="dk1"/>
                </a:solidFill>
              </a:rPr>
              <a:t> </a:t>
            </a:r>
            <a:r>
              <a:rPr lang="en-US" sz="1800" dirty="0" err="1" smtClean="0">
                <a:solidFill>
                  <a:schemeClr val="dk1"/>
                </a:solidFill>
              </a:rPr>
              <a:t>khi</a:t>
            </a:r>
            <a:r>
              <a:rPr lang="en-US" sz="1800" dirty="0" smtClean="0">
                <a:solidFill>
                  <a:schemeClr val="dk1"/>
                </a:solidFill>
              </a:rPr>
              <a:t>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dự</a:t>
            </a:r>
            <a:r>
              <a:rPr lang="en-US" sz="1800" dirty="0" smtClean="0">
                <a:solidFill>
                  <a:schemeClr val="dk1"/>
                </a:solidFill>
              </a:rPr>
              <a:t> </a:t>
            </a:r>
            <a:r>
              <a:rPr lang="en-US" sz="1800" dirty="0" err="1" smtClean="0">
                <a:solidFill>
                  <a:schemeClr val="dk1"/>
                </a:solidFill>
              </a:rPr>
              <a:t>đoán</a:t>
            </a:r>
            <a:r>
              <a:rPr lang="en-US" sz="1800" dirty="0" smtClean="0">
                <a:solidFill>
                  <a:schemeClr val="dk1"/>
                </a:solidFill>
              </a:rPr>
              <a:t> </a:t>
            </a:r>
            <a:r>
              <a:rPr lang="en-US" sz="1800" dirty="0" err="1" smtClean="0">
                <a:solidFill>
                  <a:schemeClr val="dk1"/>
                </a:solidFill>
              </a:rPr>
              <a:t>thấp</a:t>
            </a:r>
            <a:r>
              <a:rPr lang="en-US" sz="1800" dirty="0" smtClean="0">
                <a:solidFill>
                  <a:schemeClr val="dk1"/>
                </a:solidFill>
              </a:rPr>
              <a:t> </a:t>
            </a:r>
            <a:r>
              <a:rPr lang="en-US" sz="1800" dirty="0" err="1" smtClean="0">
                <a:solidFill>
                  <a:schemeClr val="dk1"/>
                </a:solidFill>
              </a:rPr>
              <a:t>hơn</a:t>
            </a:r>
            <a:r>
              <a:rPr lang="en-US" sz="1800" dirty="0" smtClean="0">
                <a:solidFill>
                  <a:schemeClr val="dk1"/>
                </a:solidFill>
              </a:rPr>
              <a:t>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thực</a:t>
            </a:r>
            <a:r>
              <a:rPr lang="en-US" sz="1800" dirty="0" smtClean="0">
                <a:solidFill>
                  <a:schemeClr val="dk1"/>
                </a:solidFill>
              </a:rPr>
              <a:t> </a:t>
            </a:r>
            <a:r>
              <a:rPr lang="en-US" sz="1800" dirty="0" err="1" smtClean="0">
                <a:solidFill>
                  <a:schemeClr val="dk1"/>
                </a:solidFill>
              </a:rPr>
              <a:t>tế</a:t>
            </a:r>
            <a:r>
              <a:rPr lang="en-US" sz="1800" dirty="0" smtClean="0">
                <a:solidFill>
                  <a:schemeClr val="dk1"/>
                </a:solidFill>
              </a:rPr>
              <a:t> </a:t>
            </a:r>
            <a:r>
              <a:rPr lang="en-US" sz="1800" dirty="0" err="1" smtClean="0">
                <a:solidFill>
                  <a:schemeClr val="dk1"/>
                </a:solidFill>
              </a:rPr>
              <a:t>và</a:t>
            </a:r>
            <a:r>
              <a:rPr lang="en-US" sz="1800" dirty="0" smtClean="0">
                <a:solidFill>
                  <a:schemeClr val="dk1"/>
                </a:solidFill>
              </a:rPr>
              <a:t> momentum &lt; 0 </a:t>
            </a:r>
            <a:r>
              <a:rPr lang="en-US" sz="1800" dirty="0" err="1" smtClean="0">
                <a:solidFill>
                  <a:schemeClr val="dk1"/>
                </a:solidFill>
              </a:rPr>
              <a:t>và</a:t>
            </a:r>
            <a:r>
              <a:rPr lang="en-US" sz="1800" dirty="0" smtClean="0">
                <a:solidFill>
                  <a:schemeClr val="dk1"/>
                </a:solidFill>
              </a:rPr>
              <a:t> RSI &gt;= 70</a:t>
            </a:r>
            <a:endParaRPr lang="en-US" sz="1800" dirty="0" smtClean="0">
              <a:solidFill>
                <a:schemeClr val="dk1"/>
              </a:solidFill>
            </a:endParaRPr>
          </a:p>
          <a:p>
            <a:pPr marL="444500" marR="0" lvl="0" indent="-342900" algn="just" rtl="0">
              <a:lnSpc>
                <a:spcPct val="115000"/>
              </a:lnSpc>
              <a:spcBef>
                <a:spcPts val="1600"/>
              </a:spcBef>
              <a:spcAft>
                <a:spcPts val="0"/>
              </a:spcAft>
              <a:buAutoNum type="arabicPeriod"/>
            </a:pPr>
            <a:r>
              <a:rPr lang="en-US" sz="1800" b="1" dirty="0" err="1" smtClean="0">
                <a:solidFill>
                  <a:schemeClr val="dk1"/>
                </a:solidFill>
              </a:rPr>
              <a:t>Xác</a:t>
            </a:r>
            <a:r>
              <a:rPr lang="en-US" sz="1800" b="1" dirty="0" smtClean="0">
                <a:solidFill>
                  <a:schemeClr val="dk1"/>
                </a:solidFill>
              </a:rPr>
              <a:t> </a:t>
            </a:r>
            <a:r>
              <a:rPr lang="en-US" sz="1800" b="1" dirty="0" err="1" smtClean="0">
                <a:solidFill>
                  <a:schemeClr val="dk1"/>
                </a:solidFill>
              </a:rPr>
              <a:t>định</a:t>
            </a:r>
            <a:r>
              <a:rPr lang="en-US" sz="1800" b="1" dirty="0" smtClean="0">
                <a:solidFill>
                  <a:schemeClr val="dk1"/>
                </a:solidFill>
              </a:rPr>
              <a:t> </a:t>
            </a:r>
            <a:r>
              <a:rPr lang="en-US" sz="1800" b="1" dirty="0" err="1" smtClean="0">
                <a:solidFill>
                  <a:schemeClr val="dk1"/>
                </a:solidFill>
              </a:rPr>
              <a:t>mô</a:t>
            </a:r>
            <a:r>
              <a:rPr lang="en-US" sz="1800" b="1" dirty="0" smtClean="0">
                <a:solidFill>
                  <a:schemeClr val="dk1"/>
                </a:solidFill>
              </a:rPr>
              <a:t> </a:t>
            </a:r>
            <a:r>
              <a:rPr lang="en-US" sz="1800" b="1" dirty="0" err="1" smtClean="0">
                <a:solidFill>
                  <a:schemeClr val="dk1"/>
                </a:solidFill>
              </a:rPr>
              <a:t>hình</a:t>
            </a:r>
            <a:r>
              <a:rPr lang="en-US" sz="1800" b="1" dirty="0" smtClean="0">
                <a:solidFill>
                  <a:schemeClr val="dk1"/>
                </a:solidFill>
              </a:rPr>
              <a:t>:</a:t>
            </a:r>
            <a:endParaRPr lang="en-US" sz="1800" b="1"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err="1" smtClean="0">
                <a:solidFill>
                  <a:schemeClr val="dk1"/>
                </a:solidFill>
              </a:rPr>
              <a:t>Xác</a:t>
            </a:r>
            <a:r>
              <a:rPr lang="en-US" sz="1800" dirty="0" smtClean="0">
                <a:solidFill>
                  <a:schemeClr val="dk1"/>
                </a:solidFill>
              </a:rPr>
              <a:t> </a:t>
            </a:r>
            <a:r>
              <a:rPr lang="en-US" sz="1800" dirty="0" err="1" smtClean="0">
                <a:solidFill>
                  <a:schemeClr val="dk1"/>
                </a:solidFill>
              </a:rPr>
              <a:t>định</a:t>
            </a:r>
            <a:r>
              <a:rPr lang="en-US" sz="1800" dirty="0" smtClean="0">
                <a:solidFill>
                  <a:schemeClr val="dk1"/>
                </a:solidFill>
              </a:rPr>
              <a:t>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đóng</a:t>
            </a:r>
            <a:r>
              <a:rPr lang="en-US" sz="1800" dirty="0" smtClean="0">
                <a:solidFill>
                  <a:schemeClr val="dk1"/>
                </a:solidFill>
              </a:rPr>
              <a:t> </a:t>
            </a:r>
            <a:r>
              <a:rPr lang="en-US" sz="1800" dirty="0" err="1" smtClean="0">
                <a:solidFill>
                  <a:schemeClr val="dk1"/>
                </a:solidFill>
              </a:rPr>
              <a:t>cửa</a:t>
            </a:r>
            <a:r>
              <a:rPr lang="en-US" sz="1800" dirty="0" smtClean="0">
                <a:solidFill>
                  <a:schemeClr val="dk1"/>
                </a:solidFill>
              </a:rPr>
              <a:t> </a:t>
            </a:r>
            <a:r>
              <a:rPr lang="en-US" sz="1800" dirty="0" err="1" smtClean="0">
                <a:solidFill>
                  <a:schemeClr val="dk1"/>
                </a:solidFill>
              </a:rPr>
              <a:t>tương</a:t>
            </a:r>
            <a:r>
              <a:rPr lang="en-US" sz="1800" dirty="0" smtClean="0">
                <a:solidFill>
                  <a:schemeClr val="dk1"/>
                </a:solidFill>
              </a:rPr>
              <a:t> </a:t>
            </a:r>
            <a:r>
              <a:rPr lang="en-US" sz="1800" dirty="0" err="1" smtClean="0">
                <a:solidFill>
                  <a:schemeClr val="dk1"/>
                </a:solidFill>
              </a:rPr>
              <a:t>lai</a:t>
            </a:r>
            <a:r>
              <a:rPr lang="en-US" sz="1800" dirty="0" smtClean="0">
                <a:solidFill>
                  <a:schemeClr val="dk1"/>
                </a:solidFill>
              </a:rPr>
              <a:t> </a:t>
            </a:r>
            <a:r>
              <a:rPr lang="en-US" sz="1800" dirty="0" err="1" smtClean="0">
                <a:solidFill>
                  <a:schemeClr val="dk1"/>
                </a:solidFill>
              </a:rPr>
              <a:t>dựa</a:t>
            </a:r>
            <a:r>
              <a:rPr lang="en-US" sz="1800" dirty="0" smtClean="0">
                <a:solidFill>
                  <a:schemeClr val="dk1"/>
                </a:solidFill>
              </a:rPr>
              <a:t> </a:t>
            </a:r>
            <a:r>
              <a:rPr lang="en-US" sz="1800" dirty="0" err="1" smtClean="0">
                <a:solidFill>
                  <a:schemeClr val="dk1"/>
                </a:solidFill>
              </a:rPr>
              <a:t>vào</a:t>
            </a:r>
            <a:r>
              <a:rPr lang="en-US" sz="1800" dirty="0" smtClean="0">
                <a:solidFill>
                  <a:schemeClr val="dk1"/>
                </a:solidFill>
              </a:rPr>
              <a:t>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đóng</a:t>
            </a:r>
            <a:r>
              <a:rPr lang="en-US" sz="1800" dirty="0" smtClean="0">
                <a:solidFill>
                  <a:schemeClr val="dk1"/>
                </a:solidFill>
              </a:rPr>
              <a:t> </a:t>
            </a:r>
            <a:r>
              <a:rPr lang="en-US" sz="1800" dirty="0" err="1" smtClean="0">
                <a:solidFill>
                  <a:schemeClr val="dk1"/>
                </a:solidFill>
              </a:rPr>
              <a:t>cửa</a:t>
            </a:r>
            <a:r>
              <a:rPr lang="en-US" sz="1800" dirty="0" smtClean="0">
                <a:solidFill>
                  <a:schemeClr val="dk1"/>
                </a:solidFill>
              </a:rPr>
              <a:t> </a:t>
            </a:r>
            <a:r>
              <a:rPr lang="en-US" sz="1800" dirty="0" err="1" smtClean="0">
                <a:solidFill>
                  <a:schemeClr val="dk1"/>
                </a:solidFill>
              </a:rPr>
              <a:t>quá</a:t>
            </a:r>
            <a:r>
              <a:rPr lang="en-US" sz="1800" dirty="0" smtClean="0">
                <a:solidFill>
                  <a:schemeClr val="dk1"/>
                </a:solidFill>
              </a:rPr>
              <a:t> </a:t>
            </a:r>
            <a:r>
              <a:rPr lang="en-US" sz="1800" dirty="0" err="1" smtClean="0">
                <a:solidFill>
                  <a:schemeClr val="dk1"/>
                </a:solidFill>
              </a:rPr>
              <a:t>khứ</a:t>
            </a:r>
            <a:r>
              <a:rPr lang="en-US" sz="1800" dirty="0" smtClean="0">
                <a:solidFill>
                  <a:schemeClr val="dk1"/>
                </a:solidFill>
              </a:rPr>
              <a:t>: </a:t>
            </a:r>
            <a:r>
              <a:rPr lang="en-US" sz="1800" dirty="0" err="1" smtClean="0">
                <a:solidFill>
                  <a:schemeClr val="dk1"/>
                </a:solidFill>
              </a:rPr>
              <a:t>Đây</a:t>
            </a:r>
            <a:r>
              <a:rPr lang="en-US" sz="1800" dirty="0" smtClean="0">
                <a:solidFill>
                  <a:schemeClr val="dk1"/>
                </a:solidFill>
              </a:rPr>
              <a:t> </a:t>
            </a:r>
            <a:r>
              <a:rPr lang="en-US" sz="1800" dirty="0" err="1" smtClean="0">
                <a:solidFill>
                  <a:schemeClr val="dk1"/>
                </a:solidFill>
              </a:rPr>
              <a:t>là</a:t>
            </a:r>
            <a:r>
              <a:rPr lang="en-US" sz="1800" dirty="0" smtClean="0">
                <a:solidFill>
                  <a:schemeClr val="dk1"/>
                </a:solidFill>
              </a:rPr>
              <a:t> </a:t>
            </a:r>
            <a:r>
              <a:rPr lang="en-US" sz="1800" dirty="0" err="1" smtClean="0">
                <a:solidFill>
                  <a:schemeClr val="dk1"/>
                </a:solidFill>
              </a:rPr>
              <a:t>cách</a:t>
            </a:r>
            <a:r>
              <a:rPr lang="en-US" sz="1800" dirty="0" smtClean="0">
                <a:solidFill>
                  <a:schemeClr val="dk1"/>
                </a:solidFill>
              </a:rPr>
              <a:t> </a:t>
            </a:r>
            <a:r>
              <a:rPr lang="en-US" sz="1800" dirty="0" err="1" smtClean="0">
                <a:solidFill>
                  <a:schemeClr val="dk1"/>
                </a:solidFill>
              </a:rPr>
              <a:t>tiếp</a:t>
            </a:r>
            <a:r>
              <a:rPr lang="en-US" sz="1800" dirty="0" smtClean="0">
                <a:solidFill>
                  <a:schemeClr val="dk1"/>
                </a:solidFill>
              </a:rPr>
              <a:t> </a:t>
            </a:r>
            <a:r>
              <a:rPr lang="en-US" sz="1800" dirty="0" err="1" smtClean="0">
                <a:solidFill>
                  <a:schemeClr val="dk1"/>
                </a:solidFill>
              </a:rPr>
              <a:t>cận</a:t>
            </a:r>
            <a:r>
              <a:rPr lang="en-US" sz="1800" dirty="0" smtClean="0">
                <a:solidFill>
                  <a:schemeClr val="dk1"/>
                </a:solidFill>
              </a:rPr>
              <a:t> </a:t>
            </a:r>
            <a:r>
              <a:rPr lang="en-US" sz="1800" dirty="0" err="1" smtClean="0">
                <a:solidFill>
                  <a:schemeClr val="dk1"/>
                </a:solidFill>
              </a:rPr>
              <a:t>tốt</a:t>
            </a:r>
            <a:r>
              <a:rPr lang="en-US" sz="1800" dirty="0" smtClean="0">
                <a:solidFill>
                  <a:schemeClr val="dk1"/>
                </a:solidFill>
              </a:rPr>
              <a:t> </a:t>
            </a:r>
            <a:r>
              <a:rPr lang="en-US" sz="1800" dirty="0" err="1" smtClean="0">
                <a:solidFill>
                  <a:schemeClr val="dk1"/>
                </a:solidFill>
              </a:rPr>
              <a:t>nhất</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err="1" smtClean="0">
                <a:solidFill>
                  <a:schemeClr val="dk1"/>
                </a:solidFill>
              </a:rPr>
              <a:t>Xác</a:t>
            </a:r>
            <a:r>
              <a:rPr lang="en-US" sz="1800" dirty="0" smtClean="0">
                <a:solidFill>
                  <a:schemeClr val="dk1"/>
                </a:solidFill>
              </a:rPr>
              <a:t> </a:t>
            </a:r>
            <a:r>
              <a:rPr lang="en-US" sz="1800" dirty="0" err="1" smtClean="0">
                <a:solidFill>
                  <a:schemeClr val="dk1"/>
                </a:solidFill>
              </a:rPr>
              <a:t>định</a:t>
            </a:r>
            <a:r>
              <a:rPr lang="en-US" sz="1800" dirty="0" smtClean="0">
                <a:solidFill>
                  <a:schemeClr val="dk1"/>
                </a:solidFill>
              </a:rPr>
              <a:t>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đóng</a:t>
            </a:r>
            <a:r>
              <a:rPr lang="en-US" sz="1800" dirty="0" smtClean="0">
                <a:solidFill>
                  <a:schemeClr val="dk1"/>
                </a:solidFill>
              </a:rPr>
              <a:t> </a:t>
            </a:r>
            <a:r>
              <a:rPr lang="en-US" sz="1800" dirty="0" err="1" smtClean="0">
                <a:solidFill>
                  <a:schemeClr val="dk1"/>
                </a:solidFill>
              </a:rPr>
              <a:t>cửa</a:t>
            </a:r>
            <a:r>
              <a:rPr lang="en-US" sz="1800" dirty="0" smtClean="0">
                <a:solidFill>
                  <a:schemeClr val="dk1"/>
                </a:solidFill>
              </a:rPr>
              <a:t> </a:t>
            </a:r>
            <a:r>
              <a:rPr lang="en-US" sz="1800" dirty="0" err="1" smtClean="0">
                <a:solidFill>
                  <a:schemeClr val="dk1"/>
                </a:solidFill>
              </a:rPr>
              <a:t>tương</a:t>
            </a:r>
            <a:r>
              <a:rPr lang="en-US" sz="1800" dirty="0" smtClean="0">
                <a:solidFill>
                  <a:schemeClr val="dk1"/>
                </a:solidFill>
              </a:rPr>
              <a:t> </a:t>
            </a:r>
            <a:r>
              <a:rPr lang="en-US" sz="1800" dirty="0" err="1" smtClean="0">
                <a:solidFill>
                  <a:schemeClr val="dk1"/>
                </a:solidFill>
              </a:rPr>
              <a:t>lai</a:t>
            </a:r>
            <a:r>
              <a:rPr lang="en-US" sz="1800" dirty="0" smtClean="0">
                <a:solidFill>
                  <a:schemeClr val="dk1"/>
                </a:solidFill>
              </a:rPr>
              <a:t> </a:t>
            </a:r>
            <a:r>
              <a:rPr lang="en-US" sz="1800" dirty="0" err="1" smtClean="0">
                <a:solidFill>
                  <a:schemeClr val="dk1"/>
                </a:solidFill>
              </a:rPr>
              <a:t>dựa</a:t>
            </a:r>
            <a:r>
              <a:rPr lang="en-US" sz="1800" dirty="0" smtClean="0">
                <a:solidFill>
                  <a:schemeClr val="dk1"/>
                </a:solidFill>
              </a:rPr>
              <a:t> </a:t>
            </a:r>
            <a:r>
              <a:rPr lang="en-US" sz="1800" dirty="0" err="1" smtClean="0">
                <a:solidFill>
                  <a:schemeClr val="dk1"/>
                </a:solidFill>
              </a:rPr>
              <a:t>vào</a:t>
            </a:r>
            <a:r>
              <a:rPr lang="en-US" sz="1800" dirty="0" smtClean="0">
                <a:solidFill>
                  <a:schemeClr val="dk1"/>
                </a:solidFill>
              </a:rPr>
              <a:t>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đóng</a:t>
            </a:r>
            <a:r>
              <a:rPr lang="en-US" sz="1800" dirty="0" smtClean="0">
                <a:solidFill>
                  <a:schemeClr val="dk1"/>
                </a:solidFill>
              </a:rPr>
              <a:t> </a:t>
            </a:r>
            <a:r>
              <a:rPr lang="en-US" sz="1800" dirty="0" err="1" smtClean="0">
                <a:solidFill>
                  <a:schemeClr val="dk1"/>
                </a:solidFill>
              </a:rPr>
              <a:t>cửa</a:t>
            </a:r>
            <a:r>
              <a:rPr lang="en-US" sz="1800" dirty="0" smtClean="0">
                <a:solidFill>
                  <a:schemeClr val="dk1"/>
                </a:solidFill>
              </a:rPr>
              <a:t> </a:t>
            </a:r>
            <a:r>
              <a:rPr lang="en-US" sz="1800" dirty="0" err="1" smtClean="0">
                <a:solidFill>
                  <a:schemeClr val="dk1"/>
                </a:solidFill>
              </a:rPr>
              <a:t>quá</a:t>
            </a:r>
            <a:r>
              <a:rPr lang="en-US" sz="1800" dirty="0" smtClean="0">
                <a:solidFill>
                  <a:schemeClr val="dk1"/>
                </a:solidFill>
              </a:rPr>
              <a:t> </a:t>
            </a:r>
            <a:r>
              <a:rPr lang="en-US" sz="1800" dirty="0" err="1" smtClean="0">
                <a:solidFill>
                  <a:schemeClr val="dk1"/>
                </a:solidFill>
              </a:rPr>
              <a:t>khứ</a:t>
            </a:r>
            <a:r>
              <a:rPr lang="en-US" sz="1800" dirty="0" smtClean="0">
                <a:solidFill>
                  <a:schemeClr val="dk1"/>
                </a:solidFill>
              </a:rPr>
              <a:t> </a:t>
            </a:r>
            <a:r>
              <a:rPr lang="en-US" sz="1800" dirty="0" err="1" smtClean="0">
                <a:solidFill>
                  <a:schemeClr val="dk1"/>
                </a:solidFill>
              </a:rPr>
              <a:t>và</a:t>
            </a:r>
            <a:r>
              <a:rPr lang="en-US" sz="1800" dirty="0" smtClean="0">
                <a:solidFill>
                  <a:schemeClr val="dk1"/>
                </a:solidFill>
              </a:rPr>
              <a:t> </a:t>
            </a:r>
            <a:r>
              <a:rPr lang="en-US" sz="1800" dirty="0" err="1" smtClean="0">
                <a:solidFill>
                  <a:schemeClr val="dk1"/>
                </a:solidFill>
              </a:rPr>
              <a:t>các</a:t>
            </a:r>
            <a:r>
              <a:rPr lang="en-US" sz="1800" dirty="0" smtClean="0">
                <a:solidFill>
                  <a:schemeClr val="dk1"/>
                </a:solidFill>
              </a:rPr>
              <a:t> </a:t>
            </a:r>
            <a:r>
              <a:rPr lang="en-US" sz="1800" dirty="0" err="1" smtClean="0">
                <a:solidFill>
                  <a:schemeClr val="dk1"/>
                </a:solidFill>
              </a:rPr>
              <a:t>yếu</a:t>
            </a:r>
            <a:r>
              <a:rPr lang="en-US" sz="1800" dirty="0" smtClean="0">
                <a:solidFill>
                  <a:schemeClr val="dk1"/>
                </a:solidFill>
              </a:rPr>
              <a:t> </a:t>
            </a:r>
            <a:r>
              <a:rPr lang="en-US" sz="1800" dirty="0" err="1" smtClean="0">
                <a:solidFill>
                  <a:schemeClr val="dk1"/>
                </a:solidFill>
              </a:rPr>
              <a:t>tố</a:t>
            </a:r>
            <a:r>
              <a:rPr lang="en-US" sz="1800" dirty="0" smtClean="0">
                <a:solidFill>
                  <a:schemeClr val="dk1"/>
                </a:solidFill>
              </a:rPr>
              <a:t> </a:t>
            </a:r>
            <a:r>
              <a:rPr lang="en-US" sz="1800" dirty="0" err="1" smtClean="0">
                <a:solidFill>
                  <a:schemeClr val="dk1"/>
                </a:solidFill>
              </a:rPr>
              <a:t>khác</a:t>
            </a:r>
            <a:r>
              <a:rPr lang="en-US" sz="1800" dirty="0" smtClean="0">
                <a:solidFill>
                  <a:schemeClr val="dk1"/>
                </a:solidFill>
              </a:rPr>
              <a:t> </a:t>
            </a:r>
            <a:r>
              <a:rPr lang="en-US" sz="1800" dirty="0" err="1" smtClean="0">
                <a:solidFill>
                  <a:schemeClr val="dk1"/>
                </a:solidFill>
              </a:rPr>
              <a:t>như</a:t>
            </a:r>
            <a:r>
              <a:rPr lang="en-US" sz="1800" dirty="0" smtClean="0">
                <a:solidFill>
                  <a:schemeClr val="dk1"/>
                </a:solidFill>
              </a:rPr>
              <a:t> Open, High, Low, Close</a:t>
            </a:r>
            <a:endParaRPr lang="en-US" sz="1800" dirty="0" smtClean="0">
              <a:solidFill>
                <a:schemeClr val="dk1"/>
              </a:solidFill>
            </a:endParaRPr>
          </a:p>
          <a:p>
            <a:pPr marL="101600" marR="0" lvl="0" algn="just" rtl="0">
              <a:lnSpc>
                <a:spcPct val="115000"/>
              </a:lnSpc>
              <a:spcBef>
                <a:spcPts val="1600"/>
              </a:spcBef>
              <a:spcAft>
                <a:spcPts val="0"/>
              </a:spcAft>
            </a:pPr>
            <a:r>
              <a:rPr lang="en-US" sz="1800" b="1" dirty="0" smtClean="0">
                <a:solidFill>
                  <a:schemeClr val="dk1"/>
                </a:solidFill>
              </a:rPr>
              <a:t>2. </a:t>
            </a:r>
            <a:r>
              <a:rPr lang="en-US" sz="1800" b="1" dirty="0" err="1" smtClean="0">
                <a:solidFill>
                  <a:schemeClr val="dk1"/>
                </a:solidFill>
              </a:rPr>
              <a:t>Tối</a:t>
            </a:r>
            <a:r>
              <a:rPr lang="en-US" sz="1800" b="1" dirty="0" smtClean="0">
                <a:solidFill>
                  <a:schemeClr val="dk1"/>
                </a:solidFill>
              </a:rPr>
              <a:t> </a:t>
            </a:r>
            <a:r>
              <a:rPr lang="en-US" sz="1800" b="1" dirty="0" err="1" smtClean="0">
                <a:solidFill>
                  <a:schemeClr val="dk1"/>
                </a:solidFill>
              </a:rPr>
              <a:t>ưu</a:t>
            </a:r>
            <a:r>
              <a:rPr lang="en-US" sz="1800" b="1" dirty="0" smtClean="0">
                <a:solidFill>
                  <a:schemeClr val="dk1"/>
                </a:solidFill>
              </a:rPr>
              <a:t> </a:t>
            </a:r>
            <a:r>
              <a:rPr lang="en-US" sz="1800" b="1" dirty="0" err="1" smtClean="0">
                <a:solidFill>
                  <a:schemeClr val="dk1"/>
                </a:solidFill>
              </a:rPr>
              <a:t>hóa</a:t>
            </a:r>
            <a:r>
              <a:rPr lang="en-US" sz="1800" b="1" dirty="0" smtClean="0">
                <a:solidFill>
                  <a:schemeClr val="dk1"/>
                </a:solidFill>
              </a:rPr>
              <a:t> </a:t>
            </a:r>
            <a:r>
              <a:rPr lang="en-US" sz="1800" b="1" dirty="0" err="1" smtClean="0">
                <a:solidFill>
                  <a:schemeClr val="dk1"/>
                </a:solidFill>
              </a:rPr>
              <a:t>các</a:t>
            </a:r>
            <a:r>
              <a:rPr lang="en-US" sz="1800" b="1" dirty="0" smtClean="0">
                <a:solidFill>
                  <a:schemeClr val="dk1"/>
                </a:solidFill>
              </a:rPr>
              <a:t> </a:t>
            </a:r>
            <a:r>
              <a:rPr lang="en-US" sz="1800" b="1" dirty="0" err="1" smtClean="0">
                <a:solidFill>
                  <a:schemeClr val="dk1"/>
                </a:solidFill>
              </a:rPr>
              <a:t>tham</a:t>
            </a:r>
            <a:r>
              <a:rPr lang="en-US" sz="1800" b="1" dirty="0" smtClean="0">
                <a:solidFill>
                  <a:schemeClr val="dk1"/>
                </a:solidFill>
              </a:rPr>
              <a:t> </a:t>
            </a:r>
            <a:r>
              <a:rPr lang="en-US" sz="1800" b="1" dirty="0" err="1" smtClean="0">
                <a:solidFill>
                  <a:schemeClr val="dk1"/>
                </a:solidFill>
              </a:rPr>
              <a:t>số</a:t>
            </a:r>
            <a:r>
              <a:rPr lang="en-US" sz="1800" b="1" dirty="0" smtClean="0">
                <a:solidFill>
                  <a:schemeClr val="dk1"/>
                </a:solidFill>
              </a:rPr>
              <a:t> p, q, d </a:t>
            </a:r>
            <a:r>
              <a:rPr lang="en-US" sz="1800" b="1" dirty="0" err="1" smtClean="0">
                <a:solidFill>
                  <a:schemeClr val="dk1"/>
                </a:solidFill>
              </a:rPr>
              <a:t>để</a:t>
            </a:r>
            <a:r>
              <a:rPr lang="en-US" sz="1800" b="1" dirty="0" smtClean="0">
                <a:solidFill>
                  <a:schemeClr val="dk1"/>
                </a:solidFill>
              </a:rPr>
              <a:t> </a:t>
            </a:r>
            <a:r>
              <a:rPr lang="en-US" sz="1800" b="1" dirty="0" err="1" smtClean="0">
                <a:solidFill>
                  <a:schemeClr val="dk1"/>
                </a:solidFill>
              </a:rPr>
              <a:t>tìm</a:t>
            </a:r>
            <a:r>
              <a:rPr lang="en-US" sz="1800" b="1" dirty="0" smtClean="0">
                <a:solidFill>
                  <a:schemeClr val="dk1"/>
                </a:solidFill>
              </a:rPr>
              <a:t> </a:t>
            </a:r>
            <a:r>
              <a:rPr lang="en-US" sz="1800" b="1" dirty="0" err="1" smtClean="0">
                <a:solidFill>
                  <a:schemeClr val="dk1"/>
                </a:solidFill>
              </a:rPr>
              <a:t>ra</a:t>
            </a:r>
            <a:r>
              <a:rPr lang="en-US" sz="1800" b="1" dirty="0" smtClean="0">
                <a:solidFill>
                  <a:schemeClr val="dk1"/>
                </a:solidFill>
              </a:rPr>
              <a:t> </a:t>
            </a:r>
            <a:r>
              <a:rPr lang="en-US" sz="1800" b="1" dirty="0" err="1" smtClean="0">
                <a:solidFill>
                  <a:schemeClr val="dk1"/>
                </a:solidFill>
              </a:rPr>
              <a:t>mô</a:t>
            </a:r>
            <a:r>
              <a:rPr lang="en-US" sz="1800" b="1" dirty="0" smtClean="0">
                <a:solidFill>
                  <a:schemeClr val="dk1"/>
                </a:solidFill>
              </a:rPr>
              <a:t> </a:t>
            </a:r>
            <a:r>
              <a:rPr lang="en-US" sz="1800" b="1" dirty="0" err="1" smtClean="0">
                <a:solidFill>
                  <a:schemeClr val="dk1"/>
                </a:solidFill>
              </a:rPr>
              <a:t>hình</a:t>
            </a:r>
            <a:r>
              <a:rPr lang="en-US" sz="1800" b="1" dirty="0" smtClean="0">
                <a:solidFill>
                  <a:schemeClr val="dk1"/>
                </a:solidFill>
              </a:rPr>
              <a:t> </a:t>
            </a:r>
            <a:r>
              <a:rPr lang="en-US" sz="1800" b="1" dirty="0" err="1" smtClean="0">
                <a:solidFill>
                  <a:schemeClr val="dk1"/>
                </a:solidFill>
              </a:rPr>
              <a:t>tốt</a:t>
            </a:r>
            <a:r>
              <a:rPr lang="en-US" sz="1800" b="1" dirty="0" smtClean="0">
                <a:solidFill>
                  <a:schemeClr val="dk1"/>
                </a:solidFill>
              </a:rPr>
              <a:t> </a:t>
            </a:r>
            <a:r>
              <a:rPr lang="en-US" sz="1800" b="1" dirty="0" err="1" smtClean="0">
                <a:solidFill>
                  <a:schemeClr val="dk1"/>
                </a:solidFill>
              </a:rPr>
              <a:t>nhất</a:t>
            </a:r>
            <a:endParaRPr lang="en-US" sz="1800" b="1" dirty="0" smtClean="0">
              <a:solidFill>
                <a:schemeClr val="dk1"/>
              </a:solidFill>
            </a:endParaRPr>
          </a:p>
          <a:p>
            <a:pPr marL="101600" marR="0" lvl="0" indent="0" algn="just"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latin typeface="Arial (body)"/>
              </a:rPr>
              <a:t>Giải</a:t>
            </a:r>
            <a:r>
              <a:rPr lang="en-US" sz="2400" b="1" dirty="0" smtClean="0">
                <a:solidFill>
                  <a:schemeClr val="lt1"/>
                </a:solidFill>
                <a:latin typeface="Arial (body)"/>
              </a:rPr>
              <a:t> </a:t>
            </a:r>
            <a:r>
              <a:rPr lang="en-US" sz="2400" b="1" dirty="0" err="1" smtClean="0">
                <a:solidFill>
                  <a:schemeClr val="lt1"/>
                </a:solidFill>
                <a:latin typeface="Arial (body)"/>
              </a:rPr>
              <a:t>quyết</a:t>
            </a:r>
            <a:r>
              <a:rPr lang="en-US" sz="2400" b="1" dirty="0" smtClean="0">
                <a:solidFill>
                  <a:schemeClr val="lt1"/>
                </a:solidFill>
                <a:latin typeface="Arial (body)"/>
              </a:rPr>
              <a:t> </a:t>
            </a:r>
            <a:r>
              <a:rPr lang="en-US" sz="2400" b="1" dirty="0" err="1" smtClean="0">
                <a:solidFill>
                  <a:schemeClr val="lt1"/>
                </a:solidFill>
                <a:latin typeface="Arial (body)"/>
              </a:rPr>
              <a:t>vấn</a:t>
            </a:r>
            <a:r>
              <a:rPr lang="en-US" sz="2400" b="1" dirty="0" smtClean="0">
                <a:solidFill>
                  <a:schemeClr val="lt1"/>
                </a:solidFill>
                <a:latin typeface="Arial (body)"/>
              </a:rPr>
              <a:t> </a:t>
            </a:r>
            <a:r>
              <a:rPr lang="en-US" sz="2400" b="1" dirty="0" err="1" smtClean="0">
                <a:solidFill>
                  <a:schemeClr val="lt1"/>
                </a:solidFill>
                <a:latin typeface="Arial (body)"/>
              </a:rPr>
              <a:t>đề</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smtClean="0">
                <a:solidFill>
                  <a:schemeClr val="dk1"/>
                </a:solidFill>
              </a:rPr>
              <a:t>Phần</a:t>
            </a:r>
            <a:r>
              <a:rPr lang="en-US" sz="1800" b="1" dirty="0" smtClean="0">
                <a:solidFill>
                  <a:schemeClr val="dk1"/>
                </a:solidFill>
              </a:rPr>
              <a:t> </a:t>
            </a:r>
            <a:r>
              <a:rPr lang="en-US" sz="1800" b="1" dirty="0" err="1" smtClean="0">
                <a:solidFill>
                  <a:schemeClr val="dk1"/>
                </a:solidFill>
              </a:rPr>
              <a:t>chiến</a:t>
            </a:r>
            <a:r>
              <a:rPr lang="en-US" sz="1800" b="1" dirty="0" smtClean="0">
                <a:solidFill>
                  <a:schemeClr val="dk1"/>
                </a:solidFill>
              </a:rPr>
              <a:t> </a:t>
            </a:r>
            <a:r>
              <a:rPr lang="en-US" sz="1800" b="1" dirty="0" err="1" smtClean="0">
                <a:solidFill>
                  <a:schemeClr val="dk1"/>
                </a:solidFill>
              </a:rPr>
              <a:t>lược</a:t>
            </a:r>
            <a:r>
              <a:rPr lang="en-US" sz="1800" b="1" dirty="0" smtClean="0">
                <a:solidFill>
                  <a:schemeClr val="dk1"/>
                </a:solidFill>
              </a:rPr>
              <a:t>:</a:t>
            </a:r>
            <a:endParaRPr lang="en-US" sz="1800" b="1" dirty="0" smtClean="0">
              <a:solidFill>
                <a:schemeClr val="dk1"/>
              </a:solidFill>
            </a:endParaRPr>
          </a:p>
          <a:p>
            <a:pPr marL="101600" marR="0" lvl="0" indent="0" algn="just" rtl="0">
              <a:lnSpc>
                <a:spcPct val="115000"/>
              </a:lnSpc>
              <a:spcBef>
                <a:spcPts val="1600"/>
              </a:spcBef>
              <a:spcAft>
                <a:spcPts val="0"/>
              </a:spcAft>
              <a:buNone/>
            </a:pPr>
            <a:r>
              <a:rPr lang="en-US" sz="1800" dirty="0" err="1" smtClean="0">
                <a:solidFill>
                  <a:schemeClr val="dk1"/>
                </a:solidFill>
              </a:rPr>
              <a:t>Xác</a:t>
            </a:r>
            <a:r>
              <a:rPr lang="en-US" sz="1800" dirty="0" smtClean="0">
                <a:solidFill>
                  <a:schemeClr val="dk1"/>
                </a:solidFill>
              </a:rPr>
              <a:t> </a:t>
            </a:r>
            <a:r>
              <a:rPr lang="en-US" sz="1800" dirty="0" err="1" smtClean="0">
                <a:solidFill>
                  <a:schemeClr val="dk1"/>
                </a:solidFill>
              </a:rPr>
              <a:t>định</a:t>
            </a:r>
            <a:r>
              <a:rPr lang="en-US" sz="1800" dirty="0" smtClean="0">
                <a:solidFill>
                  <a:schemeClr val="dk1"/>
                </a:solidFill>
              </a:rPr>
              <a:t> </a:t>
            </a:r>
            <a:r>
              <a:rPr lang="en-US" sz="1800" dirty="0" err="1" smtClean="0">
                <a:solidFill>
                  <a:schemeClr val="dk1"/>
                </a:solidFill>
              </a:rPr>
              <a:t>chiến</a:t>
            </a:r>
            <a:r>
              <a:rPr lang="en-US" sz="1800" dirty="0" smtClean="0">
                <a:solidFill>
                  <a:schemeClr val="dk1"/>
                </a:solidFill>
              </a:rPr>
              <a:t> </a:t>
            </a:r>
            <a:r>
              <a:rPr lang="en-US" sz="1800" dirty="0" err="1" smtClean="0">
                <a:solidFill>
                  <a:schemeClr val="dk1"/>
                </a:solidFill>
              </a:rPr>
              <a:t>lược</a:t>
            </a:r>
            <a:r>
              <a:rPr lang="en-US" sz="1800" dirty="0" smtClean="0">
                <a:solidFill>
                  <a:schemeClr val="dk1"/>
                </a:solidFill>
              </a:rPr>
              <a:t> </a:t>
            </a:r>
            <a:r>
              <a:rPr lang="en-US" sz="1800" dirty="0" err="1" smtClean="0">
                <a:solidFill>
                  <a:schemeClr val="dk1"/>
                </a:solidFill>
              </a:rPr>
              <a:t>sẽ</a:t>
            </a:r>
            <a:r>
              <a:rPr lang="en-US" sz="1800" dirty="0" smtClean="0">
                <a:solidFill>
                  <a:schemeClr val="dk1"/>
                </a:solidFill>
              </a:rPr>
              <a:t> </a:t>
            </a:r>
            <a:r>
              <a:rPr lang="en-US" sz="1800" dirty="0" err="1" smtClean="0">
                <a:solidFill>
                  <a:schemeClr val="dk1"/>
                </a:solidFill>
              </a:rPr>
              <a:t>thực</a:t>
            </a:r>
            <a:r>
              <a:rPr lang="en-US" sz="1800" dirty="0" smtClean="0">
                <a:solidFill>
                  <a:schemeClr val="dk1"/>
                </a:solidFill>
              </a:rPr>
              <a:t> </a:t>
            </a:r>
            <a:r>
              <a:rPr lang="en-US" sz="1800" dirty="0" err="1" smtClean="0">
                <a:solidFill>
                  <a:schemeClr val="dk1"/>
                </a:solidFill>
              </a:rPr>
              <a:t>hiện</a:t>
            </a:r>
            <a:r>
              <a:rPr lang="en-US" sz="1800" dirty="0" smtClean="0">
                <a:solidFill>
                  <a:schemeClr val="dk1"/>
                </a:solidFill>
              </a:rPr>
              <a:t>: </a:t>
            </a:r>
            <a:r>
              <a:rPr lang="en-US" sz="1800" dirty="0" err="1" smtClean="0">
                <a:solidFill>
                  <a:schemeClr val="dk1"/>
                </a:solidFill>
              </a:rPr>
              <a:t>Arima</a:t>
            </a:r>
            <a:r>
              <a:rPr lang="en-US" sz="1800" dirty="0" smtClean="0">
                <a:solidFill>
                  <a:schemeClr val="dk1"/>
                </a:solidFill>
              </a:rPr>
              <a:t>, Momentum, RSI</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err="1" smtClean="0">
                <a:solidFill>
                  <a:schemeClr val="dk1"/>
                </a:solidFill>
              </a:rPr>
              <a:t>Một</a:t>
            </a:r>
            <a:r>
              <a:rPr lang="en-US" sz="1800" dirty="0" smtClean="0">
                <a:solidFill>
                  <a:schemeClr val="dk1"/>
                </a:solidFill>
              </a:rPr>
              <a:t> </a:t>
            </a:r>
            <a:r>
              <a:rPr lang="en-US" sz="1800" dirty="0" err="1" smtClean="0">
                <a:solidFill>
                  <a:schemeClr val="dk1"/>
                </a:solidFill>
              </a:rPr>
              <a:t>cơ</a:t>
            </a:r>
            <a:r>
              <a:rPr lang="en-US" sz="1800" dirty="0" smtClean="0">
                <a:solidFill>
                  <a:schemeClr val="dk1"/>
                </a:solidFill>
              </a:rPr>
              <a:t> </a:t>
            </a:r>
            <a:r>
              <a:rPr lang="en-US" sz="1800" dirty="0" err="1" smtClean="0">
                <a:solidFill>
                  <a:schemeClr val="dk1"/>
                </a:solidFill>
              </a:rPr>
              <a:t>hội</a:t>
            </a:r>
            <a:r>
              <a:rPr lang="en-US" sz="1800" dirty="0" smtClean="0">
                <a:solidFill>
                  <a:schemeClr val="dk1"/>
                </a:solidFill>
              </a:rPr>
              <a:t> </a:t>
            </a:r>
            <a:r>
              <a:rPr lang="en-US" sz="1800" dirty="0" err="1" smtClean="0">
                <a:solidFill>
                  <a:schemeClr val="dk1"/>
                </a:solidFill>
              </a:rPr>
              <a:t>mua</a:t>
            </a:r>
            <a:r>
              <a:rPr lang="en-US" sz="1800" dirty="0" smtClean="0">
                <a:solidFill>
                  <a:schemeClr val="dk1"/>
                </a:solidFill>
              </a:rPr>
              <a:t> </a:t>
            </a:r>
            <a:r>
              <a:rPr lang="en-US" sz="1800" dirty="0" err="1" smtClean="0">
                <a:solidFill>
                  <a:schemeClr val="dk1"/>
                </a:solidFill>
              </a:rPr>
              <a:t>khi</a:t>
            </a:r>
            <a:r>
              <a:rPr lang="en-US" sz="1800" dirty="0" smtClean="0">
                <a:solidFill>
                  <a:schemeClr val="dk1"/>
                </a:solidFill>
              </a:rPr>
              <a:t>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dự</a:t>
            </a:r>
            <a:r>
              <a:rPr lang="en-US" sz="1800" dirty="0" smtClean="0">
                <a:solidFill>
                  <a:schemeClr val="dk1"/>
                </a:solidFill>
              </a:rPr>
              <a:t> </a:t>
            </a:r>
            <a:r>
              <a:rPr lang="en-US" sz="1800" dirty="0" err="1" smtClean="0">
                <a:solidFill>
                  <a:schemeClr val="dk1"/>
                </a:solidFill>
              </a:rPr>
              <a:t>đoán</a:t>
            </a:r>
            <a:r>
              <a:rPr lang="en-US" sz="1800" dirty="0" smtClean="0">
                <a:solidFill>
                  <a:schemeClr val="dk1"/>
                </a:solidFill>
              </a:rPr>
              <a:t> </a:t>
            </a:r>
            <a:r>
              <a:rPr lang="en-US" sz="1800" dirty="0" err="1" smtClean="0">
                <a:solidFill>
                  <a:schemeClr val="dk1"/>
                </a:solidFill>
              </a:rPr>
              <a:t>cao</a:t>
            </a:r>
            <a:r>
              <a:rPr lang="en-US" sz="1800" dirty="0" smtClean="0">
                <a:solidFill>
                  <a:schemeClr val="dk1"/>
                </a:solidFill>
              </a:rPr>
              <a:t> </a:t>
            </a:r>
            <a:r>
              <a:rPr lang="en-US" sz="1800" dirty="0" err="1" smtClean="0">
                <a:solidFill>
                  <a:schemeClr val="dk1"/>
                </a:solidFill>
              </a:rPr>
              <a:t>hơn</a:t>
            </a:r>
            <a:r>
              <a:rPr lang="en-US" sz="1800" dirty="0" smtClean="0">
                <a:solidFill>
                  <a:schemeClr val="dk1"/>
                </a:solidFill>
              </a:rPr>
              <a:t>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thực</a:t>
            </a:r>
            <a:r>
              <a:rPr lang="en-US" sz="1800" dirty="0" smtClean="0">
                <a:solidFill>
                  <a:schemeClr val="dk1"/>
                </a:solidFill>
              </a:rPr>
              <a:t> </a:t>
            </a:r>
            <a:r>
              <a:rPr lang="en-US" sz="1800" dirty="0" err="1" smtClean="0">
                <a:solidFill>
                  <a:schemeClr val="dk1"/>
                </a:solidFill>
              </a:rPr>
              <a:t>tế</a:t>
            </a:r>
            <a:r>
              <a:rPr lang="en-US" sz="1800" dirty="0" smtClean="0">
                <a:solidFill>
                  <a:schemeClr val="dk1"/>
                </a:solidFill>
              </a:rPr>
              <a:t> </a:t>
            </a:r>
            <a:r>
              <a:rPr lang="en-US" sz="1800" dirty="0" err="1" smtClean="0">
                <a:solidFill>
                  <a:schemeClr val="dk1"/>
                </a:solidFill>
              </a:rPr>
              <a:t>và</a:t>
            </a:r>
            <a:r>
              <a:rPr lang="en-US" sz="1800" dirty="0" smtClean="0">
                <a:solidFill>
                  <a:schemeClr val="dk1"/>
                </a:solidFill>
              </a:rPr>
              <a:t> momentum &gt; 0 </a:t>
            </a:r>
            <a:r>
              <a:rPr lang="en-US" sz="1800" dirty="0" err="1" smtClean="0">
                <a:solidFill>
                  <a:schemeClr val="dk1"/>
                </a:solidFill>
              </a:rPr>
              <a:t>và</a:t>
            </a:r>
            <a:r>
              <a:rPr lang="en-US" sz="1800" dirty="0" smtClean="0">
                <a:solidFill>
                  <a:schemeClr val="dk1"/>
                </a:solidFill>
              </a:rPr>
              <a:t> RSI &lt;= 30</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err="1" smtClean="0">
                <a:solidFill>
                  <a:schemeClr val="dk1"/>
                </a:solidFill>
              </a:rPr>
              <a:t>Một</a:t>
            </a:r>
            <a:r>
              <a:rPr lang="en-US" sz="1800" dirty="0" smtClean="0">
                <a:solidFill>
                  <a:schemeClr val="dk1"/>
                </a:solidFill>
              </a:rPr>
              <a:t> </a:t>
            </a:r>
            <a:r>
              <a:rPr lang="en-US" sz="1800" dirty="0" err="1" smtClean="0">
                <a:solidFill>
                  <a:schemeClr val="dk1"/>
                </a:solidFill>
              </a:rPr>
              <a:t>cơ</a:t>
            </a:r>
            <a:r>
              <a:rPr lang="en-US" sz="1800" dirty="0" smtClean="0">
                <a:solidFill>
                  <a:schemeClr val="dk1"/>
                </a:solidFill>
              </a:rPr>
              <a:t> </a:t>
            </a:r>
            <a:r>
              <a:rPr lang="en-US" sz="1800" dirty="0" err="1" smtClean="0">
                <a:solidFill>
                  <a:schemeClr val="dk1"/>
                </a:solidFill>
              </a:rPr>
              <a:t>hội</a:t>
            </a:r>
            <a:r>
              <a:rPr lang="en-US" sz="1800" dirty="0" smtClean="0">
                <a:solidFill>
                  <a:schemeClr val="dk1"/>
                </a:solidFill>
              </a:rPr>
              <a:t> </a:t>
            </a:r>
            <a:r>
              <a:rPr lang="en-US" sz="1800" dirty="0" err="1" smtClean="0">
                <a:solidFill>
                  <a:schemeClr val="dk1"/>
                </a:solidFill>
              </a:rPr>
              <a:t>bán</a:t>
            </a:r>
            <a:r>
              <a:rPr lang="en-US" sz="1800" dirty="0" smtClean="0">
                <a:solidFill>
                  <a:schemeClr val="dk1"/>
                </a:solidFill>
              </a:rPr>
              <a:t> </a:t>
            </a:r>
            <a:r>
              <a:rPr lang="en-US" sz="1800" dirty="0" err="1" smtClean="0">
                <a:solidFill>
                  <a:schemeClr val="dk1"/>
                </a:solidFill>
              </a:rPr>
              <a:t>khi</a:t>
            </a:r>
            <a:r>
              <a:rPr lang="en-US" sz="1800" dirty="0" smtClean="0">
                <a:solidFill>
                  <a:schemeClr val="dk1"/>
                </a:solidFill>
              </a:rPr>
              <a:t>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dự</a:t>
            </a:r>
            <a:r>
              <a:rPr lang="en-US" sz="1800" dirty="0" smtClean="0">
                <a:solidFill>
                  <a:schemeClr val="dk1"/>
                </a:solidFill>
              </a:rPr>
              <a:t> </a:t>
            </a:r>
            <a:r>
              <a:rPr lang="en-US" sz="1800" dirty="0" err="1" smtClean="0">
                <a:solidFill>
                  <a:schemeClr val="dk1"/>
                </a:solidFill>
              </a:rPr>
              <a:t>đoán</a:t>
            </a:r>
            <a:r>
              <a:rPr lang="en-US" sz="1800" dirty="0" smtClean="0">
                <a:solidFill>
                  <a:schemeClr val="dk1"/>
                </a:solidFill>
              </a:rPr>
              <a:t> </a:t>
            </a:r>
            <a:r>
              <a:rPr lang="en-US" sz="1800" dirty="0" err="1" smtClean="0">
                <a:solidFill>
                  <a:schemeClr val="dk1"/>
                </a:solidFill>
              </a:rPr>
              <a:t>thấp</a:t>
            </a:r>
            <a:r>
              <a:rPr lang="en-US" sz="1800" dirty="0" smtClean="0">
                <a:solidFill>
                  <a:schemeClr val="dk1"/>
                </a:solidFill>
              </a:rPr>
              <a:t> </a:t>
            </a:r>
            <a:r>
              <a:rPr lang="en-US" sz="1800" dirty="0" err="1" smtClean="0">
                <a:solidFill>
                  <a:schemeClr val="dk1"/>
                </a:solidFill>
              </a:rPr>
              <a:t>hơn</a:t>
            </a:r>
            <a:r>
              <a:rPr lang="en-US" sz="1800" dirty="0" smtClean="0">
                <a:solidFill>
                  <a:schemeClr val="dk1"/>
                </a:solidFill>
              </a:rPr>
              <a:t>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thực</a:t>
            </a:r>
            <a:r>
              <a:rPr lang="en-US" sz="1800" dirty="0" smtClean="0">
                <a:solidFill>
                  <a:schemeClr val="dk1"/>
                </a:solidFill>
              </a:rPr>
              <a:t> </a:t>
            </a:r>
            <a:r>
              <a:rPr lang="en-US" sz="1800" dirty="0" err="1" smtClean="0">
                <a:solidFill>
                  <a:schemeClr val="dk1"/>
                </a:solidFill>
              </a:rPr>
              <a:t>tế</a:t>
            </a:r>
            <a:r>
              <a:rPr lang="en-US" sz="1800" dirty="0" smtClean="0">
                <a:solidFill>
                  <a:schemeClr val="dk1"/>
                </a:solidFill>
              </a:rPr>
              <a:t> </a:t>
            </a:r>
            <a:r>
              <a:rPr lang="en-US" sz="1800" dirty="0" err="1" smtClean="0">
                <a:solidFill>
                  <a:schemeClr val="dk1"/>
                </a:solidFill>
              </a:rPr>
              <a:t>và</a:t>
            </a:r>
            <a:r>
              <a:rPr lang="en-US" sz="1800" dirty="0" smtClean="0">
                <a:solidFill>
                  <a:schemeClr val="dk1"/>
                </a:solidFill>
              </a:rPr>
              <a:t> momentum &lt; 0 </a:t>
            </a:r>
            <a:r>
              <a:rPr lang="en-US" sz="1800" dirty="0" err="1" smtClean="0">
                <a:solidFill>
                  <a:schemeClr val="dk1"/>
                </a:solidFill>
              </a:rPr>
              <a:t>và</a:t>
            </a:r>
            <a:r>
              <a:rPr lang="en-US" sz="1800" dirty="0" smtClean="0">
                <a:solidFill>
                  <a:schemeClr val="dk1"/>
                </a:solidFill>
              </a:rPr>
              <a:t> RSI &gt;= 70</a:t>
            </a:r>
            <a:endParaRPr lang="en-US" sz="1800" dirty="0" smtClean="0">
              <a:solidFill>
                <a:schemeClr val="dk1"/>
              </a:solidFill>
            </a:endParaRPr>
          </a:p>
          <a:p>
            <a:pPr marL="444500" marR="0" lvl="0" indent="-342900" algn="just" rtl="0">
              <a:lnSpc>
                <a:spcPct val="115000"/>
              </a:lnSpc>
              <a:spcBef>
                <a:spcPts val="1600"/>
              </a:spcBef>
              <a:spcAft>
                <a:spcPts val="0"/>
              </a:spcAft>
              <a:buAutoNum type="arabicPeriod" startAt="3"/>
            </a:pPr>
            <a:r>
              <a:rPr lang="en-US" sz="1800" b="1" dirty="0" err="1" smtClean="0">
                <a:solidFill>
                  <a:schemeClr val="dk1"/>
                </a:solidFill>
              </a:rPr>
              <a:t>Chạy</a:t>
            </a:r>
            <a:r>
              <a:rPr lang="en-US" sz="1800" b="1" dirty="0" smtClean="0">
                <a:solidFill>
                  <a:schemeClr val="dk1"/>
                </a:solidFill>
              </a:rPr>
              <a:t> </a:t>
            </a:r>
            <a:r>
              <a:rPr lang="en-US" sz="1800" b="1" dirty="0" err="1" smtClean="0">
                <a:solidFill>
                  <a:schemeClr val="dk1"/>
                </a:solidFill>
              </a:rPr>
              <a:t>mô</a:t>
            </a:r>
            <a:r>
              <a:rPr lang="en-US" sz="1800" b="1" dirty="0" smtClean="0">
                <a:solidFill>
                  <a:schemeClr val="dk1"/>
                </a:solidFill>
              </a:rPr>
              <a:t> </a:t>
            </a:r>
            <a:r>
              <a:rPr lang="en-US" sz="1800" b="1" dirty="0" err="1" smtClean="0">
                <a:solidFill>
                  <a:schemeClr val="dk1"/>
                </a:solidFill>
              </a:rPr>
              <a:t>hình</a:t>
            </a:r>
            <a:r>
              <a:rPr lang="en-US" sz="1800" b="1" dirty="0" smtClean="0">
                <a:solidFill>
                  <a:schemeClr val="dk1"/>
                </a:solidFill>
              </a:rPr>
              <a:t> </a:t>
            </a:r>
            <a:r>
              <a:rPr lang="en-US" sz="1800" b="1" dirty="0" err="1" smtClean="0">
                <a:solidFill>
                  <a:schemeClr val="dk1"/>
                </a:solidFill>
              </a:rPr>
              <a:t>với</a:t>
            </a:r>
            <a:r>
              <a:rPr lang="en-US" sz="1800" b="1" dirty="0" smtClean="0">
                <a:solidFill>
                  <a:schemeClr val="dk1"/>
                </a:solidFill>
              </a:rPr>
              <a:t> </a:t>
            </a:r>
            <a:r>
              <a:rPr lang="en-US" sz="1800" b="1" dirty="0" err="1" smtClean="0">
                <a:solidFill>
                  <a:schemeClr val="dk1"/>
                </a:solidFill>
              </a:rPr>
              <a:t>các</a:t>
            </a:r>
            <a:r>
              <a:rPr lang="en-US" sz="1800" b="1" dirty="0" smtClean="0">
                <a:solidFill>
                  <a:schemeClr val="dk1"/>
                </a:solidFill>
              </a:rPr>
              <a:t> </a:t>
            </a:r>
            <a:r>
              <a:rPr lang="en-US" sz="1800" b="1" dirty="0" err="1" smtClean="0">
                <a:solidFill>
                  <a:schemeClr val="dk1"/>
                </a:solidFill>
              </a:rPr>
              <a:t>tham</a:t>
            </a:r>
            <a:r>
              <a:rPr lang="en-US" sz="1800" b="1" dirty="0" smtClean="0">
                <a:solidFill>
                  <a:schemeClr val="dk1"/>
                </a:solidFill>
              </a:rPr>
              <a:t> </a:t>
            </a:r>
            <a:r>
              <a:rPr lang="en-US" sz="1800" b="1" dirty="0" err="1" smtClean="0">
                <a:solidFill>
                  <a:schemeClr val="dk1"/>
                </a:solidFill>
              </a:rPr>
              <a:t>số</a:t>
            </a:r>
            <a:r>
              <a:rPr lang="en-US" sz="1800" b="1" dirty="0" smtClean="0">
                <a:solidFill>
                  <a:schemeClr val="dk1"/>
                </a:solidFill>
              </a:rPr>
              <a:t> </a:t>
            </a:r>
            <a:r>
              <a:rPr lang="en-US" sz="1800" b="1" dirty="0" err="1" smtClean="0">
                <a:solidFill>
                  <a:schemeClr val="dk1"/>
                </a:solidFill>
              </a:rPr>
              <a:t>vừa</a:t>
            </a:r>
            <a:r>
              <a:rPr lang="en-US" sz="1800" b="1" dirty="0" smtClean="0">
                <a:solidFill>
                  <a:schemeClr val="dk1"/>
                </a:solidFill>
              </a:rPr>
              <a:t> </a:t>
            </a:r>
            <a:r>
              <a:rPr lang="en-US" sz="1800" b="1" dirty="0" err="1" smtClean="0">
                <a:solidFill>
                  <a:schemeClr val="dk1"/>
                </a:solidFill>
              </a:rPr>
              <a:t>tối</a:t>
            </a:r>
            <a:r>
              <a:rPr lang="en-US" sz="1800" b="1" dirty="0" smtClean="0">
                <a:solidFill>
                  <a:schemeClr val="dk1"/>
                </a:solidFill>
              </a:rPr>
              <a:t> </a:t>
            </a:r>
            <a:r>
              <a:rPr lang="en-US" sz="1800" b="1" dirty="0" err="1" smtClean="0">
                <a:solidFill>
                  <a:schemeClr val="dk1"/>
                </a:solidFill>
              </a:rPr>
              <a:t>ưu</a:t>
            </a:r>
            <a:r>
              <a:rPr lang="en-US" sz="1800" b="1" dirty="0" smtClean="0">
                <a:solidFill>
                  <a:schemeClr val="dk1"/>
                </a:solidFill>
              </a:rPr>
              <a:t> ở </a:t>
            </a:r>
            <a:r>
              <a:rPr lang="en-US" sz="1800" b="1" dirty="0" err="1" smtClean="0">
                <a:solidFill>
                  <a:schemeClr val="dk1"/>
                </a:solidFill>
              </a:rPr>
              <a:t>trên</a:t>
            </a:r>
            <a:r>
              <a:rPr lang="en-US" sz="1800" b="1" dirty="0" smtClean="0">
                <a:solidFill>
                  <a:schemeClr val="dk1"/>
                </a:solidFill>
              </a:rPr>
              <a:t> </a:t>
            </a:r>
            <a:r>
              <a:rPr lang="en-US" sz="1800" b="1" dirty="0" err="1" smtClean="0">
                <a:solidFill>
                  <a:schemeClr val="dk1"/>
                </a:solidFill>
              </a:rPr>
              <a:t>để</a:t>
            </a:r>
            <a:r>
              <a:rPr lang="en-US" sz="1800" b="1" dirty="0" smtClean="0">
                <a:solidFill>
                  <a:schemeClr val="dk1"/>
                </a:solidFill>
              </a:rPr>
              <a:t> </a:t>
            </a:r>
            <a:r>
              <a:rPr lang="en-US" sz="1800" b="1" dirty="0" err="1" smtClean="0">
                <a:solidFill>
                  <a:schemeClr val="dk1"/>
                </a:solidFill>
              </a:rPr>
              <a:t>tìm</a:t>
            </a:r>
            <a:r>
              <a:rPr lang="en-US" sz="1800" b="1" dirty="0" smtClean="0">
                <a:solidFill>
                  <a:schemeClr val="dk1"/>
                </a:solidFill>
              </a:rPr>
              <a:t> </a:t>
            </a:r>
            <a:r>
              <a:rPr lang="en-US" sz="1800" b="1" dirty="0" err="1" smtClean="0">
                <a:solidFill>
                  <a:schemeClr val="dk1"/>
                </a:solidFill>
              </a:rPr>
              <a:t>ra</a:t>
            </a:r>
            <a:r>
              <a:rPr lang="en-US" sz="1800" b="1" dirty="0" smtClean="0">
                <a:solidFill>
                  <a:schemeClr val="dk1"/>
                </a:solidFill>
              </a:rPr>
              <a:t> </a:t>
            </a:r>
            <a:r>
              <a:rPr lang="en-US" sz="1800" b="1" dirty="0" err="1" smtClean="0">
                <a:solidFill>
                  <a:schemeClr val="dk1"/>
                </a:solidFill>
              </a:rPr>
              <a:t>giá</a:t>
            </a:r>
            <a:r>
              <a:rPr lang="en-US" sz="1800" b="1" dirty="0" smtClean="0">
                <a:solidFill>
                  <a:schemeClr val="dk1"/>
                </a:solidFill>
              </a:rPr>
              <a:t> </a:t>
            </a:r>
            <a:r>
              <a:rPr lang="en-US" sz="1800" b="1" dirty="0" err="1" smtClean="0">
                <a:solidFill>
                  <a:schemeClr val="dk1"/>
                </a:solidFill>
              </a:rPr>
              <a:t>dự</a:t>
            </a:r>
            <a:r>
              <a:rPr lang="en-US" sz="1800" b="1" dirty="0" smtClean="0">
                <a:solidFill>
                  <a:schemeClr val="dk1"/>
                </a:solidFill>
              </a:rPr>
              <a:t> </a:t>
            </a:r>
            <a:r>
              <a:rPr lang="en-US" sz="1800" b="1" dirty="0" err="1" smtClean="0">
                <a:solidFill>
                  <a:schemeClr val="dk1"/>
                </a:solidFill>
              </a:rPr>
              <a:t>đoán</a:t>
            </a:r>
            <a:endParaRPr lang="en-US" sz="1800" b="1" dirty="0" smtClean="0">
              <a:solidFill>
                <a:schemeClr val="dk1"/>
              </a:solidFill>
            </a:endParaRPr>
          </a:p>
          <a:p>
            <a:pPr marL="444500" marR="0" lvl="0" indent="-342900" algn="just" rtl="0">
              <a:lnSpc>
                <a:spcPct val="115000"/>
              </a:lnSpc>
              <a:spcBef>
                <a:spcPts val="1600"/>
              </a:spcBef>
              <a:spcAft>
                <a:spcPts val="0"/>
              </a:spcAft>
              <a:buAutoNum type="arabicPeriod" startAt="3"/>
            </a:pPr>
            <a:r>
              <a:rPr lang="en-US" sz="1800" b="1" dirty="0" err="1" smtClean="0">
                <a:solidFill>
                  <a:schemeClr val="dk1"/>
                </a:solidFill>
              </a:rPr>
              <a:t>Xác</a:t>
            </a:r>
            <a:r>
              <a:rPr lang="en-US" sz="1800" b="1" dirty="0" smtClean="0">
                <a:solidFill>
                  <a:schemeClr val="dk1"/>
                </a:solidFill>
              </a:rPr>
              <a:t> </a:t>
            </a:r>
            <a:r>
              <a:rPr lang="en-US" sz="1800" b="1" dirty="0" err="1" smtClean="0">
                <a:solidFill>
                  <a:schemeClr val="dk1"/>
                </a:solidFill>
              </a:rPr>
              <a:t>định</a:t>
            </a:r>
            <a:r>
              <a:rPr lang="en-US" sz="1800" b="1" dirty="0" smtClean="0">
                <a:solidFill>
                  <a:schemeClr val="dk1"/>
                </a:solidFill>
              </a:rPr>
              <a:t> </a:t>
            </a:r>
            <a:r>
              <a:rPr lang="en-US" sz="1800" b="1" dirty="0" err="1" smtClean="0">
                <a:solidFill>
                  <a:schemeClr val="dk1"/>
                </a:solidFill>
              </a:rPr>
              <a:t>tín</a:t>
            </a:r>
            <a:r>
              <a:rPr lang="en-US" sz="1800" b="1" dirty="0" smtClean="0">
                <a:solidFill>
                  <a:schemeClr val="dk1"/>
                </a:solidFill>
              </a:rPr>
              <a:t> </a:t>
            </a:r>
            <a:r>
              <a:rPr lang="en-US" sz="1800" b="1" dirty="0" err="1" smtClean="0">
                <a:solidFill>
                  <a:schemeClr val="dk1"/>
                </a:solidFill>
              </a:rPr>
              <a:t>hiệu</a:t>
            </a:r>
            <a:r>
              <a:rPr lang="en-US" sz="1800" b="1" dirty="0" smtClean="0">
                <a:solidFill>
                  <a:schemeClr val="dk1"/>
                </a:solidFill>
              </a:rPr>
              <a:t> </a:t>
            </a:r>
            <a:r>
              <a:rPr lang="en-US" sz="1800" b="1" dirty="0" err="1" smtClean="0">
                <a:solidFill>
                  <a:schemeClr val="dk1"/>
                </a:solidFill>
              </a:rPr>
              <a:t>mua</a:t>
            </a:r>
            <a:r>
              <a:rPr lang="en-US" sz="1800" b="1" dirty="0" smtClean="0">
                <a:solidFill>
                  <a:schemeClr val="dk1"/>
                </a:solidFill>
              </a:rPr>
              <a:t> </a:t>
            </a:r>
            <a:r>
              <a:rPr lang="en-US" sz="1800" b="1" dirty="0" err="1" smtClean="0">
                <a:solidFill>
                  <a:schemeClr val="dk1"/>
                </a:solidFill>
              </a:rPr>
              <a:t>hoặc</a:t>
            </a:r>
            <a:r>
              <a:rPr lang="en-US" sz="1800" b="1" dirty="0" smtClean="0">
                <a:solidFill>
                  <a:schemeClr val="dk1"/>
                </a:solidFill>
              </a:rPr>
              <a:t> </a:t>
            </a:r>
            <a:r>
              <a:rPr lang="en-US" sz="1800" b="1" dirty="0" err="1" smtClean="0">
                <a:solidFill>
                  <a:schemeClr val="dk1"/>
                </a:solidFill>
              </a:rPr>
              <a:t>bán</a:t>
            </a:r>
            <a:r>
              <a:rPr lang="en-US" sz="1800" b="1" dirty="0" smtClean="0">
                <a:solidFill>
                  <a:schemeClr val="dk1"/>
                </a:solidFill>
              </a:rPr>
              <a:t>:</a:t>
            </a:r>
            <a:endParaRPr lang="en-US" sz="1800" b="1"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smtClean="0">
                <a:solidFill>
                  <a:schemeClr val="dk1"/>
                </a:solidFill>
              </a:rPr>
              <a:t>So </a:t>
            </a:r>
            <a:r>
              <a:rPr lang="en-US" sz="1800" dirty="0" err="1" smtClean="0">
                <a:solidFill>
                  <a:schemeClr val="dk1"/>
                </a:solidFill>
              </a:rPr>
              <a:t>sánh</a:t>
            </a:r>
            <a:r>
              <a:rPr lang="en-US" sz="1800" dirty="0" smtClean="0">
                <a:solidFill>
                  <a:schemeClr val="dk1"/>
                </a:solidFill>
              </a:rPr>
              <a:t>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dự</a:t>
            </a:r>
            <a:r>
              <a:rPr lang="en-US" sz="1800" dirty="0" smtClean="0">
                <a:solidFill>
                  <a:schemeClr val="dk1"/>
                </a:solidFill>
              </a:rPr>
              <a:t> </a:t>
            </a:r>
            <a:r>
              <a:rPr lang="en-US" sz="1800" dirty="0" err="1" smtClean="0">
                <a:solidFill>
                  <a:schemeClr val="dk1"/>
                </a:solidFill>
              </a:rPr>
              <a:t>đoán</a:t>
            </a:r>
            <a:r>
              <a:rPr lang="en-US" sz="1800" dirty="0" smtClean="0">
                <a:solidFill>
                  <a:schemeClr val="dk1"/>
                </a:solidFill>
              </a:rPr>
              <a:t> vs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đóng</a:t>
            </a:r>
            <a:r>
              <a:rPr lang="en-US" sz="1800" dirty="0" smtClean="0">
                <a:solidFill>
                  <a:schemeClr val="dk1"/>
                </a:solidFill>
              </a:rPr>
              <a:t> </a:t>
            </a:r>
            <a:r>
              <a:rPr lang="en-US" sz="1800" dirty="0" err="1" smtClean="0">
                <a:solidFill>
                  <a:schemeClr val="dk1"/>
                </a:solidFill>
              </a:rPr>
              <a:t>cửa</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smtClean="0">
                <a:solidFill>
                  <a:schemeClr val="dk1"/>
                </a:solidFill>
              </a:rPr>
              <a:t>So </a:t>
            </a:r>
            <a:r>
              <a:rPr lang="en-US" sz="1800" dirty="0" err="1" smtClean="0">
                <a:solidFill>
                  <a:schemeClr val="dk1"/>
                </a:solidFill>
              </a:rPr>
              <a:t>sánh</a:t>
            </a:r>
            <a:r>
              <a:rPr lang="en-US" sz="1800" dirty="0" smtClean="0">
                <a:solidFill>
                  <a:schemeClr val="dk1"/>
                </a:solidFill>
              </a:rPr>
              <a:t> momentum vs 0</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smtClean="0">
                <a:solidFill>
                  <a:schemeClr val="dk1"/>
                </a:solidFill>
              </a:rPr>
              <a:t>So </a:t>
            </a:r>
            <a:r>
              <a:rPr lang="en-US" sz="1800" dirty="0" err="1" smtClean="0">
                <a:solidFill>
                  <a:schemeClr val="dk1"/>
                </a:solidFill>
              </a:rPr>
              <a:t>sánh</a:t>
            </a:r>
            <a:r>
              <a:rPr lang="en-US" sz="1800" dirty="0" smtClean="0">
                <a:solidFill>
                  <a:schemeClr val="dk1"/>
                </a:solidFill>
              </a:rPr>
              <a:t> RSI </a:t>
            </a:r>
            <a:r>
              <a:rPr lang="en-US" sz="1800" dirty="0" err="1" smtClean="0">
                <a:solidFill>
                  <a:schemeClr val="dk1"/>
                </a:solidFill>
              </a:rPr>
              <a:t>với</a:t>
            </a:r>
            <a:r>
              <a:rPr lang="en-US" sz="1800" dirty="0" smtClean="0">
                <a:solidFill>
                  <a:schemeClr val="dk1"/>
                </a:solidFill>
              </a:rPr>
              <a:t> 30; 70</a:t>
            </a:r>
            <a:endParaRPr lang="en-US" sz="1800" dirty="0" smtClean="0">
              <a:solidFill>
                <a:schemeClr val="dk1"/>
              </a:solidFill>
            </a:endParaRPr>
          </a:p>
          <a:p>
            <a:pPr marL="101600" marR="0" lvl="0" indent="0" algn="just"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latin typeface="Arial (body)"/>
              </a:rPr>
              <a:t>Giải</a:t>
            </a:r>
            <a:r>
              <a:rPr lang="en-US" sz="2400" b="1" dirty="0" smtClean="0">
                <a:solidFill>
                  <a:schemeClr val="lt1"/>
                </a:solidFill>
                <a:latin typeface="Arial (body)"/>
              </a:rPr>
              <a:t> </a:t>
            </a:r>
            <a:r>
              <a:rPr lang="en-US" sz="2400" b="1" dirty="0" err="1" smtClean="0">
                <a:solidFill>
                  <a:schemeClr val="lt1"/>
                </a:solidFill>
                <a:latin typeface="Arial (body)"/>
              </a:rPr>
              <a:t>quyết</a:t>
            </a:r>
            <a:r>
              <a:rPr lang="en-US" sz="2400" b="1" dirty="0" smtClean="0">
                <a:solidFill>
                  <a:schemeClr val="lt1"/>
                </a:solidFill>
                <a:latin typeface="Arial (body)"/>
              </a:rPr>
              <a:t> </a:t>
            </a:r>
            <a:r>
              <a:rPr lang="en-US" sz="2400" b="1" dirty="0" err="1" smtClean="0">
                <a:solidFill>
                  <a:schemeClr val="lt1"/>
                </a:solidFill>
                <a:latin typeface="Arial (body)"/>
              </a:rPr>
              <a:t>vấn</a:t>
            </a:r>
            <a:r>
              <a:rPr lang="en-US" sz="2400" b="1" dirty="0" smtClean="0">
                <a:solidFill>
                  <a:schemeClr val="lt1"/>
                </a:solidFill>
                <a:latin typeface="Arial (body)"/>
              </a:rPr>
              <a:t> </a:t>
            </a:r>
            <a:r>
              <a:rPr lang="en-US" sz="2400" b="1" dirty="0" err="1" smtClean="0">
                <a:solidFill>
                  <a:schemeClr val="lt1"/>
                </a:solidFill>
                <a:latin typeface="Arial (body)"/>
              </a:rPr>
              <a:t>đề</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b="1" dirty="0" err="1" smtClean="0">
                <a:solidFill>
                  <a:schemeClr val="dk1"/>
                </a:solidFill>
              </a:rPr>
              <a:t>Phần</a:t>
            </a:r>
            <a:r>
              <a:rPr lang="en-US" b="1" dirty="0" smtClean="0">
                <a:solidFill>
                  <a:schemeClr val="dk1"/>
                </a:solidFill>
              </a:rPr>
              <a:t> </a:t>
            </a:r>
            <a:r>
              <a:rPr lang="en-US" b="1" dirty="0" err="1" smtClean="0">
                <a:solidFill>
                  <a:schemeClr val="dk1"/>
                </a:solidFill>
              </a:rPr>
              <a:t>giao</a:t>
            </a:r>
            <a:r>
              <a:rPr lang="en-US" b="1" dirty="0" smtClean="0">
                <a:solidFill>
                  <a:schemeClr val="dk1"/>
                </a:solidFill>
              </a:rPr>
              <a:t> </a:t>
            </a:r>
            <a:r>
              <a:rPr lang="en-US" b="1" dirty="0" err="1" smtClean="0">
                <a:solidFill>
                  <a:schemeClr val="dk1"/>
                </a:solidFill>
              </a:rPr>
              <a:t>tiếp</a:t>
            </a:r>
            <a:r>
              <a:rPr lang="en-US" b="1" dirty="0" smtClean="0">
                <a:solidFill>
                  <a:schemeClr val="dk1"/>
                </a:solidFill>
              </a:rPr>
              <a:t> </a:t>
            </a:r>
            <a:r>
              <a:rPr lang="en-US" b="1" dirty="0" err="1" smtClean="0">
                <a:solidFill>
                  <a:schemeClr val="dk1"/>
                </a:solidFill>
              </a:rPr>
              <a:t>với</a:t>
            </a:r>
            <a:r>
              <a:rPr lang="en-US" b="1" dirty="0" smtClean="0">
                <a:solidFill>
                  <a:schemeClr val="dk1"/>
                </a:solidFill>
              </a:rPr>
              <a:t> </a:t>
            </a:r>
            <a:r>
              <a:rPr lang="en-US" b="1" dirty="0" err="1" smtClean="0">
                <a:solidFill>
                  <a:schemeClr val="dk1"/>
                </a:solidFill>
              </a:rPr>
              <a:t>bộ</a:t>
            </a:r>
            <a:r>
              <a:rPr lang="en-US" b="1" dirty="0" smtClean="0">
                <a:solidFill>
                  <a:schemeClr val="dk1"/>
                </a:solidFill>
              </a:rPr>
              <a:t> </a:t>
            </a:r>
            <a:r>
              <a:rPr lang="en-US" b="1" dirty="0" err="1" smtClean="0">
                <a:solidFill>
                  <a:schemeClr val="dk1"/>
                </a:solidFill>
              </a:rPr>
              <a:t>nhớ</a:t>
            </a:r>
            <a:r>
              <a:rPr lang="en-US" b="1" dirty="0" smtClean="0">
                <a:solidFill>
                  <a:schemeClr val="dk1"/>
                </a:solidFill>
              </a:rPr>
              <a:t>:</a:t>
            </a:r>
            <a:endParaRPr lang="en-US" b="1" dirty="0" smtClean="0">
              <a:solidFill>
                <a:schemeClr val="dk1"/>
              </a:solidFill>
            </a:endParaRPr>
          </a:p>
          <a:p>
            <a:pPr marL="101600" marR="0" lvl="0" indent="0" algn="just" rtl="0">
              <a:lnSpc>
                <a:spcPct val="115000"/>
              </a:lnSpc>
              <a:spcBef>
                <a:spcPts val="1600"/>
              </a:spcBef>
              <a:spcAft>
                <a:spcPts val="0"/>
              </a:spcAft>
              <a:buNone/>
            </a:pPr>
            <a:r>
              <a:rPr lang="en-US" dirty="0" err="1" smtClean="0">
                <a:solidFill>
                  <a:schemeClr val="dk1"/>
                </a:solidFill>
              </a:rPr>
              <a:t>Đưa</a:t>
            </a:r>
            <a:r>
              <a:rPr lang="en-US" dirty="0" smtClean="0">
                <a:solidFill>
                  <a:schemeClr val="dk1"/>
                </a:solidFill>
              </a:rPr>
              <a:t> </a:t>
            </a:r>
            <a:r>
              <a:rPr lang="en-US" dirty="0" err="1" smtClean="0">
                <a:solidFill>
                  <a:schemeClr val="dk1"/>
                </a:solidFill>
              </a:rPr>
              <a:t>tín</a:t>
            </a:r>
            <a:r>
              <a:rPr lang="en-US" dirty="0" smtClean="0">
                <a:solidFill>
                  <a:schemeClr val="dk1"/>
                </a:solidFill>
              </a:rPr>
              <a:t> </a:t>
            </a:r>
            <a:r>
              <a:rPr lang="en-US" dirty="0" err="1" smtClean="0">
                <a:solidFill>
                  <a:schemeClr val="dk1"/>
                </a:solidFill>
              </a:rPr>
              <a:t>hiệu</a:t>
            </a:r>
            <a:r>
              <a:rPr lang="en-US" dirty="0" smtClean="0">
                <a:solidFill>
                  <a:schemeClr val="dk1"/>
                </a:solidFill>
              </a:rPr>
              <a:t> </a:t>
            </a:r>
            <a:r>
              <a:rPr lang="en-US" dirty="0" err="1" smtClean="0">
                <a:solidFill>
                  <a:schemeClr val="dk1"/>
                </a:solidFill>
              </a:rPr>
              <a:t>mua</a:t>
            </a:r>
            <a:r>
              <a:rPr lang="en-US" dirty="0" smtClean="0">
                <a:solidFill>
                  <a:schemeClr val="dk1"/>
                </a:solidFill>
              </a:rPr>
              <a:t> </a:t>
            </a:r>
            <a:r>
              <a:rPr lang="en-US" dirty="0" err="1" smtClean="0">
                <a:solidFill>
                  <a:schemeClr val="dk1"/>
                </a:solidFill>
              </a:rPr>
              <a:t>hoặc</a:t>
            </a:r>
            <a:r>
              <a:rPr lang="en-US" dirty="0" smtClean="0">
                <a:solidFill>
                  <a:schemeClr val="dk1"/>
                </a:solidFill>
              </a:rPr>
              <a:t> </a:t>
            </a:r>
            <a:r>
              <a:rPr lang="en-US" dirty="0" err="1" smtClean="0">
                <a:solidFill>
                  <a:schemeClr val="dk1"/>
                </a:solidFill>
              </a:rPr>
              <a:t>bán</a:t>
            </a:r>
            <a:r>
              <a:rPr lang="en-US" dirty="0" smtClean="0">
                <a:solidFill>
                  <a:schemeClr val="dk1"/>
                </a:solidFill>
              </a:rPr>
              <a:t> </a:t>
            </a:r>
            <a:r>
              <a:rPr lang="en-US" dirty="0" err="1" smtClean="0">
                <a:solidFill>
                  <a:schemeClr val="dk1"/>
                </a:solidFill>
              </a:rPr>
              <a:t>vào</a:t>
            </a:r>
            <a:r>
              <a:rPr lang="en-US" dirty="0" smtClean="0">
                <a:solidFill>
                  <a:schemeClr val="dk1"/>
                </a:solidFill>
              </a:rPr>
              <a:t> </a:t>
            </a:r>
            <a:r>
              <a:rPr lang="en-US" dirty="0" err="1" smtClean="0">
                <a:solidFill>
                  <a:schemeClr val="dk1"/>
                </a:solidFill>
              </a:rPr>
              <a:t>trong</a:t>
            </a:r>
            <a:r>
              <a:rPr lang="en-US" dirty="0" smtClean="0">
                <a:solidFill>
                  <a:schemeClr val="dk1"/>
                </a:solidFill>
              </a:rPr>
              <a:t> </a:t>
            </a:r>
            <a:r>
              <a:rPr lang="en-US" dirty="0" err="1" smtClean="0">
                <a:solidFill>
                  <a:schemeClr val="dk1"/>
                </a:solidFill>
              </a:rPr>
              <a:t>bộ</a:t>
            </a:r>
            <a:r>
              <a:rPr lang="en-US" dirty="0" smtClean="0">
                <a:solidFill>
                  <a:schemeClr val="dk1"/>
                </a:solidFill>
              </a:rPr>
              <a:t> </a:t>
            </a:r>
            <a:r>
              <a:rPr lang="en-US" dirty="0" err="1" smtClean="0">
                <a:solidFill>
                  <a:schemeClr val="dk1"/>
                </a:solidFill>
              </a:rPr>
              <a:t>nhớ</a:t>
            </a:r>
            <a:endParaRPr lang="en-US" dirty="0" smtClean="0">
              <a:solidFill>
                <a:schemeClr val="dk1"/>
              </a:solidFill>
            </a:endParaRPr>
          </a:p>
          <a:p>
            <a:pPr marL="444500" marR="0" lvl="0" indent="-342900" algn="just" rtl="0">
              <a:lnSpc>
                <a:spcPct val="115000"/>
              </a:lnSpc>
              <a:spcBef>
                <a:spcPts val="1600"/>
              </a:spcBef>
              <a:spcAft>
                <a:spcPts val="0"/>
              </a:spcAft>
              <a:buAutoNum type="arabicPeriod"/>
            </a:pPr>
            <a:r>
              <a:rPr lang="en-US" i="0" u="none" strike="noStrike" cap="none" dirty="0" err="1" smtClean="0">
                <a:solidFill>
                  <a:schemeClr val="dk1"/>
                </a:solidFill>
                <a:sym typeface="Arial" panose="020B0604020202020204"/>
              </a:rPr>
              <a:t>Cài</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đặt</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bộ</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nhớ</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redis</a:t>
            </a:r>
            <a:r>
              <a:rPr lang="en-US" i="0" u="none" strike="noStrike" cap="none" dirty="0" smtClean="0">
                <a:solidFill>
                  <a:schemeClr val="dk1"/>
                </a:solidFill>
                <a:sym typeface="Arial" panose="020B0604020202020204"/>
              </a:rPr>
              <a:t> + </a:t>
            </a:r>
            <a:r>
              <a:rPr lang="en-US" i="0" u="none" strike="noStrike" cap="none" dirty="0" err="1" smtClean="0">
                <a:solidFill>
                  <a:schemeClr val="dk1"/>
                </a:solidFill>
                <a:sym typeface="Arial" panose="020B0604020202020204"/>
              </a:rPr>
              <a:t>cài</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redis</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vật</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lý</a:t>
            </a:r>
            <a:endParaRPr lang="en-US" i="0" u="none" strike="noStrike" cap="none" dirty="0" smtClean="0">
              <a:solidFill>
                <a:schemeClr val="dk1"/>
              </a:solidFill>
              <a:sym typeface="Arial" panose="020B0604020202020204"/>
            </a:endParaRPr>
          </a:p>
          <a:p>
            <a:pPr marL="101600" marR="0" lvl="0" algn="just" rtl="0">
              <a:lnSpc>
                <a:spcPct val="115000"/>
              </a:lnSpc>
              <a:spcBef>
                <a:spcPts val="1600"/>
              </a:spcBef>
              <a:spcAft>
                <a:spcPts val="0"/>
              </a:spcAft>
            </a:pPr>
            <a:r>
              <a:rPr lang="en-US" dirty="0" smtClean="0">
                <a:solidFill>
                  <a:schemeClr val="dk1"/>
                </a:solidFill>
              </a:rPr>
              <a:t>Pip install </a:t>
            </a:r>
            <a:r>
              <a:rPr lang="en-US" dirty="0" err="1" smtClean="0">
                <a:solidFill>
                  <a:schemeClr val="dk1"/>
                </a:solidFill>
              </a:rPr>
              <a:t>redis</a:t>
            </a:r>
            <a:endParaRPr lang="en-US" dirty="0" smtClean="0">
              <a:solidFill>
                <a:schemeClr val="dk1"/>
              </a:solidFill>
            </a:endParaRPr>
          </a:p>
          <a:p>
            <a:pPr marL="101600" lvl="0" algn="just">
              <a:lnSpc>
                <a:spcPct val="115000"/>
              </a:lnSpc>
              <a:spcBef>
                <a:spcPts val="1600"/>
              </a:spcBef>
            </a:pPr>
            <a:r>
              <a:rPr lang="en-US" dirty="0">
                <a:solidFill>
                  <a:schemeClr val="dk1"/>
                </a:solidFill>
                <a:hlinkClick r:id="rId2"/>
              </a:rPr>
              <a:t>https://</a:t>
            </a:r>
            <a:r>
              <a:rPr lang="en-US" dirty="0" smtClean="0">
                <a:solidFill>
                  <a:schemeClr val="dk1"/>
                </a:solidFill>
                <a:hlinkClick r:id="rId2"/>
              </a:rPr>
              <a:t>github.com/microsoftarchive/redis/releases/download/win-3.0.504/Redis-x64-3.0.504.msi</a:t>
            </a:r>
            <a:endParaRPr lang="en-US" dirty="0" smtClean="0">
              <a:solidFill>
                <a:schemeClr val="dk1"/>
              </a:solidFill>
            </a:endParaRPr>
          </a:p>
          <a:p>
            <a:pPr marL="101600" lvl="0" algn="just">
              <a:lnSpc>
                <a:spcPct val="115000"/>
              </a:lnSpc>
              <a:spcBef>
                <a:spcPts val="1600"/>
              </a:spcBef>
            </a:pPr>
            <a:r>
              <a:rPr lang="en-US" dirty="0">
                <a:solidFill>
                  <a:schemeClr val="dk1"/>
                </a:solidFill>
                <a:hlinkClick r:id="rId3"/>
              </a:rPr>
              <a:t>https://goanother.com</a:t>
            </a:r>
            <a:r>
              <a:rPr lang="en-US" dirty="0" smtClean="0">
                <a:solidFill>
                  <a:schemeClr val="dk1"/>
                </a:solidFill>
                <a:hlinkClick r:id="rId3"/>
              </a:rPr>
              <a:t>/</a:t>
            </a:r>
            <a:r>
              <a:rPr lang="en-US" dirty="0" smtClean="0">
                <a:solidFill>
                  <a:schemeClr val="dk1"/>
                </a:solidFill>
              </a:rPr>
              <a:t>  </a:t>
            </a:r>
            <a:endParaRPr lang="en-US" dirty="0" smtClean="0">
              <a:solidFill>
                <a:schemeClr val="dk1"/>
              </a:solidFill>
            </a:endParaRPr>
          </a:p>
          <a:p>
            <a:pPr marL="101600" marR="0" lvl="0" algn="just" rtl="0">
              <a:lnSpc>
                <a:spcPct val="115000"/>
              </a:lnSpc>
              <a:spcBef>
                <a:spcPts val="1600"/>
              </a:spcBef>
              <a:spcAft>
                <a:spcPts val="0"/>
              </a:spcAft>
            </a:pPr>
            <a:r>
              <a:rPr lang="en-US" i="0" u="none" strike="noStrike" cap="none" dirty="0" smtClean="0">
                <a:solidFill>
                  <a:schemeClr val="dk1"/>
                </a:solidFill>
                <a:sym typeface="Arial" panose="020B0604020202020204"/>
              </a:rPr>
              <a:t>2. </a:t>
            </a:r>
            <a:r>
              <a:rPr lang="en-US" dirty="0" err="1" smtClean="0">
                <a:solidFill>
                  <a:schemeClr val="dk1"/>
                </a:solidFill>
              </a:rPr>
              <a:t>Xác</a:t>
            </a:r>
            <a:r>
              <a:rPr lang="en-US" dirty="0" smtClean="0">
                <a:solidFill>
                  <a:schemeClr val="dk1"/>
                </a:solidFill>
              </a:rPr>
              <a:t> </a:t>
            </a:r>
            <a:r>
              <a:rPr lang="en-US" dirty="0" err="1" smtClean="0">
                <a:solidFill>
                  <a:schemeClr val="dk1"/>
                </a:solidFill>
              </a:rPr>
              <a:t>định</a:t>
            </a:r>
            <a:r>
              <a:rPr lang="en-US" dirty="0" smtClean="0">
                <a:solidFill>
                  <a:schemeClr val="dk1"/>
                </a:solidFill>
              </a:rPr>
              <a:t> </a:t>
            </a:r>
            <a:r>
              <a:rPr lang="en-US" dirty="0" err="1" smtClean="0">
                <a:solidFill>
                  <a:schemeClr val="dk1"/>
                </a:solidFill>
              </a:rPr>
              <a:t>kiểu</a:t>
            </a:r>
            <a:r>
              <a:rPr lang="en-US" dirty="0" smtClean="0">
                <a:solidFill>
                  <a:schemeClr val="dk1"/>
                </a:solidFill>
              </a:rPr>
              <a:t> </a:t>
            </a:r>
            <a:r>
              <a:rPr lang="en-US" dirty="0" err="1" smtClean="0">
                <a:solidFill>
                  <a:schemeClr val="dk1"/>
                </a:solidFill>
              </a:rPr>
              <a:t>dữ</a:t>
            </a:r>
            <a:r>
              <a:rPr lang="en-US" dirty="0" smtClean="0">
                <a:solidFill>
                  <a:schemeClr val="dk1"/>
                </a:solidFill>
              </a:rPr>
              <a:t> </a:t>
            </a:r>
            <a:r>
              <a:rPr lang="en-US" dirty="0" err="1" smtClean="0">
                <a:solidFill>
                  <a:schemeClr val="dk1"/>
                </a:solidFill>
              </a:rPr>
              <a:t>liệu</a:t>
            </a:r>
            <a:r>
              <a:rPr lang="en-US" dirty="0" smtClean="0">
                <a:solidFill>
                  <a:schemeClr val="dk1"/>
                </a:solidFill>
              </a:rPr>
              <a:t> </a:t>
            </a:r>
            <a:r>
              <a:rPr lang="en-US" dirty="0" err="1" smtClean="0">
                <a:solidFill>
                  <a:schemeClr val="dk1"/>
                </a:solidFill>
              </a:rPr>
              <a:t>lưu</a:t>
            </a:r>
            <a:r>
              <a:rPr lang="en-US" dirty="0" smtClean="0">
                <a:solidFill>
                  <a:schemeClr val="dk1"/>
                </a:solidFill>
              </a:rPr>
              <a:t> </a:t>
            </a:r>
            <a:r>
              <a:rPr lang="en-US" dirty="0" err="1" smtClean="0">
                <a:solidFill>
                  <a:schemeClr val="dk1"/>
                </a:solidFill>
              </a:rPr>
              <a:t>trong</a:t>
            </a:r>
            <a:r>
              <a:rPr lang="en-US" dirty="0" smtClean="0">
                <a:solidFill>
                  <a:schemeClr val="dk1"/>
                </a:solidFill>
              </a:rPr>
              <a:t> </a:t>
            </a:r>
            <a:r>
              <a:rPr lang="en-US" dirty="0" err="1" smtClean="0">
                <a:solidFill>
                  <a:schemeClr val="dk1"/>
                </a:solidFill>
              </a:rPr>
              <a:t>bộ</a:t>
            </a:r>
            <a:r>
              <a:rPr lang="en-US" dirty="0" smtClean="0">
                <a:solidFill>
                  <a:schemeClr val="dk1"/>
                </a:solidFill>
              </a:rPr>
              <a:t> </a:t>
            </a:r>
            <a:r>
              <a:rPr lang="en-US" dirty="0" err="1" smtClean="0">
                <a:solidFill>
                  <a:schemeClr val="dk1"/>
                </a:solidFill>
              </a:rPr>
              <a:t>nhớ</a:t>
            </a:r>
            <a:endParaRPr lang="en-US" dirty="0" smtClean="0">
              <a:solidFill>
                <a:schemeClr val="dk1"/>
              </a:solidFill>
            </a:endParaRPr>
          </a:p>
          <a:p>
            <a:pPr marL="387350" marR="0" lvl="0" indent="-285750" algn="just" rtl="0">
              <a:lnSpc>
                <a:spcPct val="115000"/>
              </a:lnSpc>
              <a:spcBef>
                <a:spcPts val="1600"/>
              </a:spcBef>
              <a:spcAft>
                <a:spcPts val="0"/>
              </a:spcAft>
              <a:buFontTx/>
              <a:buChar char="-"/>
            </a:pPr>
            <a:r>
              <a:rPr lang="en-US" b="1" i="0" u="none" strike="noStrike" cap="none" dirty="0" smtClean="0">
                <a:solidFill>
                  <a:schemeClr val="dk1"/>
                </a:solidFill>
                <a:sym typeface="Arial" panose="020B0604020202020204"/>
              </a:rPr>
              <a:t>Hash</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Bao</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gồm</a:t>
            </a:r>
            <a:r>
              <a:rPr lang="en-US" i="0" u="none" strike="noStrike" cap="none" dirty="0" smtClean="0">
                <a:solidFill>
                  <a:schemeClr val="dk1"/>
                </a:solidFill>
                <a:sym typeface="Arial" panose="020B0604020202020204"/>
              </a:rPr>
              <a:t> </a:t>
            </a:r>
            <a:r>
              <a:rPr lang="en-US" b="1" i="0" u="none" strike="noStrike" cap="none" dirty="0" smtClean="0">
                <a:solidFill>
                  <a:schemeClr val="dk1"/>
                </a:solidFill>
                <a:sym typeface="Arial" panose="020B0604020202020204"/>
              </a:rPr>
              <a:t>key</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và</a:t>
            </a:r>
            <a:r>
              <a:rPr lang="en-US" i="0" u="none" strike="noStrike" cap="none" dirty="0" smtClean="0">
                <a:solidFill>
                  <a:schemeClr val="dk1"/>
                </a:solidFill>
                <a:sym typeface="Arial" panose="020B0604020202020204"/>
              </a:rPr>
              <a:t> </a:t>
            </a:r>
            <a:r>
              <a:rPr lang="en-US" b="1" i="0" u="none" strike="noStrike" cap="none" dirty="0" smtClean="0">
                <a:solidFill>
                  <a:schemeClr val="dk1"/>
                </a:solidFill>
                <a:sym typeface="Arial" panose="020B0604020202020204"/>
              </a:rPr>
              <a:t>value</a:t>
            </a:r>
            <a:endParaRPr lang="en-US" b="1" i="0" u="none" strike="noStrike" cap="none" dirty="0" smtClean="0">
              <a:solidFill>
                <a:schemeClr val="dk1"/>
              </a:solidFill>
              <a:sym typeface="Arial" panose="020B0604020202020204"/>
            </a:endParaRPr>
          </a:p>
          <a:p>
            <a:pPr marL="387350" marR="0" lvl="0" indent="-285750" algn="just" rtl="0">
              <a:lnSpc>
                <a:spcPct val="115000"/>
              </a:lnSpc>
              <a:spcBef>
                <a:spcPts val="1600"/>
              </a:spcBef>
              <a:spcAft>
                <a:spcPts val="0"/>
              </a:spcAft>
              <a:buFontTx/>
              <a:buChar char="-"/>
            </a:pPr>
            <a:r>
              <a:rPr lang="en-US" dirty="0" err="1" smtClean="0">
                <a:solidFill>
                  <a:schemeClr val="dk1"/>
                </a:solidFill>
              </a:rPr>
              <a:t>Ví</a:t>
            </a:r>
            <a:r>
              <a:rPr lang="en-US" dirty="0" smtClean="0">
                <a:solidFill>
                  <a:schemeClr val="dk1"/>
                </a:solidFill>
              </a:rPr>
              <a:t> </a:t>
            </a:r>
            <a:r>
              <a:rPr lang="en-US" dirty="0" err="1" smtClean="0">
                <a:solidFill>
                  <a:schemeClr val="dk1"/>
                </a:solidFill>
              </a:rPr>
              <a:t>dụ</a:t>
            </a:r>
            <a:r>
              <a:rPr lang="en-US" dirty="0" smtClean="0">
                <a:solidFill>
                  <a:schemeClr val="dk1"/>
                </a:solidFill>
              </a:rPr>
              <a:t> hash: </a:t>
            </a:r>
            <a:r>
              <a:rPr lang="en-US" b="1" dirty="0" smtClean="0">
                <a:solidFill>
                  <a:schemeClr val="dk1"/>
                </a:solidFill>
              </a:rPr>
              <a:t>OG </a:t>
            </a:r>
            <a:r>
              <a:rPr lang="en-US" b="1" dirty="0" err="1" smtClean="0">
                <a:solidFill>
                  <a:schemeClr val="dk1"/>
                </a:solidFill>
              </a:rPr>
              <a:t>Arima</a:t>
            </a:r>
            <a:r>
              <a:rPr lang="en-US" b="1" dirty="0" smtClean="0">
                <a:solidFill>
                  <a:schemeClr val="dk1"/>
                </a:solidFill>
              </a:rPr>
              <a:t>, Momentum, RSI</a:t>
            </a:r>
            <a:endParaRPr lang="en-US" b="1" dirty="0" smtClean="0">
              <a:solidFill>
                <a:schemeClr val="dk1"/>
              </a:solidFill>
            </a:endParaRPr>
          </a:p>
          <a:p>
            <a:pPr marL="387350" marR="0" lvl="0" indent="-285750" algn="just" rtl="0">
              <a:lnSpc>
                <a:spcPct val="115000"/>
              </a:lnSpc>
              <a:spcBef>
                <a:spcPts val="1600"/>
              </a:spcBef>
              <a:spcAft>
                <a:spcPts val="0"/>
              </a:spcAft>
              <a:buFontTx/>
              <a:buChar char="-"/>
            </a:pPr>
            <a:r>
              <a:rPr lang="en-US" b="1" i="0" u="none" strike="noStrike" cap="none" dirty="0" smtClean="0">
                <a:solidFill>
                  <a:schemeClr val="dk1"/>
                </a:solidFill>
                <a:sym typeface="Arial" panose="020B0604020202020204"/>
              </a:rPr>
              <a:t>Key</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là</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ví</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dụ</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Datetime</a:t>
            </a:r>
            <a:r>
              <a:rPr lang="en-US" i="0" u="none" strike="noStrike" cap="none" dirty="0" smtClean="0">
                <a:solidFill>
                  <a:schemeClr val="dk1"/>
                </a:solidFill>
                <a:sym typeface="Arial" panose="020B0604020202020204"/>
              </a:rPr>
              <a:t>, Open,…</a:t>
            </a:r>
            <a:r>
              <a:rPr lang="en-US" i="0" u="none" strike="noStrike" cap="none" dirty="0" err="1" smtClean="0">
                <a:solidFill>
                  <a:schemeClr val="dk1"/>
                </a:solidFill>
                <a:sym typeface="Arial" panose="020B0604020202020204"/>
              </a:rPr>
              <a:t>Buy_Signal</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Sell_Signal</a:t>
            </a:r>
            <a:endParaRPr lang="en-US" i="0" u="none" strike="noStrike" cap="none" dirty="0" smtClean="0">
              <a:solidFill>
                <a:schemeClr val="dk1"/>
              </a:solidFill>
              <a:sym typeface="Arial" panose="020B0604020202020204"/>
            </a:endParaRPr>
          </a:p>
          <a:p>
            <a:pPr marL="387350" marR="0" lvl="0" indent="-285750" algn="just" rtl="0">
              <a:lnSpc>
                <a:spcPct val="115000"/>
              </a:lnSpc>
              <a:spcBef>
                <a:spcPts val="1600"/>
              </a:spcBef>
              <a:spcAft>
                <a:spcPts val="0"/>
              </a:spcAft>
              <a:buFontTx/>
              <a:buChar char="-"/>
            </a:pPr>
            <a:r>
              <a:rPr lang="en-US" b="1" dirty="0" smtClean="0">
                <a:solidFill>
                  <a:schemeClr val="dk1"/>
                </a:solidFill>
              </a:rPr>
              <a:t>Value</a:t>
            </a:r>
            <a:r>
              <a:rPr lang="en-US" dirty="0" smtClean="0">
                <a:solidFill>
                  <a:schemeClr val="dk1"/>
                </a:solidFill>
              </a:rPr>
              <a:t> </a:t>
            </a:r>
            <a:r>
              <a:rPr lang="en-US" dirty="0" err="1" smtClean="0">
                <a:solidFill>
                  <a:schemeClr val="dk1"/>
                </a:solidFill>
              </a:rPr>
              <a:t>là</a:t>
            </a:r>
            <a:r>
              <a:rPr lang="en-US" dirty="0" smtClean="0">
                <a:solidFill>
                  <a:schemeClr val="dk1"/>
                </a:solidFill>
              </a:rPr>
              <a:t> 2024-03-22,…</a:t>
            </a:r>
            <a:endParaRPr lang="en-US" dirty="0" smtClean="0">
              <a:solidFill>
                <a:schemeClr val="dk1"/>
              </a:solidFill>
            </a:endParaRPr>
          </a:p>
          <a:p>
            <a:pPr marL="101600" marR="0" lvl="0" algn="just" rtl="0">
              <a:lnSpc>
                <a:spcPct val="115000"/>
              </a:lnSpc>
              <a:spcBef>
                <a:spcPts val="1600"/>
              </a:spcBef>
              <a:spcAft>
                <a:spcPts val="0"/>
              </a:spcAft>
            </a:pPr>
            <a:r>
              <a:rPr lang="en-US" i="0" u="none" strike="noStrike" cap="none" dirty="0" smtClean="0">
                <a:solidFill>
                  <a:schemeClr val="dk1"/>
                </a:solidFill>
                <a:sym typeface="Arial" panose="020B0604020202020204"/>
              </a:rPr>
              <a:t>3. </a:t>
            </a:r>
            <a:r>
              <a:rPr lang="en-US" i="0" u="none" strike="noStrike" cap="none" dirty="0" err="1" smtClean="0">
                <a:solidFill>
                  <a:schemeClr val="dk1"/>
                </a:solidFill>
                <a:sym typeface="Arial" panose="020B0604020202020204"/>
              </a:rPr>
              <a:t>Đẩy</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tín</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hiệu</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mua</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hoặc</a:t>
            </a:r>
            <a:r>
              <a:rPr lang="en-US" i="0" u="none" strike="noStrike" cap="none" dirty="0" smtClean="0">
                <a:solidFill>
                  <a:schemeClr val="dk1"/>
                </a:solidFill>
                <a:sym typeface="Arial" panose="020B0604020202020204"/>
              </a:rPr>
              <a:t> </a:t>
            </a:r>
            <a:r>
              <a:rPr lang="en-US" i="0" u="none" strike="noStrike" cap="none" dirty="0" err="1" smtClean="0">
                <a:solidFill>
                  <a:schemeClr val="dk1"/>
                </a:solidFill>
                <a:sym typeface="Arial" panose="020B0604020202020204"/>
              </a:rPr>
              <a:t>bán</a:t>
            </a:r>
            <a:r>
              <a:rPr lang="en-US" i="0" u="none" strike="noStrike" cap="none" dirty="0" smtClean="0">
                <a:solidFill>
                  <a:schemeClr val="dk1"/>
                </a:solidFill>
                <a:sym typeface="Arial" panose="020B0604020202020204"/>
              </a:rPr>
              <a:t> qua </a:t>
            </a:r>
            <a:r>
              <a:rPr lang="en-US" i="0" u="none" strike="noStrike" cap="none" dirty="0" err="1" smtClean="0">
                <a:solidFill>
                  <a:schemeClr val="dk1"/>
                </a:solidFill>
                <a:sym typeface="Arial" panose="020B0604020202020204"/>
              </a:rPr>
              <a:t>redis</a:t>
            </a:r>
            <a:endParaRPr lang="en-US" i="0" u="none" strike="noStrike" cap="none" dirty="0" smtClean="0">
              <a:solidFill>
                <a:schemeClr val="dk1"/>
              </a:solidFill>
              <a:sym typeface="Arial" panose="020B0604020202020204"/>
            </a:endParaRPr>
          </a:p>
          <a:p>
            <a:pPr marL="101600" marR="0" lvl="0" algn="just" rtl="0">
              <a:lnSpc>
                <a:spcPct val="115000"/>
              </a:lnSpc>
              <a:spcBef>
                <a:spcPts val="1600"/>
              </a:spcBef>
              <a:spcAft>
                <a:spcPts val="0"/>
              </a:spcAft>
            </a:pPr>
            <a:endParaRPr i="0" u="none" strike="noStrike" cap="none" dirty="0">
              <a:solidFill>
                <a:schemeClr val="dk1"/>
              </a:solidFill>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latin typeface="Arial (body)"/>
              </a:rPr>
              <a:t>Giải</a:t>
            </a:r>
            <a:r>
              <a:rPr lang="en-US" sz="2400" b="1" dirty="0" smtClean="0">
                <a:solidFill>
                  <a:schemeClr val="lt1"/>
                </a:solidFill>
                <a:latin typeface="Arial (body)"/>
              </a:rPr>
              <a:t> </a:t>
            </a:r>
            <a:r>
              <a:rPr lang="en-US" sz="2400" b="1" dirty="0" err="1" smtClean="0">
                <a:solidFill>
                  <a:schemeClr val="lt1"/>
                </a:solidFill>
                <a:latin typeface="Arial (body)"/>
              </a:rPr>
              <a:t>quyết</a:t>
            </a:r>
            <a:r>
              <a:rPr lang="en-US" sz="2400" b="1" dirty="0" smtClean="0">
                <a:solidFill>
                  <a:schemeClr val="lt1"/>
                </a:solidFill>
                <a:latin typeface="Arial (body)"/>
              </a:rPr>
              <a:t> </a:t>
            </a:r>
            <a:r>
              <a:rPr lang="en-US" sz="2400" b="1" dirty="0" err="1" smtClean="0">
                <a:solidFill>
                  <a:schemeClr val="lt1"/>
                </a:solidFill>
                <a:latin typeface="Arial (body)"/>
              </a:rPr>
              <a:t>vấn</a:t>
            </a:r>
            <a:r>
              <a:rPr lang="en-US" sz="2400" b="1" dirty="0" smtClean="0">
                <a:solidFill>
                  <a:schemeClr val="lt1"/>
                </a:solidFill>
                <a:latin typeface="Arial (body)"/>
              </a:rPr>
              <a:t> </a:t>
            </a:r>
            <a:r>
              <a:rPr lang="en-US" sz="2400" b="1" dirty="0" err="1" smtClean="0">
                <a:solidFill>
                  <a:schemeClr val="lt1"/>
                </a:solidFill>
                <a:latin typeface="Arial (body)"/>
              </a:rPr>
              <a:t>đề</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smtClean="0">
                <a:solidFill>
                  <a:schemeClr val="dk1"/>
                </a:solidFill>
              </a:rPr>
              <a:t>Phần</a:t>
            </a:r>
            <a:r>
              <a:rPr lang="en-US" sz="1800" b="1" dirty="0" smtClean="0">
                <a:solidFill>
                  <a:schemeClr val="dk1"/>
                </a:solidFill>
              </a:rPr>
              <a:t> </a:t>
            </a:r>
            <a:r>
              <a:rPr lang="en-US" sz="1800" b="1" dirty="0" err="1" smtClean="0">
                <a:solidFill>
                  <a:schemeClr val="dk1"/>
                </a:solidFill>
              </a:rPr>
              <a:t>đọc</a:t>
            </a:r>
            <a:r>
              <a:rPr lang="en-US" sz="1800" b="1" dirty="0" smtClean="0">
                <a:solidFill>
                  <a:schemeClr val="dk1"/>
                </a:solidFill>
              </a:rPr>
              <a:t> </a:t>
            </a:r>
            <a:r>
              <a:rPr lang="en-US" sz="1800" b="1" dirty="0" err="1" smtClean="0">
                <a:solidFill>
                  <a:schemeClr val="dk1"/>
                </a:solidFill>
              </a:rPr>
              <a:t>dữ</a:t>
            </a:r>
            <a:r>
              <a:rPr lang="en-US" sz="1800" b="1" dirty="0" smtClean="0">
                <a:solidFill>
                  <a:schemeClr val="dk1"/>
                </a:solidFill>
              </a:rPr>
              <a:t> </a:t>
            </a:r>
            <a:r>
              <a:rPr lang="en-US" sz="1800" b="1" dirty="0" err="1" smtClean="0">
                <a:solidFill>
                  <a:schemeClr val="dk1"/>
                </a:solidFill>
              </a:rPr>
              <a:t>liệu</a:t>
            </a:r>
            <a:r>
              <a:rPr lang="en-US" sz="1800" b="1" dirty="0" smtClean="0">
                <a:solidFill>
                  <a:schemeClr val="dk1"/>
                </a:solidFill>
              </a:rPr>
              <a:t> </a:t>
            </a:r>
            <a:r>
              <a:rPr lang="en-US" sz="1800" b="1" dirty="0" err="1" smtClean="0">
                <a:solidFill>
                  <a:schemeClr val="dk1"/>
                </a:solidFill>
              </a:rPr>
              <a:t>từ</a:t>
            </a:r>
            <a:r>
              <a:rPr lang="en-US" sz="1800" b="1" dirty="0" smtClean="0">
                <a:solidFill>
                  <a:schemeClr val="dk1"/>
                </a:solidFill>
              </a:rPr>
              <a:t> </a:t>
            </a:r>
            <a:r>
              <a:rPr lang="en-US" sz="1800" b="1" dirty="0" err="1" smtClean="0">
                <a:solidFill>
                  <a:schemeClr val="dk1"/>
                </a:solidFill>
              </a:rPr>
              <a:t>bộ</a:t>
            </a:r>
            <a:r>
              <a:rPr lang="en-US" sz="1800" b="1" dirty="0" smtClean="0">
                <a:solidFill>
                  <a:schemeClr val="dk1"/>
                </a:solidFill>
              </a:rPr>
              <a:t> </a:t>
            </a:r>
            <a:r>
              <a:rPr lang="en-US" sz="1800" b="1" dirty="0" err="1" smtClean="0">
                <a:solidFill>
                  <a:schemeClr val="dk1"/>
                </a:solidFill>
              </a:rPr>
              <a:t>nhớ</a:t>
            </a:r>
            <a:r>
              <a:rPr lang="en-US" sz="1800" b="1" dirty="0" smtClean="0">
                <a:solidFill>
                  <a:schemeClr val="dk1"/>
                </a:solidFill>
              </a:rPr>
              <a:t> </a:t>
            </a:r>
            <a:r>
              <a:rPr lang="en-US" sz="1800" b="1" dirty="0" err="1" smtClean="0">
                <a:solidFill>
                  <a:schemeClr val="dk1"/>
                </a:solidFill>
              </a:rPr>
              <a:t>và</a:t>
            </a:r>
            <a:r>
              <a:rPr lang="en-US" sz="1800" b="1" dirty="0" smtClean="0">
                <a:solidFill>
                  <a:schemeClr val="dk1"/>
                </a:solidFill>
              </a:rPr>
              <a:t> </a:t>
            </a:r>
            <a:r>
              <a:rPr lang="en-US" sz="1800" b="1" dirty="0" err="1" smtClean="0">
                <a:solidFill>
                  <a:schemeClr val="dk1"/>
                </a:solidFill>
              </a:rPr>
              <a:t>vào</a:t>
            </a:r>
            <a:r>
              <a:rPr lang="en-US" sz="1800" b="1" dirty="0" smtClean="0">
                <a:solidFill>
                  <a:schemeClr val="dk1"/>
                </a:solidFill>
              </a:rPr>
              <a:t> </a:t>
            </a:r>
            <a:r>
              <a:rPr lang="en-US" sz="1800" b="1" dirty="0" err="1" smtClean="0">
                <a:solidFill>
                  <a:schemeClr val="dk1"/>
                </a:solidFill>
              </a:rPr>
              <a:t>lệnh</a:t>
            </a:r>
            <a:r>
              <a:rPr lang="en-US" sz="1800" b="1" dirty="0" smtClean="0">
                <a:solidFill>
                  <a:schemeClr val="dk1"/>
                </a:solidFill>
              </a:rPr>
              <a:t>:</a:t>
            </a:r>
            <a:endParaRPr lang="en-US" sz="1800" b="1" dirty="0" smtClean="0">
              <a:solidFill>
                <a:schemeClr val="dk1"/>
              </a:solidFill>
            </a:endParaRPr>
          </a:p>
          <a:p>
            <a:pPr marL="101600" marR="0" lvl="0" indent="0" algn="just" rtl="0">
              <a:lnSpc>
                <a:spcPct val="115000"/>
              </a:lnSpc>
              <a:spcBef>
                <a:spcPts val="1600"/>
              </a:spcBef>
              <a:spcAft>
                <a:spcPts val="0"/>
              </a:spcAft>
              <a:buNone/>
            </a:pPr>
            <a:r>
              <a:rPr lang="en-US" sz="1800" dirty="0" err="1" smtClean="0">
                <a:solidFill>
                  <a:schemeClr val="dk1"/>
                </a:solidFill>
              </a:rPr>
              <a:t>Đọc</a:t>
            </a:r>
            <a:r>
              <a:rPr lang="en-US" sz="1800" dirty="0" smtClean="0">
                <a:solidFill>
                  <a:schemeClr val="dk1"/>
                </a:solidFill>
              </a:rPr>
              <a:t> </a:t>
            </a:r>
            <a:r>
              <a:rPr lang="en-US" sz="1800" dirty="0" err="1" smtClean="0">
                <a:solidFill>
                  <a:schemeClr val="dk1"/>
                </a:solidFill>
              </a:rPr>
              <a:t>tín</a:t>
            </a:r>
            <a:r>
              <a:rPr lang="en-US" sz="1800" dirty="0" smtClean="0">
                <a:solidFill>
                  <a:schemeClr val="dk1"/>
                </a:solidFill>
              </a:rPr>
              <a:t> </a:t>
            </a:r>
            <a:r>
              <a:rPr lang="en-US" sz="1800" dirty="0" err="1" smtClean="0">
                <a:solidFill>
                  <a:schemeClr val="dk1"/>
                </a:solidFill>
              </a:rPr>
              <a:t>hiệu</a:t>
            </a:r>
            <a:r>
              <a:rPr lang="en-US" sz="1800" dirty="0" smtClean="0">
                <a:solidFill>
                  <a:schemeClr val="dk1"/>
                </a:solidFill>
              </a:rPr>
              <a:t> </a:t>
            </a:r>
            <a:r>
              <a:rPr lang="en-US" sz="1800" dirty="0" err="1" smtClean="0">
                <a:solidFill>
                  <a:schemeClr val="dk1"/>
                </a:solidFill>
              </a:rPr>
              <a:t>mua</a:t>
            </a:r>
            <a:r>
              <a:rPr lang="en-US" sz="1800" dirty="0" smtClean="0">
                <a:solidFill>
                  <a:schemeClr val="dk1"/>
                </a:solidFill>
              </a:rPr>
              <a:t> </a:t>
            </a:r>
            <a:r>
              <a:rPr lang="en-US" sz="1800" dirty="0" err="1" smtClean="0">
                <a:solidFill>
                  <a:schemeClr val="dk1"/>
                </a:solidFill>
              </a:rPr>
              <a:t>hoặc</a:t>
            </a:r>
            <a:r>
              <a:rPr lang="en-US" sz="1800" dirty="0" smtClean="0">
                <a:solidFill>
                  <a:schemeClr val="dk1"/>
                </a:solidFill>
              </a:rPr>
              <a:t> </a:t>
            </a:r>
            <a:r>
              <a:rPr lang="en-US" sz="1800" dirty="0" err="1" smtClean="0">
                <a:solidFill>
                  <a:schemeClr val="dk1"/>
                </a:solidFill>
              </a:rPr>
              <a:t>bán</a:t>
            </a:r>
            <a:r>
              <a:rPr lang="en-US" sz="1800" dirty="0" smtClean="0">
                <a:solidFill>
                  <a:schemeClr val="dk1"/>
                </a:solidFill>
              </a:rPr>
              <a:t> </a:t>
            </a:r>
            <a:r>
              <a:rPr lang="en-US" sz="1800" dirty="0" err="1" smtClean="0">
                <a:solidFill>
                  <a:schemeClr val="dk1"/>
                </a:solidFill>
              </a:rPr>
              <a:t>vào</a:t>
            </a:r>
            <a:r>
              <a:rPr lang="en-US" sz="1800" dirty="0" smtClean="0">
                <a:solidFill>
                  <a:schemeClr val="dk1"/>
                </a:solidFill>
              </a:rPr>
              <a:t> </a:t>
            </a:r>
            <a:r>
              <a:rPr lang="en-US" sz="1800" dirty="0" err="1" smtClean="0">
                <a:solidFill>
                  <a:schemeClr val="dk1"/>
                </a:solidFill>
              </a:rPr>
              <a:t>trong</a:t>
            </a:r>
            <a:r>
              <a:rPr lang="en-US" sz="1800" dirty="0" smtClean="0">
                <a:solidFill>
                  <a:schemeClr val="dk1"/>
                </a:solidFill>
              </a:rPr>
              <a:t> </a:t>
            </a:r>
            <a:r>
              <a:rPr lang="en-US" sz="1800" dirty="0" err="1" smtClean="0">
                <a:solidFill>
                  <a:schemeClr val="dk1"/>
                </a:solidFill>
              </a:rPr>
              <a:t>bộ</a:t>
            </a:r>
            <a:r>
              <a:rPr lang="en-US" sz="1800" dirty="0" smtClean="0">
                <a:solidFill>
                  <a:schemeClr val="dk1"/>
                </a:solidFill>
              </a:rPr>
              <a:t> </a:t>
            </a:r>
            <a:r>
              <a:rPr lang="en-US" sz="1800" dirty="0" err="1" smtClean="0">
                <a:solidFill>
                  <a:schemeClr val="dk1"/>
                </a:solidFill>
              </a:rPr>
              <a:t>nhớ</a:t>
            </a:r>
            <a:endParaRPr lang="en-US" sz="1800" dirty="0" smtClean="0">
              <a:solidFill>
                <a:schemeClr val="dk1"/>
              </a:solidFill>
            </a:endParaRPr>
          </a:p>
          <a:p>
            <a:pPr marL="101600" marR="0" lvl="0" algn="just" rtl="0">
              <a:lnSpc>
                <a:spcPct val="115000"/>
              </a:lnSpc>
              <a:spcBef>
                <a:spcPts val="1600"/>
              </a:spcBef>
              <a:spcAft>
                <a:spcPts val="0"/>
              </a:spcAft>
            </a:pPr>
            <a:r>
              <a:rPr lang="en-US" sz="1800" i="0" u="none" strike="noStrike" cap="none" dirty="0" smtClean="0">
                <a:solidFill>
                  <a:schemeClr val="dk1"/>
                </a:solidFill>
                <a:sym typeface="Arial" panose="020B0604020202020204"/>
              </a:rPr>
              <a:t>1. </a:t>
            </a:r>
            <a:r>
              <a:rPr lang="en-US" sz="1800" dirty="0" err="1" smtClean="0">
                <a:solidFill>
                  <a:schemeClr val="dk1"/>
                </a:solidFill>
              </a:rPr>
              <a:t>Xác</a:t>
            </a:r>
            <a:r>
              <a:rPr lang="en-US" sz="1800" dirty="0" smtClean="0">
                <a:solidFill>
                  <a:schemeClr val="dk1"/>
                </a:solidFill>
              </a:rPr>
              <a:t> </a:t>
            </a:r>
            <a:r>
              <a:rPr lang="en-US" sz="1800" dirty="0" err="1" smtClean="0">
                <a:solidFill>
                  <a:schemeClr val="dk1"/>
                </a:solidFill>
              </a:rPr>
              <a:t>định</a:t>
            </a:r>
            <a:r>
              <a:rPr lang="en-US" sz="1800" dirty="0" smtClean="0">
                <a:solidFill>
                  <a:schemeClr val="dk1"/>
                </a:solidFill>
              </a:rPr>
              <a:t> </a:t>
            </a:r>
            <a:r>
              <a:rPr lang="en-US" sz="1800" dirty="0" err="1" smtClean="0">
                <a:solidFill>
                  <a:schemeClr val="dk1"/>
                </a:solidFill>
              </a:rPr>
              <a:t>kiểu</a:t>
            </a:r>
            <a:r>
              <a:rPr lang="en-US" sz="1800" dirty="0" smtClean="0">
                <a:solidFill>
                  <a:schemeClr val="dk1"/>
                </a:solidFill>
              </a:rPr>
              <a:t> </a:t>
            </a:r>
            <a:r>
              <a:rPr lang="en-US" sz="1800" dirty="0" err="1" smtClean="0">
                <a:solidFill>
                  <a:schemeClr val="dk1"/>
                </a:solidFill>
              </a:rPr>
              <a:t>dữ</a:t>
            </a:r>
            <a:r>
              <a:rPr lang="en-US" sz="1800" dirty="0" smtClean="0">
                <a:solidFill>
                  <a:schemeClr val="dk1"/>
                </a:solidFill>
              </a:rPr>
              <a:t> </a:t>
            </a:r>
            <a:r>
              <a:rPr lang="en-US" sz="1800" dirty="0" err="1" smtClean="0">
                <a:solidFill>
                  <a:schemeClr val="dk1"/>
                </a:solidFill>
              </a:rPr>
              <a:t>liệu</a:t>
            </a:r>
            <a:r>
              <a:rPr lang="en-US" sz="1800" dirty="0" smtClean="0">
                <a:solidFill>
                  <a:schemeClr val="dk1"/>
                </a:solidFill>
              </a:rPr>
              <a:t> </a:t>
            </a:r>
            <a:r>
              <a:rPr lang="en-US" sz="1800" dirty="0" err="1" smtClean="0">
                <a:solidFill>
                  <a:schemeClr val="dk1"/>
                </a:solidFill>
              </a:rPr>
              <a:t>lưu</a:t>
            </a:r>
            <a:r>
              <a:rPr lang="en-US" sz="1800" dirty="0" smtClean="0">
                <a:solidFill>
                  <a:schemeClr val="dk1"/>
                </a:solidFill>
              </a:rPr>
              <a:t> </a:t>
            </a:r>
            <a:r>
              <a:rPr lang="en-US" sz="1800" dirty="0" err="1" smtClean="0">
                <a:solidFill>
                  <a:schemeClr val="dk1"/>
                </a:solidFill>
              </a:rPr>
              <a:t>trong</a:t>
            </a:r>
            <a:r>
              <a:rPr lang="en-US" sz="1800" dirty="0" smtClean="0">
                <a:solidFill>
                  <a:schemeClr val="dk1"/>
                </a:solidFill>
              </a:rPr>
              <a:t> </a:t>
            </a:r>
            <a:r>
              <a:rPr lang="en-US" sz="1800" dirty="0" err="1" smtClean="0">
                <a:solidFill>
                  <a:schemeClr val="dk1"/>
                </a:solidFill>
              </a:rPr>
              <a:t>bộ</a:t>
            </a:r>
            <a:r>
              <a:rPr lang="en-US" sz="1800" dirty="0" smtClean="0">
                <a:solidFill>
                  <a:schemeClr val="dk1"/>
                </a:solidFill>
              </a:rPr>
              <a:t> </a:t>
            </a:r>
            <a:r>
              <a:rPr lang="en-US" sz="1800" dirty="0" err="1" smtClean="0">
                <a:solidFill>
                  <a:schemeClr val="dk1"/>
                </a:solidFill>
              </a:rPr>
              <a:t>nhớ</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err="1" smtClean="0">
                <a:solidFill>
                  <a:schemeClr val="dk1"/>
                </a:solidFill>
              </a:rPr>
              <a:t>Đọc</a:t>
            </a:r>
            <a:r>
              <a:rPr lang="en-US" sz="1800" dirty="0" smtClean="0">
                <a:solidFill>
                  <a:schemeClr val="dk1"/>
                </a:solidFill>
              </a:rPr>
              <a:t> </a:t>
            </a:r>
            <a:r>
              <a:rPr lang="en-US" sz="1800" dirty="0" err="1" smtClean="0">
                <a:solidFill>
                  <a:schemeClr val="dk1"/>
                </a:solidFill>
              </a:rPr>
              <a:t>dữ</a:t>
            </a:r>
            <a:r>
              <a:rPr lang="en-US" sz="1800" dirty="0" smtClean="0">
                <a:solidFill>
                  <a:schemeClr val="dk1"/>
                </a:solidFill>
              </a:rPr>
              <a:t> </a:t>
            </a:r>
            <a:r>
              <a:rPr lang="en-US" sz="1800" dirty="0" err="1" smtClean="0">
                <a:solidFill>
                  <a:schemeClr val="dk1"/>
                </a:solidFill>
              </a:rPr>
              <a:t>liệu</a:t>
            </a:r>
            <a:r>
              <a:rPr lang="en-US" sz="1800" dirty="0" smtClean="0">
                <a:solidFill>
                  <a:schemeClr val="dk1"/>
                </a:solidFill>
              </a:rPr>
              <a:t> </a:t>
            </a:r>
            <a:r>
              <a:rPr lang="en-US" sz="1800" dirty="0" err="1" smtClean="0">
                <a:solidFill>
                  <a:schemeClr val="dk1"/>
                </a:solidFill>
              </a:rPr>
              <a:t>từ</a:t>
            </a:r>
            <a:r>
              <a:rPr lang="en-US" sz="1800" dirty="0" smtClean="0">
                <a:solidFill>
                  <a:schemeClr val="dk1"/>
                </a:solidFill>
              </a:rPr>
              <a:t> </a:t>
            </a:r>
            <a:r>
              <a:rPr lang="en-US" sz="1800" dirty="0" err="1" smtClean="0">
                <a:solidFill>
                  <a:schemeClr val="dk1"/>
                </a:solidFill>
              </a:rPr>
              <a:t>bộ</a:t>
            </a:r>
            <a:r>
              <a:rPr lang="en-US" sz="1800" dirty="0" smtClean="0">
                <a:solidFill>
                  <a:schemeClr val="dk1"/>
                </a:solidFill>
              </a:rPr>
              <a:t> </a:t>
            </a:r>
            <a:r>
              <a:rPr lang="en-US" sz="1800" dirty="0" err="1" smtClean="0">
                <a:solidFill>
                  <a:schemeClr val="dk1"/>
                </a:solidFill>
              </a:rPr>
              <a:t>nhớ</a:t>
            </a:r>
            <a:endParaRPr lang="en-US" sz="1800" i="0" u="none" strike="noStrike" cap="none" dirty="0" smtClean="0">
              <a:solidFill>
                <a:schemeClr val="dk1"/>
              </a:solidFill>
              <a:sym typeface="Arial" panose="020B0604020202020204"/>
            </a:endParaRPr>
          </a:p>
          <a:p>
            <a:pPr marL="387350" marR="0" lvl="0" indent="-285750" algn="just" rtl="0">
              <a:lnSpc>
                <a:spcPct val="115000"/>
              </a:lnSpc>
              <a:spcBef>
                <a:spcPts val="1600"/>
              </a:spcBef>
              <a:spcAft>
                <a:spcPts val="0"/>
              </a:spcAft>
              <a:buFontTx/>
              <a:buChar char="-"/>
            </a:pPr>
            <a:r>
              <a:rPr lang="en-US" sz="1800" dirty="0" smtClean="0">
                <a:solidFill>
                  <a:schemeClr val="dk1"/>
                </a:solidFill>
              </a:rPr>
              <a:t>Hash, Key-Value </a:t>
            </a:r>
            <a:r>
              <a:rPr lang="en-US" sz="1800" dirty="0" err="1" smtClean="0">
                <a:solidFill>
                  <a:schemeClr val="dk1"/>
                </a:solidFill>
              </a:rPr>
              <a:t>là</a:t>
            </a:r>
            <a:r>
              <a:rPr lang="en-US" sz="1800" dirty="0" smtClean="0">
                <a:solidFill>
                  <a:schemeClr val="dk1"/>
                </a:solidFill>
              </a:rPr>
              <a:t> </a:t>
            </a:r>
            <a:r>
              <a:rPr lang="en-US" sz="1800" dirty="0" err="1" smtClean="0">
                <a:solidFill>
                  <a:schemeClr val="dk1"/>
                </a:solidFill>
              </a:rPr>
              <a:t>gì</a:t>
            </a:r>
            <a:r>
              <a:rPr lang="en-US" sz="1800" dirty="0" smtClean="0">
                <a:solidFill>
                  <a:schemeClr val="dk1"/>
                </a:solidFill>
              </a:rPr>
              <a:t>…2024-03-22,…</a:t>
            </a:r>
            <a:endParaRPr lang="en-US" sz="1800" dirty="0" smtClean="0">
              <a:solidFill>
                <a:schemeClr val="dk1"/>
              </a:solidFill>
            </a:endParaRPr>
          </a:p>
          <a:p>
            <a:pPr marL="101600" marR="0" lvl="0" algn="just" rtl="0">
              <a:lnSpc>
                <a:spcPct val="115000"/>
              </a:lnSpc>
              <a:spcBef>
                <a:spcPts val="1600"/>
              </a:spcBef>
              <a:spcAft>
                <a:spcPts val="0"/>
              </a:spcAft>
            </a:pPr>
            <a:r>
              <a:rPr lang="en-US" sz="1800" dirty="0" smtClean="0">
                <a:solidFill>
                  <a:schemeClr val="dk1"/>
                </a:solidFill>
              </a:rPr>
              <a:t>2. </a:t>
            </a:r>
            <a:r>
              <a:rPr lang="en-US" sz="1800" dirty="0" err="1" smtClean="0">
                <a:solidFill>
                  <a:schemeClr val="dk1"/>
                </a:solidFill>
              </a:rPr>
              <a:t>Vào</a:t>
            </a:r>
            <a:r>
              <a:rPr lang="en-US" sz="1800" dirty="0" smtClean="0">
                <a:solidFill>
                  <a:schemeClr val="dk1"/>
                </a:solidFill>
              </a:rPr>
              <a:t> </a:t>
            </a:r>
            <a:r>
              <a:rPr lang="en-US" sz="1800" dirty="0" err="1" smtClean="0">
                <a:solidFill>
                  <a:schemeClr val="dk1"/>
                </a:solidFill>
              </a:rPr>
              <a:t>lệnh</a:t>
            </a:r>
            <a:r>
              <a:rPr lang="en-US" sz="1800" dirty="0" smtClean="0">
                <a:solidFill>
                  <a:schemeClr val="dk1"/>
                </a:solidFill>
              </a:rPr>
              <a:t> </a:t>
            </a:r>
            <a:r>
              <a:rPr lang="en-US" sz="1800" dirty="0" err="1" smtClean="0">
                <a:solidFill>
                  <a:schemeClr val="dk1"/>
                </a:solidFill>
              </a:rPr>
              <a:t>giao</a:t>
            </a:r>
            <a:r>
              <a:rPr lang="en-US" sz="1800" dirty="0" smtClean="0">
                <a:solidFill>
                  <a:schemeClr val="dk1"/>
                </a:solidFill>
              </a:rPr>
              <a:t> </a:t>
            </a:r>
            <a:r>
              <a:rPr lang="en-US" sz="1800" dirty="0" err="1" smtClean="0">
                <a:solidFill>
                  <a:schemeClr val="dk1"/>
                </a:solidFill>
              </a:rPr>
              <a:t>dịch</a:t>
            </a:r>
            <a:endParaRPr sz="1800" i="0" u="none" strike="noStrike" cap="none" dirty="0">
              <a:solidFill>
                <a:schemeClr val="dk1"/>
              </a:solidFill>
              <a:sym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vi-VN" sz="2400" b="0" i="0" u="none" strike="noStrike" kern="0" cap="none" spc="0" normalizeH="0" baseline="0" noProof="0">
                <a:ln>
                  <a:noFill/>
                </a:ln>
                <a:solidFill>
                  <a:srgbClr val="FFFFFF"/>
                </a:solidFill>
                <a:effectLst/>
                <a:uLnTx/>
                <a:uFillTx/>
                <a:latin typeface="Arial" panose="020B0604020202020204"/>
                <a:cs typeface="Arial" panose="020B0604020202020204"/>
                <a:sym typeface="Arial" panose="020B0604020202020204"/>
              </a:rPr>
              <a:t>Nội dung chính</a:t>
            </a:r>
            <a:endParaRPr kumimoji="0" sz="24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501650" marR="0" lvl="0" indent="-400050" algn="l" defTabSz="914400" rtl="0" eaLnBrk="1" fontAlgn="auto" latinLnBrk="0" hangingPunct="1">
              <a:lnSpc>
                <a:spcPct val="115000"/>
              </a:lnSpc>
              <a:spcBef>
                <a:spcPts val="1600"/>
              </a:spcBef>
              <a:spcAft>
                <a:spcPts val="0"/>
              </a:spcAft>
              <a:buClr>
                <a:srgbClr val="000000"/>
              </a:buClr>
              <a:buSzPts val="2000"/>
              <a:buFont typeface="Arial" panose="020B0604020202020204"/>
              <a:buAutoNum type="romanUcPeriod"/>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I.1. Chiến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dài</a:t>
            </a:r>
            <a:endPar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I.2. Chiến </a:t>
            </a:r>
            <a:r>
              <a:rPr kumimoji="0" lang="en-US" sz="14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của</a:t>
            </a: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1 </a:t>
            </a:r>
            <a:r>
              <a:rPr kumimoji="0" lang="en-US" sz="14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học</a:t>
            </a: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viên</a:t>
            </a:r>
            <a:endPar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I.3. </a:t>
            </a:r>
            <a:r>
              <a:rPr kumimoji="0" lang="vi-VN"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Chiến lược giao dịch theo chỉ số biến </a:t>
            </a:r>
            <a:r>
              <a:rPr kumimoji="0" lang="vi-VN"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động</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SPY500 – </a:t>
            </a: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VIX) </a:t>
            </a:r>
            <a:endPar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endParaRPr>
          </a:p>
          <a:p>
            <a:pPr marL="501650" marR="0" lvl="0" indent="-400050" algn="l" defTabSz="914400" rtl="0" eaLnBrk="1" fontAlgn="auto" latinLnBrk="0" hangingPunct="1">
              <a:lnSpc>
                <a:spcPct val="115000"/>
              </a:lnSpc>
              <a:spcBef>
                <a:spcPts val="1600"/>
              </a:spcBef>
              <a:spcAft>
                <a:spcPts val="0"/>
              </a:spcAft>
              <a:buClr>
                <a:srgbClr val="000000"/>
              </a:buClr>
              <a:buSzPts val="2000"/>
              <a:buFont typeface="+mj-lt"/>
              <a:buAutoNum type="romanUcPeriod" startAt="2"/>
              <a:defRPr/>
            </a:pP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manual</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II.1</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vi-VN"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 lệnh bằng API SSI</a:t>
            </a:r>
            <a:endParaRPr kumimoji="0" lang="vi-VN"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II.2</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vi-VN"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 lệnh bằng API Binance</a:t>
            </a:r>
            <a:endParaRPr kumimoji="0" lang="vi-VN"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II.3</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vi-VN"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 lệnh bằng API MT5</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501650" marR="0" lvl="0" indent="-400050" algn="l" defTabSz="914400" rtl="0" eaLnBrk="1" fontAlgn="auto" latinLnBrk="0" hangingPunct="1">
              <a:lnSpc>
                <a:spcPct val="115000"/>
              </a:lnSpc>
              <a:spcBef>
                <a:spcPts val="1600"/>
              </a:spcBef>
              <a:spcAft>
                <a:spcPts val="0"/>
              </a:spcAft>
              <a:buClr>
                <a:srgbClr val="000000"/>
              </a:buClr>
              <a:buSzPts val="2000"/>
              <a:buFont typeface="+mj-lt"/>
              <a:buAutoNum type="romanUcPeriod" startAt="3"/>
              <a:defRPr/>
            </a:pP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API</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III.1. </a:t>
            </a: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rPr>
              <a:t>Vào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rPr>
              <a:t>lệnh bằng API SSI</a:t>
            </a:r>
            <a:endPar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III.2. </a:t>
            </a: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rPr>
              <a:t>Vào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rPr>
              <a:t>lệnh bằng API Binance</a:t>
            </a:r>
            <a:endPar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III.3. </a:t>
            </a: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rPr>
              <a:t>Vào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rPr>
              <a:t>lệnh bằng API MT5</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
        <p:nvSpPr>
          <p:cNvPr id="5" name="Google Shape;100;p3"/>
          <p:cNvSpPr txBox="1"/>
          <p:nvPr/>
        </p:nvSpPr>
        <p:spPr>
          <a:xfrm>
            <a:off x="424875" y="3248709"/>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Chứng</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Khoán</a:t>
            </a:r>
            <a:endPar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I.1.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444500" marR="0" lvl="0" indent="-342900" algn="l" defTabSz="914400" rtl="0" eaLnBrk="1" fontAlgn="auto" latinLnBrk="0" hangingPunct="1">
              <a:lnSpc>
                <a:spcPct val="115000"/>
              </a:lnSpc>
              <a:spcBef>
                <a:spcPts val="1600"/>
              </a:spcBef>
              <a:spcAft>
                <a:spcPts val="0"/>
              </a:spcAft>
              <a:buClr>
                <a:srgbClr val="000000"/>
              </a:buClr>
              <a:buSzPts val="2000"/>
              <a:buFont typeface="Arial" panose="020B0604020202020204"/>
              <a:buAutoNum type="alphaLcParenR"/>
              <a:defRPr/>
            </a:pP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diện</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Là</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là</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có</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giá</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mở</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cửa</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đóng</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cửa</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C000"/>
                </a:solidFill>
                <a:effectLst/>
                <a:uLnTx/>
                <a:uFillTx/>
                <a:latin typeface="Arial" panose="020B0604020202020204"/>
                <a:ea typeface="Maven Pro" panose="020B0604020202020204"/>
                <a:cs typeface="Maven Pro" panose="020B0604020202020204"/>
                <a:sym typeface="Maven Pro" panose="020B0604020202020204"/>
              </a:rPr>
              <a:t>gần</a:t>
            </a:r>
            <a:r>
              <a:rPr kumimoji="0" lang="en-US" sz="1600" b="1" i="0" u="none" strike="noStrike" kern="0" cap="none" spc="0" normalizeH="0" baseline="0" noProof="0" dirty="0" smtClean="0">
                <a:ln>
                  <a:noFill/>
                </a:ln>
                <a:solidFill>
                  <a:srgbClr val="FFC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C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1600" b="1" i="0" u="none" strike="noStrike" kern="0" cap="none" spc="0" normalizeH="0" baseline="0" noProof="0" dirty="0" smtClean="0">
                <a:ln>
                  <a:noFill/>
                </a:ln>
                <a:solidFill>
                  <a:srgbClr val="FFC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C000"/>
                </a:solidFill>
                <a:effectLst/>
                <a:uLnTx/>
                <a:uFillTx/>
                <a:latin typeface="Arial" panose="020B0604020202020204"/>
                <a:ea typeface="Maven Pro" panose="020B0604020202020204"/>
                <a:cs typeface="Maven Pro" panose="020B0604020202020204"/>
                <a:sym typeface="Maven Pro" panose="020B0604020202020204"/>
              </a:rPr>
              <a:t>nhau</a:t>
            </a:r>
            <a:r>
              <a:rPr kumimoji="0" lang="en-US" sz="1600" b="1" i="0" u="none" strike="noStrike" kern="0" cap="none" spc="0" normalizeH="0" baseline="0" noProof="0" dirty="0" smtClean="0">
                <a:ln>
                  <a:noFill/>
                </a:ln>
                <a:solidFill>
                  <a:srgbClr val="FFC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không</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quan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trọng</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giá</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Open &gt;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hơn</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hay &lt;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giá</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Close</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Là</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có</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Bóng</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trên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&gt;= 2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lần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thân</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bóng</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dưới</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&gt;= 2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lần</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thân</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endPar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pic>
        <p:nvPicPr>
          <p:cNvPr id="5" name="Google Shape;124;p4"/>
          <p:cNvPicPr preferRelativeResize="0"/>
          <p:nvPr/>
        </p:nvPicPr>
        <p:blipFill>
          <a:blip r:embed="rId2"/>
          <a:stretch>
            <a:fillRect/>
          </a:stretch>
        </p:blipFill>
        <p:spPr>
          <a:xfrm>
            <a:off x="708791" y="3526971"/>
            <a:ext cx="5803976" cy="1464908"/>
          </a:xfrm>
          <a:prstGeom prst="rect">
            <a:avLst/>
          </a:prstGeom>
          <a:noFill/>
          <a:ln>
            <a:noFill/>
          </a:ln>
        </p:spPr>
      </p:pic>
      <p:sp>
        <p:nvSpPr>
          <p:cNvPr id="6" name="Google Shape;125;p4"/>
          <p:cNvSpPr txBox="1"/>
          <p:nvPr/>
        </p:nvSpPr>
        <p:spPr>
          <a:xfrm>
            <a:off x="1260739" y="5203844"/>
            <a:ext cx="7415700" cy="36929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a:buNone/>
              <a:defRPr/>
            </a:pPr>
            <a:r>
              <a:rPr kumimoji="0" lang="vi-VN" sz="1800" b="1" i="0" u="none" strike="noStrike" kern="0" cap="none" spc="0" normalizeH="0" baseline="0" noProof="0" dirty="0">
                <a:ln>
                  <a:noFill/>
                </a:ln>
                <a:solidFill>
                  <a:srgbClr val="00B050"/>
                </a:solidFill>
                <a:effectLst/>
                <a:uLnTx/>
                <a:uFillTx/>
                <a:latin typeface="Arial" panose="020B0604020202020204"/>
                <a:cs typeface="Arial" panose="020B0604020202020204"/>
                <a:sym typeface="Arial" panose="020B0604020202020204"/>
              </a:rPr>
              <a:t>GIÁ MỞ CỦA &amp; GIÁ ĐÓNG CỬA GẦN NHƯ NẰM TẠI CÙNG 1 </a:t>
            </a:r>
            <a:r>
              <a:rPr kumimoji="0" lang="vi-VN" sz="1800" b="1" i="0" u="none" strike="noStrike" kern="0" cap="none" spc="0" normalizeH="0" baseline="0" noProof="0" dirty="0" smtClean="0">
                <a:ln>
                  <a:noFill/>
                </a:ln>
                <a:solidFill>
                  <a:srgbClr val="00B050"/>
                </a:solidFill>
                <a:effectLst/>
                <a:uLnTx/>
                <a:uFillTx/>
                <a:latin typeface="Arial" panose="020B0604020202020204"/>
                <a:cs typeface="Arial" panose="020B0604020202020204"/>
                <a:sym typeface="Arial" panose="020B0604020202020204"/>
              </a:rPr>
              <a:t>ĐIỂM</a:t>
            </a:r>
            <a:endParaRPr kumimoji="0"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pic>
        <p:nvPicPr>
          <p:cNvPr id="7" name="Google Shape;126;p4"/>
          <p:cNvPicPr preferRelativeResize="0"/>
          <p:nvPr/>
        </p:nvPicPr>
        <p:blipFill>
          <a:blip r:embed="rId3"/>
          <a:stretch>
            <a:fillRect/>
          </a:stretch>
        </p:blipFill>
        <p:spPr>
          <a:xfrm>
            <a:off x="304800" y="5050507"/>
            <a:ext cx="833200" cy="689000"/>
          </a:xfrm>
          <a:prstGeom prst="rect">
            <a:avLst/>
          </a:prstGeom>
          <a:noFill/>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I.1.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diện</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
        <p:nvSpPr>
          <p:cNvPr id="6" name="Google Shape;125;p4"/>
          <p:cNvSpPr txBox="1"/>
          <p:nvPr/>
        </p:nvSpPr>
        <p:spPr>
          <a:xfrm>
            <a:off x="1260739" y="5539751"/>
            <a:ext cx="7415700" cy="36929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a:buNone/>
              <a:defRPr/>
            </a:pPr>
            <a:r>
              <a:rPr kumimoji="0" lang="vi-VN" sz="1800" b="1" i="0" u="none" strike="noStrike" kern="0" cap="none" spc="0" normalizeH="0" baseline="0" noProof="0" dirty="0">
                <a:ln>
                  <a:noFill/>
                </a:ln>
                <a:solidFill>
                  <a:srgbClr val="00B050"/>
                </a:solidFill>
                <a:effectLst/>
                <a:uLnTx/>
                <a:uFillTx/>
                <a:latin typeface="Arial" panose="020B0604020202020204"/>
                <a:cs typeface="Arial" panose="020B0604020202020204"/>
                <a:sym typeface="Arial" panose="020B0604020202020204"/>
              </a:rPr>
              <a:t>GIÁ MỞ CỦA &amp; GIÁ ĐÓNG CỬA GẦN NHƯ NẰM TẠI CÙNG 1 </a:t>
            </a:r>
            <a:r>
              <a:rPr kumimoji="0" lang="vi-VN" sz="1800" b="1" i="0" u="none" strike="noStrike" kern="0" cap="none" spc="0" normalizeH="0" baseline="0" noProof="0" dirty="0" smtClean="0">
                <a:ln>
                  <a:noFill/>
                </a:ln>
                <a:solidFill>
                  <a:srgbClr val="00B050"/>
                </a:solidFill>
                <a:effectLst/>
                <a:uLnTx/>
                <a:uFillTx/>
                <a:latin typeface="Arial" panose="020B0604020202020204"/>
                <a:cs typeface="Arial" panose="020B0604020202020204"/>
                <a:sym typeface="Arial" panose="020B0604020202020204"/>
              </a:rPr>
              <a:t>ĐIỂM</a:t>
            </a:r>
            <a:endParaRPr kumimoji="0"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pic>
        <p:nvPicPr>
          <p:cNvPr id="7" name="Google Shape;126;p4"/>
          <p:cNvPicPr preferRelativeResize="0"/>
          <p:nvPr/>
        </p:nvPicPr>
        <p:blipFill>
          <a:blip r:embed="rId2"/>
          <a:stretch>
            <a:fillRect/>
          </a:stretch>
        </p:blipFill>
        <p:spPr>
          <a:xfrm>
            <a:off x="304800" y="5386414"/>
            <a:ext cx="833200" cy="689000"/>
          </a:xfrm>
          <a:prstGeom prst="rect">
            <a:avLst/>
          </a:prstGeom>
          <a:noFill/>
          <a:ln>
            <a:noFill/>
          </a:ln>
        </p:spPr>
      </p:pic>
      <p:pic>
        <p:nvPicPr>
          <p:cNvPr id="3" name="Picture 2"/>
          <p:cNvPicPr>
            <a:picLocks noChangeAspect="1"/>
          </p:cNvPicPr>
          <p:nvPr/>
        </p:nvPicPr>
        <p:blipFill>
          <a:blip r:embed="rId3"/>
          <a:stretch>
            <a:fillRect/>
          </a:stretch>
        </p:blipFill>
        <p:spPr>
          <a:xfrm>
            <a:off x="424876" y="1726628"/>
            <a:ext cx="5994586" cy="364237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I.1.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Code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diện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Vậy</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nếu</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code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diện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thì</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chúng</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ta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sẽ</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code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gì</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a:t>
            </a: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Kiểm</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tra</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giá</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mở</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cửa</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đóng</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cửa</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có</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gần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nhau</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không</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a:t>
            </a: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Kiểm</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tra</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bóng</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trên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có</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lớn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hơn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hoặc</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2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lần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thân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không</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a:t>
            </a:r>
            <a:endPar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Kiểm</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tra</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bóng</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dưới</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có</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lớn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hơn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hoặc</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2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lần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thân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không</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a:t>
            </a:r>
            <a:endPar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
        <p:nvSpPr>
          <p:cNvPr id="6" name="Google Shape;125;p4"/>
          <p:cNvSpPr txBox="1"/>
          <p:nvPr/>
        </p:nvSpPr>
        <p:spPr>
          <a:xfrm>
            <a:off x="1260739" y="5539751"/>
            <a:ext cx="7415700" cy="36929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a:buNone/>
              <a:defRPr/>
            </a:pPr>
            <a:r>
              <a:rPr kumimoji="0" lang="vi-VN" sz="1800" b="1" i="0" u="none" strike="noStrike" kern="0" cap="none" spc="0" normalizeH="0" baseline="0" noProof="0" dirty="0">
                <a:ln>
                  <a:noFill/>
                </a:ln>
                <a:solidFill>
                  <a:srgbClr val="00B050"/>
                </a:solidFill>
                <a:effectLst/>
                <a:uLnTx/>
                <a:uFillTx/>
                <a:latin typeface="Arial" panose="020B0604020202020204"/>
                <a:cs typeface="Arial" panose="020B0604020202020204"/>
                <a:sym typeface="Arial" panose="020B0604020202020204"/>
              </a:rPr>
              <a:t>GIÁ MỞ CỦA &amp; GIÁ ĐÓNG CỬA GẦN NHƯ NẰM TẠI CÙNG 1 </a:t>
            </a:r>
            <a:r>
              <a:rPr kumimoji="0" lang="vi-VN" sz="1800" b="1" i="0" u="none" strike="noStrike" kern="0" cap="none" spc="0" normalizeH="0" baseline="0" noProof="0" dirty="0" smtClean="0">
                <a:ln>
                  <a:noFill/>
                </a:ln>
                <a:solidFill>
                  <a:srgbClr val="00B050"/>
                </a:solidFill>
                <a:effectLst/>
                <a:uLnTx/>
                <a:uFillTx/>
                <a:latin typeface="Arial" panose="020B0604020202020204"/>
                <a:cs typeface="Arial" panose="020B0604020202020204"/>
                <a:sym typeface="Arial" panose="020B0604020202020204"/>
              </a:rPr>
              <a:t>ĐIỂM</a:t>
            </a:r>
            <a:endParaRPr kumimoji="0"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pic>
        <p:nvPicPr>
          <p:cNvPr id="7" name="Google Shape;126;p4"/>
          <p:cNvPicPr preferRelativeResize="0"/>
          <p:nvPr/>
        </p:nvPicPr>
        <p:blipFill>
          <a:blip r:embed="rId2"/>
          <a:stretch>
            <a:fillRect/>
          </a:stretch>
        </p:blipFill>
        <p:spPr>
          <a:xfrm>
            <a:off x="304800" y="5386414"/>
            <a:ext cx="833200" cy="689000"/>
          </a:xfrm>
          <a:prstGeom prst="rect">
            <a:avLst/>
          </a:prstGeom>
          <a:noFill/>
          <a:ln>
            <a:noFill/>
          </a:ln>
        </p:spPr>
      </p:pic>
      <p:pic>
        <p:nvPicPr>
          <p:cNvPr id="8" name="Picture 7"/>
          <p:cNvPicPr>
            <a:picLocks noChangeAspect="1"/>
          </p:cNvPicPr>
          <p:nvPr/>
        </p:nvPicPr>
        <p:blipFill>
          <a:blip r:embed="rId3"/>
          <a:stretch>
            <a:fillRect/>
          </a:stretch>
        </p:blipFill>
        <p:spPr>
          <a:xfrm>
            <a:off x="954668" y="3398253"/>
            <a:ext cx="3524461" cy="2141497"/>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I.1.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444500" marR="0" lvl="0" indent="-342900" algn="l" defTabSz="914400" rtl="0" eaLnBrk="1" fontAlgn="auto" latinLnBrk="0" hangingPunct="1">
              <a:lnSpc>
                <a:spcPct val="115000"/>
              </a:lnSpc>
              <a:spcBef>
                <a:spcPts val="1600"/>
              </a:spcBef>
              <a:spcAft>
                <a:spcPts val="0"/>
              </a:spcAft>
              <a:buClr>
                <a:srgbClr val="000000"/>
              </a:buClr>
              <a:buSzPts val="2000"/>
              <a:buFont typeface="+mj-lt"/>
              <a:buAutoNum type="alphaLcParenR" startAt="2"/>
              <a:defRPr/>
            </a:pP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Cần</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xác</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Sau</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khi</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xuất</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hiện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=&gt;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Cần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1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xác</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xu</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hướng</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Quan </a:t>
            </a:r>
            <a:r>
              <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sát nến tiếp theo:</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Nếu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nến tiếp theo sau Doji là một nến giảm (màu đỏ hoặc đen) và đóng cửa dưới thân nến của Doji, điều này có thể được coi là một nến xác nhận giảm giá.</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Ngược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lại, nếu nến tiếp theo là một nến tăng (màu xanh lá hoặc trắng) và </a:t>
            </a:r>
            <a:r>
              <a:rPr kumimoji="0" lang="vi-VN"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đóng cửa trên thân nến </a:t>
            </a:r>
            <a:r>
              <a:rPr kumimoji="0" lang="vi-VN" sz="16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của </a:t>
            </a:r>
            <a:r>
              <a:rPr kumimoji="0" lang="vi-VN"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Doji</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nó có thể là một nến xác nhận tăng giá.</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Code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kiểm</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tra</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xác</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sau</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1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Vậy</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nếu</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code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kiểm</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tra</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xác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sau</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1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thì</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chúng</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ta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sẽ</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code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gì</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a:t>
            </a: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1"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Arial" panose="020B0604020202020204"/>
                <a:sym typeface="Arial" panose="020B0604020202020204"/>
              </a:rPr>
              <a:t>N</a:t>
            </a: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ếu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nến tiếp theo là một nến tăng (màu xanh lá hoặc trắng) và đóng cửa trên thân nến của Doji, nó có thể là một nến xác nhận tăng giá</a:t>
            </a: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=&gt; </a:t>
            </a:r>
            <a:r>
              <a:rPr kumimoji="0" lang="en-US" sz="16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Thực</a:t>
            </a:r>
            <a:r>
              <a:rPr kumimoji="0" lang="en-US" sz="16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hiện</a:t>
            </a:r>
            <a:r>
              <a:rPr kumimoji="0" lang="en-US" sz="16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chiến</a:t>
            </a:r>
            <a:r>
              <a:rPr kumimoji="0" lang="en-US" sz="16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lược</a:t>
            </a:r>
            <a:r>
              <a:rPr kumimoji="0" lang="en-US" sz="16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mua</a:t>
            </a:r>
            <a:r>
              <a:rPr kumimoji="0" lang="en-US" sz="16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endPar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5327376"/>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I.1.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444500" marR="0" lvl="0" indent="-342900" algn="l" defTabSz="914400" rtl="0" eaLnBrk="1" fontAlgn="auto" latinLnBrk="0" hangingPunct="1">
              <a:lnSpc>
                <a:spcPct val="115000"/>
              </a:lnSpc>
              <a:spcBef>
                <a:spcPts val="1600"/>
              </a:spcBef>
              <a:spcAft>
                <a:spcPts val="0"/>
              </a:spcAft>
              <a:buClr>
                <a:srgbClr val="000000"/>
              </a:buClr>
              <a:buSzPts val="2000"/>
              <a:buFont typeface="+mj-lt"/>
              <a:buAutoNum type="alphaLcParenR" startAt="3"/>
              <a:defRPr/>
            </a:pPr>
            <a:r>
              <a:rPr kumimoji="0" lang="en-US" sz="1600" b="1" i="0" u="sng"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Tổng</a:t>
            </a:r>
            <a:r>
              <a:rPr kumimoji="0" lang="en-US" sz="1600" b="1" i="0" u="sng"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hợp</a:t>
            </a:r>
            <a:r>
              <a:rPr kumimoji="0" lang="en-US" sz="1600" b="1" i="0" u="sng"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tư</a:t>
            </a:r>
            <a:r>
              <a:rPr kumimoji="0" lang="en-US" sz="1600" b="1" i="0" u="sng"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duy</a:t>
            </a:r>
            <a:r>
              <a:rPr kumimoji="0" lang="en-US" sz="1600" b="1" i="0" u="sng"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code</a:t>
            </a:r>
            <a:endPar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1</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Code nhận diện nến Doji chân dài: Vậy nếu code để nhận diện nến Doji chân dài thì chúng ta sẽ code gì?</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Kiểm tra giá mở cửa và đóng cửa có gần bằng nhau không?</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Kiểm tra bóng nến trên có lớn hơn hoặc bằng 2 lần thân nến không?</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Kiểm tra bóng nến dưới có lớn hơn hoặc bằng 2 lần thân nến không?</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2/ </a:t>
            </a:r>
            <a:r>
              <a:rPr kumimoji="0" lang="vi-VN" sz="16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Code kiểm tra nến xác nhận sau nến Doji chân dài 1 nến</a:t>
            </a: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Vậy nếu code để kiểm tra nến xác nhận sau nến </a:t>
            </a: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Doji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chân dài 1 nến thì chúng ta sẽ code gì?</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Nếu nến tiếp theo là một nến tăng (màu xanh lá hoặc trắng) và đóng cửa trên thân nến của Doji, nó có thể là một nến xác nhận tăng giá. </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=&gt; </a:t>
            </a: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Thực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hiện chiến lược mua vào</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5327376"/>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I.1.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444500" marR="0" lvl="0" indent="-342900" algn="l" defTabSz="914400" rtl="0" eaLnBrk="1" fontAlgn="auto" latinLnBrk="0" hangingPunct="1">
              <a:lnSpc>
                <a:spcPct val="115000"/>
              </a:lnSpc>
              <a:spcBef>
                <a:spcPts val="1600"/>
              </a:spcBef>
              <a:spcAft>
                <a:spcPts val="0"/>
              </a:spcAft>
              <a:buClr>
                <a:srgbClr val="000000"/>
              </a:buClr>
              <a:buSzPts val="2000"/>
              <a:buFont typeface="+mj-lt"/>
              <a:buAutoNum type="alphaLcParenR" startAt="4"/>
              <a:defRPr/>
            </a:pPr>
            <a:r>
              <a:rPr kumimoji="0" lang="en-US" sz="1600" b="1" i="0" u="sng"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Code </a:t>
            </a:r>
            <a:r>
              <a:rPr kumimoji="0" lang="en-US" sz="1600" b="1" i="0" u="sng"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chiến</a:t>
            </a:r>
            <a:r>
              <a:rPr kumimoji="0" lang="en-US" sz="1600" b="1" i="0" u="sng"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lược</a:t>
            </a:r>
            <a:r>
              <a:rPr kumimoji="0" lang="en-US" sz="1600" b="1" i="0" u="sng"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endParaRPr kumimoji="0" lang="en-US" sz="1600" b="1" i="0" u="sng"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Vậy</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kiểm</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tra</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hiện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tại</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có</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phải</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là</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tăng</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hay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không</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=&gt;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Nếu</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tăng</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thì</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kiểm</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tra</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trước</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hiện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tại</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1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có</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phải</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là</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Doji</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chân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dài</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hay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không</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=&gt;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Kiểm</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tra</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nến</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hiện</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tại</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có</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giá</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đóng cửa trên thân nến của Doji, nó có thể là một nến xác nhận tăng giá</a:t>
            </a:r>
            <a:endPar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=&gt;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Nếu</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cả</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2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điều</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kiện</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đó</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thỏa</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thì</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vào</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1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lệnh</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mua</a:t>
            </a:r>
            <a:endPar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I.2.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của</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1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học</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viên</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hiến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của</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học</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viên</a:t>
            </a: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I.3. </a:t>
            </a:r>
            <a:r>
              <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Chiến lược giao dịch theo chỉ số biến động</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SPY500 – VIX) </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444500" marR="0" lvl="0" indent="-342900" algn="just" defTabSz="914400" rtl="0" eaLnBrk="1" fontAlgn="auto" latinLnBrk="0" hangingPunct="1">
              <a:lnSpc>
                <a:spcPct val="115000"/>
              </a:lnSpc>
              <a:spcBef>
                <a:spcPts val="1600"/>
              </a:spcBef>
              <a:spcAft>
                <a:spcPts val="0"/>
              </a:spcAft>
              <a:buClr>
                <a:srgbClr val="000000"/>
              </a:buClr>
              <a:buSzPts val="2000"/>
              <a:buFont typeface="Arial" panose="020B0604020202020204"/>
              <a:buAutoNum type="alphaLcParenR"/>
              <a:defRPr/>
            </a:pP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diện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SPY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là</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chứng</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chỉ</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quỹ</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S&amp;P 500 ETF (SPY) theo dõi chỉ số S&amp;P 500, một trong những chỉ số chính của thị trường chứng khoán Mỹ, bao gồm cổ phiếu của 500 công ty lớn nhất tại Mỹ. Về lịch sử, S&amp;P 500 thường có xu hướng tăng trưởng trong dài hạn, nhưng không phải mỗi năm đều tăng. Giá trị của SPY, tương tự như S&amp;P 500, biến động dựa trên nhiều yếu tố, bao gồm tình hình kinh tế vĩ mô, chính sách tiền tệ, lợi nhuận của doanh nghiệp, và các sự kiện toàn cầu.</a:t>
            </a: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Giao</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dịch</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SPY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dựa</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chỉ</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số</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biến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động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thị</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trường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lường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bởi</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VIX):</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Mua</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nắm</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giữ</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SPY</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Khi</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thị</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trường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có</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biến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động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(VIX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cao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chiến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lược</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đề</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xuất</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bán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giữ</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tiền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mặt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Khi thị trường ổn định (VIX thấp), chiến lược lại đề xuất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mua</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I.3. </a:t>
            </a:r>
            <a:r>
              <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Chiến lược giao dịch theo chỉ số biến động</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SPY500 – VIX) </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Mua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và Nắm Giữ SPY</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Chiến lược này dự định mua và nắm giữ SPY, một quỹ đầu tư ETF theo dõi chỉ số S&amp;P 500, trong những điều kiện nhất định của thị trường</a:t>
            </a:r>
            <a:r>
              <a:rPr kumimoji="0" lang="vi-VN"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Bán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Khi Biến Động Cao (VIX Cao)</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Khi chỉ số biến động VIX vượt qua một ngưỡng nhất định (</a:t>
            </a:r>
            <a:r>
              <a:rPr kumimoji="0" lang="vi-VN"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trong trường hợp này là 30</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điều này coi như một dấu hiệu của sự biến động cao trong thị trường. Chiến lược này đề xuất việc bán SPY và giữ tiền mặt trong những thời kỳ như vậy. Điều này dựa trên quan điểm rằng khi thị trường biến động mạnh, việc giữ tiền mặt có thể là an toàn hơn so với việc giữ các tài sản có giá biến động lớn</a:t>
            </a:r>
            <a:r>
              <a:rPr kumimoji="0" lang="vi-VN"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Mua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Khi Thị Trường Ổn Định (</a:t>
            </a:r>
            <a:r>
              <a:rPr kumimoji="0" lang="vi-VN"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VIX Thấp</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Ngược lại, khi chỉ số VIX thấp, điều này cho thấy thị trường đang ổn định hơn, chiến lược này đề xuất </a:t>
            </a:r>
            <a:r>
              <a:rPr kumimoji="0" lang="vi-VN"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mua SP</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Y. Quan điểm ở đây là trong môi trường ít biến động, đầu tư vào thị trường chứng khoán (qua SPY) có thể mang lại lợi nhuận tốt hơn so với việc giữ tiền mặt.</a:t>
            </a:r>
            <a:endPar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I.3. </a:t>
            </a:r>
            <a:r>
              <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Chiến lược giao dịch theo chỉ số biến động</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SPY500 – VIX) </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444500" marR="0" lvl="0" indent="-342900" algn="l" defTabSz="914400" rtl="0" eaLnBrk="1" fontAlgn="auto" latinLnBrk="0" hangingPunct="1">
              <a:lnSpc>
                <a:spcPct val="115000"/>
              </a:lnSpc>
              <a:spcBef>
                <a:spcPts val="1600"/>
              </a:spcBef>
              <a:spcAft>
                <a:spcPts val="0"/>
              </a:spcAft>
              <a:buClr>
                <a:srgbClr val="000000"/>
              </a:buClr>
              <a:buSzPts val="2000"/>
              <a:buFont typeface="+mj-lt"/>
              <a:buAutoNum type="alphaLcParenR" startAt="2"/>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Code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Load data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của</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1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ngày</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mới</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nhất</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hiện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tại</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a:t>
            </a:r>
            <a:endPar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Kiểm</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tra</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xem</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ngưỡng</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VIX: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nếu</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VIX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nhỏ</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hơn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ngưỡng</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ví</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dụ</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như</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30</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thì</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mua</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ngược</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lại</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nếu</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VIX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lớn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hơn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ngưỡng</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thì</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bán</a:t>
            </a: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
        <p:nvSpPr>
          <p:cNvPr id="5" name="Google Shape;100;p3"/>
          <p:cNvSpPr txBox="1"/>
          <p:nvPr/>
        </p:nvSpPr>
        <p:spPr>
          <a:xfrm>
            <a:off x="424875" y="3248709"/>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II.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manual</a:t>
            </a:r>
            <a:endPar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
        <p:nvSpPr>
          <p:cNvPr id="5" name="Google Shape;100;p3"/>
          <p:cNvSpPr txBox="1"/>
          <p:nvPr/>
        </p:nvSpPr>
        <p:spPr>
          <a:xfrm>
            <a:off x="424875" y="3248709"/>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III.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2400" b="1" i="0" u="none" strike="noStrike" kern="0" cap="none" spc="0" normalizeH="0" baseline="0" noProof="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API</a:t>
            </a:r>
            <a:endPar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
        <p:nvSpPr>
          <p:cNvPr id="5" name="Google Shape;100;p3"/>
          <p:cNvSpPr txBox="1"/>
          <p:nvPr/>
        </p:nvSpPr>
        <p:spPr>
          <a:xfrm>
            <a:off x="424875" y="3248709"/>
            <a:ext cx="6865800" cy="830956"/>
          </a:xfrm>
          <a:prstGeom prst="rect">
            <a:avLst/>
          </a:prstGeom>
          <a:noFill/>
          <a:ln>
            <a:noFill/>
          </a:ln>
        </p:spPr>
        <p:txBody>
          <a:bodyPr spcFirstLastPara="1" wrap="square" lIns="91425" tIns="45700" rIns="91425" bIns="45700" anchor="t" anchorCtr="0">
            <a:spAutoFit/>
          </a:bodyPr>
          <a:lstStyle/>
          <a:p>
            <a:pPr marL="514350" marR="0" lvl="0" indent="-514350" algn="l" defTabSz="914400" rtl="0" eaLnBrk="1" fontAlgn="auto" latinLnBrk="0" hangingPunct="1">
              <a:lnSpc>
                <a:spcPct val="100000"/>
              </a:lnSpc>
              <a:spcBef>
                <a:spcPts val="0"/>
              </a:spcBef>
              <a:spcAft>
                <a:spcPts val="0"/>
              </a:spcAft>
              <a:buClr>
                <a:srgbClr val="000000"/>
              </a:buClr>
              <a:buSzPts val="2000"/>
              <a:buFont typeface="+mj-lt"/>
              <a:buAutoNum type="romanUcPeriod" startAt="2"/>
              <a:defRPr/>
            </a:pP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Forex</a:t>
            </a:r>
            <a:endPar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vi-VN" sz="2400" b="0" i="0" u="none" strike="noStrike" kern="0" cap="none" spc="0" normalizeH="0" baseline="0" noProof="0">
                <a:ln>
                  <a:noFill/>
                </a:ln>
                <a:solidFill>
                  <a:srgbClr val="FFFFFF"/>
                </a:solidFill>
                <a:effectLst/>
                <a:uLnTx/>
                <a:uFillTx/>
                <a:latin typeface="Arial" panose="020B0604020202020204"/>
                <a:cs typeface="Arial" panose="020B0604020202020204"/>
                <a:sym typeface="Arial" panose="020B0604020202020204"/>
              </a:rPr>
              <a:t>Nội dung chính</a:t>
            </a:r>
            <a:endParaRPr kumimoji="0" sz="24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501650" marR="0" lvl="0" indent="-400050" algn="l" defTabSz="914400" rtl="0" eaLnBrk="1" fontAlgn="auto" latinLnBrk="0" hangingPunct="1">
              <a:lnSpc>
                <a:spcPct val="115000"/>
              </a:lnSpc>
              <a:spcBef>
                <a:spcPts val="1600"/>
              </a:spcBef>
              <a:spcAft>
                <a:spcPts val="0"/>
              </a:spcAft>
              <a:buClr>
                <a:srgbClr val="000000"/>
              </a:buClr>
              <a:buSzPts val="2000"/>
              <a:buFont typeface="Arial" panose="020B0604020202020204"/>
              <a:buAutoNum type="romanUcPeriod"/>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I.1. Chiến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MA </a:t>
            </a:r>
            <a:r>
              <a:rPr kumimoji="0" lang="en-US" sz="14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ATR</a:t>
            </a:r>
            <a:endPar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endParaRPr>
          </a:p>
          <a:p>
            <a:pPr marL="501650" marR="0" lvl="0" indent="-400050" algn="l" defTabSz="914400" rtl="0" eaLnBrk="1" fontAlgn="auto" latinLnBrk="0" hangingPunct="1">
              <a:lnSpc>
                <a:spcPct val="115000"/>
              </a:lnSpc>
              <a:spcBef>
                <a:spcPts val="1600"/>
              </a:spcBef>
              <a:spcAft>
                <a:spcPts val="0"/>
              </a:spcAft>
              <a:buClr>
                <a:srgbClr val="000000"/>
              </a:buClr>
              <a:buSzPts val="2000"/>
              <a:buFont typeface="+mj-lt"/>
              <a:buAutoNum type="romanUcPeriod" startAt="2"/>
              <a:defRPr/>
            </a:pP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manual</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II.1. </a:t>
            </a:r>
            <a:r>
              <a:rPr kumimoji="0" lang="vi-VN"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 lệnh bằng API MT5</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501650" marR="0" lvl="0" indent="-400050" algn="l" defTabSz="914400" rtl="0" eaLnBrk="1" fontAlgn="auto" latinLnBrk="0" hangingPunct="1">
              <a:lnSpc>
                <a:spcPct val="115000"/>
              </a:lnSpc>
              <a:spcBef>
                <a:spcPts val="1600"/>
              </a:spcBef>
              <a:spcAft>
                <a:spcPts val="0"/>
              </a:spcAft>
              <a:buClr>
                <a:srgbClr val="000000"/>
              </a:buClr>
              <a:buSzPts val="2000"/>
              <a:buFont typeface="+mj-lt"/>
              <a:buAutoNum type="romanUcPeriod" startAt="3"/>
              <a:defRPr/>
            </a:pP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API</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III.1. </a:t>
            </a: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rPr>
              <a:t>Vào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rPr>
              <a:t>lệnh bằng API MT5</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I.1.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diện</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ATR</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285750" marR="0" lvl="0" indent="-285750" algn="l" defTabSz="914400" rtl="0" eaLnBrk="1" fontAlgn="auto" latinLnBrk="0" hangingPunct="1">
              <a:lnSpc>
                <a:spcPct val="100000"/>
              </a:lnSpc>
              <a:spcBef>
                <a:spcPts val="0"/>
              </a:spcBef>
              <a:spcAft>
                <a:spcPts val="0"/>
              </a:spcAft>
              <a:buClr>
                <a:srgbClr val="000000"/>
              </a:buClr>
              <a:buSzTx/>
              <a:buFontTx/>
              <a:buChar char="-"/>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symbol </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"EUR/USDT"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Sử</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dụng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cặp</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tiền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tệ</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EUR/USDT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trên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sàn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Binance</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285750" marR="0" lvl="1" indent="-285750" algn="l" defTabSz="914400" rtl="0" eaLnBrk="1" fontAlgn="auto" latinLnBrk="0" hangingPunct="1">
              <a:lnSpc>
                <a:spcPct val="100000"/>
              </a:lnSpc>
              <a:spcBef>
                <a:spcPts val="0"/>
              </a:spcBef>
              <a:spcAft>
                <a:spcPts val="0"/>
              </a:spcAft>
              <a:buClr>
                <a:srgbClr val="000000"/>
              </a:buClr>
              <a:buSzTx/>
              <a:buFontTx/>
              <a:buChar char="-"/>
              <a:defRPr/>
            </a:pP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ma_fast</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_period</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50</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Gia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tri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cua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MA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nhanh</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285750" marR="0" lvl="1" indent="-285750" algn="l" defTabSz="914400" rtl="0" eaLnBrk="1" fontAlgn="auto" latinLnBrk="0" hangingPunct="1">
              <a:lnSpc>
                <a:spcPct val="100000"/>
              </a:lnSpc>
              <a:spcBef>
                <a:spcPts val="0"/>
              </a:spcBef>
              <a:spcAft>
                <a:spcPts val="0"/>
              </a:spcAft>
              <a:buClr>
                <a:srgbClr val="000000"/>
              </a:buClr>
              <a:buSzTx/>
              <a:buFontTx/>
              <a:buChar char="-"/>
              <a:defRPr/>
            </a:pP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ma_slow</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_period</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200</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Gia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tri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cua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MA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chậm</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285750" marR="0" lvl="1" indent="-285750" algn="l" defTabSz="914400" rtl="0" eaLnBrk="1" fontAlgn="auto" latinLnBrk="0" hangingPunct="1">
              <a:lnSpc>
                <a:spcPct val="100000"/>
              </a:lnSpc>
              <a:spcBef>
                <a:spcPts val="0"/>
              </a:spcBef>
              <a:spcAft>
                <a:spcPts val="0"/>
              </a:spcAft>
              <a:buClr>
                <a:srgbClr val="000000"/>
              </a:buClr>
              <a:buSzTx/>
              <a:buFontTx/>
              <a:buChar char="-"/>
              <a:defRPr/>
            </a:pP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atr_period</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14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Gia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tri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cua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ATR</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285750" marR="0" lvl="1" indent="-285750" algn="l" defTabSz="914400" rtl="0" eaLnBrk="1" fontAlgn="auto" latinLnBrk="0" hangingPunct="1">
              <a:lnSpc>
                <a:spcPct val="100000"/>
              </a:lnSpc>
              <a:spcBef>
                <a:spcPts val="0"/>
              </a:spcBef>
              <a:spcAft>
                <a:spcPts val="0"/>
              </a:spcAft>
              <a:buClr>
                <a:srgbClr val="000000"/>
              </a:buClr>
              <a:buSzTx/>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Để nhận diện một chiến lược giao dịch sử dụng chỉ báo Moving Average (MA) và Average True Range (ATR) cho cặp tiền tệ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EUR/USDT trên sàn Binance</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 cần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kết hợp hai chỉ báo này trong phân tích kỹ thuật của mình.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Đây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là một cách cơ bản để làm điều </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này</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I.1.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diện</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ATR</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Moving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Average (MA</a:t>
            </a: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a:t>
            </a:r>
            <a:endPar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MA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là một chỉ báo phổ biến được sử dụng để xác định xu hướng thị trường dựa trên giá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trung bình trong một khoảng thời gian nhất định</a:t>
            </a: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a:t>
            </a:r>
            <a:endPar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Trong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trường hợp này, </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sử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dụng hai MAs: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một "nhanh" với kỳ hạn 50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và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một "chậm" với kỳ hạn 200</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 Điều này giúp nhận diện xu hướng bằng cách so sánh hai đường MA.</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Average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True Range (ATR</a:t>
            </a: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a:t>
            </a:r>
            <a:endPar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ATR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là một chỉ báo đo lường biến động thị trường. Nó không chỉ ra hướng đi của giá, mà chỉ ra mức độ biến động.</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ATR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với kỳ hạn 14 sẽ cung cấp thông tin về biến động trung bình của thị trường trong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14 kỳ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gần nhất.</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Xây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Dựng Chiến Lược</a:t>
            </a: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Một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chiến lược giao dịch cơ bản có thể bao gồm việc mua khi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MA nhanh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cắt lên trên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MA chậm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(điều này có thể báo hiệu một xu hướng tăng) và bán hoặc ngắn hạn khi MA nhanh cắt xuống dưới MA chậm (điều này có thể báo hiệu một xu hướng giảm).</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ATR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có thể được sử dụng để thiết lập các điểm dừng lỗ và chốt lời. Ví dụ</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 có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thể đặt dừng lỗ ở một khoảng cách nhất định (ví dụ: 2x giá trị ATR) từ điểm vào lệnh.</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I.2.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Lập Trình và Kiểm Tra</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ATR</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Lập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Trình và Kiểm Tra</a:t>
            </a:r>
            <a:r>
              <a:rPr kumimoji="0" lang="vi-VN"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Để </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tự động hóa chiến lược này, sẽ cần lập trình nó (ví dụ: sử dụng Python và một API như </a:t>
            </a:r>
            <a:r>
              <a:rPr kumimoji="0" lang="vi-VN"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ccxt</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để kết nối với </a:t>
            </a:r>
            <a:r>
              <a:rPr kumimoji="0" lang="vi-VN"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Binance</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Trước </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khi áp dụng chiến lược này trực tiếp, nên kiểm tra nó trên dữ liệu lịch sử hoặc trong môi trường demo để xác định hiệu quả của nó.</a:t>
            </a:r>
            <a:endPar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Nhận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Diện Tín Hiệu</a:t>
            </a:r>
            <a:r>
              <a:rPr kumimoji="0" lang="vi-VN"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C</a:t>
            </a:r>
            <a:r>
              <a:rPr kumimoji="0" lang="vi-VN"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ần </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xác định rõ ràng </a:t>
            </a:r>
            <a:r>
              <a:rPr kumimoji="0" lang="vi-VN"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tín hiệu mua và bán dựa trên MA và ATR</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Điều này có thể bao gồm việc thiết lập các ngưỡng cụ thể khi các điều kiện của chiến lược được đáp ứng.</a:t>
            </a:r>
            <a:endPar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I.2.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Lập Trình và Kiểm Tra</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ATR </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Sử</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dụng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thư</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viện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ccxt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pip install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ccxt</a:t>
            </a:r>
            <a:endPar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import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ccxt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Lấy</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dữ</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liệu</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từ</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thị</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trường</a:t>
            </a:r>
            <a:endPar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Sử</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dụng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schedule</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hoặc</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while true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quét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Sử</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dụng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hàm</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fetch_ohlcv</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lấy</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dữ</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liệu</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pic>
        <p:nvPicPr>
          <p:cNvPr id="2" name="Picture 1"/>
          <p:cNvPicPr>
            <a:picLocks noChangeAspect="1"/>
          </p:cNvPicPr>
          <p:nvPr/>
        </p:nvPicPr>
        <p:blipFill>
          <a:blip r:embed="rId2"/>
          <a:stretch>
            <a:fillRect/>
          </a:stretch>
        </p:blipFill>
        <p:spPr>
          <a:xfrm>
            <a:off x="889506" y="4115408"/>
            <a:ext cx="7355753" cy="764134"/>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I.2.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Lập Trình và Kiểm Tra</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ATR </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Tính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toán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MA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nhanh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MA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chậm</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ATR</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Kiểm</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tra</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điều</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kiện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MA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nhanh</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&gt; MA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chậm</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ATR &lt;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hơn</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1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giá</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trị</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nào</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đó</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=&gt;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Bắn</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tín</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hiệu</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BUY</a:t>
            </a:r>
            <a:endPar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pic>
        <p:nvPicPr>
          <p:cNvPr id="3" name="Picture 2"/>
          <p:cNvPicPr>
            <a:picLocks noChangeAspect="1"/>
          </p:cNvPicPr>
          <p:nvPr/>
        </p:nvPicPr>
        <p:blipFill>
          <a:blip r:embed="rId2"/>
          <a:stretch>
            <a:fillRect/>
          </a:stretch>
        </p:blipFill>
        <p:spPr>
          <a:xfrm>
            <a:off x="951637" y="1660093"/>
            <a:ext cx="5572125" cy="1838325"/>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I.2.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Lập Trình và Kiểm Tra</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ATR </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Hệ</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thống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ghi</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nhận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tín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hiệu</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memory</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Redis</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(MySQL, SQL Server, MongoDB)</a:t>
            </a:r>
            <a:endPar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pic>
        <p:nvPicPr>
          <p:cNvPr id="4" name="Picture 3"/>
          <p:cNvPicPr>
            <a:picLocks noChangeAspect="1"/>
          </p:cNvPicPr>
          <p:nvPr/>
        </p:nvPicPr>
        <p:blipFill>
          <a:blip r:embed="rId2"/>
          <a:stretch>
            <a:fillRect/>
          </a:stretch>
        </p:blipFill>
        <p:spPr>
          <a:xfrm>
            <a:off x="615057" y="1675984"/>
            <a:ext cx="8482763" cy="2674347"/>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I.3.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Hệ</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thống</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đọc</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memory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I.3.1.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Hệ</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thống</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đọc</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memory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Nếu</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bằng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Python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thì</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sử</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dụng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schedule, while true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quét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pic>
        <p:nvPicPr>
          <p:cNvPr id="2" name="Picture 1"/>
          <p:cNvPicPr>
            <a:picLocks noChangeAspect="1"/>
          </p:cNvPicPr>
          <p:nvPr/>
        </p:nvPicPr>
        <p:blipFill>
          <a:blip r:embed="rId2"/>
          <a:stretch>
            <a:fillRect/>
          </a:stretch>
        </p:blipFill>
        <p:spPr>
          <a:xfrm>
            <a:off x="895545" y="2144410"/>
            <a:ext cx="6759019" cy="3912652"/>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I.3.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Hệ</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thống</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đọc</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memory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I.3.2.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Hệ</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thống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đọc</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memory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Vào</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lệnh</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bằng</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C#/ Java MT5API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dll</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a:t>
            </a:r>
            <a:endPar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Nếu</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bằng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C#, Java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thì</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dùng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schedule, timer, while true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quét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pic>
        <p:nvPicPr>
          <p:cNvPr id="3" name="Picture 2"/>
          <p:cNvPicPr>
            <a:picLocks noChangeAspect="1"/>
          </p:cNvPicPr>
          <p:nvPr/>
        </p:nvPicPr>
        <p:blipFill>
          <a:blip r:embed="rId2"/>
          <a:stretch>
            <a:fillRect/>
          </a:stretch>
        </p:blipFill>
        <p:spPr>
          <a:xfrm>
            <a:off x="899546" y="2602194"/>
            <a:ext cx="5619750" cy="495300"/>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I.3.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Hệ</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thống</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đọc</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memory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I.3.3.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Hệ</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thống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đọc</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memory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bằng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Python/ C#/ Java…</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dựa</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trên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Restful API</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Nếu</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bằng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Python/ C#/ Java…</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dựa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trên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Restful API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thì</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dùng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schedule, timer, while true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quét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pic>
        <p:nvPicPr>
          <p:cNvPr id="2" name="Picture 1"/>
          <p:cNvPicPr>
            <a:picLocks noChangeAspect="1"/>
          </p:cNvPicPr>
          <p:nvPr/>
        </p:nvPicPr>
        <p:blipFill>
          <a:blip r:embed="rId2"/>
          <a:stretch>
            <a:fillRect/>
          </a:stretch>
        </p:blipFill>
        <p:spPr>
          <a:xfrm>
            <a:off x="895929" y="2779620"/>
            <a:ext cx="5347854" cy="3195157"/>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35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11333</Words>
  <Application>WPS Presentation</Application>
  <PresentationFormat>On-screen Show (4:3)</PresentationFormat>
  <Paragraphs>364</Paragraphs>
  <Slides>34</Slides>
  <Notes>34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34</vt:i4>
      </vt:variant>
    </vt:vector>
  </HeadingPairs>
  <TitlesOfParts>
    <vt:vector size="45" baseType="lpstr">
      <vt:lpstr>Arial</vt:lpstr>
      <vt:lpstr>SimSun</vt:lpstr>
      <vt:lpstr>Wingdings</vt:lpstr>
      <vt:lpstr>Arial</vt:lpstr>
      <vt:lpstr>Calibri</vt:lpstr>
      <vt:lpstr>Arial (body)</vt:lpstr>
      <vt:lpstr>Open Sans</vt:lpstr>
      <vt:lpstr>Maven Pro</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Huy</dc:creator>
  <cp:lastModifiedBy>PC-DELL-CU</cp:lastModifiedBy>
  <cp:revision>72</cp:revision>
  <dcterms:created xsi:type="dcterms:W3CDTF">2021-10-18T16:01:00Z</dcterms:created>
  <dcterms:modified xsi:type="dcterms:W3CDTF">2024-08-23T13:05:58Z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5073F9049AA54640803FD570BCAE854F_12</vt:lpwstr>
  </property>
  <property fmtid="{D5CDD505-2E9C-101B-9397-08002B2CF9AE}" pid="3" name="KSOProductBuildVer">
    <vt:lpwstr>1033-12.2.0.17562</vt:lpwstr>
  </property>
</Properties>
</file>