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298" r:id="rId37"/>
  </p:sldIdLst>
  <p:sldSz cx="9144000" cy="6858000" type="screen4x3"/>
  <p:notesSz cx="6858000" cy="9144000"/>
  <p:embeddedFontLst>
    <p:embeddedFont>
      <p:font typeface="Calibri" panose="020F0502020204030204"/>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38"/>
    <p:restoredTop sz="94695"/>
  </p:normalViewPr>
  <p:slideViewPr>
    <p:cSldViewPr snapToGrid="0">
      <p:cViewPr varScale="1">
        <p:scale>
          <a:sx n="82" d="100"/>
          <a:sy n="82" d="100"/>
        </p:scale>
        <p:origin x="15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hyperlink" Target="https://goanother.com/" TargetMode="External"/><Relationship Id="rId2" Type="http://schemas.openxmlformats.org/officeDocument/2006/relationships/hyperlink" Target="https://github.com/microsoftarchive/redis/releases/download/win-3.0.504/Redis-x64-3.0.504.msi" TargetMode="Externa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9.jpe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2.jpe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14.jpeg"/><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lvl="0">
              <a:buSzPts val="2800"/>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vi-VN" sz="2800" b="1" i="1" dirty="0">
                <a:solidFill>
                  <a:srgbClr val="FF0000"/>
                </a:solidFill>
              </a:rPr>
              <a:t>Xây dựng Chiến lược và vào lệnh giao dịch</a:t>
            </a:r>
            <a:endParaRPr lang="vi-VN" dirty="0"/>
          </a:p>
        </p:txBody>
      </p:sp>
      <p:sp>
        <p:nvSpPr>
          <p:cNvPr id="95" name="Google Shape;95;p2"/>
          <p:cNvSpPr txBox="1"/>
          <p:nvPr/>
        </p:nvSpPr>
        <p:spPr>
          <a:xfrm>
            <a:off x="5370786" y="4841005"/>
            <a:ext cx="3514596"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en-US" sz="2800" i="1" dirty="0">
                <a:solidFill>
                  <a:schemeClr val="dk1"/>
                </a:solidFill>
              </a:rPr>
              <a:t>Đặng </a:t>
            </a:r>
            <a:r>
              <a:rPr lang="en-US" sz="2800" i="1" dirty="0" err="1">
                <a:solidFill>
                  <a:schemeClr val="dk1"/>
                </a:solidFill>
              </a:rPr>
              <a:t>Trí</a:t>
            </a:r>
            <a:r>
              <a:rPr lang="en-US" sz="2800" i="1" dirty="0">
                <a:solidFill>
                  <a:schemeClr val="dk1"/>
                </a:solidFill>
              </a:rPr>
              <a:t>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Đặt</a:t>
            </a:r>
            <a:r>
              <a:rPr lang="en-US" sz="2400" b="1" dirty="0">
                <a:solidFill>
                  <a:schemeClr val="lt1"/>
                </a:solidFill>
                <a:latin typeface="Arial (body)"/>
              </a:rPr>
              <a:t> </a:t>
            </a:r>
            <a:r>
              <a:rPr lang="en-US" sz="2400" b="1" dirty="0" err="1">
                <a:solidFill>
                  <a:schemeClr val="lt1"/>
                </a:solidFill>
                <a:latin typeface="Arial (body)"/>
              </a:rPr>
              <a:t>câu</a:t>
            </a:r>
            <a:r>
              <a:rPr lang="en-US" sz="2400" b="1" dirty="0">
                <a:solidFill>
                  <a:schemeClr val="lt1"/>
                </a:solidFill>
                <a:latin typeface="Arial (body)"/>
              </a:rPr>
              <a:t> </a:t>
            </a:r>
            <a:r>
              <a:rPr lang="en-US" sz="2400" b="1" dirty="0" err="1">
                <a:solidFill>
                  <a:schemeClr val="lt1"/>
                </a:solidFill>
                <a:latin typeface="Arial (body)"/>
              </a:rPr>
              <a:t>hỏi</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a:solidFill>
                  <a:schemeClr val="dk1"/>
                </a:solidFill>
              </a:rPr>
              <a:t>Chúng</a:t>
            </a:r>
            <a:r>
              <a:rPr lang="en-US" sz="1800" b="1" dirty="0">
                <a:solidFill>
                  <a:schemeClr val="dk1"/>
                </a:solidFill>
              </a:rPr>
              <a:t> ta </a:t>
            </a:r>
            <a:r>
              <a:rPr lang="en-US" sz="1800" b="1" dirty="0" err="1">
                <a:solidFill>
                  <a:schemeClr val="dk1"/>
                </a:solidFill>
              </a:rPr>
              <a:t>có</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a:t>
            </a:r>
            <a:r>
              <a:rPr lang="en-US" sz="1800" b="1" dirty="0" err="1">
                <a:solidFill>
                  <a:schemeClr val="dk1"/>
                </a:solidFill>
              </a:rPr>
              <a:t>như</a:t>
            </a:r>
            <a:r>
              <a:rPr lang="en-US" sz="1800" b="1" dirty="0">
                <a:solidFill>
                  <a:schemeClr val="dk1"/>
                </a:solidFill>
              </a:rPr>
              <a:t> </a:t>
            </a:r>
            <a:r>
              <a:rPr lang="en-US" sz="1800" b="1" dirty="0" err="1">
                <a:solidFill>
                  <a:schemeClr val="dk1"/>
                </a:solidFill>
              </a:rPr>
              <a:t>sau</a:t>
            </a:r>
            <a:r>
              <a:rPr lang="en-US" sz="1800" b="1" dirty="0">
                <a:solidFill>
                  <a:schemeClr val="dk1"/>
                </a:solidFill>
              </a:rPr>
              <a:t>:</a:t>
            </a:r>
            <a:endParaRPr lang="en-US" sz="1800" b="1" dirty="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rgbClr val="FF0000"/>
                </a:solidFill>
                <a:latin typeface="Arial" panose="020B0604020202020204"/>
                <a:ea typeface="Arial" panose="020B0604020202020204"/>
                <a:cs typeface="Arial" panose="020B0604020202020204"/>
                <a:sym typeface="Arial" panose="020B0604020202020204"/>
              </a:rPr>
              <a:t>Arima</a:t>
            </a:r>
            <a:r>
              <a:rPr lang="en-US" sz="1800" b="1" i="0" u="none" strike="noStrike" cap="none" dirty="0">
                <a:solidFill>
                  <a:srgbClr val="FF0000"/>
                </a:solidFill>
                <a:latin typeface="Arial" panose="020B0604020202020204"/>
                <a:ea typeface="Arial" panose="020B0604020202020204"/>
                <a:cs typeface="Arial" panose="020B0604020202020204"/>
                <a:sym typeface="Arial" panose="020B0604020202020204"/>
              </a:rPr>
              <a:t>, Momentum, RSI</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0750" y="2613514"/>
            <a:ext cx="4078615" cy="2013903"/>
          </a:xfrm>
          <a:prstGeom prst="rect">
            <a:avLst/>
          </a:prstGeom>
        </p:spPr>
      </p:pic>
      <p:pic>
        <p:nvPicPr>
          <p:cNvPr id="3" name="Picture 2"/>
          <p:cNvPicPr>
            <a:picLocks noChangeAspect="1"/>
          </p:cNvPicPr>
          <p:nvPr/>
        </p:nvPicPr>
        <p:blipFill>
          <a:blip r:embed="rId3"/>
          <a:stretch>
            <a:fillRect/>
          </a:stretch>
        </p:blipFill>
        <p:spPr>
          <a:xfrm>
            <a:off x="4714875" y="4236025"/>
            <a:ext cx="4429125" cy="2057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Giải</a:t>
            </a:r>
            <a:r>
              <a:rPr lang="en-US" sz="2400" b="1" dirty="0">
                <a:solidFill>
                  <a:schemeClr val="lt1"/>
                </a:solidFill>
                <a:latin typeface="Arial (body)"/>
              </a:rPr>
              <a:t> </a:t>
            </a:r>
            <a:r>
              <a:rPr lang="en-US" sz="2400" b="1" dirty="0" err="1">
                <a:solidFill>
                  <a:schemeClr val="lt1"/>
                </a:solidFill>
                <a:latin typeface="Arial (body)"/>
              </a:rPr>
              <a:t>quyết</a:t>
            </a:r>
            <a:r>
              <a:rPr lang="en-US" sz="2400" b="1" dirty="0">
                <a:solidFill>
                  <a:schemeClr val="lt1"/>
                </a:solidFill>
                <a:latin typeface="Arial (body)"/>
              </a:rPr>
              <a:t> </a:t>
            </a:r>
            <a:r>
              <a:rPr lang="en-US" sz="2400" b="1" dirty="0" err="1">
                <a:solidFill>
                  <a:schemeClr val="lt1"/>
                </a:solidFill>
                <a:latin typeface="Arial (body)"/>
              </a:rPr>
              <a:t>vấn</a:t>
            </a:r>
            <a:r>
              <a:rPr lang="en-US" sz="2400" b="1" dirty="0">
                <a:solidFill>
                  <a:schemeClr val="lt1"/>
                </a:solidFill>
                <a:latin typeface="Arial (body)"/>
              </a:rPr>
              <a:t> </a:t>
            </a:r>
            <a:r>
              <a:rPr lang="en-US" sz="2400" b="1" dirty="0" err="1">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a:solidFill>
                  <a:schemeClr val="dk1"/>
                </a:solidFill>
              </a:rPr>
              <a:t>Phần</a:t>
            </a:r>
            <a:r>
              <a:rPr lang="en-US" sz="1800" b="1" dirty="0">
                <a:solidFill>
                  <a:schemeClr val="dk1"/>
                </a:solidFill>
              </a:rPr>
              <a:t> data:</a:t>
            </a:r>
            <a:endParaRPr lang="en-US" sz="1800" b="1" dirty="0">
              <a:solidFill>
                <a:schemeClr val="dk1"/>
              </a:solidFill>
            </a:endParaRPr>
          </a:p>
          <a:p>
            <a:pPr marL="444500" marR="0" lvl="0" indent="-342900" algn="just" rtl="0">
              <a:lnSpc>
                <a:spcPct val="115000"/>
              </a:lnSpc>
              <a:spcBef>
                <a:spcPts val="1600"/>
              </a:spcBef>
              <a:spcAft>
                <a:spcPts val="0"/>
              </a:spcAft>
              <a:buAutoNum type="arabicPeriod"/>
            </a:pPr>
            <a:r>
              <a:rPr lang="en-US" sz="1800" b="1" dirty="0">
                <a:solidFill>
                  <a:schemeClr val="dk1"/>
                </a:solidFill>
              </a:rPr>
              <a:t>Load </a:t>
            </a:r>
            <a:r>
              <a:rPr lang="en-US" sz="1800" b="1" dirty="0" err="1">
                <a:solidFill>
                  <a:schemeClr val="dk1"/>
                </a:solidFill>
              </a:rPr>
              <a:t>dữ</a:t>
            </a:r>
            <a:r>
              <a:rPr lang="en-US" sz="1800" b="1" dirty="0">
                <a:solidFill>
                  <a:schemeClr val="dk1"/>
                </a:solidFill>
              </a:rPr>
              <a:t> </a:t>
            </a:r>
            <a:r>
              <a:rPr lang="en-US" sz="1800" b="1" dirty="0" err="1">
                <a:solidFill>
                  <a:schemeClr val="dk1"/>
                </a:solidFill>
              </a:rPr>
              <a:t>liệu</a:t>
            </a:r>
            <a:endParaRPr lang="en-US" sz="1800" b="1" dirty="0">
              <a:solidFill>
                <a:schemeClr val="dk1"/>
              </a:solidFill>
            </a:endParaRPr>
          </a:p>
          <a:p>
            <a:pPr marL="101600" marR="0" lvl="0" algn="just" rtl="0">
              <a:lnSpc>
                <a:spcPct val="115000"/>
              </a:lnSpc>
              <a:spcBef>
                <a:spcPts val="1600"/>
              </a:spcBef>
              <a:spcAft>
                <a:spcPts val="0"/>
              </a:spcAft>
            </a:pP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Chúng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ta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chọn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nơi</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cung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cấp</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dữ</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để</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lấy</a:t>
            </a:r>
            <a:r>
              <a:rPr lang="en-US" sz="1800" dirty="0">
                <a:solidFill>
                  <a:schemeClr val="dk1"/>
                </a:solidFill>
              </a:rPr>
              <a:t>:</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Có</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thể</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lấy</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từ</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yfinance</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hoặc</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SSI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hoặc</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bất</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cứ</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sàn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nào</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cho</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phép</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lấy</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dữ</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chứng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khoán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về</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mặt</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lý</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thuyết</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thì</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giá</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sẽ</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giống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nhau</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ở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tất</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cả</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các</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sàn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vì</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giá</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chứng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khoán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được</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kiểm</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soát</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tại</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UB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Chứng</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khoán</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của</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quốc</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gia</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a:t>
            </a:r>
            <a:endPar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FontTx/>
              <a:buChar char="-"/>
            </a:pPr>
            <a:r>
              <a:rPr lang="en-US" sz="1800" dirty="0" err="1">
                <a:solidFill>
                  <a:schemeClr val="dk1"/>
                </a:solidFill>
              </a:rPr>
              <a:t>Có</a:t>
            </a:r>
            <a:r>
              <a:rPr lang="en-US" sz="1800" dirty="0">
                <a:solidFill>
                  <a:schemeClr val="dk1"/>
                </a:solidFill>
              </a:rPr>
              <a:t> </a:t>
            </a:r>
            <a:r>
              <a:rPr lang="en-US" sz="1800" dirty="0" err="1">
                <a:solidFill>
                  <a:schemeClr val="dk1"/>
                </a:solidFill>
              </a:rPr>
              <a:t>thể</a:t>
            </a:r>
            <a:r>
              <a:rPr lang="en-US" sz="1800" dirty="0">
                <a:solidFill>
                  <a:schemeClr val="dk1"/>
                </a:solidFill>
              </a:rPr>
              <a:t> </a:t>
            </a:r>
            <a:r>
              <a:rPr lang="en-US" sz="1800" dirty="0" err="1">
                <a:solidFill>
                  <a:schemeClr val="dk1"/>
                </a:solidFill>
              </a:rPr>
              <a:t>lấy</a:t>
            </a:r>
            <a:r>
              <a:rPr lang="en-US" sz="1800" dirty="0">
                <a:solidFill>
                  <a:schemeClr val="dk1"/>
                </a:solidFill>
              </a:rPr>
              <a:t> </a:t>
            </a:r>
            <a:r>
              <a:rPr lang="en-US" sz="1800" dirty="0" err="1">
                <a:solidFill>
                  <a:schemeClr val="dk1"/>
                </a:solidFill>
              </a:rPr>
              <a:t>trực</a:t>
            </a:r>
            <a:r>
              <a:rPr lang="en-US" sz="1800" dirty="0">
                <a:solidFill>
                  <a:schemeClr val="dk1"/>
                </a:solidFill>
              </a:rPr>
              <a:t> </a:t>
            </a:r>
            <a:r>
              <a:rPr lang="en-US" sz="1800" dirty="0" err="1">
                <a:solidFill>
                  <a:schemeClr val="dk1"/>
                </a:solidFill>
              </a:rPr>
              <a:t>tiếp</a:t>
            </a:r>
            <a:r>
              <a:rPr lang="en-US" sz="1800" dirty="0">
                <a:solidFill>
                  <a:schemeClr val="dk1"/>
                </a:solidFill>
              </a:rPr>
              <a:t> </a:t>
            </a:r>
            <a:r>
              <a:rPr lang="en-US" sz="1800" dirty="0" err="1">
                <a:solidFill>
                  <a:schemeClr val="dk1"/>
                </a:solidFill>
              </a:rPr>
              <a:t>hoặc</a:t>
            </a:r>
            <a:r>
              <a:rPr lang="en-US" sz="1800" dirty="0">
                <a:solidFill>
                  <a:schemeClr val="dk1"/>
                </a:solidFill>
              </a:rPr>
              <a:t> </a:t>
            </a:r>
            <a:r>
              <a:rPr lang="en-US" sz="1800" dirty="0" err="1">
                <a:solidFill>
                  <a:schemeClr val="dk1"/>
                </a:solidFill>
              </a:rPr>
              <a:t>lấy</a:t>
            </a:r>
            <a:r>
              <a:rPr lang="en-US" sz="1800" dirty="0">
                <a:solidFill>
                  <a:schemeClr val="dk1"/>
                </a:solidFill>
              </a:rPr>
              <a:t> </a:t>
            </a:r>
            <a:r>
              <a:rPr lang="en-US" sz="1800" dirty="0" err="1">
                <a:solidFill>
                  <a:schemeClr val="dk1"/>
                </a:solidFill>
              </a:rPr>
              <a:t>từ</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hàm</a:t>
            </a:r>
            <a:r>
              <a:rPr lang="en-US" sz="1800" dirty="0">
                <a:solidFill>
                  <a:schemeClr val="dk1"/>
                </a:solidFill>
              </a:rPr>
              <a:t> common </a:t>
            </a:r>
            <a:r>
              <a:rPr lang="en-US" sz="1800" dirty="0" err="1">
                <a:solidFill>
                  <a:schemeClr val="dk1"/>
                </a:solidFill>
              </a:rPr>
              <a:t>viết</a:t>
            </a:r>
            <a:r>
              <a:rPr lang="en-US" sz="1800" dirty="0">
                <a:solidFill>
                  <a:schemeClr val="dk1"/>
                </a:solidFill>
              </a:rPr>
              <a:t> </a:t>
            </a:r>
            <a:r>
              <a:rPr lang="en-US" sz="1800" dirty="0" err="1">
                <a:solidFill>
                  <a:schemeClr val="dk1"/>
                </a:solidFill>
              </a:rPr>
              <a:t>sẵn</a:t>
            </a:r>
            <a:r>
              <a:rPr lang="en-US" sz="1800" dirty="0">
                <a:solidFill>
                  <a:schemeClr val="dk1"/>
                </a:solidFill>
              </a:rPr>
              <a:t> </a:t>
            </a:r>
            <a:r>
              <a:rPr lang="en-US" sz="1800" dirty="0" err="1">
                <a:solidFill>
                  <a:schemeClr val="dk1"/>
                </a:solidFill>
              </a:rPr>
              <a:t>trong</a:t>
            </a:r>
            <a:r>
              <a:rPr lang="en-US" sz="1800" dirty="0">
                <a:solidFill>
                  <a:schemeClr val="dk1"/>
                </a:solidFill>
              </a:rPr>
              <a:t> </a:t>
            </a:r>
            <a:r>
              <a:rPr lang="en-US" sz="1800" dirty="0" err="1">
                <a:solidFill>
                  <a:schemeClr val="dk1"/>
                </a:solidFill>
              </a:rPr>
              <a:t>thư</a:t>
            </a:r>
            <a:r>
              <a:rPr lang="en-US" sz="1800" dirty="0">
                <a:solidFill>
                  <a:schemeClr val="dk1"/>
                </a:solidFill>
              </a:rPr>
              <a:t> </a:t>
            </a:r>
            <a:r>
              <a:rPr lang="en-US" sz="1800" dirty="0" err="1">
                <a:solidFill>
                  <a:schemeClr val="dk1"/>
                </a:solidFill>
              </a:rPr>
              <a:t>mục</a:t>
            </a:r>
            <a:r>
              <a:rPr lang="en-US" sz="1800" dirty="0">
                <a:solidFill>
                  <a:schemeClr val="dk1"/>
                </a:solidFill>
              </a:rPr>
              <a:t> common</a:t>
            </a:r>
            <a:endParaRPr lang="en-US" sz="1800" dirty="0">
              <a:solidFill>
                <a:schemeClr val="dk1"/>
              </a:solidFill>
            </a:endParaRPr>
          </a:p>
          <a:p>
            <a:pPr marL="101600" marR="0" lvl="0" algn="just" rtl="0">
              <a:lnSpc>
                <a:spcPct val="115000"/>
              </a:lnSpc>
              <a:spcBef>
                <a:spcPts val="1600"/>
              </a:spcBef>
              <a:spcAft>
                <a:spcPts val="0"/>
              </a:spcAft>
            </a:pP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2.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Xử</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lý</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dữ</a:t>
            </a: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Bị</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thiếu</a:t>
            </a:r>
            <a:r>
              <a:rPr lang="en-US" sz="180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a:solidFill>
                  <a:schemeClr val="dk1"/>
                </a:solidFill>
                <a:latin typeface="Arial" panose="020B0604020202020204"/>
                <a:ea typeface="Arial" panose="020B0604020202020204"/>
                <a:cs typeface="Arial" panose="020B0604020202020204"/>
                <a:sym typeface="Arial" panose="020B0604020202020204"/>
              </a:rPr>
              <a:t>NaN</a:t>
            </a:r>
            <a:r>
              <a:rPr lang="en-US" sz="1800" dirty="0">
                <a:solidFill>
                  <a:schemeClr val="dk1"/>
                </a:solidFill>
              </a:rPr>
              <a:t>, </a:t>
            </a:r>
            <a:r>
              <a:rPr lang="en-US" sz="1800" dirty="0" err="1">
                <a:solidFill>
                  <a:schemeClr val="dk1"/>
                </a:solidFill>
              </a:rPr>
              <a:t>sai</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dạng</a:t>
            </a:r>
            <a:r>
              <a:rPr lang="en-US" sz="1800" dirty="0">
                <a:solidFill>
                  <a:schemeClr val="dk1"/>
                </a:solidFill>
              </a:rPr>
              <a:t>…(</a:t>
            </a:r>
            <a:r>
              <a:rPr lang="en-US" sz="1800" dirty="0" err="1">
                <a:solidFill>
                  <a:schemeClr val="dk1"/>
                </a:solidFill>
              </a:rPr>
              <a:t>datetime</a:t>
            </a:r>
            <a:r>
              <a:rPr lang="en-US" sz="1800" dirty="0">
                <a:solidFill>
                  <a:schemeClr val="dk1"/>
                </a:solidFill>
              </a:rPr>
              <a:t>, float/ </a:t>
            </a:r>
            <a:r>
              <a:rPr lang="en-US" sz="1800" dirty="0" err="1">
                <a:solidFill>
                  <a:schemeClr val="dk1"/>
                </a:solidFill>
              </a:rPr>
              <a:t>int</a:t>
            </a:r>
            <a:r>
              <a:rPr lang="en-US" sz="1800" dirty="0">
                <a:solidFill>
                  <a:schemeClr val="dk1"/>
                </a:solidFill>
              </a:rPr>
              <a:t>…)</a:t>
            </a:r>
            <a:endParaRPr lang="en-US" sz="1800" dirty="0">
              <a:solidFill>
                <a:schemeClr val="dk1"/>
              </a:solidFill>
            </a:endParaRPr>
          </a:p>
          <a:p>
            <a:pPr marL="387350" indent="-285750" algn="just">
              <a:lnSpc>
                <a:spcPct val="115000"/>
              </a:lnSpc>
              <a:spcBef>
                <a:spcPts val="1600"/>
              </a:spcBef>
              <a:buFontTx/>
              <a:buChar char="-"/>
            </a:pPr>
            <a:r>
              <a:rPr lang="en-US" sz="1800" dirty="0" err="1">
                <a:solidFill>
                  <a:schemeClr val="dk1"/>
                </a:solidFill>
              </a:rPr>
              <a:t>Giá</a:t>
            </a:r>
            <a:r>
              <a:rPr lang="en-US" sz="1800" dirty="0">
                <a:solidFill>
                  <a:schemeClr val="dk1"/>
                </a:solidFill>
              </a:rPr>
              <a:t> </a:t>
            </a:r>
            <a:r>
              <a:rPr lang="en-US" sz="1800" dirty="0" err="1">
                <a:solidFill>
                  <a:schemeClr val="dk1"/>
                </a:solidFill>
              </a:rPr>
              <a:t>trị</a:t>
            </a:r>
            <a:r>
              <a:rPr lang="en-US" sz="1800" dirty="0">
                <a:solidFill>
                  <a:schemeClr val="dk1"/>
                </a:solidFill>
              </a:rPr>
              <a:t> </a:t>
            </a:r>
            <a:r>
              <a:rPr lang="en-US" sz="1800" dirty="0" err="1">
                <a:solidFill>
                  <a:schemeClr val="dk1"/>
                </a:solidFill>
              </a:rPr>
              <a:t>trả</a:t>
            </a:r>
            <a:r>
              <a:rPr lang="en-US" sz="1800" dirty="0">
                <a:solidFill>
                  <a:schemeClr val="dk1"/>
                </a:solidFill>
              </a:rPr>
              <a:t> </a:t>
            </a:r>
            <a:r>
              <a:rPr lang="en-US" sz="1800" dirty="0" err="1">
                <a:solidFill>
                  <a:schemeClr val="dk1"/>
                </a:solidFill>
              </a:rPr>
              <a:t>về</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dirty="0" err="1">
                <a:solidFill>
                  <a:schemeClr val="dk1"/>
                </a:solidFill>
              </a:rPr>
              <a:t>dataframe</a:t>
            </a:r>
            <a:r>
              <a:rPr lang="en-US" sz="1800" dirty="0">
                <a:solidFill>
                  <a:schemeClr val="dk1"/>
                </a:solidFill>
              </a:rPr>
              <a:t> </a:t>
            </a:r>
            <a:r>
              <a:rPr lang="en-US" sz="1800" dirty="0" err="1">
                <a:solidFill>
                  <a:schemeClr val="dk1"/>
                </a:solidFill>
              </a:rPr>
              <a:t>bao</a:t>
            </a:r>
            <a:r>
              <a:rPr lang="en-US" sz="1800" dirty="0">
                <a:solidFill>
                  <a:schemeClr val="dk1"/>
                </a:solidFill>
              </a:rPr>
              <a:t> </a:t>
            </a:r>
            <a:r>
              <a:rPr lang="en-US" sz="1800" dirty="0" err="1">
                <a:solidFill>
                  <a:schemeClr val="dk1"/>
                </a:solidFill>
              </a:rPr>
              <a:t>gồm</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cột</a:t>
            </a:r>
            <a:r>
              <a:rPr lang="en-US" sz="1800" dirty="0">
                <a:solidFill>
                  <a:schemeClr val="dk1"/>
                </a:solidFill>
              </a:rPr>
              <a:t>: </a:t>
            </a:r>
            <a:r>
              <a:rPr lang="en-US" sz="1800" b="1" dirty="0" err="1">
                <a:solidFill>
                  <a:schemeClr val="dk1"/>
                </a:solidFill>
              </a:rPr>
              <a:t>Datetime</a:t>
            </a:r>
            <a:r>
              <a:rPr lang="en-US" sz="1800" dirty="0">
                <a:solidFill>
                  <a:schemeClr val="dk1"/>
                </a:solidFill>
              </a:rPr>
              <a:t>, </a:t>
            </a:r>
            <a:r>
              <a:rPr lang="en-US" sz="1800" b="1" dirty="0">
                <a:solidFill>
                  <a:schemeClr val="dk1"/>
                </a:solidFill>
              </a:rPr>
              <a:t>Open</a:t>
            </a:r>
            <a:r>
              <a:rPr lang="en-US" sz="1800" dirty="0">
                <a:solidFill>
                  <a:schemeClr val="dk1"/>
                </a:solidFill>
              </a:rPr>
              <a:t>, </a:t>
            </a:r>
            <a:r>
              <a:rPr lang="en-US" sz="1800" b="1" dirty="0">
                <a:solidFill>
                  <a:schemeClr val="dk1"/>
                </a:solidFill>
              </a:rPr>
              <a:t>High</a:t>
            </a:r>
            <a:r>
              <a:rPr lang="en-US" sz="1800" dirty="0">
                <a:solidFill>
                  <a:schemeClr val="dk1"/>
                </a:solidFill>
              </a:rPr>
              <a:t>, </a:t>
            </a:r>
            <a:r>
              <a:rPr lang="en-US" sz="1800" b="1" dirty="0">
                <a:solidFill>
                  <a:schemeClr val="dk1"/>
                </a:solidFill>
              </a:rPr>
              <a:t>Low</a:t>
            </a:r>
            <a:r>
              <a:rPr lang="en-US" sz="1800" dirty="0">
                <a:solidFill>
                  <a:schemeClr val="dk1"/>
                </a:solidFill>
              </a:rPr>
              <a:t>, </a:t>
            </a:r>
            <a:r>
              <a:rPr lang="en-US" sz="1800" b="1" dirty="0">
                <a:solidFill>
                  <a:schemeClr val="dk1"/>
                </a:solidFill>
              </a:rPr>
              <a:t>Close</a:t>
            </a:r>
            <a:r>
              <a:rPr lang="en-US" sz="1800" dirty="0">
                <a:solidFill>
                  <a:schemeClr val="dk1"/>
                </a:solidFill>
              </a:rPr>
              <a:t>, </a:t>
            </a:r>
            <a:r>
              <a:rPr lang="en-US" sz="1800" b="1" dirty="0">
                <a:solidFill>
                  <a:schemeClr val="dk1"/>
                </a:solidFill>
              </a:rPr>
              <a:t>Volume</a:t>
            </a:r>
            <a:endParaRPr lang="en-US" sz="1800" b="1" dirty="0">
              <a:solidFill>
                <a:schemeClr val="dk1"/>
              </a:solidFill>
            </a:endParaRPr>
          </a:p>
          <a:p>
            <a:pPr marL="101600" marR="0" lvl="0" algn="just" rtl="0">
              <a:lnSpc>
                <a:spcPct val="115000"/>
              </a:lnSpc>
              <a:spcBef>
                <a:spcPts val="1600"/>
              </a:spcBef>
              <a:spcAft>
                <a:spcPts val="0"/>
              </a:spcAft>
            </a:pPr>
            <a:endParaRPr sz="180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Giải</a:t>
            </a:r>
            <a:r>
              <a:rPr lang="en-US" sz="2400" b="1" dirty="0">
                <a:solidFill>
                  <a:schemeClr val="lt1"/>
                </a:solidFill>
                <a:latin typeface="Arial (body)"/>
              </a:rPr>
              <a:t> </a:t>
            </a:r>
            <a:r>
              <a:rPr lang="en-US" sz="2400" b="1" dirty="0" err="1">
                <a:solidFill>
                  <a:schemeClr val="lt1"/>
                </a:solidFill>
                <a:latin typeface="Arial (body)"/>
              </a:rPr>
              <a:t>quyết</a:t>
            </a:r>
            <a:r>
              <a:rPr lang="en-US" sz="2400" b="1" dirty="0">
                <a:solidFill>
                  <a:schemeClr val="lt1"/>
                </a:solidFill>
                <a:latin typeface="Arial (body)"/>
              </a:rPr>
              <a:t> </a:t>
            </a:r>
            <a:r>
              <a:rPr lang="en-US" sz="2400" b="1" dirty="0" err="1">
                <a:solidFill>
                  <a:schemeClr val="lt1"/>
                </a:solidFill>
                <a:latin typeface="Arial (body)"/>
              </a:rPr>
              <a:t>vấn</a:t>
            </a:r>
            <a:r>
              <a:rPr lang="en-US" sz="2400" b="1" dirty="0">
                <a:solidFill>
                  <a:schemeClr val="lt1"/>
                </a:solidFill>
                <a:latin typeface="Arial (body)"/>
              </a:rPr>
              <a:t> </a:t>
            </a:r>
            <a:r>
              <a:rPr lang="en-US" sz="2400" b="1" dirty="0" err="1">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u="sng" dirty="0" err="1">
                <a:solidFill>
                  <a:schemeClr val="dk1"/>
                </a:solidFill>
              </a:rPr>
              <a:t>Phần</a:t>
            </a:r>
            <a:r>
              <a:rPr lang="en-US" sz="1800" b="1" u="sng" dirty="0">
                <a:solidFill>
                  <a:schemeClr val="dk1"/>
                </a:solidFill>
              </a:rPr>
              <a:t> </a:t>
            </a:r>
            <a:r>
              <a:rPr lang="en-US" sz="1800" b="1" u="sng" dirty="0" err="1">
                <a:solidFill>
                  <a:schemeClr val="dk1"/>
                </a:solidFill>
              </a:rPr>
              <a:t>chiến</a:t>
            </a:r>
            <a:r>
              <a:rPr lang="en-US" sz="1800" b="1" u="sng" dirty="0">
                <a:solidFill>
                  <a:schemeClr val="dk1"/>
                </a:solidFill>
              </a:rPr>
              <a:t> </a:t>
            </a:r>
            <a:r>
              <a:rPr lang="en-US" sz="1800" b="1" u="sng" dirty="0" err="1">
                <a:solidFill>
                  <a:schemeClr val="dk1"/>
                </a:solidFill>
              </a:rPr>
              <a:t>lược</a:t>
            </a:r>
            <a:r>
              <a:rPr lang="en-US" sz="1800" b="1" u="sng" dirty="0">
                <a:solidFill>
                  <a:schemeClr val="dk1"/>
                </a:solidFill>
              </a:rPr>
              <a:t>:</a:t>
            </a:r>
            <a:endParaRPr lang="en-US" sz="1800" b="1" u="sng" dirty="0">
              <a:solidFill>
                <a:schemeClr val="dk1"/>
              </a:solidFill>
            </a:endParaRPr>
          </a:p>
          <a:p>
            <a:pPr marL="101600" marR="0" lvl="0" indent="0" algn="just" rtl="0">
              <a:lnSpc>
                <a:spcPct val="115000"/>
              </a:lnSpc>
              <a:spcBef>
                <a:spcPts val="1600"/>
              </a:spcBef>
              <a:spcAft>
                <a:spcPts val="0"/>
              </a:spcAft>
              <a:buNone/>
            </a:pPr>
            <a:r>
              <a:rPr lang="en-US" sz="1800" dirty="0" err="1">
                <a:solidFill>
                  <a:schemeClr val="dk1"/>
                </a:solidFill>
              </a:rPr>
              <a:t>Xác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chiến</a:t>
            </a:r>
            <a:r>
              <a:rPr lang="en-US" sz="1800" dirty="0">
                <a:solidFill>
                  <a:schemeClr val="dk1"/>
                </a:solidFill>
              </a:rPr>
              <a:t> </a:t>
            </a:r>
            <a:r>
              <a:rPr lang="en-US" sz="1800" dirty="0" err="1">
                <a:solidFill>
                  <a:schemeClr val="dk1"/>
                </a:solidFill>
              </a:rPr>
              <a:t>lược</a:t>
            </a:r>
            <a:r>
              <a:rPr lang="en-US" sz="1800" dirty="0">
                <a:solidFill>
                  <a:schemeClr val="dk1"/>
                </a:solidFill>
              </a:rPr>
              <a:t> </a:t>
            </a:r>
            <a:r>
              <a:rPr lang="en-US" sz="1800" dirty="0" err="1">
                <a:solidFill>
                  <a:schemeClr val="dk1"/>
                </a:solidFill>
              </a:rPr>
              <a:t>sẽ</a:t>
            </a:r>
            <a:r>
              <a:rPr lang="en-US" sz="1800" dirty="0">
                <a:solidFill>
                  <a:schemeClr val="dk1"/>
                </a:solidFill>
              </a:rPr>
              <a:t> </a:t>
            </a:r>
            <a:r>
              <a:rPr lang="en-US" sz="1800" dirty="0" err="1">
                <a:solidFill>
                  <a:schemeClr val="dk1"/>
                </a:solidFill>
              </a:rPr>
              <a:t>thực</a:t>
            </a:r>
            <a:r>
              <a:rPr lang="en-US" sz="1800" dirty="0">
                <a:solidFill>
                  <a:schemeClr val="dk1"/>
                </a:solidFill>
              </a:rPr>
              <a:t> </a:t>
            </a:r>
            <a:r>
              <a:rPr lang="en-US" sz="1800" dirty="0" err="1">
                <a:solidFill>
                  <a:schemeClr val="dk1"/>
                </a:solidFill>
              </a:rPr>
              <a:t>hiện</a:t>
            </a:r>
            <a:r>
              <a:rPr lang="en-US" sz="1800" dirty="0">
                <a:solidFill>
                  <a:schemeClr val="dk1"/>
                </a:solidFill>
              </a:rPr>
              <a:t>: </a:t>
            </a:r>
            <a:r>
              <a:rPr lang="en-US" sz="1800" b="1" dirty="0" err="1">
                <a:solidFill>
                  <a:schemeClr val="dk1"/>
                </a:solidFill>
              </a:rPr>
              <a:t>Arima</a:t>
            </a:r>
            <a:r>
              <a:rPr lang="en-US" sz="1800" b="1" dirty="0">
                <a:solidFill>
                  <a:schemeClr val="dk1"/>
                </a:solidFill>
              </a:rPr>
              <a:t>, Momentum, RSI</a:t>
            </a:r>
            <a:endParaRPr lang="en-US" sz="1800" b="1" dirty="0">
              <a:solidFill>
                <a:schemeClr val="dk1"/>
              </a:solidFill>
            </a:endParaRPr>
          </a:p>
          <a:p>
            <a:pPr marL="387350" marR="0" lvl="0" indent="-285750" algn="just" rtl="0">
              <a:lnSpc>
                <a:spcPct val="115000"/>
              </a:lnSpc>
              <a:spcBef>
                <a:spcPts val="1600"/>
              </a:spcBef>
              <a:spcAft>
                <a:spcPts val="0"/>
              </a:spcAft>
              <a:buFontTx/>
              <a:buChar char="-"/>
            </a:pPr>
            <a:r>
              <a:rPr lang="en-US" sz="1800" dirty="0" err="1">
                <a:solidFill>
                  <a:schemeClr val="dk1"/>
                </a:solidFill>
              </a:rPr>
              <a:t>Một</a:t>
            </a:r>
            <a:r>
              <a:rPr lang="en-US" sz="1800" dirty="0">
                <a:solidFill>
                  <a:schemeClr val="dk1"/>
                </a:solidFill>
              </a:rPr>
              <a:t> </a:t>
            </a:r>
            <a:r>
              <a:rPr lang="en-US" sz="1800" dirty="0" err="1">
                <a:solidFill>
                  <a:schemeClr val="dk1"/>
                </a:solidFill>
              </a:rPr>
              <a:t>cơ</a:t>
            </a:r>
            <a:r>
              <a:rPr lang="en-US" sz="1800" dirty="0">
                <a:solidFill>
                  <a:schemeClr val="dk1"/>
                </a:solidFill>
              </a:rPr>
              <a:t> </a:t>
            </a:r>
            <a:r>
              <a:rPr lang="en-US" sz="1800" dirty="0" err="1">
                <a:solidFill>
                  <a:schemeClr val="dk1"/>
                </a:solidFill>
              </a:rPr>
              <a:t>hội</a:t>
            </a:r>
            <a:r>
              <a:rPr lang="en-US" sz="1800" dirty="0">
                <a:solidFill>
                  <a:schemeClr val="dk1"/>
                </a:solidFill>
              </a:rPr>
              <a:t> </a:t>
            </a:r>
            <a:r>
              <a:rPr lang="en-US" sz="1800" dirty="0" err="1">
                <a:solidFill>
                  <a:schemeClr val="dk1"/>
                </a:solidFill>
              </a:rPr>
              <a:t>mua</a:t>
            </a:r>
            <a:r>
              <a:rPr lang="en-US" sz="1800" dirty="0">
                <a:solidFill>
                  <a:schemeClr val="dk1"/>
                </a:solidFill>
              </a:rPr>
              <a:t> </a:t>
            </a:r>
            <a:r>
              <a:rPr lang="en-US" sz="1800" dirty="0" err="1">
                <a:solidFill>
                  <a:schemeClr val="dk1"/>
                </a:solidFill>
              </a:rPr>
              <a:t>khi</a:t>
            </a:r>
            <a:r>
              <a:rPr lang="en-US" sz="1800"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dự</a:t>
            </a:r>
            <a:r>
              <a:rPr lang="en-US" sz="1800" b="1" dirty="0">
                <a:solidFill>
                  <a:schemeClr val="dk1"/>
                </a:solidFill>
              </a:rPr>
              <a:t> </a:t>
            </a:r>
            <a:r>
              <a:rPr lang="en-US" sz="1800" b="1" dirty="0" err="1">
                <a:solidFill>
                  <a:schemeClr val="dk1"/>
                </a:solidFill>
              </a:rPr>
              <a:t>đoán</a:t>
            </a:r>
            <a:r>
              <a:rPr lang="en-US" sz="1800" b="1" dirty="0">
                <a:solidFill>
                  <a:schemeClr val="dk1"/>
                </a:solidFill>
              </a:rPr>
              <a:t> </a:t>
            </a:r>
            <a:r>
              <a:rPr lang="en-US" sz="1800" b="1" dirty="0" err="1">
                <a:solidFill>
                  <a:schemeClr val="dk1"/>
                </a:solidFill>
              </a:rPr>
              <a:t>cao</a:t>
            </a:r>
            <a:r>
              <a:rPr lang="en-US" sz="1800" b="1" dirty="0">
                <a:solidFill>
                  <a:schemeClr val="dk1"/>
                </a:solidFill>
              </a:rPr>
              <a:t> </a:t>
            </a:r>
            <a:r>
              <a:rPr lang="en-US" sz="1800" b="1" dirty="0" err="1">
                <a:solidFill>
                  <a:schemeClr val="dk1"/>
                </a:solidFill>
              </a:rPr>
              <a:t>hơn</a:t>
            </a:r>
            <a:r>
              <a:rPr lang="en-US" sz="1800" b="1"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tế</a:t>
            </a:r>
            <a:r>
              <a:rPr lang="en-US" sz="1800" dirty="0">
                <a:solidFill>
                  <a:schemeClr val="dk1"/>
                </a:solidFill>
              </a:rPr>
              <a:t> </a:t>
            </a:r>
            <a:r>
              <a:rPr lang="en-US" sz="1800" dirty="0" err="1">
                <a:solidFill>
                  <a:schemeClr val="dk1"/>
                </a:solidFill>
              </a:rPr>
              <a:t>và</a:t>
            </a:r>
            <a:r>
              <a:rPr lang="en-US" sz="1800" dirty="0">
                <a:solidFill>
                  <a:schemeClr val="dk1"/>
                </a:solidFill>
              </a:rPr>
              <a:t> </a:t>
            </a:r>
            <a:r>
              <a:rPr lang="en-US" sz="1800" b="1" u="sng" dirty="0">
                <a:solidFill>
                  <a:schemeClr val="dk1"/>
                </a:solidFill>
              </a:rPr>
              <a:t>momentum &gt; 0 </a:t>
            </a:r>
            <a:r>
              <a:rPr lang="en-US" sz="1800" b="1" u="sng" dirty="0" err="1">
                <a:solidFill>
                  <a:schemeClr val="dk1"/>
                </a:solidFill>
              </a:rPr>
              <a:t>và</a:t>
            </a:r>
            <a:r>
              <a:rPr lang="en-US" sz="1800" b="1" u="sng" dirty="0">
                <a:solidFill>
                  <a:schemeClr val="dk1"/>
                </a:solidFill>
              </a:rPr>
              <a:t> RSI &lt;= 30</a:t>
            </a:r>
            <a:endParaRPr lang="en-US" sz="1800" b="1" u="sng" dirty="0">
              <a:solidFill>
                <a:schemeClr val="dk1"/>
              </a:solidFill>
            </a:endParaRPr>
          </a:p>
          <a:p>
            <a:pPr marL="387350" marR="0" lvl="0" indent="-285750" algn="just" rtl="0">
              <a:lnSpc>
                <a:spcPct val="115000"/>
              </a:lnSpc>
              <a:spcBef>
                <a:spcPts val="1600"/>
              </a:spcBef>
              <a:spcAft>
                <a:spcPts val="0"/>
              </a:spcAft>
              <a:buFontTx/>
              <a:buChar char="-"/>
            </a:pPr>
            <a:r>
              <a:rPr lang="en-US" sz="1800" dirty="0" err="1">
                <a:solidFill>
                  <a:schemeClr val="dk1"/>
                </a:solidFill>
              </a:rPr>
              <a:t>Một</a:t>
            </a:r>
            <a:r>
              <a:rPr lang="en-US" sz="1800" dirty="0">
                <a:solidFill>
                  <a:schemeClr val="dk1"/>
                </a:solidFill>
              </a:rPr>
              <a:t> </a:t>
            </a:r>
            <a:r>
              <a:rPr lang="en-US" sz="1800" dirty="0" err="1">
                <a:solidFill>
                  <a:schemeClr val="dk1"/>
                </a:solidFill>
              </a:rPr>
              <a:t>cơ</a:t>
            </a:r>
            <a:r>
              <a:rPr lang="en-US" sz="1800" dirty="0">
                <a:solidFill>
                  <a:schemeClr val="dk1"/>
                </a:solidFill>
              </a:rPr>
              <a:t> </a:t>
            </a:r>
            <a:r>
              <a:rPr lang="en-US" sz="1800" dirty="0" err="1">
                <a:solidFill>
                  <a:schemeClr val="dk1"/>
                </a:solidFill>
              </a:rPr>
              <a:t>hội</a:t>
            </a:r>
            <a:r>
              <a:rPr lang="en-US" sz="1800" dirty="0">
                <a:solidFill>
                  <a:schemeClr val="dk1"/>
                </a:solidFill>
              </a:rPr>
              <a:t> </a:t>
            </a:r>
            <a:r>
              <a:rPr lang="en-US" sz="1800" dirty="0" err="1">
                <a:solidFill>
                  <a:schemeClr val="dk1"/>
                </a:solidFill>
              </a:rPr>
              <a:t>bán</a:t>
            </a:r>
            <a:r>
              <a:rPr lang="en-US" sz="1800" dirty="0">
                <a:solidFill>
                  <a:schemeClr val="dk1"/>
                </a:solidFill>
              </a:rPr>
              <a:t> </a:t>
            </a:r>
            <a:r>
              <a:rPr lang="en-US" sz="1800" dirty="0" err="1">
                <a:solidFill>
                  <a:schemeClr val="dk1"/>
                </a:solidFill>
              </a:rPr>
              <a:t>khi</a:t>
            </a:r>
            <a:r>
              <a:rPr lang="en-US" sz="1800"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dự</a:t>
            </a:r>
            <a:r>
              <a:rPr lang="en-US" sz="1800" b="1" dirty="0">
                <a:solidFill>
                  <a:schemeClr val="dk1"/>
                </a:solidFill>
              </a:rPr>
              <a:t> </a:t>
            </a:r>
            <a:r>
              <a:rPr lang="en-US" sz="1800" b="1" dirty="0" err="1">
                <a:solidFill>
                  <a:schemeClr val="dk1"/>
                </a:solidFill>
              </a:rPr>
              <a:t>đoán</a:t>
            </a:r>
            <a:r>
              <a:rPr lang="en-US" sz="1800" b="1" dirty="0">
                <a:solidFill>
                  <a:schemeClr val="dk1"/>
                </a:solidFill>
              </a:rPr>
              <a:t> </a:t>
            </a:r>
            <a:r>
              <a:rPr lang="en-US" sz="1800" b="1" dirty="0" err="1">
                <a:solidFill>
                  <a:schemeClr val="dk1"/>
                </a:solidFill>
              </a:rPr>
              <a:t>thấp</a:t>
            </a:r>
            <a:r>
              <a:rPr lang="en-US" sz="1800" b="1" dirty="0">
                <a:solidFill>
                  <a:schemeClr val="dk1"/>
                </a:solidFill>
              </a:rPr>
              <a:t> </a:t>
            </a:r>
            <a:r>
              <a:rPr lang="en-US" sz="1800" b="1" dirty="0" err="1">
                <a:solidFill>
                  <a:schemeClr val="dk1"/>
                </a:solidFill>
              </a:rPr>
              <a:t>hơn</a:t>
            </a:r>
            <a:r>
              <a:rPr lang="en-US" sz="1800" b="1"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tế</a:t>
            </a:r>
            <a:r>
              <a:rPr lang="en-US" sz="1800" dirty="0">
                <a:solidFill>
                  <a:schemeClr val="dk1"/>
                </a:solidFill>
              </a:rPr>
              <a:t> </a:t>
            </a:r>
            <a:r>
              <a:rPr lang="en-US" sz="1800" dirty="0" err="1">
                <a:solidFill>
                  <a:schemeClr val="dk1"/>
                </a:solidFill>
              </a:rPr>
              <a:t>và</a:t>
            </a:r>
            <a:r>
              <a:rPr lang="en-US" sz="1800" dirty="0">
                <a:solidFill>
                  <a:schemeClr val="dk1"/>
                </a:solidFill>
              </a:rPr>
              <a:t> </a:t>
            </a:r>
            <a:r>
              <a:rPr lang="en-US" sz="1800" b="1" u="sng" dirty="0">
                <a:solidFill>
                  <a:schemeClr val="dk1"/>
                </a:solidFill>
              </a:rPr>
              <a:t>momentum &lt; 0 </a:t>
            </a:r>
            <a:r>
              <a:rPr lang="en-US" sz="1800" b="1" u="sng" dirty="0" err="1">
                <a:solidFill>
                  <a:schemeClr val="dk1"/>
                </a:solidFill>
              </a:rPr>
              <a:t>và</a:t>
            </a:r>
            <a:r>
              <a:rPr lang="en-US" sz="1800" b="1" u="sng" dirty="0">
                <a:solidFill>
                  <a:schemeClr val="dk1"/>
                </a:solidFill>
              </a:rPr>
              <a:t> RSI &gt;= 70</a:t>
            </a:r>
            <a:endParaRPr lang="en-US" sz="1800" b="1" u="sng" dirty="0">
              <a:solidFill>
                <a:schemeClr val="dk1"/>
              </a:solidFill>
            </a:endParaRPr>
          </a:p>
          <a:p>
            <a:pPr marL="444500" marR="0" lvl="0" indent="-342900" algn="just" rtl="0">
              <a:lnSpc>
                <a:spcPct val="115000"/>
              </a:lnSpc>
              <a:spcBef>
                <a:spcPts val="1600"/>
              </a:spcBef>
              <a:spcAft>
                <a:spcPts val="0"/>
              </a:spcAft>
              <a:buAutoNum type="arabicPeriod"/>
            </a:pPr>
            <a:r>
              <a:rPr lang="en-US" sz="1800" b="1" u="sng" dirty="0" err="1">
                <a:solidFill>
                  <a:schemeClr val="dk1"/>
                </a:solidFill>
              </a:rPr>
              <a:t>Xác</a:t>
            </a:r>
            <a:r>
              <a:rPr lang="en-US" sz="1800" b="1" u="sng" dirty="0">
                <a:solidFill>
                  <a:schemeClr val="dk1"/>
                </a:solidFill>
              </a:rPr>
              <a:t> </a:t>
            </a:r>
            <a:r>
              <a:rPr lang="en-US" sz="1800" b="1" u="sng" dirty="0" err="1">
                <a:solidFill>
                  <a:schemeClr val="dk1"/>
                </a:solidFill>
              </a:rPr>
              <a:t>định</a:t>
            </a:r>
            <a:r>
              <a:rPr lang="en-US" sz="1800" b="1" u="sng" dirty="0">
                <a:solidFill>
                  <a:schemeClr val="dk1"/>
                </a:solidFill>
              </a:rPr>
              <a:t> </a:t>
            </a:r>
            <a:r>
              <a:rPr lang="en-US" sz="1800" b="1" u="sng" dirty="0" err="1">
                <a:solidFill>
                  <a:schemeClr val="dk1"/>
                </a:solidFill>
              </a:rPr>
              <a:t>mô</a:t>
            </a:r>
            <a:r>
              <a:rPr lang="en-US" sz="1800" b="1" u="sng" dirty="0">
                <a:solidFill>
                  <a:schemeClr val="dk1"/>
                </a:solidFill>
              </a:rPr>
              <a:t> </a:t>
            </a:r>
            <a:r>
              <a:rPr lang="en-US" sz="1800" b="1" u="sng" dirty="0" err="1">
                <a:solidFill>
                  <a:schemeClr val="dk1"/>
                </a:solidFill>
              </a:rPr>
              <a:t>hình</a:t>
            </a:r>
            <a:r>
              <a:rPr lang="en-US" sz="1800" b="1" dirty="0">
                <a:solidFill>
                  <a:schemeClr val="dk1"/>
                </a:solidFill>
              </a:rPr>
              <a:t>:</a:t>
            </a:r>
            <a:endParaRPr lang="en-US" sz="1800" b="1" dirty="0">
              <a:solidFill>
                <a:schemeClr val="dk1"/>
              </a:solidFill>
            </a:endParaRPr>
          </a:p>
          <a:p>
            <a:pPr marL="387350" marR="0" lvl="0" indent="-285750" algn="just" rtl="0">
              <a:lnSpc>
                <a:spcPct val="115000"/>
              </a:lnSpc>
              <a:spcBef>
                <a:spcPts val="1600"/>
              </a:spcBef>
              <a:spcAft>
                <a:spcPts val="0"/>
              </a:spcAft>
              <a:buFontTx/>
              <a:buChar char="-"/>
            </a:pPr>
            <a:r>
              <a:rPr lang="en-US" sz="1800" b="1" dirty="0" err="1">
                <a:solidFill>
                  <a:schemeClr val="dk1"/>
                </a:solidFill>
              </a:rPr>
              <a:t>Xác</a:t>
            </a:r>
            <a:r>
              <a:rPr lang="en-US" sz="1800" b="1" dirty="0">
                <a:solidFill>
                  <a:schemeClr val="dk1"/>
                </a:solidFill>
              </a:rPr>
              <a:t> </a:t>
            </a:r>
            <a:r>
              <a:rPr lang="en-US" sz="1800" b="1" dirty="0" err="1">
                <a:solidFill>
                  <a:schemeClr val="dk1"/>
                </a:solidFill>
              </a:rPr>
              <a:t>định</a:t>
            </a:r>
            <a:r>
              <a:rPr lang="en-US" sz="1800" b="1"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đóng</a:t>
            </a:r>
            <a:r>
              <a:rPr lang="en-US" sz="1800" b="1" dirty="0">
                <a:solidFill>
                  <a:schemeClr val="dk1"/>
                </a:solidFill>
              </a:rPr>
              <a:t> </a:t>
            </a:r>
            <a:r>
              <a:rPr lang="en-US" sz="1800" b="1" dirty="0" err="1">
                <a:solidFill>
                  <a:schemeClr val="dk1"/>
                </a:solidFill>
              </a:rPr>
              <a:t>cửa</a:t>
            </a:r>
            <a:r>
              <a:rPr lang="en-US" sz="1800" b="1" dirty="0">
                <a:solidFill>
                  <a:schemeClr val="dk1"/>
                </a:solidFill>
              </a:rPr>
              <a:t> </a:t>
            </a:r>
            <a:r>
              <a:rPr lang="en-US" sz="1800" b="1" dirty="0" err="1">
                <a:solidFill>
                  <a:schemeClr val="dk1"/>
                </a:solidFill>
              </a:rPr>
              <a:t>tương</a:t>
            </a:r>
            <a:r>
              <a:rPr lang="en-US" sz="1800" b="1" dirty="0">
                <a:solidFill>
                  <a:schemeClr val="dk1"/>
                </a:solidFill>
              </a:rPr>
              <a:t> </a:t>
            </a:r>
            <a:r>
              <a:rPr lang="en-US" sz="1800" b="1" dirty="0" err="1">
                <a:solidFill>
                  <a:schemeClr val="dk1"/>
                </a:solidFill>
              </a:rPr>
              <a:t>lai</a:t>
            </a:r>
            <a:r>
              <a:rPr lang="en-US" sz="1800" dirty="0">
                <a:solidFill>
                  <a:schemeClr val="dk1"/>
                </a:solidFill>
              </a:rPr>
              <a:t> </a:t>
            </a:r>
            <a:r>
              <a:rPr lang="en-US" sz="1800" dirty="0" err="1">
                <a:solidFill>
                  <a:schemeClr val="dk1"/>
                </a:solidFill>
              </a:rPr>
              <a:t>dựa</a:t>
            </a:r>
            <a:r>
              <a:rPr lang="en-US" sz="1800" dirty="0">
                <a:solidFill>
                  <a:schemeClr val="dk1"/>
                </a:solidFill>
              </a:rPr>
              <a:t> </a:t>
            </a:r>
            <a:r>
              <a:rPr lang="en-US" sz="1800" dirty="0" err="1">
                <a:solidFill>
                  <a:schemeClr val="dk1"/>
                </a:solidFill>
              </a:rPr>
              <a:t>vào</a:t>
            </a:r>
            <a:r>
              <a:rPr lang="en-US" sz="1800"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đóng</a:t>
            </a:r>
            <a:r>
              <a:rPr lang="en-US" sz="1800" b="1" dirty="0">
                <a:solidFill>
                  <a:schemeClr val="dk1"/>
                </a:solidFill>
              </a:rPr>
              <a:t> </a:t>
            </a:r>
            <a:r>
              <a:rPr lang="en-US" sz="1800" b="1" dirty="0" err="1">
                <a:solidFill>
                  <a:schemeClr val="dk1"/>
                </a:solidFill>
              </a:rPr>
              <a:t>cửa</a:t>
            </a:r>
            <a:r>
              <a:rPr lang="en-US" sz="1800" b="1" dirty="0">
                <a:solidFill>
                  <a:schemeClr val="dk1"/>
                </a:solidFill>
              </a:rPr>
              <a:t> </a:t>
            </a:r>
            <a:r>
              <a:rPr lang="en-US" sz="1800" b="1" dirty="0" err="1">
                <a:solidFill>
                  <a:schemeClr val="dk1"/>
                </a:solidFill>
              </a:rPr>
              <a:t>quá</a:t>
            </a:r>
            <a:r>
              <a:rPr lang="en-US" sz="1800" b="1" dirty="0">
                <a:solidFill>
                  <a:schemeClr val="dk1"/>
                </a:solidFill>
              </a:rPr>
              <a:t> </a:t>
            </a:r>
            <a:r>
              <a:rPr lang="en-US" sz="1800" b="1" dirty="0" err="1">
                <a:solidFill>
                  <a:schemeClr val="dk1"/>
                </a:solidFill>
              </a:rPr>
              <a:t>khứ</a:t>
            </a:r>
            <a:r>
              <a:rPr lang="en-US" sz="1800" dirty="0">
                <a:solidFill>
                  <a:schemeClr val="dk1"/>
                </a:solidFill>
              </a:rPr>
              <a:t>: </a:t>
            </a:r>
            <a:r>
              <a:rPr lang="en-US" sz="1800" dirty="0" err="1">
                <a:solidFill>
                  <a:schemeClr val="dk1"/>
                </a:solidFill>
              </a:rPr>
              <a:t>Đây</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dirty="0" err="1">
                <a:solidFill>
                  <a:schemeClr val="dk1"/>
                </a:solidFill>
              </a:rPr>
              <a:t>cách</a:t>
            </a:r>
            <a:r>
              <a:rPr lang="en-US" sz="1800" dirty="0">
                <a:solidFill>
                  <a:schemeClr val="dk1"/>
                </a:solidFill>
              </a:rPr>
              <a:t> </a:t>
            </a:r>
            <a:r>
              <a:rPr lang="en-US" sz="1800" dirty="0" err="1">
                <a:solidFill>
                  <a:schemeClr val="dk1"/>
                </a:solidFill>
              </a:rPr>
              <a:t>tiếp</a:t>
            </a:r>
            <a:r>
              <a:rPr lang="en-US" sz="1800" dirty="0">
                <a:solidFill>
                  <a:schemeClr val="dk1"/>
                </a:solidFill>
              </a:rPr>
              <a:t> </a:t>
            </a:r>
            <a:r>
              <a:rPr lang="en-US" sz="1800" dirty="0" err="1">
                <a:solidFill>
                  <a:schemeClr val="dk1"/>
                </a:solidFill>
              </a:rPr>
              <a:t>cận</a:t>
            </a:r>
            <a:r>
              <a:rPr lang="en-US" sz="1800" dirty="0">
                <a:solidFill>
                  <a:schemeClr val="dk1"/>
                </a:solidFill>
              </a:rPr>
              <a:t> </a:t>
            </a:r>
            <a:r>
              <a:rPr lang="en-US" sz="1800" dirty="0" err="1">
                <a:solidFill>
                  <a:schemeClr val="dk1"/>
                </a:solidFill>
              </a:rPr>
              <a:t>tốt</a:t>
            </a:r>
            <a:r>
              <a:rPr lang="en-US" sz="1800" dirty="0">
                <a:solidFill>
                  <a:schemeClr val="dk1"/>
                </a:solidFill>
              </a:rPr>
              <a:t> </a:t>
            </a:r>
            <a:r>
              <a:rPr lang="en-US" sz="1800" dirty="0" err="1">
                <a:solidFill>
                  <a:schemeClr val="dk1"/>
                </a:solidFill>
              </a:rPr>
              <a:t>nhất</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b="1" dirty="0" err="1">
                <a:solidFill>
                  <a:schemeClr val="dk1"/>
                </a:solidFill>
              </a:rPr>
              <a:t>Xác</a:t>
            </a:r>
            <a:r>
              <a:rPr lang="en-US" sz="1800" b="1" dirty="0">
                <a:solidFill>
                  <a:schemeClr val="dk1"/>
                </a:solidFill>
              </a:rPr>
              <a:t> </a:t>
            </a:r>
            <a:r>
              <a:rPr lang="en-US" sz="1800" b="1" dirty="0" err="1">
                <a:solidFill>
                  <a:schemeClr val="dk1"/>
                </a:solidFill>
              </a:rPr>
              <a:t>định</a:t>
            </a:r>
            <a:r>
              <a:rPr lang="en-US" sz="1800" b="1"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đóng</a:t>
            </a:r>
            <a:r>
              <a:rPr lang="en-US" sz="1800" b="1" dirty="0">
                <a:solidFill>
                  <a:schemeClr val="dk1"/>
                </a:solidFill>
              </a:rPr>
              <a:t> </a:t>
            </a:r>
            <a:r>
              <a:rPr lang="en-US" sz="1800" b="1" dirty="0" err="1">
                <a:solidFill>
                  <a:schemeClr val="dk1"/>
                </a:solidFill>
              </a:rPr>
              <a:t>cửa</a:t>
            </a:r>
            <a:r>
              <a:rPr lang="en-US" sz="1800" b="1" dirty="0">
                <a:solidFill>
                  <a:schemeClr val="dk1"/>
                </a:solidFill>
              </a:rPr>
              <a:t> </a:t>
            </a:r>
            <a:r>
              <a:rPr lang="en-US" sz="1800" b="1" dirty="0" err="1">
                <a:solidFill>
                  <a:schemeClr val="dk1"/>
                </a:solidFill>
              </a:rPr>
              <a:t>tương</a:t>
            </a:r>
            <a:r>
              <a:rPr lang="en-US" sz="1800" b="1" dirty="0">
                <a:solidFill>
                  <a:schemeClr val="dk1"/>
                </a:solidFill>
              </a:rPr>
              <a:t> </a:t>
            </a:r>
            <a:r>
              <a:rPr lang="en-US" sz="1800" b="1" dirty="0" err="1">
                <a:solidFill>
                  <a:schemeClr val="dk1"/>
                </a:solidFill>
              </a:rPr>
              <a:t>lai</a:t>
            </a:r>
            <a:r>
              <a:rPr lang="en-US" sz="1800" dirty="0">
                <a:solidFill>
                  <a:schemeClr val="dk1"/>
                </a:solidFill>
              </a:rPr>
              <a:t> </a:t>
            </a:r>
            <a:r>
              <a:rPr lang="en-US" sz="1800" dirty="0" err="1">
                <a:solidFill>
                  <a:schemeClr val="dk1"/>
                </a:solidFill>
              </a:rPr>
              <a:t>dựa</a:t>
            </a:r>
            <a:r>
              <a:rPr lang="en-US" sz="1800" dirty="0">
                <a:solidFill>
                  <a:schemeClr val="dk1"/>
                </a:solidFill>
              </a:rPr>
              <a:t> </a:t>
            </a:r>
            <a:r>
              <a:rPr lang="en-US" sz="1800" dirty="0" err="1">
                <a:solidFill>
                  <a:schemeClr val="dk1"/>
                </a:solidFill>
              </a:rPr>
              <a:t>vào</a:t>
            </a:r>
            <a:r>
              <a:rPr lang="en-US" sz="1800"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đóng</a:t>
            </a:r>
            <a:r>
              <a:rPr lang="en-US" sz="1800" b="1" dirty="0">
                <a:solidFill>
                  <a:schemeClr val="dk1"/>
                </a:solidFill>
              </a:rPr>
              <a:t> </a:t>
            </a:r>
            <a:r>
              <a:rPr lang="en-US" sz="1800" b="1" dirty="0" err="1">
                <a:solidFill>
                  <a:schemeClr val="dk1"/>
                </a:solidFill>
              </a:rPr>
              <a:t>cửa</a:t>
            </a:r>
            <a:r>
              <a:rPr lang="en-US" sz="1800" b="1" dirty="0">
                <a:solidFill>
                  <a:schemeClr val="dk1"/>
                </a:solidFill>
              </a:rPr>
              <a:t> </a:t>
            </a:r>
            <a:r>
              <a:rPr lang="en-US" sz="1800" b="1" dirty="0" err="1">
                <a:solidFill>
                  <a:schemeClr val="dk1"/>
                </a:solidFill>
              </a:rPr>
              <a:t>quá</a:t>
            </a:r>
            <a:r>
              <a:rPr lang="en-US" sz="1800" b="1" dirty="0">
                <a:solidFill>
                  <a:schemeClr val="dk1"/>
                </a:solidFill>
              </a:rPr>
              <a:t> </a:t>
            </a:r>
            <a:r>
              <a:rPr lang="en-US" sz="1800" b="1" dirty="0" err="1">
                <a:solidFill>
                  <a:schemeClr val="dk1"/>
                </a:solidFill>
              </a:rPr>
              <a:t>khứ</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các</a:t>
            </a:r>
            <a:r>
              <a:rPr lang="en-US" sz="1800" b="1" dirty="0">
                <a:solidFill>
                  <a:schemeClr val="dk1"/>
                </a:solidFill>
              </a:rPr>
              <a:t> </a:t>
            </a:r>
            <a:r>
              <a:rPr lang="en-US" sz="1800" b="1" dirty="0" err="1">
                <a:solidFill>
                  <a:schemeClr val="dk1"/>
                </a:solidFill>
              </a:rPr>
              <a:t>yếu</a:t>
            </a:r>
            <a:r>
              <a:rPr lang="en-US" sz="1800" b="1" dirty="0">
                <a:solidFill>
                  <a:schemeClr val="dk1"/>
                </a:solidFill>
              </a:rPr>
              <a:t> </a:t>
            </a:r>
            <a:r>
              <a:rPr lang="en-US" sz="1800" b="1" dirty="0" err="1">
                <a:solidFill>
                  <a:schemeClr val="dk1"/>
                </a:solidFill>
              </a:rPr>
              <a:t>tố</a:t>
            </a:r>
            <a:r>
              <a:rPr lang="en-US" sz="1800" b="1" dirty="0">
                <a:solidFill>
                  <a:schemeClr val="dk1"/>
                </a:solidFill>
              </a:rPr>
              <a:t> </a:t>
            </a:r>
            <a:r>
              <a:rPr lang="en-US" sz="1800" b="1" dirty="0" err="1">
                <a:solidFill>
                  <a:schemeClr val="dk1"/>
                </a:solidFill>
              </a:rPr>
              <a:t>khác</a:t>
            </a:r>
            <a:r>
              <a:rPr lang="en-US" sz="1800" b="1" dirty="0">
                <a:solidFill>
                  <a:schemeClr val="dk1"/>
                </a:solidFill>
              </a:rPr>
              <a:t> </a:t>
            </a:r>
            <a:r>
              <a:rPr lang="en-US" sz="1800" b="1" dirty="0" err="1">
                <a:solidFill>
                  <a:schemeClr val="dk1"/>
                </a:solidFill>
              </a:rPr>
              <a:t>như</a:t>
            </a:r>
            <a:r>
              <a:rPr lang="en-US" sz="1800" b="1" dirty="0">
                <a:solidFill>
                  <a:schemeClr val="dk1"/>
                </a:solidFill>
              </a:rPr>
              <a:t> Open, High, Low, Close</a:t>
            </a:r>
            <a:endParaRPr lang="en-US" sz="1800" b="1" dirty="0">
              <a:solidFill>
                <a:schemeClr val="dk1"/>
              </a:solidFill>
            </a:endParaRPr>
          </a:p>
          <a:p>
            <a:pPr marL="101600" marR="0" lvl="0" algn="just" rtl="0">
              <a:lnSpc>
                <a:spcPct val="115000"/>
              </a:lnSpc>
              <a:spcBef>
                <a:spcPts val="1600"/>
              </a:spcBef>
              <a:spcAft>
                <a:spcPts val="0"/>
              </a:spcAft>
            </a:pPr>
            <a:r>
              <a:rPr lang="en-US" sz="1800" b="1" dirty="0">
                <a:solidFill>
                  <a:schemeClr val="dk1"/>
                </a:solidFill>
              </a:rPr>
              <a:t>2. </a:t>
            </a:r>
            <a:r>
              <a:rPr lang="en-US" sz="1800" b="1" u="sng" dirty="0" err="1">
                <a:solidFill>
                  <a:schemeClr val="dk1"/>
                </a:solidFill>
              </a:rPr>
              <a:t>Tối</a:t>
            </a:r>
            <a:r>
              <a:rPr lang="en-US" sz="1800" b="1" u="sng" dirty="0">
                <a:solidFill>
                  <a:schemeClr val="dk1"/>
                </a:solidFill>
              </a:rPr>
              <a:t> </a:t>
            </a:r>
            <a:r>
              <a:rPr lang="en-US" sz="1800" b="1" u="sng" dirty="0" err="1">
                <a:solidFill>
                  <a:schemeClr val="dk1"/>
                </a:solidFill>
              </a:rPr>
              <a:t>ưu</a:t>
            </a:r>
            <a:r>
              <a:rPr lang="en-US" sz="1800" b="1" u="sng" dirty="0">
                <a:solidFill>
                  <a:schemeClr val="dk1"/>
                </a:solidFill>
              </a:rPr>
              <a:t> </a:t>
            </a:r>
            <a:r>
              <a:rPr lang="en-US" sz="1800" b="1" u="sng" dirty="0" err="1">
                <a:solidFill>
                  <a:schemeClr val="dk1"/>
                </a:solidFill>
              </a:rPr>
              <a:t>hóa</a:t>
            </a:r>
            <a:r>
              <a:rPr lang="en-US" sz="1800" b="1" dirty="0">
                <a:solidFill>
                  <a:schemeClr val="dk1"/>
                </a:solidFill>
              </a:rPr>
              <a:t> </a:t>
            </a:r>
            <a:r>
              <a:rPr lang="en-US" sz="1800" b="1" dirty="0" err="1">
                <a:solidFill>
                  <a:schemeClr val="dk1"/>
                </a:solidFill>
              </a:rPr>
              <a:t>các</a:t>
            </a:r>
            <a:r>
              <a:rPr lang="en-US" sz="1800" b="1" dirty="0">
                <a:solidFill>
                  <a:schemeClr val="dk1"/>
                </a:solidFill>
              </a:rPr>
              <a:t> </a:t>
            </a:r>
            <a:r>
              <a:rPr lang="en-US" sz="1800" b="1" dirty="0" err="1">
                <a:solidFill>
                  <a:schemeClr val="dk1"/>
                </a:solidFill>
              </a:rPr>
              <a:t>tham</a:t>
            </a:r>
            <a:r>
              <a:rPr lang="en-US" sz="1800" b="1" dirty="0">
                <a:solidFill>
                  <a:schemeClr val="dk1"/>
                </a:solidFill>
              </a:rPr>
              <a:t> </a:t>
            </a:r>
            <a:r>
              <a:rPr lang="en-US" sz="1800" b="1" dirty="0" err="1">
                <a:solidFill>
                  <a:schemeClr val="dk1"/>
                </a:solidFill>
              </a:rPr>
              <a:t>số</a:t>
            </a:r>
            <a:r>
              <a:rPr lang="en-US" sz="1800" b="1" dirty="0">
                <a:solidFill>
                  <a:schemeClr val="dk1"/>
                </a:solidFill>
              </a:rPr>
              <a:t> p, d, q </a:t>
            </a:r>
            <a:r>
              <a:rPr lang="en-US" sz="1800" b="1" dirty="0" err="1">
                <a:solidFill>
                  <a:schemeClr val="dk1"/>
                </a:solidFill>
              </a:rPr>
              <a:t>để</a:t>
            </a:r>
            <a:r>
              <a:rPr lang="en-US" sz="1800" b="1" dirty="0">
                <a:solidFill>
                  <a:schemeClr val="dk1"/>
                </a:solidFill>
              </a:rPr>
              <a:t> </a:t>
            </a:r>
            <a:r>
              <a:rPr lang="en-US" sz="1800" b="1" dirty="0" err="1">
                <a:solidFill>
                  <a:schemeClr val="dk1"/>
                </a:solidFill>
              </a:rPr>
              <a:t>tìm</a:t>
            </a:r>
            <a:r>
              <a:rPr lang="en-US" sz="1800" b="1" dirty="0">
                <a:solidFill>
                  <a:schemeClr val="dk1"/>
                </a:solidFill>
              </a:rPr>
              <a:t> </a:t>
            </a:r>
            <a:r>
              <a:rPr lang="en-US" sz="1800" b="1" dirty="0" err="1">
                <a:solidFill>
                  <a:schemeClr val="dk1"/>
                </a:solidFill>
              </a:rPr>
              <a:t>ra</a:t>
            </a:r>
            <a:r>
              <a:rPr lang="en-US" sz="1800" b="1" dirty="0">
                <a:solidFill>
                  <a:schemeClr val="dk1"/>
                </a:solidFill>
              </a:rPr>
              <a:t> </a:t>
            </a:r>
            <a:r>
              <a:rPr lang="en-US" sz="1800" b="1" dirty="0" err="1">
                <a:solidFill>
                  <a:schemeClr val="dk1"/>
                </a:solidFill>
              </a:rPr>
              <a:t>mô</a:t>
            </a:r>
            <a:r>
              <a:rPr lang="en-US" sz="1800" b="1" dirty="0">
                <a:solidFill>
                  <a:schemeClr val="dk1"/>
                </a:solidFill>
              </a:rPr>
              <a:t> </a:t>
            </a:r>
            <a:r>
              <a:rPr lang="en-US" sz="1800" b="1" dirty="0" err="1">
                <a:solidFill>
                  <a:schemeClr val="dk1"/>
                </a:solidFill>
              </a:rPr>
              <a:t>hình</a:t>
            </a:r>
            <a:r>
              <a:rPr lang="en-US" sz="1800" b="1" dirty="0">
                <a:solidFill>
                  <a:schemeClr val="dk1"/>
                </a:solidFill>
              </a:rPr>
              <a:t> </a:t>
            </a:r>
            <a:r>
              <a:rPr lang="en-US" sz="1800" b="1" dirty="0" err="1">
                <a:solidFill>
                  <a:schemeClr val="dk1"/>
                </a:solidFill>
              </a:rPr>
              <a:t>tốt</a:t>
            </a:r>
            <a:r>
              <a:rPr lang="en-US" sz="1800" b="1" dirty="0">
                <a:solidFill>
                  <a:schemeClr val="dk1"/>
                </a:solidFill>
              </a:rPr>
              <a:t> </a:t>
            </a:r>
            <a:r>
              <a:rPr lang="en-US" sz="1800" b="1" dirty="0" err="1">
                <a:solidFill>
                  <a:schemeClr val="dk1"/>
                </a:solidFill>
              </a:rPr>
              <a:t>nhất</a:t>
            </a:r>
            <a:endParaRPr lang="en-US" sz="1800" b="1" dirty="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Giải</a:t>
            </a:r>
            <a:r>
              <a:rPr lang="en-US" sz="2400" b="1" dirty="0">
                <a:solidFill>
                  <a:schemeClr val="lt1"/>
                </a:solidFill>
                <a:latin typeface="Arial (body)"/>
              </a:rPr>
              <a:t> </a:t>
            </a:r>
            <a:r>
              <a:rPr lang="en-US" sz="2400" b="1" dirty="0" err="1">
                <a:solidFill>
                  <a:schemeClr val="lt1"/>
                </a:solidFill>
                <a:latin typeface="Arial (body)"/>
              </a:rPr>
              <a:t>quyết</a:t>
            </a:r>
            <a:r>
              <a:rPr lang="en-US" sz="2400" b="1" dirty="0">
                <a:solidFill>
                  <a:schemeClr val="lt1"/>
                </a:solidFill>
                <a:latin typeface="Arial (body)"/>
              </a:rPr>
              <a:t> </a:t>
            </a:r>
            <a:r>
              <a:rPr lang="en-US" sz="2400" b="1" dirty="0" err="1">
                <a:solidFill>
                  <a:schemeClr val="lt1"/>
                </a:solidFill>
                <a:latin typeface="Arial (body)"/>
              </a:rPr>
              <a:t>vấn</a:t>
            </a:r>
            <a:r>
              <a:rPr lang="en-US" sz="2400" b="1" dirty="0">
                <a:solidFill>
                  <a:schemeClr val="lt1"/>
                </a:solidFill>
                <a:latin typeface="Arial (body)"/>
              </a:rPr>
              <a:t> </a:t>
            </a:r>
            <a:r>
              <a:rPr lang="en-US" sz="2400" b="1" dirty="0" err="1">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a:solidFill>
                  <a:schemeClr val="dk1"/>
                </a:solidFill>
              </a:rPr>
              <a:t>Phần</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a:t>
            </a:r>
            <a:endParaRPr lang="en-US" sz="1800" b="1" dirty="0">
              <a:solidFill>
                <a:schemeClr val="dk1"/>
              </a:solidFill>
            </a:endParaRPr>
          </a:p>
          <a:p>
            <a:pPr marL="101600" marR="0" lvl="0" indent="0" algn="just" rtl="0">
              <a:lnSpc>
                <a:spcPct val="115000"/>
              </a:lnSpc>
              <a:spcBef>
                <a:spcPts val="1600"/>
              </a:spcBef>
              <a:spcAft>
                <a:spcPts val="0"/>
              </a:spcAft>
              <a:buNone/>
            </a:pPr>
            <a:r>
              <a:rPr lang="en-US" sz="1800" dirty="0" err="1">
                <a:solidFill>
                  <a:schemeClr val="dk1"/>
                </a:solidFill>
              </a:rPr>
              <a:t>Xác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chiến</a:t>
            </a:r>
            <a:r>
              <a:rPr lang="en-US" sz="1800" dirty="0">
                <a:solidFill>
                  <a:schemeClr val="dk1"/>
                </a:solidFill>
              </a:rPr>
              <a:t> </a:t>
            </a:r>
            <a:r>
              <a:rPr lang="en-US" sz="1800" dirty="0" err="1">
                <a:solidFill>
                  <a:schemeClr val="dk1"/>
                </a:solidFill>
              </a:rPr>
              <a:t>lược</a:t>
            </a:r>
            <a:r>
              <a:rPr lang="en-US" sz="1800" dirty="0">
                <a:solidFill>
                  <a:schemeClr val="dk1"/>
                </a:solidFill>
              </a:rPr>
              <a:t> </a:t>
            </a:r>
            <a:r>
              <a:rPr lang="en-US" sz="1800" dirty="0" err="1">
                <a:solidFill>
                  <a:schemeClr val="dk1"/>
                </a:solidFill>
              </a:rPr>
              <a:t>sẽ</a:t>
            </a:r>
            <a:r>
              <a:rPr lang="en-US" sz="1800" dirty="0">
                <a:solidFill>
                  <a:schemeClr val="dk1"/>
                </a:solidFill>
              </a:rPr>
              <a:t> </a:t>
            </a:r>
            <a:r>
              <a:rPr lang="en-US" sz="1800" dirty="0" err="1">
                <a:solidFill>
                  <a:schemeClr val="dk1"/>
                </a:solidFill>
              </a:rPr>
              <a:t>thực</a:t>
            </a:r>
            <a:r>
              <a:rPr lang="en-US" sz="1800" dirty="0">
                <a:solidFill>
                  <a:schemeClr val="dk1"/>
                </a:solidFill>
              </a:rPr>
              <a:t> </a:t>
            </a:r>
            <a:r>
              <a:rPr lang="en-US" sz="1800" dirty="0" err="1">
                <a:solidFill>
                  <a:schemeClr val="dk1"/>
                </a:solidFill>
              </a:rPr>
              <a:t>hiện</a:t>
            </a:r>
            <a:r>
              <a:rPr lang="en-US" sz="1800" dirty="0">
                <a:solidFill>
                  <a:schemeClr val="dk1"/>
                </a:solidFill>
              </a:rPr>
              <a:t>: </a:t>
            </a:r>
            <a:r>
              <a:rPr lang="en-US" sz="1800" dirty="0" err="1">
                <a:solidFill>
                  <a:schemeClr val="dk1"/>
                </a:solidFill>
              </a:rPr>
              <a:t>Arima</a:t>
            </a:r>
            <a:r>
              <a:rPr lang="en-US" sz="1800" dirty="0">
                <a:solidFill>
                  <a:schemeClr val="dk1"/>
                </a:solidFill>
              </a:rPr>
              <a:t>, Momentum, RSI</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dirty="0" err="1">
                <a:solidFill>
                  <a:schemeClr val="dk1"/>
                </a:solidFill>
              </a:rPr>
              <a:t>Một</a:t>
            </a:r>
            <a:r>
              <a:rPr lang="en-US" sz="1800" dirty="0">
                <a:solidFill>
                  <a:schemeClr val="dk1"/>
                </a:solidFill>
              </a:rPr>
              <a:t> </a:t>
            </a:r>
            <a:r>
              <a:rPr lang="en-US" sz="1800" dirty="0" err="1">
                <a:solidFill>
                  <a:schemeClr val="dk1"/>
                </a:solidFill>
              </a:rPr>
              <a:t>cơ</a:t>
            </a:r>
            <a:r>
              <a:rPr lang="en-US" sz="1800" dirty="0">
                <a:solidFill>
                  <a:schemeClr val="dk1"/>
                </a:solidFill>
              </a:rPr>
              <a:t> </a:t>
            </a:r>
            <a:r>
              <a:rPr lang="en-US" sz="1800" dirty="0" err="1">
                <a:solidFill>
                  <a:schemeClr val="dk1"/>
                </a:solidFill>
              </a:rPr>
              <a:t>hội</a:t>
            </a:r>
            <a:r>
              <a:rPr lang="en-US" sz="1800" dirty="0">
                <a:solidFill>
                  <a:schemeClr val="dk1"/>
                </a:solidFill>
              </a:rPr>
              <a:t> </a:t>
            </a:r>
            <a:r>
              <a:rPr lang="en-US" sz="1800" dirty="0" err="1">
                <a:solidFill>
                  <a:schemeClr val="dk1"/>
                </a:solidFill>
              </a:rPr>
              <a:t>mua</a:t>
            </a:r>
            <a:r>
              <a:rPr lang="en-US" sz="1800" dirty="0">
                <a:solidFill>
                  <a:schemeClr val="dk1"/>
                </a:solidFill>
              </a:rPr>
              <a:t> </a:t>
            </a:r>
            <a:r>
              <a:rPr lang="en-US" sz="1800" dirty="0" err="1">
                <a:solidFill>
                  <a:schemeClr val="dk1"/>
                </a:solidFill>
              </a:rPr>
              <a:t>khi</a:t>
            </a:r>
            <a:r>
              <a:rPr lang="en-US" sz="1800" dirty="0">
                <a:solidFill>
                  <a:schemeClr val="dk1"/>
                </a:solidFill>
              </a:rPr>
              <a:t> </a:t>
            </a:r>
            <a:r>
              <a:rPr lang="en-US" sz="1800" dirty="0" err="1">
                <a:solidFill>
                  <a:schemeClr val="dk1"/>
                </a:solidFill>
              </a:rPr>
              <a:t>giá</a:t>
            </a:r>
            <a:r>
              <a:rPr lang="en-US" sz="1800" dirty="0">
                <a:solidFill>
                  <a:schemeClr val="dk1"/>
                </a:solidFill>
              </a:rPr>
              <a:t> </a:t>
            </a:r>
            <a:r>
              <a:rPr lang="en-US" sz="1800" dirty="0" err="1">
                <a:solidFill>
                  <a:schemeClr val="dk1"/>
                </a:solidFill>
              </a:rPr>
              <a:t>dự</a:t>
            </a:r>
            <a:r>
              <a:rPr lang="en-US" sz="1800" dirty="0">
                <a:solidFill>
                  <a:schemeClr val="dk1"/>
                </a:solidFill>
              </a:rPr>
              <a:t> </a:t>
            </a:r>
            <a:r>
              <a:rPr lang="en-US" sz="1800" dirty="0" err="1">
                <a:solidFill>
                  <a:schemeClr val="dk1"/>
                </a:solidFill>
              </a:rPr>
              <a:t>đoán</a:t>
            </a:r>
            <a:r>
              <a:rPr lang="en-US" sz="1800" dirty="0">
                <a:solidFill>
                  <a:schemeClr val="dk1"/>
                </a:solidFill>
              </a:rPr>
              <a:t> </a:t>
            </a:r>
            <a:r>
              <a:rPr lang="en-US" sz="1800" dirty="0" err="1">
                <a:solidFill>
                  <a:schemeClr val="dk1"/>
                </a:solidFill>
              </a:rPr>
              <a:t>cao</a:t>
            </a:r>
            <a:r>
              <a:rPr lang="en-US" sz="1800" dirty="0">
                <a:solidFill>
                  <a:schemeClr val="dk1"/>
                </a:solidFill>
              </a:rPr>
              <a:t> </a:t>
            </a:r>
            <a:r>
              <a:rPr lang="en-US" sz="1800" dirty="0" err="1">
                <a:solidFill>
                  <a:schemeClr val="dk1"/>
                </a:solidFill>
              </a:rPr>
              <a:t>hơn</a:t>
            </a:r>
            <a:r>
              <a:rPr lang="en-US" sz="1800" dirty="0">
                <a:solidFill>
                  <a:schemeClr val="dk1"/>
                </a:solidFill>
              </a:rPr>
              <a:t> </a:t>
            </a:r>
            <a:r>
              <a:rPr lang="en-US" sz="1800" dirty="0" err="1">
                <a:solidFill>
                  <a:schemeClr val="dk1"/>
                </a:solidFill>
              </a:rPr>
              <a:t>giá</a:t>
            </a:r>
            <a:r>
              <a:rPr lang="en-US" sz="1800" dirty="0">
                <a:solidFill>
                  <a:schemeClr val="dk1"/>
                </a:solidFill>
              </a:rPr>
              <a:t> </a:t>
            </a:r>
            <a:r>
              <a:rPr lang="en-US" sz="1800" dirty="0" err="1">
                <a:solidFill>
                  <a:schemeClr val="dk1"/>
                </a:solidFill>
              </a:rPr>
              <a:t>thực</a:t>
            </a:r>
            <a:r>
              <a:rPr lang="en-US" sz="1800" dirty="0">
                <a:solidFill>
                  <a:schemeClr val="dk1"/>
                </a:solidFill>
              </a:rPr>
              <a:t> </a:t>
            </a:r>
            <a:r>
              <a:rPr lang="en-US" sz="1800" dirty="0" err="1">
                <a:solidFill>
                  <a:schemeClr val="dk1"/>
                </a:solidFill>
              </a:rPr>
              <a:t>tế</a:t>
            </a:r>
            <a:r>
              <a:rPr lang="en-US" sz="1800" dirty="0">
                <a:solidFill>
                  <a:schemeClr val="dk1"/>
                </a:solidFill>
              </a:rPr>
              <a:t> </a:t>
            </a:r>
            <a:r>
              <a:rPr lang="en-US" sz="1800" dirty="0" err="1">
                <a:solidFill>
                  <a:schemeClr val="dk1"/>
                </a:solidFill>
              </a:rPr>
              <a:t>và</a:t>
            </a:r>
            <a:r>
              <a:rPr lang="en-US" sz="1800" dirty="0">
                <a:solidFill>
                  <a:schemeClr val="dk1"/>
                </a:solidFill>
              </a:rPr>
              <a:t> momentum &gt; 0 </a:t>
            </a:r>
            <a:r>
              <a:rPr lang="en-US" sz="1800" dirty="0" err="1">
                <a:solidFill>
                  <a:schemeClr val="dk1"/>
                </a:solidFill>
              </a:rPr>
              <a:t>và</a:t>
            </a:r>
            <a:r>
              <a:rPr lang="en-US" sz="1800" dirty="0">
                <a:solidFill>
                  <a:schemeClr val="dk1"/>
                </a:solidFill>
              </a:rPr>
              <a:t> RSI &lt;= 30</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dirty="0" err="1">
                <a:solidFill>
                  <a:schemeClr val="dk1"/>
                </a:solidFill>
              </a:rPr>
              <a:t>Một</a:t>
            </a:r>
            <a:r>
              <a:rPr lang="en-US" sz="1800" dirty="0">
                <a:solidFill>
                  <a:schemeClr val="dk1"/>
                </a:solidFill>
              </a:rPr>
              <a:t> </a:t>
            </a:r>
            <a:r>
              <a:rPr lang="en-US" sz="1800" dirty="0" err="1">
                <a:solidFill>
                  <a:schemeClr val="dk1"/>
                </a:solidFill>
              </a:rPr>
              <a:t>cơ</a:t>
            </a:r>
            <a:r>
              <a:rPr lang="en-US" sz="1800" dirty="0">
                <a:solidFill>
                  <a:schemeClr val="dk1"/>
                </a:solidFill>
              </a:rPr>
              <a:t> </a:t>
            </a:r>
            <a:r>
              <a:rPr lang="en-US" sz="1800" dirty="0" err="1">
                <a:solidFill>
                  <a:schemeClr val="dk1"/>
                </a:solidFill>
              </a:rPr>
              <a:t>hội</a:t>
            </a:r>
            <a:r>
              <a:rPr lang="en-US" sz="1800" dirty="0">
                <a:solidFill>
                  <a:schemeClr val="dk1"/>
                </a:solidFill>
              </a:rPr>
              <a:t> </a:t>
            </a:r>
            <a:r>
              <a:rPr lang="en-US" sz="1800" dirty="0" err="1">
                <a:solidFill>
                  <a:schemeClr val="dk1"/>
                </a:solidFill>
              </a:rPr>
              <a:t>bán</a:t>
            </a:r>
            <a:r>
              <a:rPr lang="en-US" sz="1800" dirty="0">
                <a:solidFill>
                  <a:schemeClr val="dk1"/>
                </a:solidFill>
              </a:rPr>
              <a:t> </a:t>
            </a:r>
            <a:r>
              <a:rPr lang="en-US" sz="1800" dirty="0" err="1">
                <a:solidFill>
                  <a:schemeClr val="dk1"/>
                </a:solidFill>
              </a:rPr>
              <a:t>khi</a:t>
            </a:r>
            <a:r>
              <a:rPr lang="en-US" sz="1800" dirty="0">
                <a:solidFill>
                  <a:schemeClr val="dk1"/>
                </a:solidFill>
              </a:rPr>
              <a:t> </a:t>
            </a:r>
            <a:r>
              <a:rPr lang="en-US" sz="1800" dirty="0" err="1">
                <a:solidFill>
                  <a:schemeClr val="dk1"/>
                </a:solidFill>
              </a:rPr>
              <a:t>giá</a:t>
            </a:r>
            <a:r>
              <a:rPr lang="en-US" sz="1800" dirty="0">
                <a:solidFill>
                  <a:schemeClr val="dk1"/>
                </a:solidFill>
              </a:rPr>
              <a:t> </a:t>
            </a:r>
            <a:r>
              <a:rPr lang="en-US" sz="1800" dirty="0" err="1">
                <a:solidFill>
                  <a:schemeClr val="dk1"/>
                </a:solidFill>
              </a:rPr>
              <a:t>dự</a:t>
            </a:r>
            <a:r>
              <a:rPr lang="en-US" sz="1800" dirty="0">
                <a:solidFill>
                  <a:schemeClr val="dk1"/>
                </a:solidFill>
              </a:rPr>
              <a:t> </a:t>
            </a:r>
            <a:r>
              <a:rPr lang="en-US" sz="1800" dirty="0" err="1">
                <a:solidFill>
                  <a:schemeClr val="dk1"/>
                </a:solidFill>
              </a:rPr>
              <a:t>đoán</a:t>
            </a:r>
            <a:r>
              <a:rPr lang="en-US" sz="1800" dirty="0">
                <a:solidFill>
                  <a:schemeClr val="dk1"/>
                </a:solidFill>
              </a:rPr>
              <a:t> </a:t>
            </a:r>
            <a:r>
              <a:rPr lang="en-US" sz="1800" dirty="0" err="1">
                <a:solidFill>
                  <a:schemeClr val="dk1"/>
                </a:solidFill>
              </a:rPr>
              <a:t>thấp</a:t>
            </a:r>
            <a:r>
              <a:rPr lang="en-US" sz="1800" dirty="0">
                <a:solidFill>
                  <a:schemeClr val="dk1"/>
                </a:solidFill>
              </a:rPr>
              <a:t> </a:t>
            </a:r>
            <a:r>
              <a:rPr lang="en-US" sz="1800" dirty="0" err="1">
                <a:solidFill>
                  <a:schemeClr val="dk1"/>
                </a:solidFill>
              </a:rPr>
              <a:t>hơn</a:t>
            </a:r>
            <a:r>
              <a:rPr lang="en-US" sz="1800" dirty="0">
                <a:solidFill>
                  <a:schemeClr val="dk1"/>
                </a:solidFill>
              </a:rPr>
              <a:t> </a:t>
            </a:r>
            <a:r>
              <a:rPr lang="en-US" sz="1800" dirty="0" err="1">
                <a:solidFill>
                  <a:schemeClr val="dk1"/>
                </a:solidFill>
              </a:rPr>
              <a:t>giá</a:t>
            </a:r>
            <a:r>
              <a:rPr lang="en-US" sz="1800" dirty="0">
                <a:solidFill>
                  <a:schemeClr val="dk1"/>
                </a:solidFill>
              </a:rPr>
              <a:t> </a:t>
            </a:r>
            <a:r>
              <a:rPr lang="en-US" sz="1800" dirty="0" err="1">
                <a:solidFill>
                  <a:schemeClr val="dk1"/>
                </a:solidFill>
              </a:rPr>
              <a:t>thực</a:t>
            </a:r>
            <a:r>
              <a:rPr lang="en-US" sz="1800" dirty="0">
                <a:solidFill>
                  <a:schemeClr val="dk1"/>
                </a:solidFill>
              </a:rPr>
              <a:t> </a:t>
            </a:r>
            <a:r>
              <a:rPr lang="en-US" sz="1800" dirty="0" err="1">
                <a:solidFill>
                  <a:schemeClr val="dk1"/>
                </a:solidFill>
              </a:rPr>
              <a:t>tế</a:t>
            </a:r>
            <a:r>
              <a:rPr lang="en-US" sz="1800" dirty="0">
                <a:solidFill>
                  <a:schemeClr val="dk1"/>
                </a:solidFill>
              </a:rPr>
              <a:t> </a:t>
            </a:r>
            <a:r>
              <a:rPr lang="en-US" sz="1800" dirty="0" err="1">
                <a:solidFill>
                  <a:schemeClr val="dk1"/>
                </a:solidFill>
              </a:rPr>
              <a:t>và</a:t>
            </a:r>
            <a:r>
              <a:rPr lang="en-US" sz="1800" dirty="0">
                <a:solidFill>
                  <a:schemeClr val="dk1"/>
                </a:solidFill>
              </a:rPr>
              <a:t> momentum &lt; 0 </a:t>
            </a:r>
            <a:r>
              <a:rPr lang="en-US" sz="1800" dirty="0" err="1">
                <a:solidFill>
                  <a:schemeClr val="dk1"/>
                </a:solidFill>
              </a:rPr>
              <a:t>và</a:t>
            </a:r>
            <a:r>
              <a:rPr lang="en-US" sz="1800" dirty="0">
                <a:solidFill>
                  <a:schemeClr val="dk1"/>
                </a:solidFill>
              </a:rPr>
              <a:t> RSI &gt;= 70</a:t>
            </a:r>
            <a:endParaRPr lang="en-US" sz="1800" dirty="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a:solidFill>
                  <a:schemeClr val="dk1"/>
                </a:solidFill>
              </a:rPr>
              <a:t>Chạy</a:t>
            </a:r>
            <a:r>
              <a:rPr lang="en-US" sz="1800" b="1" dirty="0">
                <a:solidFill>
                  <a:schemeClr val="dk1"/>
                </a:solidFill>
              </a:rPr>
              <a:t> </a:t>
            </a:r>
            <a:r>
              <a:rPr lang="en-US" sz="1800" b="1" dirty="0" err="1">
                <a:solidFill>
                  <a:schemeClr val="dk1"/>
                </a:solidFill>
              </a:rPr>
              <a:t>mô</a:t>
            </a:r>
            <a:r>
              <a:rPr lang="en-US" sz="1800" b="1" dirty="0">
                <a:solidFill>
                  <a:schemeClr val="dk1"/>
                </a:solidFill>
              </a:rPr>
              <a:t> </a:t>
            </a:r>
            <a:r>
              <a:rPr lang="en-US" sz="1800" b="1" dirty="0" err="1">
                <a:solidFill>
                  <a:schemeClr val="dk1"/>
                </a:solidFill>
              </a:rPr>
              <a:t>hình</a:t>
            </a:r>
            <a:r>
              <a:rPr lang="en-US" sz="1800" b="1" dirty="0">
                <a:solidFill>
                  <a:schemeClr val="dk1"/>
                </a:solidFill>
              </a:rPr>
              <a:t> </a:t>
            </a:r>
            <a:r>
              <a:rPr lang="en-US" sz="1800" b="1" dirty="0" err="1">
                <a:solidFill>
                  <a:schemeClr val="dk1"/>
                </a:solidFill>
              </a:rPr>
              <a:t>với</a:t>
            </a:r>
            <a:r>
              <a:rPr lang="en-US" sz="1800" b="1" dirty="0">
                <a:solidFill>
                  <a:schemeClr val="dk1"/>
                </a:solidFill>
              </a:rPr>
              <a:t> </a:t>
            </a:r>
            <a:r>
              <a:rPr lang="en-US" sz="1800" b="1" dirty="0" err="1">
                <a:solidFill>
                  <a:schemeClr val="dk1"/>
                </a:solidFill>
              </a:rPr>
              <a:t>các</a:t>
            </a:r>
            <a:r>
              <a:rPr lang="en-US" sz="1800" b="1" dirty="0">
                <a:solidFill>
                  <a:schemeClr val="dk1"/>
                </a:solidFill>
              </a:rPr>
              <a:t> </a:t>
            </a:r>
            <a:r>
              <a:rPr lang="en-US" sz="1800" b="1" dirty="0" err="1">
                <a:solidFill>
                  <a:schemeClr val="dk1"/>
                </a:solidFill>
              </a:rPr>
              <a:t>tham</a:t>
            </a:r>
            <a:r>
              <a:rPr lang="en-US" sz="1800" b="1" dirty="0">
                <a:solidFill>
                  <a:schemeClr val="dk1"/>
                </a:solidFill>
              </a:rPr>
              <a:t> </a:t>
            </a:r>
            <a:r>
              <a:rPr lang="en-US" sz="1800" b="1" dirty="0" err="1">
                <a:solidFill>
                  <a:schemeClr val="dk1"/>
                </a:solidFill>
              </a:rPr>
              <a:t>số</a:t>
            </a:r>
            <a:r>
              <a:rPr lang="en-US" sz="1800" b="1" dirty="0">
                <a:solidFill>
                  <a:schemeClr val="dk1"/>
                </a:solidFill>
              </a:rPr>
              <a:t> </a:t>
            </a:r>
            <a:r>
              <a:rPr lang="en-US" sz="1800" b="1" dirty="0" err="1">
                <a:solidFill>
                  <a:schemeClr val="dk1"/>
                </a:solidFill>
              </a:rPr>
              <a:t>vừa</a:t>
            </a:r>
            <a:r>
              <a:rPr lang="en-US" sz="1800" b="1" dirty="0">
                <a:solidFill>
                  <a:schemeClr val="dk1"/>
                </a:solidFill>
              </a:rPr>
              <a:t> </a:t>
            </a:r>
            <a:r>
              <a:rPr lang="en-US" sz="1800" b="1" dirty="0" err="1">
                <a:solidFill>
                  <a:schemeClr val="dk1"/>
                </a:solidFill>
              </a:rPr>
              <a:t>tối</a:t>
            </a:r>
            <a:r>
              <a:rPr lang="en-US" sz="1800" b="1" dirty="0">
                <a:solidFill>
                  <a:schemeClr val="dk1"/>
                </a:solidFill>
              </a:rPr>
              <a:t> </a:t>
            </a:r>
            <a:r>
              <a:rPr lang="en-US" sz="1800" b="1" dirty="0" err="1">
                <a:solidFill>
                  <a:schemeClr val="dk1"/>
                </a:solidFill>
              </a:rPr>
              <a:t>ưu</a:t>
            </a:r>
            <a:r>
              <a:rPr lang="en-US" sz="1800" b="1" dirty="0">
                <a:solidFill>
                  <a:schemeClr val="dk1"/>
                </a:solidFill>
              </a:rPr>
              <a:t> ở </a:t>
            </a:r>
            <a:r>
              <a:rPr lang="en-US" sz="1800" b="1" dirty="0" err="1">
                <a:solidFill>
                  <a:schemeClr val="dk1"/>
                </a:solidFill>
              </a:rPr>
              <a:t>trên</a:t>
            </a:r>
            <a:r>
              <a:rPr lang="en-US" sz="1800" b="1" dirty="0">
                <a:solidFill>
                  <a:schemeClr val="dk1"/>
                </a:solidFill>
              </a:rPr>
              <a:t> </a:t>
            </a:r>
            <a:r>
              <a:rPr lang="en-US" sz="1800" b="1" dirty="0" err="1">
                <a:solidFill>
                  <a:schemeClr val="dk1"/>
                </a:solidFill>
              </a:rPr>
              <a:t>để</a:t>
            </a:r>
            <a:r>
              <a:rPr lang="en-US" sz="1800" b="1" dirty="0">
                <a:solidFill>
                  <a:schemeClr val="dk1"/>
                </a:solidFill>
              </a:rPr>
              <a:t> </a:t>
            </a:r>
            <a:r>
              <a:rPr lang="en-US" sz="1800" b="1" dirty="0" err="1">
                <a:solidFill>
                  <a:schemeClr val="dk1"/>
                </a:solidFill>
              </a:rPr>
              <a:t>tìm</a:t>
            </a:r>
            <a:r>
              <a:rPr lang="en-US" sz="1800" b="1" dirty="0">
                <a:solidFill>
                  <a:schemeClr val="dk1"/>
                </a:solidFill>
              </a:rPr>
              <a:t> </a:t>
            </a:r>
            <a:r>
              <a:rPr lang="en-US" sz="1800" b="1" dirty="0" err="1">
                <a:solidFill>
                  <a:schemeClr val="dk1"/>
                </a:solidFill>
              </a:rPr>
              <a:t>ra</a:t>
            </a:r>
            <a:r>
              <a:rPr lang="en-US" sz="1800" b="1" dirty="0">
                <a:solidFill>
                  <a:schemeClr val="dk1"/>
                </a:solidFill>
              </a:rPr>
              <a:t> </a:t>
            </a:r>
            <a:r>
              <a:rPr lang="en-US" sz="1800" b="1" dirty="0" err="1">
                <a:solidFill>
                  <a:schemeClr val="dk1"/>
                </a:solidFill>
              </a:rPr>
              <a:t>giá</a:t>
            </a:r>
            <a:r>
              <a:rPr lang="en-US" sz="1800" b="1" dirty="0">
                <a:solidFill>
                  <a:schemeClr val="dk1"/>
                </a:solidFill>
              </a:rPr>
              <a:t> </a:t>
            </a:r>
            <a:r>
              <a:rPr lang="en-US" sz="1800" b="1" u="sng" dirty="0" err="1">
                <a:solidFill>
                  <a:schemeClr val="dk1"/>
                </a:solidFill>
              </a:rPr>
              <a:t>dự</a:t>
            </a:r>
            <a:r>
              <a:rPr lang="en-US" sz="1800" b="1" u="sng" dirty="0">
                <a:solidFill>
                  <a:schemeClr val="dk1"/>
                </a:solidFill>
              </a:rPr>
              <a:t> </a:t>
            </a:r>
            <a:r>
              <a:rPr lang="en-US" sz="1800" b="1" u="sng" dirty="0" err="1">
                <a:solidFill>
                  <a:schemeClr val="dk1"/>
                </a:solidFill>
              </a:rPr>
              <a:t>đoán</a:t>
            </a:r>
            <a:endParaRPr lang="en-US" sz="1800" b="1" dirty="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a:solidFill>
                  <a:schemeClr val="dk1"/>
                </a:solidFill>
              </a:rPr>
              <a:t>Xác</a:t>
            </a:r>
            <a:r>
              <a:rPr lang="en-US" sz="1800" b="1" dirty="0">
                <a:solidFill>
                  <a:schemeClr val="dk1"/>
                </a:solidFill>
              </a:rPr>
              <a:t> </a:t>
            </a:r>
            <a:r>
              <a:rPr lang="en-US" sz="1800" b="1" dirty="0" err="1">
                <a:solidFill>
                  <a:schemeClr val="dk1"/>
                </a:solidFill>
              </a:rPr>
              <a:t>định</a:t>
            </a:r>
            <a:r>
              <a:rPr lang="en-US" sz="1800" b="1" dirty="0">
                <a:solidFill>
                  <a:schemeClr val="dk1"/>
                </a:solidFill>
              </a:rPr>
              <a:t> </a:t>
            </a:r>
            <a:r>
              <a:rPr lang="en-US" sz="1800" b="1" dirty="0" err="1">
                <a:solidFill>
                  <a:schemeClr val="dk1"/>
                </a:solidFill>
              </a:rPr>
              <a:t>tín</a:t>
            </a:r>
            <a:r>
              <a:rPr lang="en-US" sz="1800" b="1" dirty="0">
                <a:solidFill>
                  <a:schemeClr val="dk1"/>
                </a:solidFill>
              </a:rPr>
              <a:t> </a:t>
            </a:r>
            <a:r>
              <a:rPr lang="en-US" sz="1800" b="1" dirty="0" err="1">
                <a:solidFill>
                  <a:schemeClr val="dk1"/>
                </a:solidFill>
              </a:rPr>
              <a:t>hiệu</a:t>
            </a:r>
            <a:r>
              <a:rPr lang="en-US" sz="1800" b="1" dirty="0">
                <a:solidFill>
                  <a:schemeClr val="dk1"/>
                </a:solidFill>
              </a:rPr>
              <a:t> </a:t>
            </a:r>
            <a:r>
              <a:rPr lang="en-US" sz="1800" b="1" dirty="0" err="1">
                <a:solidFill>
                  <a:schemeClr val="dk1"/>
                </a:solidFill>
              </a:rPr>
              <a:t>mua</a:t>
            </a:r>
            <a:r>
              <a:rPr lang="en-US" sz="1800" b="1" dirty="0">
                <a:solidFill>
                  <a:schemeClr val="dk1"/>
                </a:solidFill>
              </a:rPr>
              <a:t> </a:t>
            </a:r>
            <a:r>
              <a:rPr lang="en-US" sz="1800" b="1" dirty="0" err="1">
                <a:solidFill>
                  <a:schemeClr val="dk1"/>
                </a:solidFill>
              </a:rPr>
              <a:t>và</a:t>
            </a:r>
            <a:r>
              <a:rPr lang="en-US" sz="1800" b="1" dirty="0">
                <a:solidFill>
                  <a:schemeClr val="dk1"/>
                </a:solidFill>
              </a:rPr>
              <a:t> </a:t>
            </a:r>
            <a:r>
              <a:rPr lang="en-US" sz="1800" b="1" dirty="0" err="1">
                <a:solidFill>
                  <a:schemeClr val="dk1"/>
                </a:solidFill>
              </a:rPr>
              <a:t>bán</a:t>
            </a:r>
            <a:r>
              <a:rPr lang="en-US" sz="1800" b="1" dirty="0">
                <a:solidFill>
                  <a:schemeClr val="dk1"/>
                </a:solidFill>
              </a:rPr>
              <a:t>:</a:t>
            </a:r>
            <a:endParaRPr lang="en-US" sz="1800" b="1" dirty="0">
              <a:solidFill>
                <a:schemeClr val="dk1"/>
              </a:solidFill>
            </a:endParaRPr>
          </a:p>
          <a:p>
            <a:pPr marL="387350" marR="0" lvl="0" indent="-285750" algn="just" rtl="0">
              <a:lnSpc>
                <a:spcPct val="115000"/>
              </a:lnSpc>
              <a:spcBef>
                <a:spcPts val="1600"/>
              </a:spcBef>
              <a:spcAft>
                <a:spcPts val="0"/>
              </a:spcAft>
              <a:buFontTx/>
              <a:buChar char="-"/>
            </a:pPr>
            <a:r>
              <a:rPr lang="en-US" sz="1800" dirty="0">
                <a:solidFill>
                  <a:schemeClr val="dk1"/>
                </a:solidFill>
              </a:rPr>
              <a:t>So </a:t>
            </a:r>
            <a:r>
              <a:rPr lang="en-US" sz="1800" dirty="0" err="1">
                <a:solidFill>
                  <a:schemeClr val="dk1"/>
                </a:solidFill>
              </a:rPr>
              <a:t>sánh</a:t>
            </a:r>
            <a:r>
              <a:rPr lang="en-US" sz="1800" dirty="0">
                <a:solidFill>
                  <a:schemeClr val="dk1"/>
                </a:solidFill>
              </a:rPr>
              <a:t> </a:t>
            </a:r>
            <a:r>
              <a:rPr lang="en-US" sz="1800" b="1" dirty="0" err="1">
                <a:solidFill>
                  <a:schemeClr val="dk1"/>
                </a:solidFill>
              </a:rPr>
              <a:t>Giá</a:t>
            </a:r>
            <a:r>
              <a:rPr lang="en-US" sz="1800" b="1" dirty="0">
                <a:solidFill>
                  <a:schemeClr val="dk1"/>
                </a:solidFill>
              </a:rPr>
              <a:t> </a:t>
            </a:r>
            <a:r>
              <a:rPr lang="en-US" sz="1800" b="1" dirty="0" err="1">
                <a:solidFill>
                  <a:schemeClr val="dk1"/>
                </a:solidFill>
              </a:rPr>
              <a:t>dự</a:t>
            </a:r>
            <a:r>
              <a:rPr lang="en-US" sz="1800" b="1" dirty="0">
                <a:solidFill>
                  <a:schemeClr val="dk1"/>
                </a:solidFill>
              </a:rPr>
              <a:t> </a:t>
            </a:r>
            <a:r>
              <a:rPr lang="en-US" sz="1800" b="1" dirty="0" err="1">
                <a:solidFill>
                  <a:schemeClr val="dk1"/>
                </a:solidFill>
              </a:rPr>
              <a:t>đoán</a:t>
            </a:r>
            <a:r>
              <a:rPr lang="en-US" sz="1800" b="1" dirty="0">
                <a:solidFill>
                  <a:schemeClr val="dk1"/>
                </a:solidFill>
              </a:rPr>
              <a:t> vs </a:t>
            </a:r>
            <a:r>
              <a:rPr lang="en-US" sz="1800" b="1" dirty="0" err="1">
                <a:solidFill>
                  <a:schemeClr val="dk1"/>
                </a:solidFill>
              </a:rPr>
              <a:t>giá</a:t>
            </a:r>
            <a:r>
              <a:rPr lang="en-US" sz="1800" b="1" dirty="0">
                <a:solidFill>
                  <a:schemeClr val="dk1"/>
                </a:solidFill>
              </a:rPr>
              <a:t> </a:t>
            </a:r>
            <a:r>
              <a:rPr lang="en-US" sz="1800" b="1" dirty="0" err="1">
                <a:solidFill>
                  <a:schemeClr val="dk1"/>
                </a:solidFill>
              </a:rPr>
              <a:t>đóng</a:t>
            </a:r>
            <a:r>
              <a:rPr lang="en-US" sz="1800" b="1" dirty="0">
                <a:solidFill>
                  <a:schemeClr val="dk1"/>
                </a:solidFill>
              </a:rPr>
              <a:t> </a:t>
            </a:r>
            <a:r>
              <a:rPr lang="en-US" sz="1800" b="1" dirty="0" err="1">
                <a:solidFill>
                  <a:schemeClr val="dk1"/>
                </a:solidFill>
              </a:rPr>
              <a:t>cửa thực tế</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dirty="0">
                <a:solidFill>
                  <a:schemeClr val="dk1"/>
                </a:solidFill>
              </a:rPr>
              <a:t>So </a:t>
            </a:r>
            <a:r>
              <a:rPr lang="en-US" sz="1800" dirty="0" err="1">
                <a:solidFill>
                  <a:schemeClr val="dk1"/>
                </a:solidFill>
              </a:rPr>
              <a:t>sánh</a:t>
            </a:r>
            <a:r>
              <a:rPr lang="en-US" sz="1800" b="1" dirty="0">
                <a:solidFill>
                  <a:schemeClr val="dk1"/>
                </a:solidFill>
              </a:rPr>
              <a:t> Momentum vs 0</a:t>
            </a:r>
            <a:endParaRPr lang="en-US" sz="1800" b="1" dirty="0">
              <a:solidFill>
                <a:schemeClr val="dk1"/>
              </a:solidFill>
            </a:endParaRPr>
          </a:p>
          <a:p>
            <a:pPr marL="387350" marR="0" lvl="0" indent="-285750" algn="just" rtl="0">
              <a:lnSpc>
                <a:spcPct val="115000"/>
              </a:lnSpc>
              <a:spcBef>
                <a:spcPts val="1600"/>
              </a:spcBef>
              <a:spcAft>
                <a:spcPts val="0"/>
              </a:spcAft>
              <a:buFontTx/>
              <a:buChar char="-"/>
            </a:pPr>
            <a:r>
              <a:rPr lang="en-US" sz="1800" dirty="0">
                <a:solidFill>
                  <a:schemeClr val="dk1"/>
                </a:solidFill>
              </a:rPr>
              <a:t>So </a:t>
            </a:r>
            <a:r>
              <a:rPr lang="en-US" sz="1800" dirty="0" err="1">
                <a:solidFill>
                  <a:schemeClr val="dk1"/>
                </a:solidFill>
              </a:rPr>
              <a:t>sánh</a:t>
            </a:r>
            <a:r>
              <a:rPr lang="en-US" sz="1800" dirty="0">
                <a:solidFill>
                  <a:schemeClr val="dk1"/>
                </a:solidFill>
              </a:rPr>
              <a:t> </a:t>
            </a:r>
            <a:r>
              <a:rPr lang="en-US" sz="1800" b="1" dirty="0">
                <a:solidFill>
                  <a:schemeClr val="dk1"/>
                </a:solidFill>
              </a:rPr>
              <a:t>RSI </a:t>
            </a:r>
            <a:r>
              <a:rPr lang="en-US" sz="1800" b="1" dirty="0" err="1">
                <a:solidFill>
                  <a:schemeClr val="dk1"/>
                </a:solidFill>
              </a:rPr>
              <a:t>vs </a:t>
            </a:r>
            <a:r>
              <a:rPr lang="en-US" sz="1800" b="1" dirty="0">
                <a:solidFill>
                  <a:schemeClr val="dk1"/>
                </a:solidFill>
              </a:rPr>
              <a:t>30; 70</a:t>
            </a:r>
            <a:endParaRPr lang="en-US" sz="1800" b="1" dirty="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Giải</a:t>
            </a:r>
            <a:r>
              <a:rPr lang="en-US" sz="2400" b="1" dirty="0">
                <a:solidFill>
                  <a:schemeClr val="lt1"/>
                </a:solidFill>
                <a:latin typeface="Arial (body)"/>
              </a:rPr>
              <a:t> </a:t>
            </a:r>
            <a:r>
              <a:rPr lang="en-US" sz="2400" b="1" dirty="0" err="1">
                <a:solidFill>
                  <a:schemeClr val="lt1"/>
                </a:solidFill>
                <a:latin typeface="Arial (body)"/>
              </a:rPr>
              <a:t>quyết</a:t>
            </a:r>
            <a:r>
              <a:rPr lang="en-US" sz="2400" b="1" dirty="0">
                <a:solidFill>
                  <a:schemeClr val="lt1"/>
                </a:solidFill>
                <a:latin typeface="Arial (body)"/>
              </a:rPr>
              <a:t> </a:t>
            </a:r>
            <a:r>
              <a:rPr lang="en-US" sz="2400" b="1" dirty="0" err="1">
                <a:solidFill>
                  <a:schemeClr val="lt1"/>
                </a:solidFill>
                <a:latin typeface="Arial (body)"/>
              </a:rPr>
              <a:t>vấn</a:t>
            </a:r>
            <a:r>
              <a:rPr lang="en-US" sz="2400" b="1" dirty="0">
                <a:solidFill>
                  <a:schemeClr val="lt1"/>
                </a:solidFill>
                <a:latin typeface="Arial (body)"/>
              </a:rPr>
              <a:t> </a:t>
            </a:r>
            <a:r>
              <a:rPr lang="en-US" sz="2400" b="1" dirty="0" err="1">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a:solidFill>
                  <a:schemeClr val="dk1"/>
                </a:solidFill>
              </a:rPr>
              <a:t>Phần</a:t>
            </a:r>
            <a:r>
              <a:rPr lang="en-US" sz="1800" b="1" dirty="0">
                <a:solidFill>
                  <a:schemeClr val="dk1"/>
                </a:solidFill>
              </a:rPr>
              <a:t> </a:t>
            </a:r>
            <a:r>
              <a:rPr lang="en-US" sz="1800" b="1" dirty="0" err="1">
                <a:solidFill>
                  <a:schemeClr val="dk1"/>
                </a:solidFill>
              </a:rPr>
              <a:t>giao</a:t>
            </a:r>
            <a:r>
              <a:rPr lang="en-US" sz="1800" b="1" dirty="0">
                <a:solidFill>
                  <a:schemeClr val="dk1"/>
                </a:solidFill>
              </a:rPr>
              <a:t> </a:t>
            </a:r>
            <a:r>
              <a:rPr lang="en-US" sz="1800" b="1" dirty="0" err="1">
                <a:solidFill>
                  <a:schemeClr val="dk1"/>
                </a:solidFill>
              </a:rPr>
              <a:t>tiếp</a:t>
            </a:r>
            <a:r>
              <a:rPr lang="en-US" sz="1800" b="1" dirty="0">
                <a:solidFill>
                  <a:schemeClr val="dk1"/>
                </a:solidFill>
              </a:rPr>
              <a:t> </a:t>
            </a:r>
            <a:r>
              <a:rPr lang="en-US" sz="1800" b="1" dirty="0" err="1">
                <a:solidFill>
                  <a:schemeClr val="dk1"/>
                </a:solidFill>
              </a:rPr>
              <a:t>với</a:t>
            </a:r>
            <a:r>
              <a:rPr lang="en-US" sz="1800" b="1" dirty="0">
                <a:solidFill>
                  <a:schemeClr val="dk1"/>
                </a:solidFill>
              </a:rPr>
              <a:t> </a:t>
            </a:r>
            <a:r>
              <a:rPr lang="en-US" sz="1800" b="1" dirty="0" err="1">
                <a:solidFill>
                  <a:schemeClr val="dk1"/>
                </a:solidFill>
              </a:rPr>
              <a:t>bộ</a:t>
            </a:r>
            <a:r>
              <a:rPr lang="en-US" sz="1800" b="1" dirty="0">
                <a:solidFill>
                  <a:schemeClr val="dk1"/>
                </a:solidFill>
              </a:rPr>
              <a:t> </a:t>
            </a:r>
            <a:r>
              <a:rPr lang="en-US" sz="1800" b="1" dirty="0" err="1">
                <a:solidFill>
                  <a:schemeClr val="dk1"/>
                </a:solidFill>
              </a:rPr>
              <a:t>nhớ</a:t>
            </a:r>
            <a:r>
              <a:rPr lang="en-US" sz="1800" b="1" dirty="0">
                <a:solidFill>
                  <a:schemeClr val="dk1"/>
                </a:solidFill>
              </a:rPr>
              <a:t>:</a:t>
            </a:r>
            <a:endParaRPr lang="en-US" sz="1800" b="1" dirty="0">
              <a:solidFill>
                <a:schemeClr val="dk1"/>
              </a:solidFill>
            </a:endParaRPr>
          </a:p>
          <a:p>
            <a:pPr marL="101600" marR="0" lvl="0" indent="0" algn="just" rtl="0">
              <a:lnSpc>
                <a:spcPct val="115000"/>
              </a:lnSpc>
              <a:spcBef>
                <a:spcPts val="1600"/>
              </a:spcBef>
              <a:spcAft>
                <a:spcPts val="0"/>
              </a:spcAft>
              <a:buNone/>
            </a:pPr>
            <a:r>
              <a:rPr lang="en-US" sz="1200" dirty="0" err="1">
                <a:solidFill>
                  <a:schemeClr val="dk1"/>
                </a:solidFill>
              </a:rPr>
              <a:t>Đưa</a:t>
            </a:r>
            <a:r>
              <a:rPr lang="en-US" sz="1200" dirty="0">
                <a:solidFill>
                  <a:schemeClr val="dk1"/>
                </a:solidFill>
              </a:rPr>
              <a:t> </a:t>
            </a:r>
            <a:r>
              <a:rPr lang="en-US" sz="1200" dirty="0" err="1">
                <a:solidFill>
                  <a:schemeClr val="dk1"/>
                </a:solidFill>
              </a:rPr>
              <a:t>tín</a:t>
            </a:r>
            <a:r>
              <a:rPr lang="en-US" sz="1200" dirty="0">
                <a:solidFill>
                  <a:schemeClr val="dk1"/>
                </a:solidFill>
              </a:rPr>
              <a:t> </a:t>
            </a:r>
            <a:r>
              <a:rPr lang="en-US" sz="1200" dirty="0" err="1">
                <a:solidFill>
                  <a:schemeClr val="dk1"/>
                </a:solidFill>
              </a:rPr>
              <a:t>hiệu</a:t>
            </a:r>
            <a:r>
              <a:rPr lang="en-US" sz="1200" dirty="0">
                <a:solidFill>
                  <a:schemeClr val="dk1"/>
                </a:solidFill>
              </a:rPr>
              <a:t> </a:t>
            </a:r>
            <a:r>
              <a:rPr lang="en-US" sz="1200" dirty="0" err="1">
                <a:solidFill>
                  <a:schemeClr val="dk1"/>
                </a:solidFill>
              </a:rPr>
              <a:t>mua</a:t>
            </a:r>
            <a:r>
              <a:rPr lang="en-US" sz="1200" dirty="0">
                <a:solidFill>
                  <a:schemeClr val="dk1"/>
                </a:solidFill>
              </a:rPr>
              <a:t> </a:t>
            </a:r>
            <a:r>
              <a:rPr lang="en-US" sz="1200" dirty="0" err="1">
                <a:solidFill>
                  <a:schemeClr val="dk1"/>
                </a:solidFill>
              </a:rPr>
              <a:t>hoặc</a:t>
            </a:r>
            <a:r>
              <a:rPr lang="en-US" sz="1200" dirty="0">
                <a:solidFill>
                  <a:schemeClr val="dk1"/>
                </a:solidFill>
              </a:rPr>
              <a:t> </a:t>
            </a:r>
            <a:r>
              <a:rPr lang="en-US" sz="1200" dirty="0" err="1">
                <a:solidFill>
                  <a:schemeClr val="dk1"/>
                </a:solidFill>
              </a:rPr>
              <a:t>bán</a:t>
            </a:r>
            <a:r>
              <a:rPr lang="en-US" sz="1200" dirty="0">
                <a:solidFill>
                  <a:schemeClr val="dk1"/>
                </a:solidFill>
              </a:rPr>
              <a:t> </a:t>
            </a:r>
            <a:r>
              <a:rPr lang="en-US" sz="1200" dirty="0" err="1">
                <a:solidFill>
                  <a:schemeClr val="dk1"/>
                </a:solidFill>
              </a:rPr>
              <a:t>vào</a:t>
            </a:r>
            <a:r>
              <a:rPr lang="en-US" sz="1200" dirty="0">
                <a:solidFill>
                  <a:schemeClr val="dk1"/>
                </a:solidFill>
              </a:rPr>
              <a:t> </a:t>
            </a:r>
            <a:r>
              <a:rPr lang="en-US" sz="1200" dirty="0" err="1">
                <a:solidFill>
                  <a:schemeClr val="dk1"/>
                </a:solidFill>
              </a:rPr>
              <a:t>trong</a:t>
            </a:r>
            <a:r>
              <a:rPr lang="en-US" sz="1200" dirty="0">
                <a:solidFill>
                  <a:schemeClr val="dk1"/>
                </a:solidFill>
              </a:rPr>
              <a:t> </a:t>
            </a:r>
            <a:r>
              <a:rPr lang="en-US" sz="1200" dirty="0" err="1">
                <a:solidFill>
                  <a:schemeClr val="dk1"/>
                </a:solidFill>
              </a:rPr>
              <a:t>bộ</a:t>
            </a:r>
            <a:r>
              <a:rPr lang="en-US" sz="1200" dirty="0">
                <a:solidFill>
                  <a:schemeClr val="dk1"/>
                </a:solidFill>
              </a:rPr>
              <a:t> </a:t>
            </a:r>
            <a:r>
              <a:rPr lang="en-US" sz="1200" dirty="0" err="1">
                <a:solidFill>
                  <a:schemeClr val="dk1"/>
                </a:solidFill>
              </a:rPr>
              <a:t>nhớ</a:t>
            </a:r>
            <a:endParaRPr lang="en-US" sz="1200" dirty="0">
              <a:solidFill>
                <a:schemeClr val="dk1"/>
              </a:solidFill>
            </a:endParaRPr>
          </a:p>
          <a:p>
            <a:pPr marL="444500" marR="0" lvl="0" indent="-342900" algn="just" rtl="0">
              <a:lnSpc>
                <a:spcPct val="115000"/>
              </a:lnSpc>
              <a:spcBef>
                <a:spcPts val="1600"/>
              </a:spcBef>
              <a:spcAft>
                <a:spcPts val="0"/>
              </a:spcAft>
              <a:buAutoNum type="arabicPeriod"/>
            </a:pPr>
            <a:r>
              <a:rPr lang="en-US" sz="1200" i="0" u="none" strike="noStrike" cap="none" dirty="0" err="1">
                <a:solidFill>
                  <a:schemeClr val="dk1"/>
                </a:solidFill>
                <a:sym typeface="Arial" panose="020B0604020202020204"/>
              </a:rPr>
              <a:t>Cài</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đặt</a:t>
            </a:r>
            <a:r>
              <a:rPr lang="en-US" sz="1200"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bộ</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nhớ</a:t>
            </a:r>
            <a:r>
              <a:rPr lang="en-US" sz="1200" b="1" i="0" u="none" strike="noStrike" cap="none" dirty="0">
                <a:solidFill>
                  <a:schemeClr val="dk1"/>
                </a:solidFill>
                <a:sym typeface="Arial" panose="020B0604020202020204"/>
              </a:rPr>
              <a:t> </a:t>
            </a:r>
            <a:r>
              <a:rPr lang="en-US" sz="1200" b="1" i="0" u="none" strike="noStrike" cap="none" dirty="0" err="1">
                <a:solidFill>
                  <a:srgbClr val="FF0000"/>
                </a:solidFill>
                <a:sym typeface="Arial" panose="020B0604020202020204"/>
              </a:rPr>
              <a:t>redis</a:t>
            </a:r>
            <a:r>
              <a:rPr lang="en-US" sz="1200" b="1" i="0" u="none" strike="noStrike" cap="none" dirty="0">
                <a:solidFill>
                  <a:srgbClr val="FF0000"/>
                </a:solidFill>
                <a:sym typeface="Arial" panose="020B0604020202020204"/>
              </a:rPr>
              <a:t> + </a:t>
            </a:r>
            <a:r>
              <a:rPr lang="en-US" sz="1200" b="1" i="0" u="none" strike="noStrike" cap="none" dirty="0" err="1">
                <a:solidFill>
                  <a:srgbClr val="FF0000"/>
                </a:solidFill>
                <a:sym typeface="Arial" panose="020B0604020202020204"/>
              </a:rPr>
              <a:t>cài</a:t>
            </a:r>
            <a:r>
              <a:rPr lang="en-US" sz="1200" b="1" i="0" u="none" strike="noStrike" cap="none" dirty="0">
                <a:solidFill>
                  <a:srgbClr val="FF0000"/>
                </a:solidFill>
                <a:sym typeface="Arial" panose="020B0604020202020204"/>
              </a:rPr>
              <a:t> </a:t>
            </a:r>
            <a:r>
              <a:rPr lang="en-US" sz="1200" b="1" i="0" u="none" strike="noStrike" cap="none" dirty="0" err="1">
                <a:solidFill>
                  <a:srgbClr val="FF0000"/>
                </a:solidFill>
                <a:sym typeface="Arial" panose="020B0604020202020204"/>
              </a:rPr>
              <a:t>redis</a:t>
            </a:r>
            <a:r>
              <a:rPr lang="en-US" sz="1200" b="1" i="0" u="none" strike="noStrike" cap="none" dirty="0">
                <a:solidFill>
                  <a:srgbClr val="FF0000"/>
                </a:solidFill>
                <a:sym typeface="Arial" panose="020B0604020202020204"/>
              </a:rPr>
              <a:t> </a:t>
            </a:r>
            <a:r>
              <a:rPr lang="en-US" sz="1200" b="1" i="0" u="none" strike="noStrike" cap="none" dirty="0" err="1">
                <a:solidFill>
                  <a:srgbClr val="FF0000"/>
                </a:solidFill>
                <a:sym typeface="Arial" panose="020B0604020202020204"/>
              </a:rPr>
              <a:t>vật</a:t>
            </a:r>
            <a:r>
              <a:rPr lang="en-US" sz="1200" b="1" i="0" u="none" strike="noStrike" cap="none" dirty="0">
                <a:solidFill>
                  <a:srgbClr val="FF0000"/>
                </a:solidFill>
                <a:sym typeface="Arial" panose="020B0604020202020204"/>
              </a:rPr>
              <a:t> </a:t>
            </a:r>
            <a:r>
              <a:rPr lang="en-US" sz="1200" b="1" i="0" u="none" strike="noStrike" cap="none" dirty="0" err="1">
                <a:solidFill>
                  <a:srgbClr val="FF0000"/>
                </a:solidFill>
                <a:sym typeface="Arial" panose="020B0604020202020204"/>
              </a:rPr>
              <a:t>lý</a:t>
            </a:r>
            <a:endParaRPr lang="en-US" sz="1200" i="0" u="none" strike="noStrike" cap="none" dirty="0">
              <a:solidFill>
                <a:schemeClr val="dk1"/>
              </a:solidFill>
              <a:sym typeface="Arial" panose="020B0604020202020204"/>
            </a:endParaRPr>
          </a:p>
          <a:p>
            <a:pPr marL="101600" marR="0" lvl="0" algn="just" rtl="0">
              <a:lnSpc>
                <a:spcPct val="115000"/>
              </a:lnSpc>
              <a:spcBef>
                <a:spcPts val="1600"/>
              </a:spcBef>
              <a:spcAft>
                <a:spcPts val="0"/>
              </a:spcAft>
            </a:pPr>
            <a:r>
              <a:rPr lang="en-US" sz="1200" dirty="0">
                <a:solidFill>
                  <a:schemeClr val="dk1"/>
                </a:solidFill>
              </a:rPr>
              <a:t>- </a:t>
            </a:r>
            <a:r>
              <a:rPr lang="en-US" sz="1200" b="1" dirty="0">
                <a:solidFill>
                  <a:schemeClr val="dk1"/>
                </a:solidFill>
              </a:rPr>
              <a:t>Pip install </a:t>
            </a:r>
            <a:r>
              <a:rPr lang="en-US" sz="1200" b="1" dirty="0" err="1">
                <a:solidFill>
                  <a:schemeClr val="dk1"/>
                </a:solidFill>
              </a:rPr>
              <a:t>redis (python)</a:t>
            </a:r>
            <a:endParaRPr lang="en-US" sz="1200" b="1" dirty="0" err="1">
              <a:solidFill>
                <a:schemeClr val="dk1"/>
              </a:solidFill>
            </a:endParaRPr>
          </a:p>
          <a:p>
            <a:pPr marL="101600" marR="0" lvl="0" algn="just" rtl="0">
              <a:lnSpc>
                <a:spcPct val="115000"/>
              </a:lnSpc>
              <a:spcBef>
                <a:spcPts val="1600"/>
              </a:spcBef>
              <a:spcAft>
                <a:spcPts val="0"/>
              </a:spcAft>
            </a:pPr>
            <a:r>
              <a:rPr lang="en-US" sz="1200" b="1" dirty="0" err="1">
                <a:solidFill>
                  <a:schemeClr val="dk1"/>
                </a:solidFill>
              </a:rPr>
              <a:t>- Cài vật lý</a:t>
            </a:r>
            <a:endParaRPr lang="en-US" sz="1200" dirty="0">
              <a:solidFill>
                <a:schemeClr val="dk1"/>
              </a:solidFill>
            </a:endParaRPr>
          </a:p>
          <a:p>
            <a:pPr marL="101600" lvl="0" algn="just">
              <a:lnSpc>
                <a:spcPct val="115000"/>
              </a:lnSpc>
              <a:spcBef>
                <a:spcPts val="1600"/>
              </a:spcBef>
            </a:pPr>
            <a:r>
              <a:rPr lang="en-US" sz="1200" b="1" dirty="0">
                <a:solidFill>
                  <a:schemeClr val="dk1"/>
                </a:solidFill>
              </a:rPr>
              <a:t>Server:</a:t>
            </a:r>
            <a:r>
              <a:rPr lang="en-US" sz="1200" dirty="0">
                <a:solidFill>
                  <a:schemeClr val="dk1"/>
                </a:solidFill>
              </a:rPr>
              <a:t> </a:t>
            </a:r>
            <a:r>
              <a:rPr lang="en-US" sz="1200" dirty="0">
                <a:solidFill>
                  <a:schemeClr val="dk1"/>
                </a:solidFill>
                <a:hlinkClick r:id="rId2"/>
              </a:rPr>
              <a:t>https://github.com/microsoftarchive/redis/releases/download/win-3.0.504/Redis-x64-3.0.504.msi</a:t>
            </a:r>
            <a:endParaRPr lang="en-US" sz="1200" dirty="0">
              <a:solidFill>
                <a:schemeClr val="dk1"/>
              </a:solidFill>
            </a:endParaRPr>
          </a:p>
          <a:p>
            <a:pPr marL="101600" lvl="0" algn="just">
              <a:lnSpc>
                <a:spcPct val="115000"/>
              </a:lnSpc>
              <a:spcBef>
                <a:spcPts val="1600"/>
              </a:spcBef>
            </a:pPr>
            <a:r>
              <a:rPr lang="en-US" sz="1200" b="1" dirty="0">
                <a:solidFill>
                  <a:schemeClr val="dk1"/>
                </a:solidFill>
              </a:rPr>
              <a:t>Client:</a:t>
            </a:r>
            <a:r>
              <a:rPr lang="en-US" sz="1200" dirty="0">
                <a:solidFill>
                  <a:schemeClr val="dk1"/>
                </a:solidFill>
              </a:rPr>
              <a:t> </a:t>
            </a:r>
            <a:r>
              <a:rPr lang="en-US" sz="1200" dirty="0">
                <a:solidFill>
                  <a:schemeClr val="dk1"/>
                </a:solidFill>
                <a:hlinkClick r:id="rId3"/>
              </a:rPr>
              <a:t>https://goanother.com/</a:t>
            </a:r>
            <a:r>
              <a:rPr lang="en-US" sz="1200" dirty="0">
                <a:solidFill>
                  <a:schemeClr val="dk1"/>
                </a:solidFill>
              </a:rPr>
              <a:t>  </a:t>
            </a:r>
            <a:endParaRPr lang="en-US" sz="1200" dirty="0">
              <a:solidFill>
                <a:schemeClr val="dk1"/>
              </a:solidFill>
            </a:endParaRPr>
          </a:p>
          <a:p>
            <a:pPr marL="101600" marR="0" lvl="0" algn="just" rtl="0">
              <a:lnSpc>
                <a:spcPct val="115000"/>
              </a:lnSpc>
              <a:spcBef>
                <a:spcPts val="1600"/>
              </a:spcBef>
              <a:spcAft>
                <a:spcPts val="0"/>
              </a:spcAft>
            </a:pPr>
            <a:r>
              <a:rPr lang="en-US" sz="1200" i="0" u="none" strike="noStrike" cap="none" dirty="0">
                <a:solidFill>
                  <a:schemeClr val="dk1"/>
                </a:solidFill>
                <a:sym typeface="Arial" panose="020B0604020202020204"/>
              </a:rPr>
              <a:t>2. </a:t>
            </a:r>
            <a:r>
              <a:rPr lang="en-US" sz="1200" b="1" dirty="0" err="1">
                <a:solidFill>
                  <a:schemeClr val="dk1"/>
                </a:solidFill>
              </a:rPr>
              <a:t>Xác</a:t>
            </a:r>
            <a:r>
              <a:rPr lang="en-US" sz="1200" b="1" dirty="0">
                <a:solidFill>
                  <a:schemeClr val="dk1"/>
                </a:solidFill>
              </a:rPr>
              <a:t> </a:t>
            </a:r>
            <a:r>
              <a:rPr lang="en-US" sz="1200" b="1" dirty="0" err="1">
                <a:solidFill>
                  <a:schemeClr val="dk1"/>
                </a:solidFill>
              </a:rPr>
              <a:t>định</a:t>
            </a:r>
            <a:r>
              <a:rPr lang="en-US" sz="1200" b="1" dirty="0">
                <a:solidFill>
                  <a:schemeClr val="dk1"/>
                </a:solidFill>
              </a:rPr>
              <a:t> </a:t>
            </a:r>
            <a:r>
              <a:rPr lang="en-US" sz="1200" b="1" dirty="0" err="1">
                <a:solidFill>
                  <a:srgbClr val="FF0000"/>
                </a:solidFill>
              </a:rPr>
              <a:t>kiểu</a:t>
            </a:r>
            <a:r>
              <a:rPr lang="en-US" sz="1200" b="1" dirty="0">
                <a:solidFill>
                  <a:srgbClr val="FF0000"/>
                </a:solidFill>
              </a:rPr>
              <a:t> </a:t>
            </a:r>
            <a:r>
              <a:rPr lang="en-US" sz="1200" b="1" dirty="0" err="1">
                <a:solidFill>
                  <a:srgbClr val="FF0000"/>
                </a:solidFill>
              </a:rPr>
              <a:t>dữ</a:t>
            </a:r>
            <a:r>
              <a:rPr lang="en-US" sz="1200" b="1" dirty="0">
                <a:solidFill>
                  <a:srgbClr val="FF0000"/>
                </a:solidFill>
              </a:rPr>
              <a:t> </a:t>
            </a:r>
            <a:r>
              <a:rPr lang="en-US" sz="1200" b="1" dirty="0" err="1">
                <a:solidFill>
                  <a:srgbClr val="FF0000"/>
                </a:solidFill>
              </a:rPr>
              <a:t>liệu</a:t>
            </a:r>
            <a:r>
              <a:rPr lang="en-US" sz="1200" b="1" dirty="0">
                <a:solidFill>
                  <a:srgbClr val="FF0000"/>
                </a:solidFill>
              </a:rPr>
              <a:t> </a:t>
            </a:r>
            <a:r>
              <a:rPr lang="en-US" sz="1200" b="1" dirty="0" err="1">
                <a:solidFill>
                  <a:srgbClr val="FF0000"/>
                </a:solidFill>
              </a:rPr>
              <a:t>lưu</a:t>
            </a:r>
            <a:r>
              <a:rPr lang="en-US" sz="1200" b="1" dirty="0">
                <a:solidFill>
                  <a:srgbClr val="FF0000"/>
                </a:solidFill>
              </a:rPr>
              <a:t> </a:t>
            </a:r>
            <a:r>
              <a:rPr lang="en-US" sz="1200" b="1" dirty="0" err="1">
                <a:solidFill>
                  <a:srgbClr val="FF0000"/>
                </a:solidFill>
              </a:rPr>
              <a:t>trong</a:t>
            </a:r>
            <a:r>
              <a:rPr lang="en-US" sz="1200" b="1" dirty="0">
                <a:solidFill>
                  <a:srgbClr val="FF0000"/>
                </a:solidFill>
              </a:rPr>
              <a:t> </a:t>
            </a:r>
            <a:r>
              <a:rPr lang="en-US" sz="1200" b="1" dirty="0" err="1">
                <a:solidFill>
                  <a:srgbClr val="FF0000"/>
                </a:solidFill>
              </a:rPr>
              <a:t>bộ</a:t>
            </a:r>
            <a:r>
              <a:rPr lang="en-US" sz="1200" b="1" dirty="0">
                <a:solidFill>
                  <a:srgbClr val="FF0000"/>
                </a:solidFill>
              </a:rPr>
              <a:t> </a:t>
            </a:r>
            <a:r>
              <a:rPr lang="en-US" sz="1200" b="1" dirty="0" err="1">
                <a:solidFill>
                  <a:srgbClr val="FF0000"/>
                </a:solidFill>
              </a:rPr>
              <a:t>nhớ</a:t>
            </a:r>
            <a:endParaRPr lang="en-US" sz="1200" dirty="0">
              <a:solidFill>
                <a:schemeClr val="dk1"/>
              </a:solidFill>
            </a:endParaRPr>
          </a:p>
          <a:p>
            <a:pPr marL="387350" marR="0" lvl="0" indent="-285750" algn="just" rtl="0">
              <a:lnSpc>
                <a:spcPct val="115000"/>
              </a:lnSpc>
              <a:spcBef>
                <a:spcPts val="1600"/>
              </a:spcBef>
              <a:spcAft>
                <a:spcPts val="0"/>
              </a:spcAft>
              <a:buFontTx/>
              <a:buChar char="-"/>
            </a:pPr>
            <a:r>
              <a:rPr lang="en-US" sz="1200" b="1" i="0" u="none" strike="noStrike" cap="none" dirty="0">
                <a:solidFill>
                  <a:srgbClr val="FF0000"/>
                </a:solidFill>
                <a:sym typeface="Arial" panose="020B0604020202020204"/>
              </a:rPr>
              <a:t>Hash</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Bao</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gồm</a:t>
            </a:r>
            <a:r>
              <a:rPr lang="en-US" sz="1200" i="0" u="none" strike="noStrike" cap="none" dirty="0">
                <a:solidFill>
                  <a:schemeClr val="dk1"/>
                </a:solidFill>
                <a:sym typeface="Arial" panose="020B0604020202020204"/>
              </a:rPr>
              <a:t> </a:t>
            </a:r>
            <a:r>
              <a:rPr lang="en-US" sz="1200" b="1" i="0" u="none" strike="noStrike" cap="none" dirty="0">
                <a:solidFill>
                  <a:srgbClr val="FF0000"/>
                </a:solidFill>
                <a:sym typeface="Arial" panose="020B0604020202020204"/>
              </a:rPr>
              <a:t>key</a:t>
            </a:r>
            <a:r>
              <a:rPr lang="en-US" sz="1200" i="0" u="none" strike="noStrike" cap="none" dirty="0">
                <a:solidFill>
                  <a:srgbClr val="FF0000"/>
                </a:solidFill>
                <a:sym typeface="Arial" panose="020B0604020202020204"/>
              </a:rPr>
              <a:t> </a:t>
            </a:r>
            <a:r>
              <a:rPr lang="en-US" sz="1200" i="0" u="none" strike="noStrike" cap="none" dirty="0" err="1">
                <a:solidFill>
                  <a:srgbClr val="FF0000"/>
                </a:solidFill>
                <a:sym typeface="Arial" panose="020B0604020202020204"/>
              </a:rPr>
              <a:t>và</a:t>
            </a:r>
            <a:r>
              <a:rPr lang="en-US" sz="1200" i="0" u="none" strike="noStrike" cap="none" dirty="0">
                <a:solidFill>
                  <a:srgbClr val="FF0000"/>
                </a:solidFill>
                <a:sym typeface="Arial" panose="020B0604020202020204"/>
              </a:rPr>
              <a:t> </a:t>
            </a:r>
            <a:r>
              <a:rPr lang="en-US" sz="1200" b="1" i="0" u="none" strike="noStrike" cap="none" dirty="0">
                <a:solidFill>
                  <a:srgbClr val="FF0000"/>
                </a:solidFill>
                <a:sym typeface="Arial" panose="020B0604020202020204"/>
              </a:rPr>
              <a:t>value</a:t>
            </a:r>
            <a:endParaRPr lang="en-US" sz="1200" b="1" i="0" u="none" strike="noStrike" cap="none" dirty="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200" dirty="0" err="1">
                <a:solidFill>
                  <a:schemeClr val="dk1"/>
                </a:solidFill>
              </a:rPr>
              <a:t>Ví</a:t>
            </a:r>
            <a:r>
              <a:rPr lang="en-US" sz="1200" dirty="0">
                <a:solidFill>
                  <a:schemeClr val="dk1"/>
                </a:solidFill>
              </a:rPr>
              <a:t> </a:t>
            </a:r>
            <a:r>
              <a:rPr lang="en-US" sz="1200" dirty="0" err="1">
                <a:solidFill>
                  <a:schemeClr val="dk1"/>
                </a:solidFill>
              </a:rPr>
              <a:t>dụ</a:t>
            </a:r>
            <a:r>
              <a:rPr lang="en-US" sz="1200" dirty="0">
                <a:solidFill>
                  <a:schemeClr val="dk1"/>
                </a:solidFill>
              </a:rPr>
              <a:t> hash: </a:t>
            </a:r>
            <a:r>
              <a:rPr lang="en-US" sz="1200" b="1" dirty="0">
                <a:solidFill>
                  <a:schemeClr val="dk1"/>
                </a:solidFill>
              </a:rPr>
              <a:t>OG </a:t>
            </a:r>
            <a:r>
              <a:rPr lang="en-US" sz="1200" b="1" dirty="0" err="1">
                <a:solidFill>
                  <a:schemeClr val="dk1"/>
                </a:solidFill>
              </a:rPr>
              <a:t>Arima</a:t>
            </a:r>
            <a:r>
              <a:rPr lang="en-US" sz="1200" b="1" dirty="0">
                <a:solidFill>
                  <a:schemeClr val="dk1"/>
                </a:solidFill>
              </a:rPr>
              <a:t>, Momentum, RSI</a:t>
            </a:r>
            <a:endParaRPr lang="en-US" sz="1200" b="1" dirty="0">
              <a:solidFill>
                <a:schemeClr val="dk1"/>
              </a:solidFill>
            </a:endParaRPr>
          </a:p>
          <a:p>
            <a:pPr marL="387350" marR="0" lvl="0" indent="-285750" algn="just" rtl="0">
              <a:lnSpc>
                <a:spcPct val="115000"/>
              </a:lnSpc>
              <a:spcBef>
                <a:spcPts val="1600"/>
              </a:spcBef>
              <a:spcAft>
                <a:spcPts val="0"/>
              </a:spcAft>
              <a:buFontTx/>
              <a:buChar char="-"/>
            </a:pPr>
            <a:r>
              <a:rPr lang="en-US" sz="1200" b="1" i="0" u="none" strike="noStrike" cap="none" dirty="0">
                <a:solidFill>
                  <a:schemeClr val="dk1"/>
                </a:solidFill>
                <a:sym typeface="Arial" panose="020B0604020202020204"/>
              </a:rPr>
              <a:t>Key</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là</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ví</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dụ</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Datetime</a:t>
            </a:r>
            <a:r>
              <a:rPr lang="en-US" sz="1200" i="0" u="none" strike="noStrike" cap="none" dirty="0">
                <a:solidFill>
                  <a:schemeClr val="dk1"/>
                </a:solidFill>
                <a:sym typeface="Arial" panose="020B0604020202020204"/>
              </a:rPr>
              <a:t>, Open,…</a:t>
            </a:r>
            <a:r>
              <a:rPr lang="en-US" sz="1200" i="0" u="none" strike="noStrike" cap="none" dirty="0" err="1">
                <a:solidFill>
                  <a:schemeClr val="dk1"/>
                </a:solidFill>
                <a:sym typeface="Arial" panose="020B0604020202020204"/>
              </a:rPr>
              <a:t>Buy_Signal</a:t>
            </a:r>
            <a:r>
              <a:rPr lang="en-US" sz="1200" i="0" u="none" strike="noStrike" cap="none" dirty="0">
                <a:solidFill>
                  <a:schemeClr val="dk1"/>
                </a:solidFill>
                <a:sym typeface="Arial" panose="020B0604020202020204"/>
              </a:rPr>
              <a:t>, </a:t>
            </a:r>
            <a:r>
              <a:rPr lang="en-US" sz="1200" i="0" u="none" strike="noStrike" cap="none" dirty="0" err="1">
                <a:solidFill>
                  <a:schemeClr val="dk1"/>
                </a:solidFill>
                <a:sym typeface="Arial" panose="020B0604020202020204"/>
              </a:rPr>
              <a:t>Sell_Signal. </a:t>
            </a:r>
            <a:endParaRPr lang="en-US" sz="1200" i="0" u="none" strike="noStrike" cap="none" dirty="0" err="1">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200" b="1" dirty="0">
                <a:solidFill>
                  <a:schemeClr val="dk1"/>
                </a:solidFill>
              </a:rPr>
              <a:t>Value</a:t>
            </a:r>
            <a:r>
              <a:rPr lang="en-US" sz="1200" dirty="0">
                <a:solidFill>
                  <a:schemeClr val="dk1"/>
                </a:solidFill>
              </a:rPr>
              <a:t> </a:t>
            </a:r>
            <a:r>
              <a:rPr lang="en-US" sz="1200" dirty="0" err="1">
                <a:solidFill>
                  <a:schemeClr val="dk1"/>
                </a:solidFill>
              </a:rPr>
              <a:t>là</a:t>
            </a:r>
            <a:r>
              <a:rPr lang="en-US" sz="1200" dirty="0">
                <a:solidFill>
                  <a:schemeClr val="dk1"/>
                </a:solidFill>
              </a:rPr>
              <a:t> 2024-03-22,…</a:t>
            </a:r>
            <a:endParaRPr lang="en-US" sz="1200" dirty="0">
              <a:solidFill>
                <a:schemeClr val="dk1"/>
              </a:solidFill>
            </a:endParaRPr>
          </a:p>
          <a:p>
            <a:pPr marL="101600" marR="0" lvl="0" algn="just" rtl="0">
              <a:lnSpc>
                <a:spcPct val="115000"/>
              </a:lnSpc>
              <a:spcBef>
                <a:spcPts val="1600"/>
              </a:spcBef>
              <a:spcAft>
                <a:spcPts val="0"/>
              </a:spcAft>
            </a:pPr>
            <a:r>
              <a:rPr lang="en-US" sz="1200" i="0" u="none" strike="noStrike" cap="none" dirty="0">
                <a:solidFill>
                  <a:schemeClr val="dk1"/>
                </a:solidFill>
                <a:sym typeface="Arial" panose="020B0604020202020204"/>
              </a:rPr>
              <a:t>3. </a:t>
            </a:r>
            <a:r>
              <a:rPr lang="en-US" sz="1200" b="1" i="0" u="none" strike="noStrike" cap="none" dirty="0" err="1">
                <a:solidFill>
                  <a:schemeClr val="dk1"/>
                </a:solidFill>
                <a:sym typeface="Arial" panose="020B0604020202020204"/>
              </a:rPr>
              <a:t>Đẩy</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tín</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hiệu</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mua</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hoặc</a:t>
            </a:r>
            <a:r>
              <a:rPr lang="en-US" sz="1200" b="1" i="0" u="none" strike="noStrike" cap="none" dirty="0">
                <a:solidFill>
                  <a:schemeClr val="dk1"/>
                </a:solidFill>
                <a:sym typeface="Arial" panose="020B0604020202020204"/>
              </a:rPr>
              <a:t> </a:t>
            </a:r>
            <a:r>
              <a:rPr lang="en-US" sz="1200" b="1" i="0" u="none" strike="noStrike" cap="none" dirty="0" err="1">
                <a:solidFill>
                  <a:schemeClr val="dk1"/>
                </a:solidFill>
                <a:sym typeface="Arial" panose="020B0604020202020204"/>
              </a:rPr>
              <a:t>bán</a:t>
            </a:r>
            <a:r>
              <a:rPr lang="en-US" sz="1200" b="1" i="0" u="none" strike="noStrike" cap="none" dirty="0">
                <a:solidFill>
                  <a:schemeClr val="dk1"/>
                </a:solidFill>
                <a:sym typeface="Arial" panose="020B0604020202020204"/>
              </a:rPr>
              <a:t> qua </a:t>
            </a:r>
            <a:r>
              <a:rPr lang="en-US" sz="1200" b="1" i="0" u="none" strike="noStrike" cap="none" dirty="0" err="1">
                <a:solidFill>
                  <a:schemeClr val="dk1"/>
                </a:solidFill>
                <a:sym typeface="Arial" panose="020B0604020202020204"/>
              </a:rPr>
              <a:t>redis</a:t>
            </a:r>
            <a:endParaRPr lang="en-US" sz="1200" i="0" u="none" strike="noStrike" cap="none" dirty="0">
              <a:solidFill>
                <a:schemeClr val="dk1"/>
              </a:solidFill>
              <a:sym typeface="Arial" panose="020B0604020202020204"/>
            </a:endParaRPr>
          </a:p>
          <a:p>
            <a:pPr marL="101600" marR="0" lvl="0" algn="just" rtl="0">
              <a:lnSpc>
                <a:spcPct val="115000"/>
              </a:lnSpc>
              <a:spcBef>
                <a:spcPts val="1600"/>
              </a:spcBef>
              <a:spcAft>
                <a:spcPts val="0"/>
              </a:spcAft>
            </a:pPr>
            <a:endParaRPr lang="en-US" sz="1200" i="0" u="none" strike="noStrike" cap="none" dirty="0">
              <a:solidFill>
                <a:schemeClr val="dk1"/>
              </a:solidFill>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latin typeface="Arial (body)"/>
              </a:rPr>
              <a:t>Giải</a:t>
            </a:r>
            <a:r>
              <a:rPr lang="en-US" sz="2400" b="1" dirty="0">
                <a:solidFill>
                  <a:schemeClr val="lt1"/>
                </a:solidFill>
                <a:latin typeface="Arial (body)"/>
              </a:rPr>
              <a:t> </a:t>
            </a:r>
            <a:r>
              <a:rPr lang="en-US" sz="2400" b="1" dirty="0" err="1">
                <a:solidFill>
                  <a:schemeClr val="lt1"/>
                </a:solidFill>
                <a:latin typeface="Arial (body)"/>
              </a:rPr>
              <a:t>quyết</a:t>
            </a:r>
            <a:r>
              <a:rPr lang="en-US" sz="2400" b="1" dirty="0">
                <a:solidFill>
                  <a:schemeClr val="lt1"/>
                </a:solidFill>
                <a:latin typeface="Arial (body)"/>
              </a:rPr>
              <a:t> </a:t>
            </a:r>
            <a:r>
              <a:rPr lang="en-US" sz="2400" b="1" dirty="0" err="1">
                <a:solidFill>
                  <a:schemeClr val="lt1"/>
                </a:solidFill>
                <a:latin typeface="Arial (body)"/>
              </a:rPr>
              <a:t>vấn</a:t>
            </a:r>
            <a:r>
              <a:rPr lang="en-US" sz="2400" b="1" dirty="0">
                <a:solidFill>
                  <a:schemeClr val="lt1"/>
                </a:solidFill>
                <a:latin typeface="Arial (body)"/>
              </a:rPr>
              <a:t> </a:t>
            </a:r>
            <a:r>
              <a:rPr lang="en-US" sz="2400" b="1" dirty="0" err="1">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a:solidFill>
                  <a:schemeClr val="dk1"/>
                </a:solidFill>
              </a:rPr>
              <a:t>Phần</a:t>
            </a:r>
            <a:r>
              <a:rPr lang="en-US" sz="1800" b="1" dirty="0">
                <a:solidFill>
                  <a:schemeClr val="dk1"/>
                </a:solidFill>
              </a:rPr>
              <a:t> </a:t>
            </a:r>
            <a:r>
              <a:rPr lang="en-US" sz="1800" b="1" dirty="0" err="1">
                <a:solidFill>
                  <a:schemeClr val="dk1"/>
                </a:solidFill>
              </a:rPr>
              <a:t>đọc</a:t>
            </a:r>
            <a:r>
              <a:rPr lang="en-US" sz="1800" b="1" dirty="0">
                <a:solidFill>
                  <a:schemeClr val="dk1"/>
                </a:solidFill>
              </a:rPr>
              <a:t> </a:t>
            </a:r>
            <a:r>
              <a:rPr lang="en-US" sz="1800" b="1" dirty="0" err="1">
                <a:solidFill>
                  <a:schemeClr val="dk1"/>
                </a:solidFill>
              </a:rPr>
              <a:t>dữ</a:t>
            </a:r>
            <a:r>
              <a:rPr lang="en-US" sz="1800" b="1" dirty="0">
                <a:solidFill>
                  <a:schemeClr val="dk1"/>
                </a:solidFill>
              </a:rPr>
              <a:t> </a:t>
            </a:r>
            <a:r>
              <a:rPr lang="en-US" sz="1800" b="1" dirty="0" err="1">
                <a:solidFill>
                  <a:schemeClr val="dk1"/>
                </a:solidFill>
              </a:rPr>
              <a:t>liệu</a:t>
            </a:r>
            <a:r>
              <a:rPr lang="en-US" sz="1800" b="1" dirty="0">
                <a:solidFill>
                  <a:schemeClr val="dk1"/>
                </a:solidFill>
              </a:rPr>
              <a:t> </a:t>
            </a:r>
            <a:r>
              <a:rPr lang="en-US" sz="1800" b="1" u="sng" dirty="0" err="1">
                <a:solidFill>
                  <a:schemeClr val="dk1"/>
                </a:solidFill>
              </a:rPr>
              <a:t>từ</a:t>
            </a:r>
            <a:r>
              <a:rPr lang="en-US" sz="1800" b="1" u="sng" dirty="0">
                <a:solidFill>
                  <a:schemeClr val="dk1"/>
                </a:solidFill>
              </a:rPr>
              <a:t> </a:t>
            </a:r>
            <a:r>
              <a:rPr lang="en-US" sz="1800" b="1" u="sng" dirty="0" err="1">
                <a:solidFill>
                  <a:schemeClr val="dk1"/>
                </a:solidFill>
              </a:rPr>
              <a:t>bộ</a:t>
            </a:r>
            <a:r>
              <a:rPr lang="en-US" sz="1800" b="1" u="sng" dirty="0">
                <a:solidFill>
                  <a:schemeClr val="dk1"/>
                </a:solidFill>
              </a:rPr>
              <a:t> </a:t>
            </a:r>
            <a:r>
              <a:rPr lang="en-US" sz="1800" b="1" u="sng" dirty="0" err="1">
                <a:solidFill>
                  <a:schemeClr val="dk1"/>
                </a:solidFill>
              </a:rPr>
              <a:t>nhớ</a:t>
            </a:r>
            <a:r>
              <a:rPr lang="en-US" sz="1800" b="1" u="sng" dirty="0">
                <a:solidFill>
                  <a:schemeClr val="dk1"/>
                </a:solidFill>
              </a:rPr>
              <a:t> </a:t>
            </a:r>
            <a:r>
              <a:rPr lang="en-US" sz="1800" b="1" u="sng" dirty="0" err="1">
                <a:solidFill>
                  <a:schemeClr val="dk1"/>
                </a:solidFill>
              </a:rPr>
              <a:t>và</a:t>
            </a:r>
            <a:r>
              <a:rPr lang="en-US" sz="1800" b="1" u="sng" dirty="0">
                <a:solidFill>
                  <a:schemeClr val="dk1"/>
                </a:solidFill>
              </a:rPr>
              <a:t> </a:t>
            </a:r>
            <a:r>
              <a:rPr lang="en-US" sz="1800" b="1" u="sng" dirty="0" err="1">
                <a:solidFill>
                  <a:schemeClr val="dk1"/>
                </a:solidFill>
              </a:rPr>
              <a:t>vào</a:t>
            </a:r>
            <a:r>
              <a:rPr lang="en-US" sz="1800" b="1" u="sng" dirty="0">
                <a:solidFill>
                  <a:schemeClr val="dk1"/>
                </a:solidFill>
              </a:rPr>
              <a:t> </a:t>
            </a:r>
            <a:r>
              <a:rPr lang="en-US" sz="1800" b="1" u="sng" dirty="0" err="1">
                <a:solidFill>
                  <a:schemeClr val="dk1"/>
                </a:solidFill>
              </a:rPr>
              <a:t>lệnh</a:t>
            </a:r>
            <a:r>
              <a:rPr lang="en-US" sz="1800" b="1" dirty="0">
                <a:solidFill>
                  <a:schemeClr val="dk1"/>
                </a:solidFill>
              </a:rPr>
              <a:t>:</a:t>
            </a:r>
            <a:endParaRPr lang="en-US" sz="1800" b="1" dirty="0">
              <a:solidFill>
                <a:schemeClr val="dk1"/>
              </a:solidFill>
            </a:endParaRPr>
          </a:p>
          <a:p>
            <a:pPr marL="101600" marR="0" lvl="0" indent="0" algn="just" rtl="0">
              <a:lnSpc>
                <a:spcPct val="115000"/>
              </a:lnSpc>
              <a:spcBef>
                <a:spcPts val="1600"/>
              </a:spcBef>
              <a:spcAft>
                <a:spcPts val="0"/>
              </a:spcAft>
              <a:buNone/>
            </a:pPr>
            <a:r>
              <a:rPr lang="en-US" sz="1800" dirty="0" err="1">
                <a:solidFill>
                  <a:schemeClr val="dk1"/>
                </a:solidFill>
              </a:rPr>
              <a:t>Đọc</a:t>
            </a:r>
            <a:r>
              <a:rPr lang="en-US" sz="1800" dirty="0">
                <a:solidFill>
                  <a:schemeClr val="dk1"/>
                </a:solidFill>
              </a:rPr>
              <a:t> </a:t>
            </a:r>
            <a:r>
              <a:rPr lang="en-US" sz="1800" dirty="0" err="1">
                <a:solidFill>
                  <a:schemeClr val="dk1"/>
                </a:solidFill>
              </a:rPr>
              <a:t>tín</a:t>
            </a:r>
            <a:r>
              <a:rPr lang="en-US" sz="1800" dirty="0">
                <a:solidFill>
                  <a:schemeClr val="dk1"/>
                </a:solidFill>
              </a:rPr>
              <a:t> </a:t>
            </a:r>
            <a:r>
              <a:rPr lang="en-US" sz="1800" dirty="0" err="1">
                <a:solidFill>
                  <a:schemeClr val="dk1"/>
                </a:solidFill>
              </a:rPr>
              <a:t>hiệu</a:t>
            </a:r>
            <a:r>
              <a:rPr lang="en-US" sz="1800" dirty="0">
                <a:solidFill>
                  <a:schemeClr val="dk1"/>
                </a:solidFill>
              </a:rPr>
              <a:t> </a:t>
            </a:r>
            <a:r>
              <a:rPr lang="en-US" sz="1800" b="1" dirty="0" err="1">
                <a:solidFill>
                  <a:schemeClr val="dk1"/>
                </a:solidFill>
              </a:rPr>
              <a:t>mua</a:t>
            </a:r>
            <a:r>
              <a:rPr lang="en-US" sz="1800" b="1" dirty="0">
                <a:solidFill>
                  <a:schemeClr val="dk1"/>
                </a:solidFill>
              </a:rPr>
              <a:t> </a:t>
            </a:r>
            <a:r>
              <a:rPr lang="en-US" sz="1800" b="1" dirty="0" err="1">
                <a:solidFill>
                  <a:schemeClr val="dk1"/>
                </a:solidFill>
              </a:rPr>
              <a:t>hoặc</a:t>
            </a:r>
            <a:r>
              <a:rPr lang="en-US" sz="1800" b="1" dirty="0">
                <a:solidFill>
                  <a:schemeClr val="dk1"/>
                </a:solidFill>
              </a:rPr>
              <a:t> </a:t>
            </a:r>
            <a:r>
              <a:rPr lang="en-US" sz="1800" b="1" dirty="0" err="1">
                <a:solidFill>
                  <a:schemeClr val="dk1"/>
                </a:solidFill>
              </a:rPr>
              <a:t>bán </a:t>
            </a:r>
            <a:r>
              <a:rPr lang="en-US" sz="1800" dirty="0" err="1">
                <a:solidFill>
                  <a:schemeClr val="dk1"/>
                </a:solidFill>
              </a:rPr>
              <a:t>và các data</a:t>
            </a:r>
            <a:r>
              <a:rPr lang="en-US" sz="1800" dirty="0">
                <a:solidFill>
                  <a:schemeClr val="dk1"/>
                </a:solidFill>
              </a:rPr>
              <a:t> </a:t>
            </a:r>
            <a:r>
              <a:rPr lang="en-US" sz="1800" dirty="0" err="1">
                <a:solidFill>
                  <a:schemeClr val="dk1"/>
                </a:solidFill>
              </a:rPr>
              <a:t>từ trong</a:t>
            </a:r>
            <a:r>
              <a:rPr lang="en-US" sz="1800" dirty="0">
                <a:solidFill>
                  <a:schemeClr val="dk1"/>
                </a:solidFill>
              </a:rPr>
              <a:t> </a:t>
            </a:r>
            <a:r>
              <a:rPr lang="en-US" sz="1800" dirty="0" err="1">
                <a:solidFill>
                  <a:schemeClr val="dk1"/>
                </a:solidFill>
              </a:rPr>
              <a:t>bộ</a:t>
            </a:r>
            <a:r>
              <a:rPr lang="en-US" sz="1800" dirty="0">
                <a:solidFill>
                  <a:schemeClr val="dk1"/>
                </a:solidFill>
              </a:rPr>
              <a:t> </a:t>
            </a:r>
            <a:r>
              <a:rPr lang="en-US" sz="1800" dirty="0" err="1">
                <a:solidFill>
                  <a:schemeClr val="dk1"/>
                </a:solidFill>
              </a:rPr>
              <a:t>nhớ redis</a:t>
            </a:r>
            <a:endParaRPr lang="en-US" sz="1800" dirty="0">
              <a:solidFill>
                <a:schemeClr val="dk1"/>
              </a:solidFill>
            </a:endParaRPr>
          </a:p>
          <a:p>
            <a:pPr marL="101600" marR="0" lvl="0" algn="just" rtl="0">
              <a:lnSpc>
                <a:spcPct val="115000"/>
              </a:lnSpc>
              <a:spcBef>
                <a:spcPts val="1600"/>
              </a:spcBef>
              <a:spcAft>
                <a:spcPts val="0"/>
              </a:spcAft>
            </a:pPr>
            <a:r>
              <a:rPr lang="en-US" sz="1800" i="0" u="none" strike="noStrike" cap="none" dirty="0">
                <a:solidFill>
                  <a:schemeClr val="dk1"/>
                </a:solidFill>
                <a:sym typeface="Arial" panose="020B0604020202020204"/>
              </a:rPr>
              <a:t>1. </a:t>
            </a:r>
            <a:r>
              <a:rPr lang="en-US" sz="1800" dirty="0" err="1">
                <a:solidFill>
                  <a:schemeClr val="dk1"/>
                </a:solidFill>
              </a:rPr>
              <a:t>Xác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kiểu</a:t>
            </a:r>
            <a:r>
              <a:rPr lang="en-US" sz="1800" dirty="0">
                <a:solidFill>
                  <a:schemeClr val="dk1"/>
                </a:solidFill>
              </a:rPr>
              <a:t> </a:t>
            </a:r>
            <a:r>
              <a:rPr lang="en-US" sz="1800" dirty="0" err="1">
                <a:solidFill>
                  <a:schemeClr val="dk1"/>
                </a:solidFill>
              </a:rPr>
              <a:t>dữ</a:t>
            </a:r>
            <a:r>
              <a:rPr lang="en-US" sz="1800" dirty="0">
                <a:solidFill>
                  <a:schemeClr val="dk1"/>
                </a:solidFill>
              </a:rPr>
              <a:t> </a:t>
            </a:r>
            <a:r>
              <a:rPr lang="en-US" sz="1800" dirty="0" err="1">
                <a:solidFill>
                  <a:schemeClr val="dk1"/>
                </a:solidFill>
              </a:rPr>
              <a:t>liệu</a:t>
            </a:r>
            <a:r>
              <a:rPr lang="en-US" sz="1800" dirty="0">
                <a:solidFill>
                  <a:schemeClr val="dk1"/>
                </a:solidFill>
              </a:rPr>
              <a:t> </a:t>
            </a:r>
            <a:r>
              <a:rPr lang="en-US" sz="1800" dirty="0" err="1">
                <a:solidFill>
                  <a:schemeClr val="dk1"/>
                </a:solidFill>
              </a:rPr>
              <a:t>lưu</a:t>
            </a:r>
            <a:r>
              <a:rPr lang="en-US" sz="1800" dirty="0">
                <a:solidFill>
                  <a:schemeClr val="dk1"/>
                </a:solidFill>
              </a:rPr>
              <a:t> </a:t>
            </a:r>
            <a:r>
              <a:rPr lang="en-US" sz="1800" dirty="0" err="1">
                <a:solidFill>
                  <a:schemeClr val="dk1"/>
                </a:solidFill>
              </a:rPr>
              <a:t>trong</a:t>
            </a:r>
            <a:r>
              <a:rPr lang="en-US" sz="1800" dirty="0">
                <a:solidFill>
                  <a:schemeClr val="dk1"/>
                </a:solidFill>
              </a:rPr>
              <a:t> </a:t>
            </a:r>
            <a:r>
              <a:rPr lang="en-US" sz="1800" dirty="0" err="1">
                <a:solidFill>
                  <a:schemeClr val="dk1"/>
                </a:solidFill>
              </a:rPr>
              <a:t>bộ</a:t>
            </a:r>
            <a:r>
              <a:rPr lang="en-US" sz="1800" dirty="0">
                <a:solidFill>
                  <a:schemeClr val="dk1"/>
                </a:solidFill>
              </a:rPr>
              <a:t> </a:t>
            </a:r>
            <a:r>
              <a:rPr lang="en-US" sz="1800" dirty="0" err="1">
                <a:solidFill>
                  <a:schemeClr val="dk1"/>
                </a:solidFill>
              </a:rPr>
              <a:t>nhớ</a:t>
            </a:r>
            <a:endParaRPr lang="en-US" sz="1800" dirty="0">
              <a:solidFill>
                <a:schemeClr val="dk1"/>
              </a:solidFill>
            </a:endParaRPr>
          </a:p>
          <a:p>
            <a:pPr marL="387350" marR="0" lvl="0" indent="-285750" algn="just" rtl="0">
              <a:lnSpc>
                <a:spcPct val="115000"/>
              </a:lnSpc>
              <a:spcBef>
                <a:spcPts val="1600"/>
              </a:spcBef>
              <a:spcAft>
                <a:spcPts val="0"/>
              </a:spcAft>
              <a:buFontTx/>
              <a:buChar char="-"/>
            </a:pPr>
            <a:r>
              <a:rPr lang="en-US" sz="1800" dirty="0" err="1">
                <a:solidFill>
                  <a:schemeClr val="dk1"/>
                </a:solidFill>
              </a:rPr>
              <a:t>Đọc</a:t>
            </a:r>
            <a:r>
              <a:rPr lang="en-US" sz="1800" dirty="0">
                <a:solidFill>
                  <a:schemeClr val="dk1"/>
                </a:solidFill>
              </a:rPr>
              <a:t> </a:t>
            </a:r>
            <a:r>
              <a:rPr lang="en-US" sz="1800" dirty="0" err="1">
                <a:solidFill>
                  <a:schemeClr val="dk1"/>
                </a:solidFill>
              </a:rPr>
              <a:t>dữ</a:t>
            </a:r>
            <a:r>
              <a:rPr lang="en-US" sz="1800" dirty="0">
                <a:solidFill>
                  <a:schemeClr val="dk1"/>
                </a:solidFill>
              </a:rPr>
              <a:t> </a:t>
            </a:r>
            <a:r>
              <a:rPr lang="en-US" sz="1800" dirty="0" err="1">
                <a:solidFill>
                  <a:schemeClr val="dk1"/>
                </a:solidFill>
              </a:rPr>
              <a:t>liệu</a:t>
            </a:r>
            <a:r>
              <a:rPr lang="en-US" sz="1800" dirty="0">
                <a:solidFill>
                  <a:schemeClr val="dk1"/>
                </a:solidFill>
              </a:rPr>
              <a:t> </a:t>
            </a:r>
            <a:r>
              <a:rPr lang="en-US" sz="1800" dirty="0" err="1">
                <a:solidFill>
                  <a:schemeClr val="dk1"/>
                </a:solidFill>
              </a:rPr>
              <a:t>từ</a:t>
            </a:r>
            <a:r>
              <a:rPr lang="en-US" sz="1800" dirty="0">
                <a:solidFill>
                  <a:schemeClr val="dk1"/>
                </a:solidFill>
              </a:rPr>
              <a:t> </a:t>
            </a:r>
            <a:r>
              <a:rPr lang="en-US" sz="1800" dirty="0" err="1">
                <a:solidFill>
                  <a:schemeClr val="dk1"/>
                </a:solidFill>
              </a:rPr>
              <a:t>bộ</a:t>
            </a:r>
            <a:r>
              <a:rPr lang="en-US" sz="1800" dirty="0">
                <a:solidFill>
                  <a:schemeClr val="dk1"/>
                </a:solidFill>
              </a:rPr>
              <a:t> </a:t>
            </a:r>
            <a:r>
              <a:rPr lang="en-US" sz="1800" dirty="0" err="1">
                <a:solidFill>
                  <a:schemeClr val="dk1"/>
                </a:solidFill>
              </a:rPr>
              <a:t>nhớ</a:t>
            </a:r>
            <a:endParaRPr lang="en-US" sz="1800" i="0" u="none" strike="noStrike" cap="none" dirty="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800" b="1" dirty="0">
                <a:solidFill>
                  <a:srgbClr val="FF0000"/>
                </a:solidFill>
              </a:rPr>
              <a:t>Hash, Key-Value</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dirty="0" err="1">
                <a:solidFill>
                  <a:schemeClr val="dk1"/>
                </a:solidFill>
              </a:rPr>
              <a:t>gì</a:t>
            </a:r>
            <a:r>
              <a:rPr lang="en-US" sz="1800" dirty="0">
                <a:solidFill>
                  <a:schemeClr val="dk1"/>
                </a:solidFill>
              </a:rPr>
              <a:t>…2024-03-22,…</a:t>
            </a:r>
            <a:endParaRPr lang="en-US" sz="1800" dirty="0">
              <a:solidFill>
                <a:schemeClr val="dk1"/>
              </a:solidFill>
            </a:endParaRPr>
          </a:p>
          <a:p>
            <a:pPr marL="101600" marR="0" lvl="0" algn="just" rtl="0">
              <a:lnSpc>
                <a:spcPct val="115000"/>
              </a:lnSpc>
              <a:spcBef>
                <a:spcPts val="1600"/>
              </a:spcBef>
              <a:spcAft>
                <a:spcPts val="0"/>
              </a:spcAft>
            </a:pPr>
            <a:r>
              <a:rPr lang="en-US" sz="1800" dirty="0">
                <a:solidFill>
                  <a:schemeClr val="dk1"/>
                </a:solidFill>
              </a:rPr>
              <a:t>2. </a:t>
            </a:r>
            <a:r>
              <a:rPr lang="en-US" sz="1800" dirty="0" err="1">
                <a:solidFill>
                  <a:schemeClr val="dk1"/>
                </a:solidFill>
              </a:rPr>
              <a:t>Vào</a:t>
            </a:r>
            <a:r>
              <a:rPr lang="en-US" sz="1800" dirty="0">
                <a:solidFill>
                  <a:schemeClr val="dk1"/>
                </a:solidFill>
              </a:rPr>
              <a:t> </a:t>
            </a:r>
            <a:r>
              <a:rPr lang="en-US" sz="1800" dirty="0" err="1">
                <a:solidFill>
                  <a:schemeClr val="dk1"/>
                </a:solidFill>
              </a:rPr>
              <a:t>lệnh</a:t>
            </a:r>
            <a:r>
              <a:rPr lang="en-US" sz="1800" dirty="0">
                <a:solidFill>
                  <a:schemeClr val="dk1"/>
                </a:solidFill>
              </a:rPr>
              <a:t> </a:t>
            </a:r>
            <a:r>
              <a:rPr lang="en-US" sz="1800" dirty="0" err="1">
                <a:solidFill>
                  <a:schemeClr val="dk1"/>
                </a:solidFill>
              </a:rPr>
              <a:t>giao</a:t>
            </a:r>
            <a:r>
              <a:rPr lang="en-US" sz="1800" dirty="0">
                <a:solidFill>
                  <a:schemeClr val="dk1"/>
                </a:solidFill>
              </a:rPr>
              <a:t> </a:t>
            </a:r>
            <a:r>
              <a:rPr lang="en-US" sz="1800" dirty="0" err="1">
                <a:solidFill>
                  <a:schemeClr val="dk1"/>
                </a:solidFill>
              </a:rPr>
              <a:t>dịch: Theo </a:t>
            </a:r>
            <a:r>
              <a:rPr lang="en-US" sz="1800" b="1" dirty="0" err="1">
                <a:solidFill>
                  <a:schemeClr val="dk1"/>
                </a:solidFill>
              </a:rPr>
              <a:t>Buy_Signal/ Sell_Signal</a:t>
            </a:r>
            <a:endParaRPr sz="1800" b="1" i="0" u="none" strike="noStrike" cap="none" dirty="0">
              <a:solidFill>
                <a:schemeClr val="dk1"/>
              </a:solidFill>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5910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1"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1"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chân</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dài</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I.2.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của</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1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học</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viên</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I.3.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SPY500 – VIX) </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manual</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II.1. </a:t>
            </a:r>
            <a:r>
              <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Vào 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II.2. </a:t>
            </a:r>
            <a:r>
              <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Vào 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II.3. </a:t>
            </a:r>
            <a:r>
              <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Vào 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III.1.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rPr>
              <a:t>Vào 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III.2.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rPr>
              <a:t>Vào 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III.3.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rPr>
              <a:t>Vào 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Chứng</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Khoán</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 Một tín hiệu Mua xảy ra khi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 hiện tại là DJ chân dài</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 =&gt; Sau đó có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1 nến confirm</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 Buy_Signal. Ngược lại Bán</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chân</a:t>
            </a:r>
            <a:r>
              <a:rPr kumimoji="0" lang="en-US" sz="1600" b="1" i="0" u="sng"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dài</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Là</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là</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có</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giá</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mở</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cửa</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và</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đóng</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cửa</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C000"/>
                </a:solidFill>
                <a:effectLst/>
                <a:uLnTx/>
                <a:uFillTx/>
                <a:latin typeface="Arial" panose="020B0604020202020204"/>
                <a:ea typeface="Maven Pro"/>
                <a:cs typeface="Maven Pro"/>
                <a:sym typeface="Maven Pro"/>
              </a:rPr>
              <a:t>gần</a:t>
            </a:r>
            <a:r>
              <a:rPr kumimoji="0" lang="en-US" sz="1600" b="1" i="0" u="none" strike="noStrike" kern="0" cap="none" spc="0" normalizeH="0" baseline="0" noProof="0" dirty="0">
                <a:ln>
                  <a:noFill/>
                </a:ln>
                <a:solidFill>
                  <a:srgbClr val="FFC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C000"/>
                </a:solidFill>
                <a:effectLst/>
                <a:uLnTx/>
                <a:uFillTx/>
                <a:latin typeface="Arial" panose="020B0604020202020204"/>
                <a:ea typeface="Maven Pro"/>
                <a:cs typeface="Maven Pro"/>
                <a:sym typeface="Maven Pro"/>
              </a:rPr>
              <a:t>bằng</a:t>
            </a:r>
            <a:r>
              <a:rPr kumimoji="0" lang="en-US" sz="1600" b="1" i="0" u="none" strike="noStrike" kern="0" cap="none" spc="0" normalizeH="0" baseline="0" noProof="0" dirty="0">
                <a:ln>
                  <a:noFill/>
                </a:ln>
                <a:solidFill>
                  <a:srgbClr val="FFC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C000"/>
                </a:solidFill>
                <a:effectLst/>
                <a:uLnTx/>
                <a:uFillTx/>
                <a:latin typeface="Arial" panose="020B0604020202020204"/>
                <a:ea typeface="Maven Pro"/>
                <a:cs typeface="Maven Pro"/>
                <a:sym typeface="Maven Pro"/>
              </a:rPr>
              <a:t>nhau</a:t>
            </a:r>
            <a:r>
              <a:rPr kumimoji="0" lang="en-US" sz="1600" b="1" i="0" u="none" strike="noStrike" kern="0" cap="none" spc="0" normalizeH="0" baseline="0" noProof="0" dirty="0">
                <a:ln>
                  <a:noFill/>
                </a:ln>
                <a:solidFill>
                  <a:srgbClr val="FFC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không</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quan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trọng</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giá</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Open &gt;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hơn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hay &lt;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giá</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Close</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Bóng</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trên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&gt;= 2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lần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thân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bóng</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dưới</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&gt;= 2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lần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thân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5" name="Google Shape;124;p4"/>
          <p:cNvPicPr preferRelativeResize="0"/>
          <p:nvPr/>
        </p:nvPicPr>
        <p:blipFill>
          <a:blip r:embed="rId2"/>
          <a:stretch>
            <a:fillRect/>
          </a:stretch>
        </p:blipFill>
        <p:spPr>
          <a:xfrm>
            <a:off x="708791" y="3526971"/>
            <a:ext cx="5803976" cy="1464908"/>
          </a:xfrm>
          <a:prstGeom prst="rect">
            <a:avLst/>
          </a:prstGeom>
          <a:noFill/>
          <a:ln>
            <a:noFill/>
          </a:ln>
        </p:spPr>
      </p:pic>
      <p:sp>
        <p:nvSpPr>
          <p:cNvPr id="6" name="Google Shape;125;p4"/>
          <p:cNvSpPr txBox="1"/>
          <p:nvPr/>
        </p:nvSpPr>
        <p:spPr>
          <a:xfrm>
            <a:off x="1260739" y="5203844"/>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3"/>
          <a:stretch>
            <a:fillRect/>
          </a:stretch>
        </p:blipFill>
        <p:spPr>
          <a:xfrm>
            <a:off x="304800" y="5050507"/>
            <a:ext cx="833200" cy="68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3" name="Picture 2"/>
          <p:cNvPicPr>
            <a:picLocks noChangeAspect="1"/>
          </p:cNvPicPr>
          <p:nvPr/>
        </p:nvPicPr>
        <p:blipFill>
          <a:blip r:embed="rId3"/>
          <a:stretch>
            <a:fillRect/>
          </a:stretch>
        </p:blipFill>
        <p:spPr>
          <a:xfrm>
            <a:off x="424876" y="1726628"/>
            <a:ext cx="5994586" cy="36423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Code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nhận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diện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dài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Vậy</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chúng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ta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sẽ</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giá</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mở</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cửa</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và</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đóng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cửa</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có</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gần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bằng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nhau</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không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bóng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trên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có</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lớn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hơn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hoặc</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bằng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2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lần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thân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không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bóng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dưới</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có</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lớn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hơn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hoặc</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bằng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2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lần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thân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không</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954668" y="3398253"/>
            <a:ext cx="3524461" cy="21414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just"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Mua/ Bán: Cần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xác</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1" i="0" u="sng"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Sau</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khi</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xuất</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hiện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=&gt;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Cần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1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xác</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nhận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xu</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hướng</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Quan sát nến tiếp theo: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Nếu nến tiếp theo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sau Doji là một nến giảm</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(màu đỏ hoặc đen) và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đóng cửa dưới thân nến của Doji</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có thể được coi là một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nến xác nhận giảm giá</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Ngược lại, nếu nến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tiếp theo là một nến tăng</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(màu xanh lá hoặc trắng) và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đóng cửa trên thân nến của Doji</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nó có thể là một</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nến xác nhận tăng giá.</a:t>
            </a:r>
            <a:endPar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=&gt; </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Code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kiểm</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tra</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xác</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nhận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sau</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dài</a:t>
            </a:r>
            <a:r>
              <a:rPr kumimoji="0" lang="en-US" sz="16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1 </a:t>
            </a:r>
            <a:r>
              <a:rPr kumimoji="0" lang="en-US" sz="16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Vậy</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kiểm</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tra</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xác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sau</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1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chúng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ta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sẽ</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1"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Arial" panose="020B0604020202020204"/>
                <a:sym typeface="Arial" panose="020B0604020202020204"/>
              </a:rPr>
              <a:t>N</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ếu nến tiếp theo là một nến tăng (màu xanh lá hoặc trắng) và đóng cửa trên thân nến của Doji, nó có thể là một nến xác nhận tăng giá.</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=&gt;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hiện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mua</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3"/>
              <a:defRPr/>
            </a:pP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Tổng</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hợp</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tư</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duy</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code</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1/ Code nhận diện nến Doji chân dài: Vậy nếu code để nhận diện nến Doji chân dài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Kiểm tra giá mở cửa và đóng cửa có gần bằng nhau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Kiểm tra bóng nến trên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Kiểm tra bóng nến dưới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2/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Code kiểm tra nến xác nhận sau nến Doji chân dài 1 nến</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Vậy nếu code để kiểm tra nến xác nhận sau nến Doji chân dài 1 nến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Nếu nến tiếp theo là một nến tăng (màu xanh lá hoặc trắng) và đóng cửa trên thân nến của Doji, nó có thể là một nến xác nhận tăng giá. </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=&gt;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Thực hiện chiến lược mua vào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dài</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4"/>
              <a:defRPr/>
            </a:pP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Code </a:t>
            </a: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chiến</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sng"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lược</a:t>
            </a:r>
            <a:r>
              <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endParaRPr kumimoji="0" lang="en-US" sz="1600" b="1" i="0" u="sng" strike="noStrike" kern="0" cap="none" spc="0" normalizeH="0" baseline="0" noProof="0" dirty="0">
              <a:ln>
                <a:noFill/>
              </a:ln>
              <a:solidFill>
                <a:srgbClr val="000000"/>
              </a:solidFill>
              <a:effectLst/>
              <a:uLnTx/>
              <a:uFillTx/>
              <a:latin typeface="Arial" panose="020B0604020202020204"/>
              <a:cs typeface="Arial" panose="020B0604020202020204"/>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Vậy</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hiện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tại</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có</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phải</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là</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hay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không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=&gt;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trước</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hiện</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tại</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1 </a:t>
            </a:r>
            <a:r>
              <a:rPr kumimoji="0" lang="en-US" sz="16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có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phải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là</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Doji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chân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dài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hay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không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=&gt;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Kiểm</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tra</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nến</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hiện</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tại</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có</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Maven Pro"/>
              </a:rPr>
              <a:t>giá</a:t>
            </a:r>
            <a:r>
              <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rPr>
              <a:t>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đóng cửa trên thân nến của Doji</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nó có thể là một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nến xác nhận tăng giá</a:t>
            </a:r>
            <a:endParaRPr kumimoji="0" lang="en-US"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=&gt;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cả</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2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điều</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kiện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đó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thỏa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vào</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1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lệnh</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a:rPr>
              <a:t>mua</a:t>
            </a:r>
            <a:endPar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I.2. 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của</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1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học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viên</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của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học</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viên</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just"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SPY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là</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chứng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chỉ</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quỹ</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S&amp;P 500 ETF (SPY) theo dõi chỉ số S&amp;P 500, một trong những chỉ số chính của thị trường chứng khoán Mỹ, bao gồm cổ phiếu của 500 công ty lớn nhất tại Mỹ. Về lịch sử, S&amp;P 500 thường có xu hướng tăng trưởng trong dài hạn,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Giao</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dịch</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SPY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chỉ</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số</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lường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bởi</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VIX):</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Mua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nắm</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SPY</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Khi</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có</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(VIX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cao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đề</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xuất</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bán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mặt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thị trường ổn định (VIX thấp), chiến lược lại đề xuất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mua</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Mua và Nắm Giữ SPY</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Chiến lược này dự định mua và nắm giữ SPY, một quỹ đầu tư ETF theo dõi chỉ số S&amp;P 500, trong những điều kiện nhất định của thị trường.</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Bán Khi Biến Động Cao (VIX Cao)</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Khi chỉ số biến động VIX vượt qua một ngưỡng nhất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trong trường hợp này là 30</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Mua Khi Thị Trường Ổn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VIX Thấp</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Ngược lại, khi chỉ số VIX thấp, điều này cho thấy thị trường đang ổn định hơn, chiến lược này đề xuất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mua SP</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Y. Quan điểm ở đây là trong môi trường ít biến động, đầu tư vào thị trường chứng khoán (qua SPY) có thể mang lại lợi nhuận tốt hơn so với việc giữ tiền mặt.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a:cs typeface="Maven Pro"/>
                <a:sym typeface="Maven Pro"/>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Code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Load data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của</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1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ngày</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mới</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nhất</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hiện</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tại</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a:t>
            </a:r>
            <a:endPar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Kiểm</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tra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xem</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ngưỡng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VIX: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VIX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nhỏ</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hơn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ngưỡng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ví</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dụ</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như</a:t>
            </a:r>
            <a:r>
              <a:rPr kumimoji="0" lang="en-US" sz="1600" b="0"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30</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mua</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ngược</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lại</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VIX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lớn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hơn</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ngưỡng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bán</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II.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manual</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III.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2400" b="1" i="0" u="none" strike="noStrike" kern="0" cap="none" spc="0" normalizeH="0" baseline="0" noProof="0">
                <a:ln>
                  <a:noFill/>
                </a:ln>
                <a:solidFill>
                  <a:srgbClr val="000000"/>
                </a:solidFill>
                <a:effectLst/>
                <a:uLnTx/>
                <a:uFillTx/>
                <a:latin typeface="Arial" panose="020B0604020202020204"/>
                <a:ea typeface="Maven Pro"/>
                <a:cs typeface="Maven Pro"/>
                <a:sym typeface="Maven Pro"/>
              </a:rPr>
              <a:t> API</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514350" marR="0" lvl="0" indent="-514350" algn="l" defTabSz="914400" rtl="0" eaLnBrk="1" fontAlgn="auto" latinLnBrk="0" hangingPunct="1">
              <a:lnSpc>
                <a:spcPct val="100000"/>
              </a:lnSpc>
              <a:spcBef>
                <a:spcPts val="0"/>
              </a:spcBef>
              <a:spcAft>
                <a:spcPts val="0"/>
              </a:spcAft>
              <a:buClr>
                <a:srgbClr val="000000"/>
              </a:buClr>
              <a:buSzPts val="2000"/>
              <a:buFont typeface="+mj-lt"/>
              <a:buAutoNum type="romanUcPeriod" startAt="2"/>
              <a:defRPr/>
            </a:pP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Forex</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0"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Chiến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để</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rPr>
              <a:t> ATR</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a:cs typeface="Maven Pro"/>
              <a:sym typeface="Maven Pro"/>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manual</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II.1. </a:t>
            </a:r>
            <a:r>
              <a:rPr kumimoji="0" lang="vi-VN"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Vào 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Vào</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III.1.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a:cs typeface="Maven Pro"/>
                <a:sym typeface="Maven Pro"/>
              </a:rPr>
              <a:t>Vào 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285750" marR="0" lvl="0"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symbol = "EUR/USDT"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cặp</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EUR/USDT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sàn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Binance</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ma_fast</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50</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nhanh</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ma_slow</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200</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chậm</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atr_period</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14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ATR</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Để nhận diện một chiến lược giao dịch sử dụng chỉ báo Moving Average (MA) và Average True Range (ATR) cho cặp tiền tệ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EUR/USDT trên sàn Binance</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 cần kết hợp hai chỉ báo này trong phân tích kỹ thuật của mình.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Đây là một cách cơ bản để làm điều này</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I.1.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Nhận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diện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Moving Average (MA):</a:t>
            </a:r>
            <a:endPar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là một chỉ báo phổ biến được sử dụng để xác định xu hướng thị trường dựa trên giá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trung bình trong một khoảng thời gian nhất định.</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Trong trường hợp này, sử dụng hai MAs: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"nhanh" với kỳ hạn 50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và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"chậm" với kỳ hạn 200</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 Điều này giúp nhận diện xu hướng bằng cách so sánh hai đường MA.</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Average True Range (ATR):</a:t>
            </a:r>
            <a:endPar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ATR là một chỉ báo đo lường biến động thị trường. Nó không chỉ ra hướng đi của giá, mà chỉ ra mức độ biến động.</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ATR với kỳ hạn 14 sẽ cung cấp thông tin về biến động trung bình của thị trường trong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14 kỳ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gần nhất.</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Xây Dựng Chiến Lược:</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chiến lược giao dịch cơ bản có thể bao gồm việc mua khi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nhanh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cắt lên trên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chậm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(điều này có thể báo hiệu một xu hướng tăng) và bán hoặc ngắn hạn khi MA nhanh cắt xuống dưới MA chậm (điều này có thể báo hiệu một xu hướng giảm).</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ATR có thể được sử dụng để thiết lập các điểm dừng lỗ và chốt lời. Ví dụ: có thể đặt dừng lỗ ở một khoảng cách nhất định (ví dụ: 2x giá trị ATR) từ điểm vào lệnh.</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endPar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Để tự động hóa chiến lược này, sẽ cần lập trình nó (ví dụ: sử dụng Python và một API như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ccxt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để kết nối với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Binance</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Trước khi áp dụng chiến lược này trực tiếp, nên kiểm tra nó trên dữ liệu lịch sử hoặc trong môi trường demo để xác định hiệu quả của nó.</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Nhận Diện Tín Hiệu:</a:t>
            </a:r>
            <a:endPar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ần xác định rõ ràng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tín hiệu mua và bán dựa trên MA và ATR</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có thể bao gồm việc thiết lập các ngưỡng cụ thể khi các điều kiện của chiến lược được đáp ứng.</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 </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thư</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viện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pip install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import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Lấy</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dữ</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liệu</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từ</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thị</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trường</a:t>
            </a:r>
            <a:endPar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schedule</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hoặc</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while true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hàm</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fetch_ohlcv</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lấy</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dữ</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liệu</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889506" y="4115408"/>
            <a:ext cx="7355753" cy="76413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 </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Tính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toán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ATR</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Kiểm</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điều</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kiện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MA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&gt; MA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ATR &lt;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hơn</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1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giá</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trị</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nào</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đó</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=&gt;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Bắn</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BUY</a:t>
            </a:r>
            <a:endPar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3" name="Picture 2"/>
          <p:cNvPicPr>
            <a:picLocks noChangeAspect="1"/>
          </p:cNvPicPr>
          <p:nvPr/>
        </p:nvPicPr>
        <p:blipFill>
          <a:blip r:embed="rId2"/>
          <a:stretch>
            <a:fillRect/>
          </a:stretch>
        </p:blipFill>
        <p:spPr>
          <a:xfrm>
            <a:off x="951637" y="1660093"/>
            <a:ext cx="5572125" cy="18383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a:cs typeface="Maven Pro"/>
                <a:sym typeface="Maven Pro"/>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ATR </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ghi</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nhận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memory</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Redis</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(MySQL, SQL Server, MongoDB)</a:t>
            </a:r>
            <a:endPar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4" name="Picture 3"/>
          <p:cNvPicPr>
            <a:picLocks noChangeAspect="1"/>
          </p:cNvPicPr>
          <p:nvPr/>
        </p:nvPicPr>
        <p:blipFill>
          <a:blip r:embed="rId2"/>
          <a:stretch>
            <a:fillRect/>
          </a:stretch>
        </p:blipFill>
        <p:spPr>
          <a:xfrm>
            <a:off x="615057" y="1675984"/>
            <a:ext cx="8482763" cy="267434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I.3.1.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Python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schedule, while true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895545" y="2144410"/>
            <a:ext cx="6759019" cy="39126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I.3.2.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lệnh</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bằng</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 C#/ Java MT5API (</a:t>
            </a:r>
            <a:r>
              <a:rPr kumimoji="0" lang="en-US" sz="1400" b="1" i="0" u="none" strike="noStrike" kern="0" cap="none" spc="0" normalizeH="0" baseline="0" noProof="0" dirty="0" err="1">
                <a:ln>
                  <a:noFill/>
                </a:ln>
                <a:solidFill>
                  <a:srgbClr val="FF0000"/>
                </a:solidFill>
                <a:effectLst/>
                <a:uLnTx/>
                <a:uFillTx/>
                <a:latin typeface="Arial" panose="020B0604020202020204"/>
                <a:cs typeface="Arial" panose="020B0604020202020204"/>
                <a:sym typeface="Arial" panose="020B0604020202020204"/>
              </a:rPr>
              <a:t>dll</a:t>
            </a:r>
            <a:r>
              <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 Java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3" name="Picture 2"/>
          <p:cNvPicPr>
            <a:picLocks noChangeAspect="1"/>
          </p:cNvPicPr>
          <p:nvPr/>
        </p:nvPicPr>
        <p:blipFill>
          <a:blip r:embed="rId2"/>
          <a:stretch>
            <a:fillRect/>
          </a:stretch>
        </p:blipFill>
        <p:spPr>
          <a:xfrm>
            <a:off x="899546" y="2602194"/>
            <a:ext cx="5619750" cy="4953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I.3.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I.3.3.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Python/ C#/ Java…</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Restful API</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Python/ C#/ Java…</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Restful API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a:cs typeface="Maven Pro"/>
              <a:sym typeface="Maven Pro"/>
            </a:endParaRPr>
          </a:p>
        </p:txBody>
      </p:sp>
      <p:pic>
        <p:nvPicPr>
          <p:cNvPr id="2" name="Picture 1"/>
          <p:cNvPicPr>
            <a:picLocks noChangeAspect="1"/>
          </p:cNvPicPr>
          <p:nvPr/>
        </p:nvPicPr>
        <p:blipFill>
          <a:blip r:embed="rId2"/>
          <a:stretch>
            <a:fillRect/>
          </a:stretch>
        </p:blipFill>
        <p:spPr>
          <a:xfrm>
            <a:off x="895929" y="2779620"/>
            <a:ext cx="5347854" cy="319515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11660</Words>
  <Application>WPS Presentation</Application>
  <PresentationFormat>On-screen Show (4:3)</PresentationFormat>
  <Paragraphs>366</Paragraphs>
  <Slides>34</Slides>
  <Notes>34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Arial</vt:lpstr>
      <vt:lpstr>SimSun</vt:lpstr>
      <vt:lpstr>Wingdings</vt:lpstr>
      <vt:lpstr>Arial</vt:lpstr>
      <vt:lpstr>Calibri</vt:lpstr>
      <vt:lpstr>Arial (body)</vt:lpstr>
      <vt:lpstr>Open Sans</vt:lpstr>
      <vt:lpstr>Maven Pro</vt:lpstr>
      <vt:lpstr>Segoe Print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86</cp:revision>
  <dcterms:created xsi:type="dcterms:W3CDTF">2021-10-18T16:01:00Z</dcterms:created>
  <dcterms:modified xsi:type="dcterms:W3CDTF">2025-10-15T13:33:14Z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477A55FA621F4CF28FD3AB9A0A8F7068_12</vt:lpwstr>
  </property>
  <property fmtid="{D5CDD505-2E9C-101B-9397-08002B2CF9AE}" pid="3" name="KSOProductBuildVer">
    <vt:lpwstr>1033-12.2.0.22549</vt:lpwstr>
  </property>
</Properties>
</file>