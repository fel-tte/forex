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308" r:id="rId7"/>
    <p:sldId id="311" r:id="rId8"/>
    <p:sldId id="312" r:id="rId9"/>
    <p:sldId id="310" r:id="rId10"/>
    <p:sldId id="309" r:id="rId11"/>
    <p:sldId id="285" r:id="rId12"/>
  </p:sldIdLst>
  <p:sldSz cx="9144000" cy="6858000" type="screen4x3"/>
  <p:notesSz cx="6858000" cy="9144000"/>
  <p:embeddedFontLst>
    <p:embeddedFont>
      <p:font typeface="Calibri" panose="020F0502020204030204"/>
      <p:regular r:id="rId16"/>
      <p:bold r:id="rId17"/>
      <p:italic r:id="rId18"/>
      <p:boldItalic r:id="rId19"/>
    </p:embeddedFont>
    <p:embeddedFont>
      <p:font typeface="Maven Pro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ee0ad700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g20ee0ad70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ef0b6e3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g2436ef0b6e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ef0b6e3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g2436ef0b6e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ef0b6e3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g2436ef0b6e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ef0b6e3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g2436ef0b6e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ef0b6e3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g2436ef0b6e3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80" name="Google Shape;28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0ee0ad7006_1_0" descr="Logo&#10;&#10;Description automatically generated with medium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710635" y="1809406"/>
            <a:ext cx="653166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vi-VN" sz="2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 trình Bot Auto Trading</a:t>
            </a:r>
            <a:endParaRPr lang="en-US" altLang="vi-VN" sz="28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781301" y="3025123"/>
            <a:ext cx="6191400" cy="138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Chủ đề: Decision </a:t>
            </a:r>
            <a:r>
              <a:rPr lang="vi-VN" sz="2800" b="1" i="1" u="none" strike="noStrike" cap="none" dirty="0" smtClean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tree</a:t>
            </a:r>
            <a:endParaRPr lang="en-US" sz="2800" b="1" i="1" u="none" strike="noStrike" cap="none" dirty="0" smtClean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1" dirty="0" err="1" smtClean="0">
                <a:solidFill>
                  <a:srgbClr val="FF0000"/>
                </a:solidFill>
              </a:rPr>
              <a:t>Sàn</a:t>
            </a:r>
            <a:r>
              <a:rPr lang="en-US" sz="2800" b="1" i="1" dirty="0" smtClean="0">
                <a:solidFill>
                  <a:srgbClr val="FF0000"/>
                </a:solidFill>
              </a:rPr>
              <a:t> Bitget, MXC,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chuẩn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bị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để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thực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chiến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cho</a:t>
            </a:r>
            <a:r>
              <a:rPr lang="en-US" sz="2800" b="1" i="1" dirty="0" smtClean="0">
                <a:solidFill>
                  <a:srgbClr val="FF0000"/>
                </a:solidFill>
              </a:rPr>
              <a:t> </a:t>
            </a:r>
            <a:r>
              <a:rPr lang="en-US" sz="2800" b="1" i="1" dirty="0" err="1" smtClean="0">
                <a:solidFill>
                  <a:srgbClr val="FF0000"/>
                </a:solidFill>
              </a:rPr>
              <a:t>buổi</a:t>
            </a:r>
            <a:r>
              <a:rPr lang="en-US" sz="2800" b="1" i="1" dirty="0" smtClean="0">
                <a:solidFill>
                  <a:srgbClr val="FF0000"/>
                </a:solidFill>
              </a:rPr>
              <a:t> 17, 18, 19</a:t>
            </a:r>
            <a:endParaRPr sz="2800" b="1" i="1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394036" y="4841000"/>
            <a:ext cx="3452988" cy="735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0" i="1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GV.</a:t>
            </a:r>
            <a:r>
              <a:rPr lang="vi-VN" sz="2800" i="1" dirty="0">
                <a:solidFill>
                  <a:schemeClr val="dk1"/>
                </a:solidFill>
              </a:rPr>
              <a:t>Đặng Trí </a:t>
            </a:r>
            <a:r>
              <a:rPr lang="vi-VN" sz="2800" i="1" dirty="0" smtClean="0">
                <a:solidFill>
                  <a:schemeClr val="dk1"/>
                </a:solidFill>
              </a:rPr>
              <a:t>Thanh</a:t>
            </a:r>
            <a:endParaRPr lang="en-US" sz="2800" i="1" dirty="0" smtClean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Nội dung chính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374289" y="501941"/>
            <a:ext cx="839102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i="0" u="none" strike="noStrike" cap="none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Tối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ưu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hóa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mô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hình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bằng</a:t>
            </a:r>
            <a:r>
              <a:rPr lang="en-US" sz="200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MSE, R2</a:t>
            </a:r>
            <a:endParaRPr lang="en-US" sz="20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So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sánh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dự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đoán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của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mô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hình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Hồi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quy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tuyến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tính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và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Cây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quyết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định</a:t>
            </a:r>
            <a:endParaRPr lang="en-US" sz="20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Chuẩn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bị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công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cụ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buổi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học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17, 18, 19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dùng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tài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khoản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Real</a:t>
            </a:r>
            <a:endParaRPr lang="en-US" sz="2000" i="0" u="none" strike="noStrike" cap="none" dirty="0" smtClean="0">
              <a:solidFill>
                <a:srgbClr val="FF0000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2.1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Chuẩn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bị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về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công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cụ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000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 Forex</a:t>
            </a:r>
            <a:endParaRPr lang="en-US" sz="2000" dirty="0" smtClean="0">
              <a:solidFill>
                <a:srgbClr val="FF0000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-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Các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sàn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giao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dịch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: </a:t>
            </a:r>
            <a:r>
              <a:rPr lang="en-US" sz="2000" i="0" u="none" strike="noStrike" cap="none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HotForex</a:t>
            </a:r>
            <a:r>
              <a:rPr lang="en-US" sz="2000" i="0" u="none" strike="noStrike" cap="none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, </a:t>
            </a:r>
            <a:r>
              <a:rPr lang="en-US" sz="2000" i="0" u="none" strike="noStrike" cap="none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ICMarket</a:t>
            </a:r>
            <a:r>
              <a:rPr lang="en-US" sz="2000" i="0" u="none" strike="noStrike" cap="none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, XM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,…</a:t>
            </a:r>
            <a:endParaRPr lang="en-US" sz="20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  +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Cài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đặt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MT5 </a:t>
            </a:r>
            <a:endParaRPr lang="en-US" sz="20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  +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Cấu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hình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MT5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chạy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Algo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Trading</a:t>
            </a:r>
            <a:endParaRPr lang="en-US" sz="20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  +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Lấy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thông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tin Server, Login, Password</a:t>
            </a:r>
            <a:endParaRPr lang="en-US" sz="20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2.2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Chuẩn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bị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về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công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cụ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Chứng khoán</a:t>
            </a:r>
            <a:endParaRPr lang="en-US" sz="20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-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Các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sàn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giao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dịch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: </a:t>
            </a:r>
            <a:r>
              <a:rPr lang="en-US" sz="2000" i="0" u="none" strike="noStrike" cap="none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SSI,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DNSE</a:t>
            </a:r>
            <a:endParaRPr lang="en-US" sz="2000" i="0" u="none" strike="noStrike" cap="none" dirty="0" smtClean="0">
              <a:solidFill>
                <a:srgbClr val="FF0000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2.3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Chuẩn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bị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về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công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cụ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000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Crypto</a:t>
            </a:r>
            <a:endParaRPr lang="en-US" sz="2000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         -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Các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sàn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giao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dịch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: </a:t>
            </a:r>
            <a:r>
              <a:rPr lang="en-US" sz="2000" i="0" u="none" strike="noStrike" cap="none" dirty="0" err="1" smtClean="0">
                <a:solidFill>
                  <a:srgbClr val="FF0000"/>
                </a:solidFill>
                <a:latin typeface="+mn-lt"/>
                <a:ea typeface="Maven Pro"/>
                <a:cs typeface="Maven Pro"/>
                <a:sym typeface="Maven Pro"/>
              </a:rPr>
              <a:t>Binance</a:t>
            </a:r>
            <a:r>
              <a:rPr lang="en-US" sz="2000" i="0" u="none" strike="noStrike" cap="none" dirty="0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, MEXC, </a:t>
            </a:r>
            <a:r>
              <a:rPr lang="en-US" sz="2000" i="0" u="none" strike="noStrike" cap="none" dirty="0" err="1" smtClean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Coinbase</a:t>
            </a:r>
            <a:endParaRPr lang="en-US" sz="2000" i="0" u="none" strike="noStrike" cap="none" dirty="0" smtClean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6ef0b6e3_0_117"/>
          <p:cNvSpPr txBox="1"/>
          <p:nvPr/>
        </p:nvSpPr>
        <p:spPr>
          <a:xfrm>
            <a:off x="304800" y="139783"/>
            <a:ext cx="8839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en-US" sz="2400" dirty="0" err="1" smtClean="0">
                <a:solidFill>
                  <a:schemeClr val="lt1"/>
                </a:solidFill>
              </a:rPr>
              <a:t>Chuẩn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bị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công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cụ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cho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buổi</a:t>
            </a:r>
            <a:r>
              <a:rPr lang="en-US" sz="2400" dirty="0" smtClean="0">
                <a:solidFill>
                  <a:schemeClr val="lt1"/>
                </a:solidFill>
              </a:rPr>
              <a:t> 14, 15 ,16</a:t>
            </a:r>
            <a:endParaRPr lang="vi-VN" sz="2400" dirty="0">
              <a:solidFill>
                <a:schemeClr val="lt1"/>
              </a:solidFill>
            </a:endParaRPr>
          </a:p>
        </p:txBody>
      </p:sp>
      <p:sp>
        <p:nvSpPr>
          <p:cNvPr id="4" name="Google Shape;152;g2240524f1f3_0_0"/>
          <p:cNvSpPr txBox="1"/>
          <p:nvPr/>
        </p:nvSpPr>
        <p:spPr>
          <a:xfrm>
            <a:off x="304800" y="822266"/>
            <a:ext cx="842356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 err="1" smtClean="0"/>
              <a:t>Chuẩn</a:t>
            </a:r>
            <a:r>
              <a:rPr lang="en-US" sz="1600" dirty="0" smtClean="0"/>
              <a:t> </a:t>
            </a:r>
            <a:r>
              <a:rPr lang="en-US" sz="1600" dirty="0" err="1" smtClean="0"/>
              <a:t>bị</a:t>
            </a:r>
            <a:r>
              <a:rPr lang="en-US" sz="1600" dirty="0" smtClean="0"/>
              <a:t> </a:t>
            </a:r>
            <a:r>
              <a:rPr lang="en-US" sz="1600" dirty="0" err="1" smtClean="0"/>
              <a:t>công</a:t>
            </a:r>
            <a:r>
              <a:rPr lang="en-US" sz="1600" dirty="0" smtClean="0"/>
              <a:t> </a:t>
            </a:r>
            <a:r>
              <a:rPr lang="en-US" sz="1600" dirty="0" err="1" smtClean="0"/>
              <a:t>cụ</a:t>
            </a:r>
            <a:r>
              <a:rPr lang="en-US" sz="1600" dirty="0" smtClean="0"/>
              <a:t> </a:t>
            </a:r>
            <a:r>
              <a:rPr lang="en-US" sz="1600" dirty="0" err="1" smtClean="0"/>
              <a:t>về</a:t>
            </a:r>
            <a:r>
              <a:rPr lang="en-US" sz="1600" dirty="0" smtClean="0"/>
              <a:t> Forex</a:t>
            </a:r>
            <a:endParaRPr lang="en-US" sz="1600" dirty="0" smtClean="0"/>
          </a:p>
          <a:p>
            <a:r>
              <a:rPr lang="en-US" sz="1600" dirty="0" smtClean="0"/>
              <a:t>- </a:t>
            </a:r>
            <a:r>
              <a:rPr lang="en-US" sz="1600" dirty="0" err="1" smtClean="0"/>
              <a:t>Cài</a:t>
            </a:r>
            <a:r>
              <a:rPr lang="en-US" sz="1600" dirty="0" smtClean="0"/>
              <a:t> </a:t>
            </a:r>
            <a:r>
              <a:rPr lang="en-US" sz="1600" dirty="0" err="1" smtClean="0"/>
              <a:t>đặt</a:t>
            </a:r>
            <a:r>
              <a:rPr lang="en-US" sz="1600" dirty="0" smtClean="0"/>
              <a:t> MT5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59" y="1443545"/>
            <a:ext cx="8580585" cy="4598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6ef0b6e3_0_117"/>
          <p:cNvSpPr txBox="1"/>
          <p:nvPr/>
        </p:nvSpPr>
        <p:spPr>
          <a:xfrm>
            <a:off x="304800" y="139783"/>
            <a:ext cx="8839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en-US" sz="2400" dirty="0" err="1" smtClean="0">
                <a:solidFill>
                  <a:schemeClr val="lt1"/>
                </a:solidFill>
              </a:rPr>
              <a:t>Chuẩn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bị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công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cụ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cho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buổi</a:t>
            </a:r>
            <a:r>
              <a:rPr lang="en-US" sz="2400" dirty="0" smtClean="0">
                <a:solidFill>
                  <a:schemeClr val="lt1"/>
                </a:solidFill>
              </a:rPr>
              <a:t> 14, 15 ,16</a:t>
            </a:r>
            <a:endParaRPr lang="vi-VN" sz="2400" dirty="0">
              <a:solidFill>
                <a:schemeClr val="lt1"/>
              </a:solidFill>
            </a:endParaRPr>
          </a:p>
        </p:txBody>
      </p:sp>
      <p:sp>
        <p:nvSpPr>
          <p:cNvPr id="4" name="Google Shape;152;g2240524f1f3_0_0"/>
          <p:cNvSpPr txBox="1"/>
          <p:nvPr/>
        </p:nvSpPr>
        <p:spPr>
          <a:xfrm>
            <a:off x="304800" y="822266"/>
            <a:ext cx="842356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 err="1" smtClean="0"/>
              <a:t>Chuẩn</a:t>
            </a:r>
            <a:r>
              <a:rPr lang="en-US" sz="1600" dirty="0" smtClean="0"/>
              <a:t> </a:t>
            </a:r>
            <a:r>
              <a:rPr lang="en-US" sz="1600" dirty="0" err="1" smtClean="0"/>
              <a:t>bị</a:t>
            </a:r>
            <a:r>
              <a:rPr lang="en-US" sz="1600" dirty="0" smtClean="0"/>
              <a:t> </a:t>
            </a:r>
            <a:r>
              <a:rPr lang="en-US" sz="1600" dirty="0" err="1" smtClean="0"/>
              <a:t>công</a:t>
            </a:r>
            <a:r>
              <a:rPr lang="en-US" sz="1600" dirty="0" smtClean="0"/>
              <a:t> </a:t>
            </a:r>
            <a:r>
              <a:rPr lang="en-US" sz="1600" dirty="0" err="1" smtClean="0"/>
              <a:t>cụ</a:t>
            </a:r>
            <a:r>
              <a:rPr lang="en-US" sz="1600" dirty="0" smtClean="0"/>
              <a:t> </a:t>
            </a:r>
            <a:r>
              <a:rPr lang="en-US" sz="1600" dirty="0" err="1" smtClean="0"/>
              <a:t>về</a:t>
            </a:r>
            <a:r>
              <a:rPr lang="en-US" sz="1600" dirty="0" smtClean="0"/>
              <a:t> Forex</a:t>
            </a:r>
            <a:endParaRPr lang="en-US" sz="1600" dirty="0" smtClean="0"/>
          </a:p>
          <a:p>
            <a:r>
              <a:rPr lang="en-US" sz="1600" dirty="0" smtClean="0"/>
              <a:t>- </a:t>
            </a:r>
            <a:r>
              <a:rPr lang="en-US" sz="1600" dirty="0" err="1" smtClean="0"/>
              <a:t>Tùy</a:t>
            </a:r>
            <a:r>
              <a:rPr lang="en-US" sz="1600" dirty="0" smtClean="0"/>
              <a:t> </a:t>
            </a:r>
            <a:r>
              <a:rPr lang="en-US" sz="1600" dirty="0" err="1" smtClean="0"/>
              <a:t>chọn</a:t>
            </a:r>
            <a:r>
              <a:rPr lang="en-US" sz="1600" dirty="0" smtClean="0"/>
              <a:t> </a:t>
            </a:r>
            <a:r>
              <a:rPr lang="en-US" sz="1600" dirty="0" err="1" smtClean="0"/>
              <a:t>cho</a:t>
            </a:r>
            <a:r>
              <a:rPr lang="en-US" sz="1600" dirty="0" smtClean="0"/>
              <a:t> </a:t>
            </a:r>
            <a:r>
              <a:rPr lang="en-US" sz="1600" dirty="0" err="1" smtClean="0"/>
              <a:t>phép</a:t>
            </a:r>
            <a:r>
              <a:rPr lang="en-US" sz="1600" dirty="0" smtClean="0"/>
              <a:t> </a:t>
            </a:r>
            <a:r>
              <a:rPr lang="en-US" sz="1600" dirty="0" err="1" smtClean="0"/>
              <a:t>Algo</a:t>
            </a:r>
            <a:r>
              <a:rPr lang="en-US" sz="1600" dirty="0" smtClean="0"/>
              <a:t> Trading: Menu Tool\ Options </a:t>
            </a:r>
            <a:r>
              <a:rPr lang="en-US" sz="1600" dirty="0" err="1" smtClean="0"/>
              <a:t>và</a:t>
            </a:r>
            <a:r>
              <a:rPr lang="en-US" sz="1600" dirty="0" smtClean="0"/>
              <a:t> </a:t>
            </a:r>
            <a:r>
              <a:rPr lang="en-US" sz="1600" dirty="0" err="1" smtClean="0"/>
              <a:t>chọn</a:t>
            </a:r>
            <a:r>
              <a:rPr lang="en-US" sz="1600" dirty="0" smtClean="0"/>
              <a:t> EA</a:t>
            </a:r>
            <a:endParaRPr lang="en-US" sz="1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7" y="1423929"/>
            <a:ext cx="8584534" cy="4590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6ef0b6e3_0_117"/>
          <p:cNvSpPr txBox="1"/>
          <p:nvPr/>
        </p:nvSpPr>
        <p:spPr>
          <a:xfrm>
            <a:off x="304800" y="139783"/>
            <a:ext cx="8839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en-US" sz="2400" dirty="0" err="1" smtClean="0">
                <a:solidFill>
                  <a:schemeClr val="lt1"/>
                </a:solidFill>
              </a:rPr>
              <a:t>Chuẩn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bị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công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cụ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cho</a:t>
            </a:r>
            <a:r>
              <a:rPr lang="en-US" sz="2400" dirty="0" smtClean="0">
                <a:solidFill>
                  <a:schemeClr val="lt1"/>
                </a:solidFill>
              </a:rPr>
              <a:t> </a:t>
            </a:r>
            <a:r>
              <a:rPr lang="en-US" sz="2400" dirty="0" err="1" smtClean="0">
                <a:solidFill>
                  <a:schemeClr val="lt1"/>
                </a:solidFill>
              </a:rPr>
              <a:t>buổi</a:t>
            </a:r>
            <a:r>
              <a:rPr lang="en-US" sz="2400" dirty="0" smtClean="0">
                <a:solidFill>
                  <a:schemeClr val="lt1"/>
                </a:solidFill>
              </a:rPr>
              <a:t> 14, 15 ,16</a:t>
            </a:r>
            <a:endParaRPr lang="vi-VN" sz="2400" dirty="0">
              <a:solidFill>
                <a:schemeClr val="lt1"/>
              </a:solidFill>
            </a:endParaRPr>
          </a:p>
        </p:txBody>
      </p:sp>
      <p:sp>
        <p:nvSpPr>
          <p:cNvPr id="4" name="Google Shape;152;g2240524f1f3_0_0"/>
          <p:cNvSpPr txBox="1"/>
          <p:nvPr/>
        </p:nvSpPr>
        <p:spPr>
          <a:xfrm>
            <a:off x="304800" y="822266"/>
            <a:ext cx="8423564" cy="2000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 err="1" smtClean="0"/>
              <a:t>Chuẩn</a:t>
            </a:r>
            <a:r>
              <a:rPr lang="en-US" sz="1600" dirty="0" smtClean="0"/>
              <a:t> </a:t>
            </a:r>
            <a:r>
              <a:rPr lang="en-US" sz="1600" dirty="0" err="1" smtClean="0"/>
              <a:t>bị</a:t>
            </a:r>
            <a:r>
              <a:rPr lang="en-US" sz="1600" dirty="0" smtClean="0"/>
              <a:t> </a:t>
            </a:r>
            <a:r>
              <a:rPr lang="en-US" sz="1600" dirty="0" err="1" smtClean="0"/>
              <a:t>công</a:t>
            </a:r>
            <a:r>
              <a:rPr lang="en-US" sz="1600" dirty="0" smtClean="0"/>
              <a:t> </a:t>
            </a:r>
            <a:r>
              <a:rPr lang="en-US" sz="1600" dirty="0" err="1" smtClean="0"/>
              <a:t>cụ</a:t>
            </a:r>
            <a:r>
              <a:rPr lang="en-US" sz="1600" dirty="0" smtClean="0"/>
              <a:t> </a:t>
            </a:r>
            <a:r>
              <a:rPr lang="en-US" sz="1600" dirty="0" err="1" smtClean="0"/>
              <a:t>về</a:t>
            </a:r>
            <a:r>
              <a:rPr lang="en-US" sz="1600" dirty="0" smtClean="0"/>
              <a:t> Forex</a:t>
            </a:r>
            <a:endParaRPr lang="en-US" sz="1600" dirty="0" smtClean="0"/>
          </a:p>
          <a:p>
            <a:pPr marL="285750" indent="-285750">
              <a:buFontTx/>
              <a:buChar char="-"/>
            </a:pPr>
            <a:r>
              <a:rPr lang="en-US" sz="1600" dirty="0" err="1" smtClean="0"/>
              <a:t>Thông</a:t>
            </a:r>
            <a:r>
              <a:rPr lang="en-US" sz="1600" dirty="0" smtClean="0"/>
              <a:t> tin </a:t>
            </a:r>
            <a:r>
              <a:rPr lang="en-US" sz="1600" dirty="0" err="1" smtClean="0"/>
              <a:t>kết</a:t>
            </a:r>
            <a:r>
              <a:rPr lang="en-US" sz="1600" dirty="0" smtClean="0"/>
              <a:t> </a:t>
            </a:r>
            <a:r>
              <a:rPr lang="en-US" sz="1600" dirty="0" err="1" smtClean="0"/>
              <a:t>nối</a:t>
            </a:r>
            <a:r>
              <a:rPr lang="en-US" sz="1600" dirty="0" smtClean="0"/>
              <a:t> </a:t>
            </a:r>
            <a:r>
              <a:rPr lang="en-US" sz="1600" dirty="0" err="1" smtClean="0"/>
              <a:t>đến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sàn</a:t>
            </a:r>
            <a:r>
              <a:rPr lang="en-US" sz="1600" dirty="0" smtClean="0"/>
              <a:t>: </a:t>
            </a:r>
            <a:r>
              <a:rPr lang="en-US" sz="1600" dirty="0" err="1" smtClean="0"/>
              <a:t>Có</a:t>
            </a:r>
            <a:r>
              <a:rPr lang="en-US" sz="1600" dirty="0" smtClean="0"/>
              <a:t> </a:t>
            </a:r>
            <a:r>
              <a:rPr lang="en-US" sz="1600" dirty="0" err="1" smtClean="0"/>
              <a:t>dạng</a:t>
            </a:r>
            <a:r>
              <a:rPr lang="en-US" sz="1600" dirty="0" smtClean="0"/>
              <a:t> Login (user), Password, Server (</a:t>
            </a:r>
            <a:r>
              <a:rPr lang="en-US" sz="1600" dirty="0" err="1" smtClean="0"/>
              <a:t>là</a:t>
            </a:r>
            <a:r>
              <a:rPr lang="en-US" sz="1600" dirty="0" smtClean="0"/>
              <a:t> 1 link)</a:t>
            </a:r>
            <a:endParaRPr lang="en-US" sz="1600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      </a:t>
            </a:r>
            <a:r>
              <a:rPr lang="en-US" dirty="0" smtClean="0">
                <a:solidFill>
                  <a:schemeClr val="tx1"/>
                </a:solidFill>
              </a:rPr>
              <a:t>+ </a:t>
            </a:r>
            <a:r>
              <a:rPr lang="en-US" dirty="0" err="1" smtClean="0">
                <a:solidFill>
                  <a:schemeClr val="tx1"/>
                </a:solidFill>
              </a:rPr>
              <a:t>HotForex</a:t>
            </a:r>
            <a:r>
              <a:rPr lang="en-US" dirty="0" smtClean="0">
                <a:solidFill>
                  <a:schemeClr val="tx1"/>
                </a:solidFill>
              </a:rPr>
              <a:t>: </a:t>
            </a:r>
            <a:r>
              <a:rPr lang="en-US" dirty="0" smtClean="0">
                <a:solidFill>
                  <a:srgbClr val="FF0000"/>
                </a:solidFill>
              </a:rPr>
              <a:t>login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FF0000"/>
                </a:solidFill>
              </a:rPr>
              <a:t>45572613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password</a:t>
            </a:r>
            <a:r>
              <a:rPr lang="en-US" dirty="0"/>
              <a:t>='</a:t>
            </a:r>
            <a:r>
              <a:rPr lang="en-US" dirty="0">
                <a:solidFill>
                  <a:srgbClr val="FF0000"/>
                </a:solidFill>
              </a:rPr>
              <a:t>G8ndxL&amp;E</a:t>
            </a:r>
            <a:r>
              <a:rPr lang="en-US" dirty="0"/>
              <a:t>', </a:t>
            </a:r>
            <a:r>
              <a:rPr lang="en-US" dirty="0">
                <a:solidFill>
                  <a:srgbClr val="FF0000"/>
                </a:solidFill>
              </a:rPr>
              <a:t>server</a:t>
            </a:r>
            <a:r>
              <a:rPr lang="en-US" dirty="0"/>
              <a:t>=</a:t>
            </a:r>
            <a:r>
              <a:rPr lang="en-US" dirty="0" smtClean="0"/>
              <a:t>'</a:t>
            </a:r>
            <a:r>
              <a:rPr lang="en-US" dirty="0" smtClean="0">
                <a:solidFill>
                  <a:srgbClr val="FF0000"/>
                </a:solidFill>
              </a:rPr>
              <a:t>mt5-europe1.dcglobalfarm.com:1951</a:t>
            </a:r>
            <a:r>
              <a:rPr lang="en-US" dirty="0" smtClean="0"/>
              <a:t>‘</a:t>
            </a:r>
            <a:endParaRPr lang="en-US" dirty="0" smtClean="0"/>
          </a:p>
          <a:p>
            <a:r>
              <a:rPr lang="en-US" dirty="0" smtClean="0"/>
              <a:t>      + </a:t>
            </a:r>
            <a:r>
              <a:rPr lang="en-US" dirty="0" err="1" smtClean="0"/>
              <a:t>ICMarket</a:t>
            </a:r>
            <a:r>
              <a:rPr lang="en-US" dirty="0" smtClean="0"/>
              <a:t>:           </a:t>
            </a:r>
            <a:r>
              <a:rPr lang="en-US" dirty="0" smtClean="0">
                <a:solidFill>
                  <a:srgbClr val="FF0000"/>
                </a:solidFill>
              </a:rPr>
              <a:t>7174192</a:t>
            </a:r>
            <a:r>
              <a:rPr lang="en-US" dirty="0" smtClean="0"/>
              <a:t>                      </a:t>
            </a:r>
            <a:r>
              <a:rPr lang="en-US" dirty="0" smtClean="0">
                <a:solidFill>
                  <a:srgbClr val="FF0000"/>
                </a:solidFill>
              </a:rPr>
              <a:t>NttZS95a</a:t>
            </a:r>
            <a:r>
              <a:rPr lang="en-US" dirty="0" smtClean="0"/>
              <a:t>	</a:t>
            </a:r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 smtClean="0">
                <a:solidFill>
                  <a:srgbClr val="FF0000"/>
                </a:solidFill>
              </a:rPr>
              <a:t>mt5-2.icmarkets.com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Chăm</a:t>
            </a:r>
            <a:r>
              <a:rPr lang="en-US" dirty="0" smtClean="0"/>
              <a:t> </a:t>
            </a:r>
            <a:r>
              <a:rPr lang="en-US" dirty="0" err="1" smtClean="0"/>
              <a:t>sóc</a:t>
            </a:r>
            <a:r>
              <a:rPr lang="en-US" dirty="0" smtClean="0"/>
              <a:t> </a:t>
            </a:r>
            <a:r>
              <a:rPr lang="en-US" dirty="0" err="1" smtClean="0"/>
              <a:t>khách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sàn</a:t>
            </a:r>
            <a:endParaRPr lang="en-US" dirty="0" smtClean="0"/>
          </a:p>
          <a:p>
            <a:endParaRPr lang="en-US" dirty="0"/>
          </a:p>
          <a:p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20" y="2290622"/>
            <a:ext cx="2358862" cy="4019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205" y="2290621"/>
            <a:ext cx="3287742" cy="4019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6ef0b6e3_0_117"/>
          <p:cNvSpPr txBox="1"/>
          <p:nvPr/>
        </p:nvSpPr>
        <p:spPr>
          <a:xfrm>
            <a:off x="304800" y="139783"/>
            <a:ext cx="8839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vi-VN" sz="2400" dirty="0">
                <a:solidFill>
                  <a:schemeClr val="lt1"/>
                </a:solidFill>
              </a:rPr>
              <a:t>So sánh dự đoán </a:t>
            </a:r>
            <a:r>
              <a:rPr lang="vi-VN" sz="2400" dirty="0" smtClean="0">
                <a:solidFill>
                  <a:schemeClr val="lt1"/>
                </a:solidFill>
              </a:rPr>
              <a:t>mô </a:t>
            </a:r>
            <a:r>
              <a:rPr lang="vi-VN" sz="2400" dirty="0">
                <a:solidFill>
                  <a:schemeClr val="lt1"/>
                </a:solidFill>
              </a:rPr>
              <a:t>hình Hồi quy tuyến tính và Cây quyết định</a:t>
            </a:r>
            <a:endParaRPr lang="vi-VN" sz="2400" dirty="0">
              <a:solidFill>
                <a:schemeClr val="lt1"/>
              </a:solidFill>
            </a:endParaRPr>
          </a:p>
        </p:txBody>
      </p:sp>
      <p:sp>
        <p:nvSpPr>
          <p:cNvPr id="4" name="Google Shape;152;g2240524f1f3_0_0"/>
          <p:cNvSpPr txBox="1"/>
          <p:nvPr/>
        </p:nvSpPr>
        <p:spPr>
          <a:xfrm>
            <a:off x="304800" y="822266"/>
            <a:ext cx="842356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 smtClean="0"/>
              <a:t>So </a:t>
            </a:r>
            <a:r>
              <a:rPr lang="en-US" sz="1600" dirty="0" err="1" smtClean="0"/>
              <a:t>sánh</a:t>
            </a:r>
            <a:r>
              <a:rPr lang="en-US" sz="1600" dirty="0" smtClean="0"/>
              <a:t> </a:t>
            </a:r>
            <a:r>
              <a:rPr lang="en-US" sz="1600" dirty="0" err="1" smtClean="0"/>
              <a:t>dự</a:t>
            </a:r>
            <a:r>
              <a:rPr lang="en-US" sz="1600" dirty="0" smtClean="0"/>
              <a:t> </a:t>
            </a:r>
            <a:r>
              <a:rPr lang="en-US" sz="1600" dirty="0" err="1" smtClean="0"/>
              <a:t>đoán</a:t>
            </a:r>
            <a:r>
              <a:rPr lang="en-US" sz="1600" dirty="0" smtClean="0"/>
              <a:t>: Code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6ef0b6e3_0_117"/>
          <p:cNvSpPr txBox="1"/>
          <p:nvPr/>
        </p:nvSpPr>
        <p:spPr>
          <a:xfrm>
            <a:off x="304800" y="139783"/>
            <a:ext cx="88392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vi-VN" sz="2400" dirty="0">
                <a:solidFill>
                  <a:schemeClr val="lt1"/>
                </a:solidFill>
              </a:rPr>
              <a:t>So sánh dự đoán </a:t>
            </a:r>
            <a:r>
              <a:rPr lang="vi-VN" sz="2400" dirty="0" smtClean="0">
                <a:solidFill>
                  <a:schemeClr val="lt1"/>
                </a:solidFill>
              </a:rPr>
              <a:t>mô </a:t>
            </a:r>
            <a:r>
              <a:rPr lang="vi-VN" sz="2400" dirty="0">
                <a:solidFill>
                  <a:schemeClr val="lt1"/>
                </a:solidFill>
              </a:rPr>
              <a:t>hình Hồi quy tuyến tính và Cây quyết định</a:t>
            </a:r>
            <a:endParaRPr lang="vi-VN" sz="2400" dirty="0">
              <a:solidFill>
                <a:schemeClr val="lt1"/>
              </a:solidFill>
            </a:endParaRPr>
          </a:p>
        </p:txBody>
      </p:sp>
      <p:sp>
        <p:nvSpPr>
          <p:cNvPr id="4" name="Google Shape;152;g2240524f1f3_0_0"/>
          <p:cNvSpPr txBox="1"/>
          <p:nvPr/>
        </p:nvSpPr>
        <p:spPr>
          <a:xfrm>
            <a:off x="304800" y="822266"/>
            <a:ext cx="8423564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 err="1" smtClean="0"/>
              <a:t>Chỉ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MSE: </a:t>
            </a:r>
            <a:r>
              <a:rPr lang="en-US" sz="1600" dirty="0" err="1" smtClean="0"/>
              <a:t>Lỗi</a:t>
            </a:r>
            <a:r>
              <a:rPr lang="en-US" sz="1600" dirty="0" smtClean="0"/>
              <a:t> </a:t>
            </a:r>
            <a:r>
              <a:rPr lang="en-US" sz="1600" dirty="0" err="1" smtClean="0"/>
              <a:t>bình</a:t>
            </a:r>
            <a:r>
              <a:rPr lang="en-US" sz="1600" dirty="0" smtClean="0"/>
              <a:t> </a:t>
            </a:r>
            <a:r>
              <a:rPr lang="en-US" sz="1600" dirty="0" err="1" smtClean="0"/>
              <a:t>phương</a:t>
            </a:r>
            <a:r>
              <a:rPr lang="en-US" sz="1600" dirty="0" smtClean="0"/>
              <a:t> </a:t>
            </a:r>
            <a:r>
              <a:rPr lang="en-US" sz="1600" dirty="0" err="1" smtClean="0"/>
              <a:t>trung</a:t>
            </a:r>
            <a:r>
              <a:rPr lang="en-US" sz="1600" dirty="0" smtClean="0"/>
              <a:t> </a:t>
            </a:r>
            <a:r>
              <a:rPr lang="en-US" sz="1600" dirty="0" err="1" smtClean="0"/>
              <a:t>bình</a:t>
            </a:r>
            <a:endParaRPr lang="en-US" sz="1600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1600" dirty="0" err="1" smtClean="0"/>
              <a:t>Chỉ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/>
              <a:t> </a:t>
            </a:r>
            <a:r>
              <a:rPr lang="en-US" sz="1600" dirty="0" smtClean="0"/>
              <a:t>R²: </a:t>
            </a:r>
            <a:r>
              <a:rPr lang="en-US" sz="1600" dirty="0" err="1" smtClean="0"/>
              <a:t>Còn</a:t>
            </a:r>
            <a:r>
              <a:rPr lang="en-US" sz="1600" dirty="0" smtClean="0"/>
              <a:t> </a:t>
            </a:r>
            <a:r>
              <a:rPr lang="en-US" sz="1600" dirty="0" err="1" smtClean="0"/>
              <a:t>gọi</a:t>
            </a:r>
            <a:r>
              <a:rPr lang="en-US" sz="1600" dirty="0" smtClean="0"/>
              <a:t> </a:t>
            </a:r>
            <a:r>
              <a:rPr lang="en-US" sz="1600" dirty="0" err="1" smtClean="0"/>
              <a:t>là</a:t>
            </a:r>
            <a:r>
              <a:rPr lang="en-US" sz="1600" dirty="0" smtClean="0"/>
              <a:t> </a:t>
            </a:r>
            <a:r>
              <a:rPr lang="en-US" sz="1600" dirty="0" err="1" smtClean="0"/>
              <a:t>hệ</a:t>
            </a:r>
            <a:r>
              <a:rPr lang="en-US" sz="1600" dirty="0" smtClean="0"/>
              <a:t> </a:t>
            </a:r>
            <a:r>
              <a:rPr lang="en-US" sz="1600" dirty="0" err="1" smtClean="0"/>
              <a:t>số</a:t>
            </a:r>
            <a:r>
              <a:rPr lang="en-US" sz="1600" dirty="0" smtClean="0"/>
              <a:t> </a:t>
            </a:r>
            <a:r>
              <a:rPr lang="en-US" sz="1600" dirty="0" err="1" smtClean="0"/>
              <a:t>xác</a:t>
            </a:r>
            <a:r>
              <a:rPr lang="en-US" sz="1600" dirty="0" smtClean="0"/>
              <a:t> </a:t>
            </a:r>
            <a:r>
              <a:rPr lang="en-US" sz="1600" dirty="0" err="1" smtClean="0"/>
              <a:t>định</a:t>
            </a:r>
            <a:endParaRPr lang="en-US" sz="1600" dirty="0" smtClean="0"/>
          </a:p>
          <a:p>
            <a:br>
              <a:rPr lang="vi-VN" dirty="0"/>
            </a:br>
            <a:r>
              <a:rPr lang="en-US" sz="1600" dirty="0" smtClean="0"/>
              <a:t> 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45" y="928022"/>
            <a:ext cx="2843043" cy="175442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024" y="2682446"/>
            <a:ext cx="4743061" cy="3660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WPS Presentation</Application>
  <PresentationFormat>On-screen Show (4:3)</PresentationFormat>
  <Paragraphs>61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Maven Pro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Đặng Trí Thanh</cp:lastModifiedBy>
  <cp:revision>56</cp:revision>
  <dcterms:created xsi:type="dcterms:W3CDTF">2021-10-18T16:01:00Z</dcterms:created>
  <dcterms:modified xsi:type="dcterms:W3CDTF">2025-11-05T13:07:41Z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2AB54A5BF5D0404FA93DC74F7523EAD6_12</vt:lpwstr>
  </property>
  <property fmtid="{D5CDD505-2E9C-101B-9397-08002B2CF9AE}" pid="3" name="KSOProductBuildVer">
    <vt:lpwstr>1033-12.2.0.23131</vt:lpwstr>
  </property>
</Properties>
</file>