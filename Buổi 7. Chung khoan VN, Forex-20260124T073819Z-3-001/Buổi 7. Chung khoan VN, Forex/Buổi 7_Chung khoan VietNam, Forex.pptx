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318" r:id="rId7"/>
    <p:sldId id="300" r:id="rId8"/>
    <p:sldId id="301" r:id="rId9"/>
    <p:sldId id="302"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299" r:id="rId25"/>
    <p:sldId id="319" r:id="rId26"/>
    <p:sldId id="320" r:id="rId27"/>
    <p:sldId id="324" r:id="rId28"/>
    <p:sldId id="321" r:id="rId29"/>
    <p:sldId id="322" r:id="rId30"/>
    <p:sldId id="323" r:id="rId31"/>
    <p:sldId id="298" r:id="rId32"/>
  </p:sldIdLst>
  <p:sldSz cx="9144000" cy="6858000" type="screen4x3"/>
  <p:notesSz cx="6858000" cy="9144000"/>
  <p:embeddedFontLst>
    <p:embeddedFont>
      <p:font typeface="Calibri" panose="020F0502020204030204"/>
      <p:regular r:id="rId36"/>
      <p:bold r:id="rId37"/>
      <p:italic r:id="rId38"/>
      <p:boldItalic r:id="rId39"/>
    </p:embeddedFont>
    <p:embeddedFont>
      <p:font typeface="Maven Pro"/>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38"/>
    <p:restoredTop sz="94695"/>
  </p:normalViewPr>
  <p:slideViewPr>
    <p:cSldViewPr snapToGrid="0">
      <p:cViewPr varScale="1">
        <p:scale>
          <a:sx n="83" d="100"/>
          <a:sy n="83" d="100"/>
        </p:scale>
        <p:origin x="15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font" Target="fonts/font6.fntdata"/><Relationship Id="rId40" Type="http://schemas.openxmlformats.org/officeDocument/2006/relationships/font" Target="fonts/font5.fntdata"/><Relationship Id="rId4" Type="http://schemas.openxmlformats.org/officeDocument/2006/relationships/notesMaster" Target="notesMasters/notesMaster1.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9"/>
        <p:cNvGrpSpPr/>
        <p:nvPr/>
      </p:nvGrpSpPr>
      <p:grpSpPr>
        <a:xfrm>
          <a:off x="0" y="0"/>
          <a:ext cx="0" cy="0"/>
          <a:chOff x="0" y="0"/>
          <a:chExt cx="0" cy="0"/>
        </a:xfrm>
      </p:grpSpPr>
      <p:sp>
        <p:nvSpPr>
          <p:cNvPr id="350" name="Google Shape;35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1" name="Google Shape;35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hyperlink" Target="https://entradex.dnse.com.vn/dashboard" TargetMode="Externa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13.jpeg"/><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14.jpeg"/><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138239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800"/>
              <a:buFont typeface="Arial" panose="020B0604020202020204"/>
              <a:buNone/>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dirty="0" err="1">
                <a:solidFill>
                  <a:srgbClr val="FF0000"/>
                </a:solidFill>
              </a:rPr>
              <a:t>Chứng</a:t>
            </a:r>
            <a:r>
              <a:rPr lang="en-US" sz="2800" b="1" i="1" dirty="0">
                <a:solidFill>
                  <a:srgbClr val="FF0000"/>
                </a:solidFill>
              </a:rPr>
              <a:t> </a:t>
            </a:r>
            <a:r>
              <a:rPr lang="en-US" sz="2800" b="1" i="1" dirty="0" err="1">
                <a:solidFill>
                  <a:srgbClr val="FF0000"/>
                </a:solidFill>
              </a:rPr>
              <a:t>khoán</a:t>
            </a:r>
            <a:r>
              <a:rPr lang="en-US" sz="2800" b="1" i="1" dirty="0">
                <a:solidFill>
                  <a:srgbClr val="FF0000"/>
                </a:solidFill>
              </a:rPr>
              <a:t> </a:t>
            </a:r>
            <a:r>
              <a:rPr lang="en-US" sz="2800" b="1" i="1" dirty="0" err="1">
                <a:solidFill>
                  <a:srgbClr val="FF0000"/>
                </a:solidFill>
              </a:rPr>
              <a:t>Việt</a:t>
            </a:r>
            <a:r>
              <a:rPr lang="en-US" sz="2800" b="1" i="1" dirty="0">
                <a:solidFill>
                  <a:srgbClr val="FF0000"/>
                </a:solidFill>
              </a:rPr>
              <a:t> Nam (SSI, DNSE), Forex</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370830" y="4841240"/>
            <a:ext cx="3704590"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GV.</a:t>
            </a:r>
            <a:r>
              <a:rPr lang="en-US" sz="2800" i="1" dirty="0">
                <a:solidFill>
                  <a:schemeClr val="dk1"/>
                </a:solidFill>
              </a:rPr>
              <a:t>Đặng </a:t>
            </a:r>
            <a:r>
              <a:rPr lang="en-US" sz="2800" i="1" dirty="0" err="1">
                <a:solidFill>
                  <a:schemeClr val="dk1"/>
                </a:solidFill>
              </a:rPr>
              <a:t>Trí</a:t>
            </a:r>
            <a:r>
              <a:rPr lang="en-US" sz="2800" i="1" dirty="0">
                <a:solidFill>
                  <a:schemeClr val="dk1"/>
                </a:solidFill>
              </a:rPr>
              <a:t> Thanh</a:t>
            </a:r>
            <a:endParaRPr lang="en-US" sz="2800" i="1" dirty="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err="1" smtClean="0">
                <a:solidFill>
                  <a:schemeClr val="lt1"/>
                </a:solidFill>
                <a:latin typeface="Arial (body)"/>
              </a:rPr>
              <a:t>Đặt</a:t>
            </a:r>
            <a:r>
              <a:rPr lang="en-US" sz="2400" dirty="0" smtClean="0">
                <a:solidFill>
                  <a:schemeClr val="lt1"/>
                </a:solidFill>
                <a:latin typeface="Arial (body)"/>
              </a:rPr>
              <a:t> </a:t>
            </a:r>
            <a:r>
              <a:rPr lang="en-US" sz="2400" dirty="0" err="1" smtClean="0">
                <a:solidFill>
                  <a:schemeClr val="lt1"/>
                </a:solidFill>
                <a:latin typeface="Arial (body)"/>
              </a:rPr>
              <a:t>câu</a:t>
            </a:r>
            <a:r>
              <a:rPr lang="en-US" sz="2400" dirty="0" smtClean="0">
                <a:solidFill>
                  <a:schemeClr val="lt1"/>
                </a:solidFill>
                <a:latin typeface="Arial (body)"/>
              </a:rPr>
              <a:t> </a:t>
            </a:r>
            <a:r>
              <a:rPr lang="en-US" sz="2400" dirty="0" err="1" smtClean="0">
                <a:solidFill>
                  <a:schemeClr val="lt1"/>
                </a:solidFill>
                <a:latin typeface="Arial (body)"/>
              </a:rPr>
              <a:t>hỏi</a:t>
            </a:r>
            <a:endParaRPr sz="2400" b="0"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Chúng</a:t>
            </a:r>
            <a:r>
              <a:rPr lang="en-US" sz="1800" b="1" dirty="0" smtClean="0">
                <a:solidFill>
                  <a:schemeClr val="dk1"/>
                </a:solidFill>
              </a:rPr>
              <a:t> ta </a:t>
            </a:r>
            <a:r>
              <a:rPr lang="en-US" sz="1800" b="1" dirty="0" err="1" smtClean="0">
                <a:solidFill>
                  <a:schemeClr val="dk1"/>
                </a:solidFill>
              </a:rPr>
              <a:t>có</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 </a:t>
            </a:r>
            <a:r>
              <a:rPr lang="en-US" sz="1800" b="1" dirty="0" err="1" smtClean="0">
                <a:solidFill>
                  <a:schemeClr val="dk1"/>
                </a:solidFill>
              </a:rPr>
              <a:t>như</a:t>
            </a:r>
            <a:r>
              <a:rPr lang="en-US" sz="1800" b="1" dirty="0" smtClean="0">
                <a:solidFill>
                  <a:schemeClr val="dk1"/>
                </a:solidFill>
              </a:rPr>
              <a:t> </a:t>
            </a:r>
            <a:r>
              <a:rPr lang="en-US" sz="1800" b="1" dirty="0" err="1" smtClean="0">
                <a:solidFill>
                  <a:schemeClr val="dk1"/>
                </a:solidFill>
              </a:rPr>
              <a:t>sau</a:t>
            </a:r>
            <a:r>
              <a:rPr lang="en-US" sz="1800" b="1" dirty="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ML, Momentum, RSI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hoặc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Bollinger Bands, RSI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t>
            </a:r>
            <a:endPar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lvl="0" algn="just">
              <a:lnSpc>
                <a:spcPct val="115000"/>
              </a:lnSpc>
              <a:spcBef>
                <a:spcPts val="1600"/>
              </a:spcBef>
            </a:pPr>
            <a:r>
              <a:rPr lang="en-US" sz="1800" b="1" dirty="0" err="1">
                <a:solidFill>
                  <a:schemeClr val="dk1"/>
                </a:solidFill>
              </a:rPr>
              <a:t>để</a:t>
            </a:r>
            <a:r>
              <a:rPr lang="en-US" sz="1800" b="1" dirty="0">
                <a:solidFill>
                  <a:schemeClr val="dk1"/>
                </a:solidFill>
              </a:rPr>
              <a:t> </a:t>
            </a:r>
            <a:r>
              <a:rPr lang="en-US" sz="1800" b="1" dirty="0" err="1">
                <a:solidFill>
                  <a:schemeClr val="dk1"/>
                </a:solidFill>
              </a:rPr>
              <a:t>làm</a:t>
            </a:r>
            <a:r>
              <a:rPr lang="en-US" sz="1800" b="1" dirty="0">
                <a:solidFill>
                  <a:schemeClr val="dk1"/>
                </a:solidFill>
              </a:rPr>
              <a:t> </a:t>
            </a:r>
            <a:r>
              <a:rPr lang="en-US" sz="1800" b="1" dirty="0" err="1">
                <a:solidFill>
                  <a:schemeClr val="dk1"/>
                </a:solidFill>
              </a:rPr>
              <a:t>sao</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thi</a:t>
            </a:r>
            <a:r>
              <a:rPr lang="en-US" sz="1800" b="1" dirty="0">
                <a:solidFill>
                  <a:schemeClr val="dk1"/>
                </a:solidFill>
              </a:rPr>
              <a:t> </a:t>
            </a:r>
            <a:r>
              <a:rPr lang="en-US" sz="1800" b="1" dirty="0" err="1">
                <a:solidFill>
                  <a:schemeClr val="dk1"/>
                </a:solidFill>
              </a:rPr>
              <a:t>chiến</a:t>
            </a:r>
            <a:r>
              <a:rPr lang="en-US" sz="1800" b="1" dirty="0">
                <a:solidFill>
                  <a:schemeClr val="dk1"/>
                </a:solidFill>
              </a:rPr>
              <a:t> </a:t>
            </a:r>
            <a:r>
              <a:rPr lang="en-US" sz="1800" b="1" dirty="0" err="1">
                <a:solidFill>
                  <a:schemeClr val="dk1"/>
                </a:solidFill>
              </a:rPr>
              <a:t>lược</a:t>
            </a:r>
            <a:r>
              <a:rPr lang="en-US" sz="1800" b="1" dirty="0">
                <a:solidFill>
                  <a:schemeClr val="dk1"/>
                </a:solidFill>
              </a:rPr>
              <a:t> ML </a:t>
            </a:r>
            <a:r>
              <a:rPr lang="en-US" sz="1800" b="1" dirty="0" err="1">
                <a:solidFill>
                  <a:schemeClr val="dk1"/>
                </a:solidFill>
              </a:rPr>
              <a:t>này</a:t>
            </a:r>
            <a:r>
              <a:rPr lang="en-US" sz="1800" b="1" dirty="0">
                <a:solidFill>
                  <a:schemeClr val="dk1"/>
                </a:solidFill>
              </a:rPr>
              <a:t> </a:t>
            </a:r>
            <a:r>
              <a:rPr lang="en-US" sz="1800" b="1" dirty="0" err="1">
                <a:solidFill>
                  <a:schemeClr val="dk1"/>
                </a:solidFill>
              </a:rPr>
              <a:t>tự</a:t>
            </a:r>
            <a:r>
              <a:rPr lang="en-US" sz="1800" b="1" dirty="0">
                <a:solidFill>
                  <a:schemeClr val="dk1"/>
                </a:solidFill>
              </a:rPr>
              <a:t> </a:t>
            </a:r>
            <a:r>
              <a:rPr lang="en-US" sz="1800" b="1" dirty="0" err="1">
                <a:solidFill>
                  <a:schemeClr val="dk1"/>
                </a:solidFill>
              </a:rPr>
              <a:t>động</a:t>
            </a:r>
            <a:r>
              <a:rPr lang="en-US" sz="1800" b="1" dirty="0">
                <a:solidFill>
                  <a:schemeClr val="dk1"/>
                </a:solidFill>
              </a:rPr>
              <a:t>?</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80750" y="2613514"/>
            <a:ext cx="4078615" cy="2013903"/>
          </a:xfrm>
          <a:prstGeom prst="rect">
            <a:avLst/>
          </a:prstGeom>
        </p:spPr>
      </p:pic>
      <p:pic>
        <p:nvPicPr>
          <p:cNvPr id="5" name="Picture 4"/>
          <p:cNvPicPr>
            <a:picLocks noChangeAspect="1"/>
          </p:cNvPicPr>
          <p:nvPr/>
        </p:nvPicPr>
        <p:blipFill>
          <a:blip r:embed="rId3"/>
          <a:stretch>
            <a:fillRect/>
          </a:stretch>
        </p:blipFill>
        <p:spPr>
          <a:xfrm>
            <a:off x="4952428" y="4159825"/>
            <a:ext cx="4071932" cy="20148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err="1">
                <a:solidFill>
                  <a:schemeClr val="lt1"/>
                </a:solidFill>
                <a:latin typeface="Arial (body)"/>
              </a:rPr>
              <a:t>Tổng</a:t>
            </a:r>
            <a:r>
              <a:rPr lang="en-US" sz="2400" dirty="0">
                <a:solidFill>
                  <a:schemeClr val="lt1"/>
                </a:solidFill>
                <a:latin typeface="Arial (body)"/>
              </a:rPr>
              <a:t> </a:t>
            </a:r>
            <a:r>
              <a:rPr lang="en-US" sz="2400" dirty="0" err="1">
                <a:solidFill>
                  <a:schemeClr val="lt1"/>
                </a:solidFill>
                <a:latin typeface="Arial (body)"/>
              </a:rPr>
              <a:t>quan</a:t>
            </a:r>
            <a:r>
              <a:rPr lang="en-US" sz="2400" dirty="0">
                <a:solidFill>
                  <a:schemeClr val="lt1"/>
                </a:solidFill>
                <a:latin typeface="Arial (body)"/>
              </a:rPr>
              <a:t> </a:t>
            </a:r>
            <a:r>
              <a:rPr lang="en-US" sz="2400" dirty="0" err="1">
                <a:solidFill>
                  <a:schemeClr val="lt1"/>
                </a:solidFill>
                <a:latin typeface="Arial (body)"/>
              </a:rPr>
              <a:t>về</a:t>
            </a:r>
            <a:r>
              <a:rPr lang="en-US" sz="2400" dirty="0">
                <a:solidFill>
                  <a:schemeClr val="lt1"/>
                </a:solidFill>
                <a:latin typeface="Arial (body)"/>
              </a:rPr>
              <a:t> CKVN</a:t>
            </a:r>
            <a:endParaRPr sz="2400" b="0"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457200" indent="-457200" algn="just" fontAlgn="base">
              <a:buAutoNum type="arabicPeriod"/>
            </a:pPr>
            <a:r>
              <a:rPr lang="vi-VN" sz="2400" b="1" i="0" dirty="0">
                <a:solidFill>
                  <a:srgbClr val="2B2F33"/>
                </a:solidFill>
                <a:effectLst/>
                <a:latin typeface="+mn-lt"/>
              </a:rPr>
              <a:t>Chứng khoán </a:t>
            </a:r>
            <a:r>
              <a:rPr lang="vi-VN" sz="2400" b="1" i="0" dirty="0">
                <a:solidFill>
                  <a:srgbClr val="2B2F33"/>
                </a:solidFill>
                <a:effectLst/>
                <a:latin typeface="+mn-lt"/>
              </a:rPr>
              <a:t>cơ sở là gì</a:t>
            </a:r>
            <a:endParaRPr lang="vi-VN" sz="2400" b="1" i="0" dirty="0">
              <a:solidFill>
                <a:srgbClr val="2B2F33"/>
              </a:solidFill>
              <a:effectLst/>
              <a:latin typeface="+mn-lt"/>
            </a:endParaRPr>
          </a:p>
          <a:p>
            <a:pPr algn="just" fontAlgn="base"/>
            <a:endParaRPr lang="vi-VN" sz="2400" b="1" i="0" dirty="0">
              <a:solidFill>
                <a:srgbClr val="2B2F33"/>
              </a:solidFill>
              <a:effectLst/>
              <a:latin typeface="Open Sans" panose="020B0606030504020204" pitchFamily="34" charset="0"/>
            </a:endParaRPr>
          </a:p>
          <a:p>
            <a:pPr algn="just" fontAlgn="base"/>
            <a:r>
              <a:rPr lang="vi-VN" sz="2400" b="1" i="0" dirty="0">
                <a:solidFill>
                  <a:srgbClr val="303947"/>
                </a:solidFill>
                <a:effectLst/>
                <a:latin typeface="+mn-lt"/>
              </a:rPr>
              <a:t>Tổng quan về chứng khoán cơ sở</a:t>
            </a:r>
            <a:endParaRPr lang="vi-VN" sz="2400" b="1" i="0" dirty="0">
              <a:solidFill>
                <a:srgbClr val="303947"/>
              </a:solidFill>
              <a:effectLst/>
              <a:latin typeface="+mn-lt"/>
            </a:endParaRPr>
          </a:p>
          <a:p>
            <a:pPr algn="just" fontAlgn="base"/>
            <a:r>
              <a:rPr lang="vi-VN" sz="2400" b="0" i="1" u="sng" dirty="0">
                <a:solidFill>
                  <a:srgbClr val="303947"/>
                </a:solidFill>
                <a:effectLst/>
                <a:latin typeface="Arial" panose="020B0604020202020204" pitchFamily="34" charset="0"/>
              </a:rPr>
              <a:t>Chứng khoán cơ sở là gì?</a:t>
            </a:r>
            <a:endParaRPr lang="vi-VN" sz="2400" b="1" i="0" u="sng" dirty="0">
              <a:solidFill>
                <a:srgbClr val="303947"/>
              </a:solidFill>
              <a:effectLst/>
              <a:latin typeface="Open Sans" panose="020B0606030504020204" pitchFamily="34" charset="0"/>
            </a:endParaRPr>
          </a:p>
          <a:p>
            <a:pPr algn="just" fontAlgn="base"/>
            <a:r>
              <a:rPr lang="vi-VN" sz="2400" b="0" i="0" dirty="0">
                <a:solidFill>
                  <a:srgbClr val="303947"/>
                </a:solidFill>
                <a:effectLst/>
                <a:latin typeface="Arial" panose="020B0604020202020204" pitchFamily="34" charset="0"/>
              </a:rPr>
              <a:t>Chứng khoán cơ sở là loại chứng khoán được sử dụng với mục đích làm tài sản cơ sở của chứng quyền và một số chứng khoán phái sinh. </a:t>
            </a:r>
            <a:endParaRPr lang="vi-VN" sz="2400" b="0" i="0" dirty="0">
              <a:solidFill>
                <a:srgbClr val="303947"/>
              </a:solidFill>
              <a:effectLst/>
              <a:latin typeface="Arial" panose="020B0604020202020204" pitchFamily="34" charset="0"/>
            </a:endParaRPr>
          </a:p>
          <a:p>
            <a:pPr algn="just" fontAlgn="base"/>
            <a:r>
              <a:rPr lang="vi-VN" sz="2400" i="1" u="sng" dirty="0" smtClean="0">
                <a:solidFill>
                  <a:srgbClr val="303947"/>
                </a:solidFill>
                <a:effectLst/>
                <a:latin typeface="Arial" panose="020B0604020202020204" pitchFamily="34" charset="0"/>
              </a:rPr>
              <a:t>Phân </a:t>
            </a:r>
            <a:r>
              <a:rPr lang="vi-VN" sz="2400" i="1" u="sng" dirty="0">
                <a:solidFill>
                  <a:srgbClr val="303947"/>
                </a:solidFill>
                <a:effectLst/>
                <a:latin typeface="Arial" panose="020B0604020202020204" pitchFamily="34" charset="0"/>
              </a:rPr>
              <a:t>loại</a:t>
            </a:r>
            <a:endParaRPr lang="vi-VN" sz="2400" i="0" u="sng" dirty="0">
              <a:solidFill>
                <a:srgbClr val="303947"/>
              </a:solidFill>
              <a:effectLst/>
              <a:latin typeface="Open Sans" panose="020B0606030504020204" pitchFamily="34" charset="0"/>
            </a:endParaRPr>
          </a:p>
          <a:p>
            <a:pPr algn="just" fontAlgn="base"/>
            <a:r>
              <a:rPr lang="vi-VN" sz="2400" b="0" i="0" dirty="0">
                <a:solidFill>
                  <a:srgbClr val="303947"/>
                </a:solidFill>
                <a:effectLst/>
                <a:latin typeface="Arial" panose="020B0604020202020204" pitchFamily="34" charset="0"/>
              </a:rPr>
              <a:t>Chứng khoán cơ sở được chia làm 2 phần chính:</a:t>
            </a:r>
            <a:endParaRPr lang="vi-VN" sz="24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400" b="0" i="0" dirty="0" smtClean="0">
                <a:solidFill>
                  <a:srgbClr val="303947"/>
                </a:solidFill>
                <a:effectLst/>
                <a:latin typeface="Arial" panose="020B0604020202020204" pitchFamily="34" charset="0"/>
              </a:rPr>
              <a:t> </a:t>
            </a:r>
            <a:r>
              <a:rPr lang="vi-VN" sz="2400" b="1" i="0" dirty="0" smtClean="0">
                <a:solidFill>
                  <a:srgbClr val="303947"/>
                </a:solidFill>
                <a:effectLst/>
                <a:latin typeface="Arial" panose="020B0604020202020204" pitchFamily="34" charset="0"/>
              </a:rPr>
              <a:t>Cổ </a:t>
            </a:r>
            <a:r>
              <a:rPr lang="vi-VN" sz="2400" b="1" i="0" dirty="0">
                <a:solidFill>
                  <a:srgbClr val="303947"/>
                </a:solidFill>
                <a:effectLst/>
                <a:latin typeface="Arial" panose="020B0604020202020204" pitchFamily="34" charset="0"/>
              </a:rPr>
              <a:t>phiếu phổ thông</a:t>
            </a:r>
            <a:r>
              <a:rPr lang="vi-VN" sz="2400" b="0" i="0" dirty="0">
                <a:solidFill>
                  <a:srgbClr val="303947"/>
                </a:solidFill>
                <a:effectLst/>
                <a:latin typeface="Arial" panose="020B0604020202020204" pitchFamily="34" charset="0"/>
              </a:rPr>
              <a:t>, bao gồm các cổ phiếu đang giao dịch trên sàn </a:t>
            </a:r>
            <a:r>
              <a:rPr lang="vi-VN" sz="2400" b="1" i="0" dirty="0">
                <a:solidFill>
                  <a:srgbClr val="303947"/>
                </a:solidFill>
                <a:effectLst/>
                <a:latin typeface="Arial" panose="020B0604020202020204" pitchFamily="34" charset="0"/>
              </a:rPr>
              <a:t>HOSE và </a:t>
            </a:r>
            <a:r>
              <a:rPr lang="vi-VN" sz="2400" b="1" i="0" dirty="0" smtClean="0">
                <a:solidFill>
                  <a:srgbClr val="303947"/>
                </a:solidFill>
                <a:effectLst/>
                <a:latin typeface="Arial" panose="020B0604020202020204" pitchFamily="34" charset="0"/>
              </a:rPr>
              <a:t>HNX</a:t>
            </a:r>
            <a:r>
              <a:rPr lang="en-US" sz="2400" b="0" i="0" dirty="0" smtClean="0">
                <a:solidFill>
                  <a:srgbClr val="303947"/>
                </a:solidFill>
                <a:effectLst/>
                <a:latin typeface="Arial" panose="020B0604020202020204" pitchFamily="34" charset="0"/>
              </a:rPr>
              <a:t>.</a:t>
            </a:r>
            <a:endParaRPr lang="vi-VN" sz="24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400" b="0" i="0" dirty="0" smtClean="0">
                <a:solidFill>
                  <a:srgbClr val="303947"/>
                </a:solidFill>
                <a:effectLst/>
                <a:latin typeface="Arial" panose="020B0604020202020204" pitchFamily="34" charset="0"/>
              </a:rPr>
              <a:t> </a:t>
            </a:r>
            <a:r>
              <a:rPr lang="vi-VN" sz="2400" b="1" i="0" dirty="0" smtClean="0">
                <a:solidFill>
                  <a:srgbClr val="303947"/>
                </a:solidFill>
                <a:effectLst/>
                <a:latin typeface="Arial" panose="020B0604020202020204" pitchFamily="34" charset="0"/>
              </a:rPr>
              <a:t>Trái phiếu</a:t>
            </a:r>
            <a:r>
              <a:rPr lang="en-US" sz="2400" b="1" dirty="0">
                <a:solidFill>
                  <a:srgbClr val="303947"/>
                </a:solidFill>
                <a:latin typeface="Arial" panose="020B0604020202020204" pitchFamily="34" charset="0"/>
              </a:rPr>
              <a:t> </a:t>
            </a:r>
            <a:r>
              <a:rPr lang="en-US" sz="2400" dirty="0" smtClean="0">
                <a:solidFill>
                  <a:srgbClr val="303947"/>
                </a:solidFill>
                <a:latin typeface="Arial" panose="020B0604020202020204" pitchFamily="34" charset="0"/>
              </a:rPr>
              <a:t>(</a:t>
            </a:r>
            <a:r>
              <a:rPr lang="en-US" sz="2400" dirty="0" err="1" smtClean="0">
                <a:solidFill>
                  <a:srgbClr val="303947"/>
                </a:solidFill>
                <a:latin typeface="Arial" panose="020B0604020202020204" pitchFamily="34" charset="0"/>
              </a:rPr>
              <a:t>chứng</a:t>
            </a:r>
            <a:r>
              <a:rPr lang="en-US" sz="2400" dirty="0" smtClean="0">
                <a:solidFill>
                  <a:srgbClr val="303947"/>
                </a:solidFill>
                <a:latin typeface="Arial" panose="020B0604020202020204" pitchFamily="34" charset="0"/>
              </a:rPr>
              <a:t> </a:t>
            </a:r>
            <a:r>
              <a:rPr lang="en-US" sz="2400" dirty="0" err="1" smtClean="0">
                <a:solidFill>
                  <a:srgbClr val="303947"/>
                </a:solidFill>
                <a:latin typeface="Arial" panose="020B0604020202020204" pitchFamily="34" charset="0"/>
              </a:rPr>
              <a:t>khoán</a:t>
            </a:r>
            <a:r>
              <a:rPr lang="en-US" sz="2400" dirty="0" smtClean="0">
                <a:solidFill>
                  <a:srgbClr val="303947"/>
                </a:solidFill>
                <a:latin typeface="Arial" panose="020B0604020202020204" pitchFamily="34" charset="0"/>
              </a:rPr>
              <a:t> </a:t>
            </a:r>
            <a:r>
              <a:rPr lang="en-US" sz="2400" dirty="0" err="1" smtClean="0">
                <a:solidFill>
                  <a:srgbClr val="303947"/>
                </a:solidFill>
                <a:latin typeface="Arial" panose="020B0604020202020204" pitchFamily="34" charset="0"/>
              </a:rPr>
              <a:t>nợ</a:t>
            </a:r>
            <a:r>
              <a:rPr lang="en-US" sz="2400" dirty="0" smtClean="0">
                <a:solidFill>
                  <a:srgbClr val="303947"/>
                </a:solidFill>
                <a:latin typeface="Arial" panose="020B0604020202020204" pitchFamily="34" charset="0"/>
              </a:rPr>
              <a:t>)</a:t>
            </a:r>
            <a:r>
              <a:rPr lang="vi-VN" sz="2400" b="0" i="0" dirty="0" smtClean="0">
                <a:solidFill>
                  <a:srgbClr val="303947"/>
                </a:solidFill>
                <a:effectLst/>
                <a:latin typeface="Arial" panose="020B0604020202020204" pitchFamily="34" charset="0"/>
              </a:rPr>
              <a:t>, </a:t>
            </a:r>
            <a:r>
              <a:rPr lang="vi-VN" sz="2400" b="0" i="0" dirty="0">
                <a:solidFill>
                  <a:srgbClr val="303947"/>
                </a:solidFill>
                <a:effectLst/>
                <a:latin typeface="Arial" panose="020B0604020202020204" pitchFamily="34" charset="0"/>
              </a:rPr>
              <a:t>bao gồm trái phiếu linh hoạt được tạo ra nhằm tăng tính thanh khoản cao. </a:t>
            </a:r>
            <a:endParaRPr lang="vi-VN" sz="2400" b="0" i="0" dirty="0">
              <a:solidFill>
                <a:srgbClr val="303947"/>
              </a:solidFill>
              <a:effectLst/>
              <a:latin typeface="Open Sans" panose="020B0606030504020204" pitchFamily="34" charset="0"/>
            </a:endParaRPr>
          </a:p>
          <a:p>
            <a:pPr algn="just" fontAlgn="base"/>
            <a:endParaRPr lang="vi-VN" sz="2400" b="1" i="0" dirty="0">
              <a:solidFill>
                <a:srgbClr val="2B2F33"/>
              </a:solidFill>
              <a:effectLst/>
              <a:latin typeface="Open Sans" panose="020B0606030504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dirty="0" err="1">
                <a:solidFill>
                  <a:schemeClr val="lt1"/>
                </a:solidFill>
              </a:rPr>
              <a:t>Tổng</a:t>
            </a:r>
            <a:r>
              <a:rPr lang="en-US" sz="2400" dirty="0">
                <a:solidFill>
                  <a:schemeClr val="lt1"/>
                </a:solidFill>
              </a:rPr>
              <a:t> </a:t>
            </a:r>
            <a:r>
              <a:rPr lang="en-US" sz="2400" dirty="0" err="1">
                <a:solidFill>
                  <a:schemeClr val="lt1"/>
                </a:solidFill>
              </a:rPr>
              <a:t>quan</a:t>
            </a:r>
            <a:r>
              <a:rPr lang="en-US" sz="2400" dirty="0">
                <a:solidFill>
                  <a:schemeClr val="lt1"/>
                </a:solidFill>
              </a:rPr>
              <a:t> </a:t>
            </a:r>
            <a:r>
              <a:rPr lang="en-US" sz="2400" dirty="0" err="1">
                <a:solidFill>
                  <a:schemeClr val="lt1"/>
                </a:solidFill>
              </a:rPr>
              <a:t>về</a:t>
            </a:r>
            <a:r>
              <a:rPr lang="en-US" sz="2400" dirty="0">
                <a:solidFill>
                  <a:schemeClr val="lt1"/>
                </a:solidFill>
              </a:rPr>
              <a:t> CKVN</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350980" y="782776"/>
            <a:ext cx="8451273" cy="5243801"/>
          </a:xfrm>
          <a:prstGeom prst="rect">
            <a:avLst/>
          </a:prstGeom>
          <a:noFill/>
          <a:ln>
            <a:noFill/>
          </a:ln>
        </p:spPr>
        <p:txBody>
          <a:bodyPr spcFirstLastPara="1" wrap="square" lIns="91425" tIns="91425" rIns="91425" bIns="91425" anchor="t" anchorCtr="0">
            <a:noAutofit/>
          </a:bodyPr>
          <a:lstStyle/>
          <a:p>
            <a:pPr algn="just" fontAlgn="base"/>
            <a:r>
              <a:rPr lang="vi-VN" sz="2100" b="1" i="0" dirty="0">
                <a:solidFill>
                  <a:srgbClr val="303947"/>
                </a:solidFill>
                <a:effectLst/>
                <a:latin typeface="Arial" panose="020B0604020202020204" pitchFamily="34" charset="0"/>
              </a:rPr>
              <a:t>Đặc điểm chứng khoán cơ sở</a:t>
            </a:r>
            <a:endParaRPr lang="vi-VN" sz="2100" b="1"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100" b="0" i="0" dirty="0" smtClean="0">
                <a:solidFill>
                  <a:srgbClr val="303947"/>
                </a:solidFill>
                <a:effectLst/>
                <a:latin typeface="Arial" panose="020B0604020202020204" pitchFamily="34" charset="0"/>
              </a:rPr>
              <a:t> </a:t>
            </a:r>
            <a:r>
              <a:rPr lang="vi-VN" sz="2100" b="1" i="0" dirty="0" smtClean="0">
                <a:solidFill>
                  <a:srgbClr val="303947"/>
                </a:solidFill>
                <a:effectLst/>
                <a:latin typeface="Arial" panose="020B0604020202020204" pitchFamily="34" charset="0"/>
              </a:rPr>
              <a:t>Tổ </a:t>
            </a:r>
            <a:r>
              <a:rPr lang="vi-VN" sz="2100" b="1" i="0" dirty="0">
                <a:solidFill>
                  <a:srgbClr val="303947"/>
                </a:solidFill>
                <a:effectLst/>
                <a:latin typeface="Arial" panose="020B0604020202020204" pitchFamily="34" charset="0"/>
              </a:rPr>
              <a:t>chức phát hành </a:t>
            </a:r>
            <a:r>
              <a:rPr lang="vi-VN" sz="2100" b="0" i="0" dirty="0">
                <a:solidFill>
                  <a:srgbClr val="303947"/>
                </a:solidFill>
                <a:effectLst/>
                <a:latin typeface="Arial" panose="020B0604020202020204" pitchFamily="34" charset="0"/>
              </a:rPr>
              <a:t>chứng khoán cơ sở là tổ chức hành </a:t>
            </a:r>
            <a:r>
              <a:rPr lang="vi-VN" sz="2100" b="0" i="0" dirty="0" smtClean="0">
                <a:solidFill>
                  <a:srgbClr val="303947"/>
                </a:solidFill>
                <a:effectLst/>
                <a:latin typeface="Arial" panose="020B0604020202020204" pitchFamily="34" charset="0"/>
              </a:rPr>
              <a:t>chính</a:t>
            </a:r>
            <a:r>
              <a:rPr lang="en-US" sz="2100" b="0" i="0" dirty="0" smtClean="0">
                <a:solidFill>
                  <a:srgbClr val="303947"/>
                </a:solidFill>
                <a:effectLst/>
                <a:latin typeface="Arial" panose="020B0604020202020204" pitchFamily="34" charset="0"/>
              </a:rPr>
              <a:t>, </a:t>
            </a:r>
            <a:r>
              <a:rPr lang="en-US" sz="2100" b="0" i="0" dirty="0" err="1" smtClean="0">
                <a:solidFill>
                  <a:srgbClr val="303947"/>
                </a:solidFill>
                <a:effectLst/>
                <a:latin typeface="Arial" panose="020B0604020202020204" pitchFamily="34" charset="0"/>
              </a:rPr>
              <a:t>tức</a:t>
            </a:r>
            <a:r>
              <a:rPr lang="en-US" sz="2100" b="0" i="0" dirty="0" smtClean="0">
                <a:solidFill>
                  <a:srgbClr val="303947"/>
                </a:solidFill>
                <a:effectLst/>
                <a:latin typeface="Arial" panose="020B0604020202020204" pitchFamily="34" charset="0"/>
              </a:rPr>
              <a:t> </a:t>
            </a:r>
            <a:r>
              <a:rPr lang="en-US" sz="2100" b="0" i="0" dirty="0" err="1" smtClean="0">
                <a:solidFill>
                  <a:srgbClr val="303947"/>
                </a:solidFill>
                <a:effectLst/>
                <a:latin typeface="Arial" panose="020B0604020202020204" pitchFamily="34" charset="0"/>
              </a:rPr>
              <a:t>là</a:t>
            </a:r>
            <a:r>
              <a:rPr lang="en-US" sz="2100" b="0" i="0" dirty="0" smtClean="0">
                <a:solidFill>
                  <a:srgbClr val="303947"/>
                </a:solidFill>
                <a:effectLst/>
                <a:latin typeface="Arial" panose="020B0604020202020204" pitchFamily="34" charset="0"/>
              </a:rPr>
              <a:t> </a:t>
            </a:r>
            <a:r>
              <a:rPr lang="en-US" sz="2100" b="0" i="0" dirty="0" err="1" smtClean="0">
                <a:solidFill>
                  <a:srgbClr val="303947"/>
                </a:solidFill>
                <a:effectLst/>
                <a:latin typeface="Arial" panose="020B0604020202020204" pitchFamily="34" charset="0"/>
              </a:rPr>
              <a:t>cá</a:t>
            </a:r>
            <a:r>
              <a:rPr lang="en-US" sz="2100" dirty="0" err="1" smtClean="0">
                <a:solidFill>
                  <a:srgbClr val="303947"/>
                </a:solidFill>
                <a:latin typeface="Arial" panose="020B0604020202020204" pitchFamily="34" charset="0"/>
              </a:rPr>
              <a:t>c</a:t>
            </a:r>
            <a:r>
              <a:rPr lang="en-US" sz="2100" dirty="0" smtClean="0">
                <a:solidFill>
                  <a:srgbClr val="303947"/>
                </a:solidFill>
                <a:latin typeface="Arial" panose="020B0604020202020204" pitchFamily="34" charset="0"/>
              </a:rPr>
              <a:t> </a:t>
            </a:r>
            <a:r>
              <a:rPr lang="en-US" sz="2100" dirty="0" err="1" smtClean="0">
                <a:solidFill>
                  <a:srgbClr val="303947"/>
                </a:solidFill>
                <a:latin typeface="Arial" panose="020B0604020202020204" pitchFamily="34" charset="0"/>
              </a:rPr>
              <a:t>công</a:t>
            </a:r>
            <a:r>
              <a:rPr lang="en-US" sz="2100" dirty="0" smtClean="0">
                <a:solidFill>
                  <a:srgbClr val="303947"/>
                </a:solidFill>
                <a:latin typeface="Arial" panose="020B0604020202020204" pitchFamily="34" charset="0"/>
              </a:rPr>
              <a:t> ty </a:t>
            </a:r>
            <a:r>
              <a:rPr lang="en-US" sz="2100" dirty="0" err="1" smtClean="0">
                <a:solidFill>
                  <a:srgbClr val="303947"/>
                </a:solidFill>
                <a:latin typeface="Arial" panose="020B0604020202020204" pitchFamily="34" charset="0"/>
              </a:rPr>
              <a:t>niêm</a:t>
            </a:r>
            <a:r>
              <a:rPr lang="en-US" sz="2100" dirty="0" smtClean="0">
                <a:solidFill>
                  <a:srgbClr val="303947"/>
                </a:solidFill>
                <a:latin typeface="Arial" panose="020B0604020202020204" pitchFamily="34" charset="0"/>
              </a:rPr>
              <a:t> </a:t>
            </a:r>
            <a:r>
              <a:rPr lang="en-US" sz="2100" dirty="0" err="1" smtClean="0">
                <a:solidFill>
                  <a:srgbClr val="303947"/>
                </a:solidFill>
                <a:latin typeface="Arial" panose="020B0604020202020204" pitchFamily="34" charset="0"/>
              </a:rPr>
              <a:t>yết</a:t>
            </a:r>
            <a:endParaRPr lang="vi-VN" sz="21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100" b="0" i="0" dirty="0" smtClean="0">
                <a:solidFill>
                  <a:srgbClr val="303947"/>
                </a:solidFill>
                <a:effectLst/>
                <a:latin typeface="Arial" panose="020B0604020202020204" pitchFamily="34" charset="0"/>
              </a:rPr>
              <a:t> </a:t>
            </a:r>
            <a:r>
              <a:rPr lang="en-US" sz="2100" b="1" i="0" dirty="0" err="1" smtClean="0">
                <a:solidFill>
                  <a:srgbClr val="303947"/>
                </a:solidFill>
                <a:effectLst/>
                <a:latin typeface="Arial" panose="020B0604020202020204" pitchFamily="34" charset="0"/>
              </a:rPr>
              <a:t>Giao</a:t>
            </a:r>
            <a:r>
              <a:rPr lang="en-US" sz="2100" b="1" i="0" dirty="0" smtClean="0">
                <a:solidFill>
                  <a:srgbClr val="303947"/>
                </a:solidFill>
                <a:effectLst/>
                <a:latin typeface="Arial" panose="020B0604020202020204" pitchFamily="34" charset="0"/>
              </a:rPr>
              <a:t> </a:t>
            </a:r>
            <a:r>
              <a:rPr lang="en-US" sz="2100" b="1" i="0" dirty="0" err="1" smtClean="0">
                <a:solidFill>
                  <a:srgbClr val="303947"/>
                </a:solidFill>
                <a:effectLst/>
                <a:latin typeface="Arial" panose="020B0604020202020204" pitchFamily="34" charset="0"/>
              </a:rPr>
              <a:t>dịch</a:t>
            </a:r>
            <a:r>
              <a:rPr lang="en-US" sz="2100" b="0" i="0" dirty="0" smtClean="0">
                <a:solidFill>
                  <a:srgbClr val="303947"/>
                </a:solidFill>
                <a:effectLst/>
                <a:latin typeface="Arial" panose="020B0604020202020204" pitchFamily="34" charset="0"/>
              </a:rPr>
              <a:t> qua </a:t>
            </a:r>
            <a:r>
              <a:rPr lang="en-US" sz="2100" b="0" i="0" dirty="0" err="1" smtClean="0">
                <a:solidFill>
                  <a:srgbClr val="303947"/>
                </a:solidFill>
                <a:effectLst/>
                <a:latin typeface="Arial" panose="020B0604020202020204" pitchFamily="34" charset="0"/>
              </a:rPr>
              <a:t>công</a:t>
            </a:r>
            <a:r>
              <a:rPr lang="en-US" sz="2100" b="0" i="0" dirty="0" smtClean="0">
                <a:solidFill>
                  <a:srgbClr val="303947"/>
                </a:solidFill>
                <a:effectLst/>
                <a:latin typeface="Arial" panose="020B0604020202020204" pitchFamily="34" charset="0"/>
              </a:rPr>
              <a:t> ty </a:t>
            </a:r>
            <a:r>
              <a:rPr lang="en-US" sz="2100" b="0" i="0" dirty="0" err="1" smtClean="0">
                <a:solidFill>
                  <a:srgbClr val="303947"/>
                </a:solidFill>
                <a:effectLst/>
                <a:latin typeface="Arial" panose="020B0604020202020204" pitchFamily="34" charset="0"/>
              </a:rPr>
              <a:t>chứng</a:t>
            </a:r>
            <a:r>
              <a:rPr lang="en-US" sz="2100" b="0" i="0" dirty="0" smtClean="0">
                <a:solidFill>
                  <a:srgbClr val="303947"/>
                </a:solidFill>
                <a:effectLst/>
                <a:latin typeface="Arial" panose="020B0604020202020204" pitchFamily="34" charset="0"/>
              </a:rPr>
              <a:t> </a:t>
            </a:r>
            <a:r>
              <a:rPr lang="en-US" sz="2100" b="0" i="0" dirty="0" err="1" smtClean="0">
                <a:solidFill>
                  <a:srgbClr val="303947"/>
                </a:solidFill>
                <a:effectLst/>
                <a:latin typeface="Arial" panose="020B0604020202020204" pitchFamily="34" charset="0"/>
              </a:rPr>
              <a:t>khoán</a:t>
            </a:r>
            <a:r>
              <a:rPr lang="en-US" sz="2100" b="0" i="0" dirty="0" smtClean="0">
                <a:solidFill>
                  <a:srgbClr val="303947"/>
                </a:solidFill>
                <a:effectLst/>
                <a:latin typeface="Arial" panose="020B0604020202020204" pitchFamily="34" charset="0"/>
              </a:rPr>
              <a:t>: </a:t>
            </a:r>
            <a:r>
              <a:rPr lang="vi-VN" sz="2100" b="0" i="0" dirty="0" smtClean="0">
                <a:solidFill>
                  <a:srgbClr val="303947"/>
                </a:solidFill>
                <a:effectLst/>
                <a:latin typeface="Arial" panose="020B0604020202020204" pitchFamily="34" charset="0"/>
              </a:rPr>
              <a:t>Nhà </a:t>
            </a:r>
            <a:r>
              <a:rPr lang="vi-VN" sz="2100" b="0" i="0" dirty="0">
                <a:solidFill>
                  <a:srgbClr val="303947"/>
                </a:solidFill>
                <a:effectLst/>
                <a:latin typeface="Arial" panose="020B0604020202020204" pitchFamily="34" charset="0"/>
              </a:rPr>
              <a:t>đầu tư sẽ dùng tài khoản mở tại các Công ty chứng khoán để giao dịch trên thị trường cơ </a:t>
            </a:r>
            <a:r>
              <a:rPr lang="vi-VN" sz="2100" b="0" i="0" dirty="0" smtClean="0">
                <a:solidFill>
                  <a:srgbClr val="303947"/>
                </a:solidFill>
                <a:effectLst/>
                <a:latin typeface="Arial" panose="020B0604020202020204" pitchFamily="34" charset="0"/>
              </a:rPr>
              <a:t>sở</a:t>
            </a:r>
            <a:r>
              <a:rPr lang="en-US" sz="2100" b="0" i="0" dirty="0" smtClean="0">
                <a:solidFill>
                  <a:srgbClr val="303947"/>
                </a:solidFill>
                <a:effectLst/>
                <a:latin typeface="Arial" panose="020B0604020202020204" pitchFamily="34" charset="0"/>
              </a:rPr>
              <a:t>.</a:t>
            </a:r>
            <a:endParaRPr lang="vi-VN" sz="21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100" b="0" i="0" dirty="0" smtClean="0">
                <a:solidFill>
                  <a:srgbClr val="303947"/>
                </a:solidFill>
                <a:effectLst/>
                <a:latin typeface="Arial" panose="020B0604020202020204" pitchFamily="34" charset="0"/>
              </a:rPr>
              <a:t> </a:t>
            </a:r>
            <a:r>
              <a:rPr lang="vi-VN" sz="2100" b="1" i="0" dirty="0" smtClean="0">
                <a:solidFill>
                  <a:srgbClr val="303947"/>
                </a:solidFill>
                <a:effectLst/>
                <a:latin typeface="Arial" panose="020B0604020202020204" pitchFamily="34" charset="0"/>
              </a:rPr>
              <a:t>Điều </a:t>
            </a:r>
            <a:r>
              <a:rPr lang="vi-VN" sz="2100" b="1" i="0" dirty="0">
                <a:solidFill>
                  <a:srgbClr val="303947"/>
                </a:solidFill>
                <a:effectLst/>
                <a:latin typeface="Arial" panose="020B0604020202020204" pitchFamily="34" charset="0"/>
              </a:rPr>
              <a:t>khoản sản phẩm </a:t>
            </a:r>
            <a:r>
              <a:rPr lang="vi-VN" sz="2100" b="0" i="0" dirty="0">
                <a:solidFill>
                  <a:srgbClr val="303947"/>
                </a:solidFill>
                <a:effectLst/>
                <a:latin typeface="Arial" panose="020B0604020202020204" pitchFamily="34" charset="0"/>
              </a:rPr>
              <a:t>sẽ khác nhau với từng sản phẩm được phát hành. Tổ chức phát hành sẽ quy định riêng với từng sản phẩm. </a:t>
            </a:r>
            <a:endParaRPr lang="vi-VN" sz="21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100" b="0" i="0" dirty="0" smtClean="0">
                <a:solidFill>
                  <a:srgbClr val="303947"/>
                </a:solidFill>
                <a:effectLst/>
                <a:latin typeface="Arial" panose="020B0604020202020204" pitchFamily="34" charset="0"/>
              </a:rPr>
              <a:t> </a:t>
            </a:r>
            <a:r>
              <a:rPr lang="vi-VN" sz="2100" b="1" i="0" dirty="0" smtClean="0">
                <a:solidFill>
                  <a:srgbClr val="303947"/>
                </a:solidFill>
                <a:effectLst/>
                <a:latin typeface="Arial" panose="020B0604020202020204" pitchFamily="34" charset="0"/>
              </a:rPr>
              <a:t>Số </a:t>
            </a:r>
            <a:r>
              <a:rPr lang="vi-VN" sz="2100" b="1" i="0" dirty="0">
                <a:solidFill>
                  <a:srgbClr val="303947"/>
                </a:solidFill>
                <a:effectLst/>
                <a:latin typeface="Arial" panose="020B0604020202020204" pitchFamily="34" charset="0"/>
              </a:rPr>
              <a:t>lượng phát hành </a:t>
            </a:r>
            <a:r>
              <a:rPr lang="vi-VN" sz="2100" b="0" i="0" dirty="0">
                <a:solidFill>
                  <a:srgbClr val="303947"/>
                </a:solidFill>
                <a:effectLst/>
                <a:latin typeface="Arial" panose="020B0604020202020204" pitchFamily="34" charset="0"/>
              </a:rPr>
              <a:t>cũng có giới hạn phụ thuộc vào từng tổ chức cụ thể.</a:t>
            </a:r>
            <a:endParaRPr lang="vi-VN" sz="21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100" b="0" i="0" dirty="0" smtClean="0">
                <a:solidFill>
                  <a:srgbClr val="303947"/>
                </a:solidFill>
                <a:effectLst/>
                <a:latin typeface="Arial" panose="020B0604020202020204" pitchFamily="34" charset="0"/>
              </a:rPr>
              <a:t> </a:t>
            </a:r>
            <a:r>
              <a:rPr lang="vi-VN" sz="2100" b="0" i="0" dirty="0" smtClean="0">
                <a:solidFill>
                  <a:srgbClr val="303947"/>
                </a:solidFill>
                <a:effectLst/>
                <a:latin typeface="Arial" panose="020B0604020202020204" pitchFamily="34" charset="0"/>
              </a:rPr>
              <a:t>Khối </a:t>
            </a:r>
            <a:r>
              <a:rPr lang="vi-VN" sz="2100" b="0" i="0" dirty="0">
                <a:solidFill>
                  <a:srgbClr val="303947"/>
                </a:solidFill>
                <a:effectLst/>
                <a:latin typeface="Arial" panose="020B0604020202020204" pitchFamily="34" charset="0"/>
              </a:rPr>
              <a:t>lượng phát hành có giới hạn và sẽ được quy định trong từng thời gian cụ </a:t>
            </a:r>
            <a:r>
              <a:rPr lang="vi-VN" sz="2100" b="0" i="0" dirty="0" smtClean="0">
                <a:solidFill>
                  <a:srgbClr val="303947"/>
                </a:solidFill>
                <a:effectLst/>
                <a:latin typeface="Arial" panose="020B0604020202020204" pitchFamily="34" charset="0"/>
              </a:rPr>
              <a:t>thể.</a:t>
            </a:r>
            <a:endParaRPr lang="en-US" sz="2100" b="0" i="0" dirty="0" smtClean="0">
              <a:solidFill>
                <a:srgbClr val="303947"/>
              </a:solidFill>
              <a:effectLst/>
              <a:latin typeface="Arial" panose="020B0604020202020204" pitchFamily="34" charset="0"/>
            </a:endParaRPr>
          </a:p>
          <a:p>
            <a:pPr algn="just" fontAlgn="base">
              <a:buFont typeface="Arial" panose="020B0604020202020204" pitchFamily="34" charset="0"/>
              <a:buChar char="•"/>
            </a:pPr>
            <a:r>
              <a:rPr lang="en-US" sz="2100" dirty="0">
                <a:solidFill>
                  <a:srgbClr val="303947"/>
                </a:solidFill>
                <a:latin typeface="Arial" panose="020B0604020202020204" pitchFamily="34" charset="0"/>
              </a:rPr>
              <a:t> </a:t>
            </a:r>
            <a:r>
              <a:rPr lang="vi-VN" sz="2100" b="0" i="0" dirty="0" smtClean="0">
                <a:solidFill>
                  <a:srgbClr val="303947"/>
                </a:solidFill>
                <a:effectLst/>
                <a:latin typeface="Arial" panose="020B0604020202020204" pitchFamily="34" charset="0"/>
              </a:rPr>
              <a:t>Chứng khoán cơ sở không thể bán khi chưa nắm giữ theo quy tắc T+3</a:t>
            </a:r>
            <a:r>
              <a:rPr lang="en-US" sz="2100" b="0" i="0" dirty="0" smtClean="0">
                <a:solidFill>
                  <a:srgbClr val="303947"/>
                </a:solidFill>
                <a:effectLst/>
                <a:latin typeface="Arial" panose="020B0604020202020204" pitchFamily="34" charset="0"/>
              </a:rPr>
              <a:t> (</a:t>
            </a:r>
            <a:r>
              <a:rPr lang="vi-VN" sz="2100" dirty="0"/>
              <a:t>là ngày </a:t>
            </a:r>
            <a:r>
              <a:rPr lang="vi-VN" sz="2100" b="1" dirty="0"/>
              <a:t>bên mua được sở hữu chứng khoán </a:t>
            </a:r>
            <a:r>
              <a:rPr lang="vi-VN" sz="2100" dirty="0"/>
              <a:t>và bên bán nhận được tiền sau ngày giao dịch 3 </a:t>
            </a:r>
            <a:r>
              <a:rPr lang="vi-VN" sz="2100" dirty="0" smtClean="0"/>
              <a:t>ngày</a:t>
            </a:r>
            <a:r>
              <a:rPr lang="en-US" sz="2100" dirty="0" smtClean="0"/>
              <a:t>)</a:t>
            </a:r>
            <a:endParaRPr lang="en-US" sz="2100" b="0" i="0" dirty="0" smtClean="0">
              <a:solidFill>
                <a:srgbClr val="303947"/>
              </a:solidFill>
              <a:effectLst/>
              <a:latin typeface="Open Sans" panose="020B0606030504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32508" y="773540"/>
            <a:ext cx="8442036" cy="5243801"/>
          </a:xfrm>
          <a:prstGeom prst="rect">
            <a:avLst/>
          </a:prstGeom>
          <a:noFill/>
          <a:ln>
            <a:noFill/>
          </a:ln>
        </p:spPr>
        <p:txBody>
          <a:bodyPr spcFirstLastPara="1" wrap="square" lIns="91425" tIns="91425" rIns="91425" bIns="91425" anchor="t" anchorCtr="0">
            <a:noAutofit/>
          </a:bodyPr>
          <a:lstStyle/>
          <a:p>
            <a:pPr algn="just" fontAlgn="base">
              <a:buFont typeface="Arial" panose="020B0604020202020204" pitchFamily="34" charset="0"/>
              <a:buChar char="•"/>
            </a:pPr>
            <a:r>
              <a:rPr lang="en-US" sz="2400" b="0" i="0" dirty="0" smtClean="0">
                <a:solidFill>
                  <a:srgbClr val="303947"/>
                </a:solidFill>
                <a:effectLst/>
                <a:latin typeface="Arial" panose="020B0604020202020204" pitchFamily="34" charset="0"/>
              </a:rPr>
              <a:t> </a:t>
            </a:r>
            <a:r>
              <a:rPr lang="vi-VN" sz="2400" b="0" i="0" dirty="0" smtClean="0">
                <a:solidFill>
                  <a:srgbClr val="303947"/>
                </a:solidFill>
                <a:effectLst/>
                <a:latin typeface="Arial" panose="020B0604020202020204" pitchFamily="34" charset="0"/>
              </a:rPr>
              <a:t>Thời </a:t>
            </a:r>
            <a:r>
              <a:rPr lang="vi-VN" sz="2400" b="0" i="0" dirty="0">
                <a:solidFill>
                  <a:srgbClr val="303947"/>
                </a:solidFill>
                <a:effectLst/>
                <a:latin typeface="Arial" panose="020B0604020202020204" pitchFamily="34" charset="0"/>
              </a:rPr>
              <a:t>gian sở hữu là không giới hạn.</a:t>
            </a:r>
            <a:endParaRPr lang="vi-VN" sz="2400" b="0" i="0" dirty="0">
              <a:solidFill>
                <a:srgbClr val="303947"/>
              </a:solidFill>
              <a:effectLst/>
              <a:latin typeface="Open Sans" panose="020B0606030504020204" pitchFamily="34" charset="0"/>
            </a:endParaRPr>
          </a:p>
          <a:p>
            <a:pPr algn="just"/>
            <a:br>
              <a:rPr lang="vi-VN" sz="2400" dirty="0"/>
            </a:br>
            <a:endParaRPr lang="vi-VN" sz="2400" b="0" i="0" dirty="0">
              <a:solidFill>
                <a:srgbClr val="303947"/>
              </a:solidFill>
              <a:effectLst/>
              <a:latin typeface="Open Sans" panose="020B0606030504020204" pitchFamily="34" charset="0"/>
            </a:endParaRPr>
          </a:p>
        </p:txBody>
      </p:sp>
      <p:pic>
        <p:nvPicPr>
          <p:cNvPr id="1026" name="Picture 2" desc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547" y="2084439"/>
            <a:ext cx="7418437" cy="37092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r>
              <a:rPr lang="vi-VN" sz="2400" b="1" i="0" dirty="0">
                <a:solidFill>
                  <a:srgbClr val="303947"/>
                </a:solidFill>
                <a:effectLst/>
                <a:latin typeface="+mn-lt"/>
              </a:rPr>
              <a:t>Những nhân tố tham gia </a:t>
            </a:r>
            <a:endParaRPr lang="vi-VN" sz="2400" b="1" i="0" dirty="0">
              <a:solidFill>
                <a:srgbClr val="303947"/>
              </a:solidFill>
              <a:effectLst/>
              <a:latin typeface="+mn-lt"/>
            </a:endParaRPr>
          </a:p>
          <a:p>
            <a:pPr algn="just" fontAlgn="base">
              <a:buFont typeface="Arial" panose="020B0604020202020204" pitchFamily="34" charset="0"/>
              <a:buChar char="•"/>
            </a:pPr>
            <a:r>
              <a:rPr lang="en-US" sz="2000" b="0" i="0" dirty="0" smtClean="0">
                <a:solidFill>
                  <a:srgbClr val="303947"/>
                </a:solidFill>
                <a:effectLst/>
                <a:latin typeface="Arial" panose="020B0604020202020204" pitchFamily="34" charset="0"/>
              </a:rPr>
              <a:t> </a:t>
            </a:r>
            <a:r>
              <a:rPr lang="vi-VN" sz="2000" b="1" i="0" dirty="0" smtClean="0">
                <a:solidFill>
                  <a:srgbClr val="303947"/>
                </a:solidFill>
                <a:effectLst/>
                <a:latin typeface="Arial" panose="020B0604020202020204" pitchFamily="34" charset="0"/>
              </a:rPr>
              <a:t>Các </a:t>
            </a:r>
            <a:r>
              <a:rPr lang="vi-VN" sz="2000" b="1" i="0" dirty="0">
                <a:solidFill>
                  <a:srgbClr val="303947"/>
                </a:solidFill>
                <a:effectLst/>
                <a:latin typeface="Arial" panose="020B0604020202020204" pitchFamily="34" charset="0"/>
              </a:rPr>
              <a:t>đơn vị doanh nghiệp</a:t>
            </a:r>
            <a:r>
              <a:rPr lang="vi-VN" sz="2000" b="0" i="0" dirty="0">
                <a:solidFill>
                  <a:srgbClr val="303947"/>
                </a:solidFill>
                <a:effectLst/>
                <a:latin typeface="Arial" panose="020B0604020202020204" pitchFamily="34" charset="0"/>
              </a:rPr>
              <a:t>: Sản phẩm của các doanh nghiệp này là cổ phiếu, với mục đích huy động vốn cho các hoạt động kinh doanh của mình.</a:t>
            </a:r>
            <a:endParaRPr lang="vi-VN" sz="20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000" b="0" i="0" dirty="0" smtClean="0">
                <a:solidFill>
                  <a:srgbClr val="303947"/>
                </a:solidFill>
                <a:effectLst/>
                <a:latin typeface="Arial" panose="020B0604020202020204" pitchFamily="34" charset="0"/>
              </a:rPr>
              <a:t> </a:t>
            </a:r>
            <a:r>
              <a:rPr lang="vi-VN" sz="2000" b="1" i="0" dirty="0" smtClean="0">
                <a:solidFill>
                  <a:srgbClr val="303947"/>
                </a:solidFill>
                <a:effectLst/>
                <a:latin typeface="Arial" panose="020B0604020202020204" pitchFamily="34" charset="0"/>
              </a:rPr>
              <a:t>Các </a:t>
            </a:r>
            <a:r>
              <a:rPr lang="vi-VN" sz="2000" b="1" i="0" dirty="0">
                <a:solidFill>
                  <a:srgbClr val="303947"/>
                </a:solidFill>
                <a:effectLst/>
                <a:latin typeface="Arial" panose="020B0604020202020204" pitchFamily="34" charset="0"/>
              </a:rPr>
              <a:t>nhà đầu tư</a:t>
            </a:r>
            <a:r>
              <a:rPr lang="vi-VN" sz="2000" b="0" i="0" dirty="0">
                <a:solidFill>
                  <a:srgbClr val="303947"/>
                </a:solidFill>
                <a:effectLst/>
                <a:latin typeface="Arial" panose="020B0604020202020204" pitchFamily="34" charset="0"/>
              </a:rPr>
              <a:t>: Có 3 dạng nhà đầu tư chính: </a:t>
            </a:r>
            <a:r>
              <a:rPr lang="vi-VN" sz="2000" b="1" i="0" dirty="0">
                <a:solidFill>
                  <a:srgbClr val="303947"/>
                </a:solidFill>
                <a:effectLst/>
                <a:latin typeface="Arial" panose="020B0604020202020204" pitchFamily="34" charset="0"/>
              </a:rPr>
              <a:t>Nhà đầu tư tổ chức, cá nhân và nước ngoài</a:t>
            </a:r>
            <a:r>
              <a:rPr lang="vi-VN" sz="2000" b="0" i="0" dirty="0">
                <a:solidFill>
                  <a:srgbClr val="303947"/>
                </a:solidFill>
                <a:effectLst/>
                <a:latin typeface="Arial" panose="020B0604020202020204" pitchFamily="34" charset="0"/>
              </a:rPr>
              <a:t>. Mục đích chính của họ khi tham gia thị trường là lợi nhuận.</a:t>
            </a:r>
            <a:endParaRPr lang="vi-VN" sz="20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000" b="0" i="0" dirty="0" smtClean="0">
                <a:solidFill>
                  <a:srgbClr val="303947"/>
                </a:solidFill>
                <a:effectLst/>
                <a:latin typeface="Arial" panose="020B0604020202020204" pitchFamily="34" charset="0"/>
              </a:rPr>
              <a:t> </a:t>
            </a:r>
            <a:r>
              <a:rPr lang="vi-VN" sz="2000" b="1" i="0" dirty="0" smtClean="0">
                <a:solidFill>
                  <a:srgbClr val="303947"/>
                </a:solidFill>
                <a:effectLst/>
                <a:latin typeface="Arial" panose="020B0604020202020204" pitchFamily="34" charset="0"/>
              </a:rPr>
              <a:t>Các </a:t>
            </a:r>
            <a:r>
              <a:rPr lang="vi-VN" sz="2000" b="1" i="0" dirty="0">
                <a:solidFill>
                  <a:srgbClr val="303947"/>
                </a:solidFill>
                <a:effectLst/>
                <a:latin typeface="Arial" panose="020B0604020202020204" pitchFamily="34" charset="0"/>
              </a:rPr>
              <a:t>công ty chứng khoán</a:t>
            </a:r>
            <a:r>
              <a:rPr lang="vi-VN" sz="2000" b="0" i="0" dirty="0">
                <a:solidFill>
                  <a:srgbClr val="303947"/>
                </a:solidFill>
                <a:effectLst/>
                <a:latin typeface="Arial" panose="020B0604020202020204" pitchFamily="34" charset="0"/>
              </a:rPr>
              <a:t>: Những người trung gian, thực hiện môi giới giao dịch mua – bán chứng khoán.</a:t>
            </a:r>
            <a:endParaRPr lang="vi-VN" sz="2000" b="0" i="0" dirty="0">
              <a:solidFill>
                <a:srgbClr val="303947"/>
              </a:solidFill>
              <a:effectLst/>
              <a:latin typeface="Open Sans" panose="020B0606030504020204" pitchFamily="34" charset="0"/>
            </a:endParaRPr>
          </a:p>
          <a:p>
            <a:pPr algn="just" fontAlgn="base">
              <a:buFont typeface="Arial" panose="020B0604020202020204" pitchFamily="34" charset="0"/>
              <a:buChar char="•"/>
            </a:pPr>
            <a:r>
              <a:rPr lang="en-US" sz="2000" b="0" i="0" dirty="0" smtClean="0">
                <a:solidFill>
                  <a:srgbClr val="303947"/>
                </a:solidFill>
                <a:effectLst/>
                <a:latin typeface="Arial" panose="020B0604020202020204" pitchFamily="34" charset="0"/>
              </a:rPr>
              <a:t> </a:t>
            </a:r>
            <a:r>
              <a:rPr lang="vi-VN" sz="2000" b="1" i="0" dirty="0" smtClean="0">
                <a:solidFill>
                  <a:srgbClr val="303947"/>
                </a:solidFill>
                <a:effectLst/>
                <a:latin typeface="Arial" panose="020B0604020202020204" pitchFamily="34" charset="0"/>
              </a:rPr>
              <a:t>Các </a:t>
            </a:r>
            <a:r>
              <a:rPr lang="vi-VN" sz="2000" b="1" i="0" dirty="0">
                <a:solidFill>
                  <a:srgbClr val="303947"/>
                </a:solidFill>
                <a:effectLst/>
                <a:latin typeface="Arial" panose="020B0604020202020204" pitchFamily="34" charset="0"/>
              </a:rPr>
              <a:t>cơ quan quản lý</a:t>
            </a:r>
            <a:r>
              <a:rPr lang="vi-VN" sz="2000" b="0" i="0" dirty="0">
                <a:solidFill>
                  <a:srgbClr val="303947"/>
                </a:solidFill>
                <a:effectLst/>
                <a:latin typeface="Arial" panose="020B0604020202020204" pitchFamily="34" charset="0"/>
              </a:rPr>
              <a:t>: Cơ quan đảm bảo những người tham gia tuân thủ các quy định trong thị trường này.</a:t>
            </a:r>
            <a:endParaRPr lang="vi-VN" sz="2000" b="0" i="0" dirty="0">
              <a:solidFill>
                <a:srgbClr val="303947"/>
              </a:solidFill>
              <a:effectLst/>
              <a:latin typeface="Open Sans" panose="020B0606030504020204" pitchFamily="34" charset="0"/>
            </a:endParaRPr>
          </a:p>
          <a:p>
            <a:pPr algn="just" fontAlgn="base"/>
            <a:r>
              <a:rPr lang="vi-VN" sz="2000" b="1" i="0" dirty="0">
                <a:solidFill>
                  <a:srgbClr val="303947"/>
                </a:solidFill>
                <a:effectLst/>
                <a:latin typeface="Arial" panose="020B0604020202020204" pitchFamily="34" charset="0"/>
              </a:rPr>
              <a:t>Giao dịch chứng khoán cơ sở ở đâu</a:t>
            </a:r>
            <a:endParaRPr lang="vi-VN" sz="2000" b="1" i="0" dirty="0">
              <a:solidFill>
                <a:srgbClr val="303947"/>
              </a:solidFill>
              <a:effectLst/>
              <a:latin typeface="Open Sans" panose="020B0606030504020204" pitchFamily="34" charset="0"/>
            </a:endParaRPr>
          </a:p>
          <a:p>
            <a:pPr algn="just" fontAlgn="base"/>
            <a:r>
              <a:rPr lang="vi-VN" sz="2000" b="0" i="0" dirty="0">
                <a:solidFill>
                  <a:srgbClr val="303947"/>
                </a:solidFill>
                <a:effectLst/>
                <a:latin typeface="Arial" panose="020B0604020202020204" pitchFamily="34" charset="0"/>
              </a:rPr>
              <a:t>Để giao dịch chứng khoán cơ sở, </a:t>
            </a:r>
            <a:r>
              <a:rPr lang="vi-VN" sz="2000" b="1" i="0" dirty="0">
                <a:solidFill>
                  <a:srgbClr val="303947"/>
                </a:solidFill>
                <a:effectLst/>
                <a:latin typeface="Arial" panose="020B0604020202020204" pitchFamily="34" charset="0"/>
              </a:rPr>
              <a:t>các nhà đầu tư cần có tài khoản tại công ty chứng khoán</a:t>
            </a:r>
            <a:r>
              <a:rPr lang="vi-VN" sz="2000" b="0" i="0" dirty="0">
                <a:solidFill>
                  <a:srgbClr val="303947"/>
                </a:solidFill>
                <a:effectLst/>
                <a:latin typeface="Arial" panose="020B0604020202020204" pitchFamily="34" charset="0"/>
              </a:rPr>
              <a:t>. </a:t>
            </a:r>
            <a:r>
              <a:rPr lang="vi-VN" sz="2000" b="1" i="0" dirty="0">
                <a:solidFill>
                  <a:srgbClr val="303947"/>
                </a:solidFill>
                <a:effectLst/>
                <a:latin typeface="Arial" panose="020B0604020202020204" pitchFamily="34" charset="0"/>
              </a:rPr>
              <a:t>Mở tài khoản tại cực kì đơn </a:t>
            </a:r>
            <a:r>
              <a:rPr lang="vi-VN" sz="2000" b="1" i="0" dirty="0" smtClean="0">
                <a:solidFill>
                  <a:srgbClr val="303947"/>
                </a:solidFill>
                <a:effectLst/>
                <a:latin typeface="Arial" panose="020B0604020202020204" pitchFamily="34" charset="0"/>
              </a:rPr>
              <a:t>giản. </a:t>
            </a:r>
            <a:r>
              <a:rPr lang="vi-VN" sz="2000" b="1" i="0" dirty="0">
                <a:solidFill>
                  <a:srgbClr val="303947"/>
                </a:solidFill>
                <a:effectLst/>
                <a:latin typeface="Arial" panose="020B0604020202020204" pitchFamily="34" charset="0"/>
              </a:rPr>
              <a:t>Chỉ với 3 phút, Quý khách có thể đăng kí thành công và bắt đầu giao dịch ngay lập tức</a:t>
            </a:r>
            <a:r>
              <a:rPr lang="vi-VN" sz="2000" b="0" i="0" dirty="0">
                <a:solidFill>
                  <a:srgbClr val="303947"/>
                </a:solidFill>
                <a:effectLst/>
                <a:latin typeface="Arial" panose="020B0604020202020204" pitchFamily="34" charset="0"/>
              </a:rPr>
              <a:t>.</a:t>
            </a:r>
            <a:endParaRPr lang="vi-VN" sz="2000" b="0" i="0" dirty="0">
              <a:solidFill>
                <a:srgbClr val="303947"/>
              </a:solidFill>
              <a:effectLst/>
              <a:latin typeface="Open Sans" panose="020B0606030504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799" y="773540"/>
            <a:ext cx="8497455" cy="5243801"/>
          </a:xfrm>
          <a:prstGeom prst="rect">
            <a:avLst/>
          </a:prstGeom>
          <a:noFill/>
          <a:ln>
            <a:noFill/>
          </a:ln>
        </p:spPr>
        <p:txBody>
          <a:bodyPr spcFirstLastPara="1" wrap="square" lIns="91425" tIns="91425" rIns="91425" bIns="91425" anchor="t" anchorCtr="0">
            <a:noAutofit/>
          </a:bodyPr>
          <a:lstStyle/>
          <a:p>
            <a:pPr algn="just" fontAlgn="base"/>
            <a:r>
              <a:rPr lang="vi-VN" sz="2400" b="1" i="0" dirty="0">
                <a:solidFill>
                  <a:srgbClr val="2B2F33"/>
                </a:solidFill>
                <a:effectLst/>
                <a:latin typeface="+mn-lt"/>
              </a:rPr>
              <a:t>2. Chứng khoán phái </a:t>
            </a:r>
            <a:r>
              <a:rPr lang="vi-VN" sz="2400" b="1" i="0" dirty="0" smtClean="0">
                <a:solidFill>
                  <a:srgbClr val="2B2F33"/>
                </a:solidFill>
                <a:effectLst/>
                <a:latin typeface="+mn-lt"/>
              </a:rPr>
              <a:t>sinh</a:t>
            </a:r>
            <a:r>
              <a:rPr lang="en-US" sz="2400" b="1" i="0" dirty="0" smtClean="0">
                <a:solidFill>
                  <a:srgbClr val="2B2F33"/>
                </a:solidFill>
                <a:effectLst/>
                <a:latin typeface="+mn-lt"/>
              </a:rPr>
              <a:t> </a:t>
            </a:r>
            <a:r>
              <a:rPr lang="en-US" sz="2400" b="1" i="0" dirty="0" err="1" smtClean="0">
                <a:solidFill>
                  <a:srgbClr val="2B2F33"/>
                </a:solidFill>
                <a:effectLst/>
                <a:latin typeface="+mn-lt"/>
              </a:rPr>
              <a:t>là</a:t>
            </a:r>
            <a:r>
              <a:rPr lang="en-US" sz="2400" b="1" i="0" dirty="0" smtClean="0">
                <a:solidFill>
                  <a:srgbClr val="2B2F33"/>
                </a:solidFill>
                <a:effectLst/>
                <a:latin typeface="+mn-lt"/>
              </a:rPr>
              <a:t> </a:t>
            </a:r>
            <a:r>
              <a:rPr lang="en-US" sz="2400" b="1" i="0" dirty="0" err="1" smtClean="0">
                <a:solidFill>
                  <a:srgbClr val="2B2F33"/>
                </a:solidFill>
                <a:effectLst/>
                <a:latin typeface="+mn-lt"/>
              </a:rPr>
              <a:t>gì</a:t>
            </a:r>
            <a:endParaRPr lang="en-US" sz="2400" b="1" i="0" dirty="0" smtClean="0">
              <a:solidFill>
                <a:srgbClr val="2B2F33"/>
              </a:solidFill>
              <a:effectLst/>
              <a:latin typeface="+mn-lt"/>
            </a:endParaRPr>
          </a:p>
          <a:p>
            <a:pPr algn="just" fontAlgn="base"/>
            <a:endParaRPr lang="vi-VN" sz="2400" b="1" i="0" dirty="0">
              <a:solidFill>
                <a:srgbClr val="2B2F33"/>
              </a:solidFill>
              <a:effectLst/>
              <a:latin typeface="+mn-lt"/>
            </a:endParaRPr>
          </a:p>
          <a:p>
            <a:pPr algn="just" fontAlgn="base"/>
            <a:r>
              <a:rPr lang="vi-VN" sz="2400" dirty="0" smtClean="0">
                <a:effectLst/>
              </a:rPr>
              <a:t>Chứng </a:t>
            </a:r>
            <a:r>
              <a:rPr lang="vi-VN" sz="2400" dirty="0">
                <a:effectLst/>
              </a:rPr>
              <a:t>khoán phái sinh là các công cụ tài chính mà giá trị của chúng phụ thuộc vào giá của một </a:t>
            </a:r>
            <a:r>
              <a:rPr lang="vi-VN" sz="2400" b="1" dirty="0">
                <a:effectLst/>
              </a:rPr>
              <a:t>tài sản cơ sở</a:t>
            </a:r>
            <a:r>
              <a:rPr lang="vi-VN" sz="2400" dirty="0">
                <a:effectLst/>
              </a:rPr>
              <a:t>.</a:t>
            </a:r>
            <a:endParaRPr lang="vi-VN" sz="2400" dirty="0">
              <a:effectLst/>
            </a:endParaRPr>
          </a:p>
          <a:p>
            <a:pPr algn="just" fontAlgn="base"/>
            <a:r>
              <a:rPr lang="vi-VN" sz="2400" dirty="0">
                <a:effectLst/>
              </a:rPr>
              <a:t>Chứng khoán phái sinh quy định quyền lợi và/hoặc nghĩa vụ của các bên </a:t>
            </a:r>
            <a:r>
              <a:rPr lang="vi-VN" sz="2400" b="1" dirty="0">
                <a:effectLst/>
              </a:rPr>
              <a:t>tham gia hợp đồng </a:t>
            </a:r>
            <a:r>
              <a:rPr lang="vi-VN" sz="2400" dirty="0">
                <a:effectLst/>
              </a:rPr>
              <a:t>đối với việc thanh toán và/hoặc chuyển giao tài sản cơ sở với một mức giá được thỏa thuận trước vào một thời điểm nhất định trong tương lai.</a:t>
            </a:r>
            <a:endParaRPr lang="vi-VN" sz="2400" dirty="0">
              <a:effectLst/>
            </a:endParaRPr>
          </a:p>
          <a:p>
            <a:pPr algn="just" fontAlgn="base"/>
            <a:r>
              <a:rPr lang="vi-VN" sz="2400" dirty="0">
                <a:effectLst/>
              </a:rPr>
              <a:t>Tài sản cơ sở của chứng khoán phái sinh có thể là hàng hóa như nông sản, kim loại, v,v.. hoặc công cụ tài chính như cổ phiếu, trái phiếu, lãi suất, v.v.</a:t>
            </a:r>
            <a:endParaRPr lang="vi-VN" sz="2400" dirty="0">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773540"/>
            <a:ext cx="8285017" cy="5243801"/>
          </a:xfrm>
          <a:prstGeom prst="rect">
            <a:avLst/>
          </a:prstGeom>
          <a:noFill/>
          <a:ln>
            <a:noFill/>
          </a:ln>
        </p:spPr>
        <p:txBody>
          <a:bodyPr spcFirstLastPara="1" wrap="square" lIns="91425" tIns="91425" rIns="91425" bIns="91425" anchor="t" anchorCtr="0">
            <a:noAutofit/>
          </a:bodyPr>
          <a:lstStyle/>
          <a:p>
            <a:pPr algn="l" fontAlgn="base"/>
            <a:endParaRPr lang="vi-VN" sz="2400" dirty="0">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7263"/>
            <a:ext cx="9144000" cy="4943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69452" y="773540"/>
            <a:ext cx="8432800" cy="5243801"/>
          </a:xfrm>
          <a:prstGeom prst="rect">
            <a:avLst/>
          </a:prstGeom>
          <a:noFill/>
          <a:ln>
            <a:noFill/>
          </a:ln>
        </p:spPr>
        <p:txBody>
          <a:bodyPr spcFirstLastPara="1" wrap="square" lIns="91425" tIns="91425" rIns="91425" bIns="91425" anchor="t" anchorCtr="0">
            <a:noAutofit/>
          </a:bodyPr>
          <a:lstStyle/>
          <a:p>
            <a:pPr algn="just" fontAlgn="base"/>
            <a:r>
              <a:rPr lang="vi-VN" sz="2400" b="1" i="0" dirty="0">
                <a:solidFill>
                  <a:srgbClr val="F39200"/>
                </a:solidFill>
                <a:effectLst/>
                <a:latin typeface="+mn-lt"/>
              </a:rPr>
              <a:t>LOẠI CHỨNG KHOÁN PHÁI SINH NÀO SẼ ĐƯỢC TRIỂN KHAI TRÊN THỊ TRƯỜNG CHỨNG KHOÁN PHÁI SINH VIỆT NAM?</a:t>
            </a:r>
            <a:endParaRPr lang="vi-VN" sz="2400" b="1" i="0" dirty="0">
              <a:solidFill>
                <a:srgbClr val="F39200"/>
              </a:solidFill>
              <a:effectLst/>
              <a:latin typeface="+mn-lt"/>
            </a:endParaRPr>
          </a:p>
          <a:p>
            <a:pPr algn="just" fontAlgn="base"/>
            <a:endParaRPr lang="vi-VN" sz="2400" b="1" i="0" dirty="0">
              <a:solidFill>
                <a:srgbClr val="303947"/>
              </a:solidFill>
              <a:effectLst/>
              <a:latin typeface="+mn-lt"/>
            </a:endParaRPr>
          </a:p>
          <a:p>
            <a:pPr algn="just" fontAlgn="base"/>
            <a:r>
              <a:rPr lang="vi-VN" sz="2400" b="1" i="0" dirty="0">
                <a:solidFill>
                  <a:srgbClr val="191E23"/>
                </a:solidFill>
                <a:effectLst/>
                <a:latin typeface="+mn-lt"/>
              </a:rPr>
              <a:t>Chứng khoán phái sinh bao gồm 4 loại chính:</a:t>
            </a:r>
            <a:endParaRPr lang="vi-VN" sz="2400" b="1" i="0" dirty="0">
              <a:solidFill>
                <a:srgbClr val="303947"/>
              </a:solidFill>
              <a:effectLst/>
              <a:latin typeface="+mn-lt"/>
            </a:endParaRPr>
          </a:p>
          <a:p>
            <a:pPr algn="just" fontAlgn="base"/>
            <a:r>
              <a:rPr lang="vi-VN" sz="2400" b="1" i="1" dirty="0">
                <a:solidFill>
                  <a:srgbClr val="303947"/>
                </a:solidFill>
                <a:effectLst/>
                <a:latin typeface="+mn-lt"/>
              </a:rPr>
              <a:t>– Hợp đồng kỳ hạn:</a:t>
            </a:r>
            <a:r>
              <a:rPr lang="vi-VN" sz="2400" b="0" i="0" dirty="0">
                <a:solidFill>
                  <a:srgbClr val="303947"/>
                </a:solidFill>
                <a:effectLst/>
                <a:latin typeface="+mn-lt"/>
              </a:rPr>
              <a:t> là một thỏa thuận giữa hai bên tham gia để mua và bán một loại tài sản ở một thời điểm nhất định trong tương lai với mức giá được xác định trước ngay ở thời điểm hiện tại.</a:t>
            </a:r>
            <a:endParaRPr lang="vi-VN" sz="2400" b="0" i="0" dirty="0">
              <a:solidFill>
                <a:srgbClr val="303947"/>
              </a:solidFill>
              <a:effectLst/>
              <a:latin typeface="+mn-lt"/>
            </a:endParaRPr>
          </a:p>
          <a:p>
            <a:pPr algn="just" fontAlgn="base"/>
            <a:endParaRPr lang="vi-VN" sz="2400" b="0" i="0" dirty="0">
              <a:solidFill>
                <a:srgbClr val="303947"/>
              </a:solidFill>
              <a:effectLst/>
              <a:latin typeface="+mn-lt"/>
            </a:endParaRPr>
          </a:p>
          <a:p>
            <a:pPr algn="just" fontAlgn="base"/>
            <a:r>
              <a:rPr lang="vi-VN" sz="2400" b="1" i="1" dirty="0">
                <a:solidFill>
                  <a:srgbClr val="303947"/>
                </a:solidFill>
                <a:effectLst/>
                <a:latin typeface="+mn-lt"/>
              </a:rPr>
              <a:t>– Hợp đồng tương lai:</a:t>
            </a:r>
            <a:r>
              <a:rPr lang="vi-VN" sz="2400" b="0" i="0" dirty="0">
                <a:solidFill>
                  <a:srgbClr val="303947"/>
                </a:solidFill>
                <a:effectLst/>
                <a:latin typeface="+mn-lt"/>
              </a:rPr>
              <a:t> là hợp đồng kỳ hạn được chuẩn hóa, niêm yết và giao dịch trên Sở giao dịch chứng khoán.</a:t>
            </a:r>
            <a:endParaRPr lang="vi-VN" sz="2400" b="0" i="0" dirty="0">
              <a:solidFill>
                <a:srgbClr val="303947"/>
              </a:solidFill>
              <a:effectLst/>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773540"/>
            <a:ext cx="8497455" cy="5243801"/>
          </a:xfrm>
          <a:prstGeom prst="rect">
            <a:avLst/>
          </a:prstGeom>
          <a:noFill/>
          <a:ln>
            <a:noFill/>
          </a:ln>
        </p:spPr>
        <p:txBody>
          <a:bodyPr spcFirstLastPara="1" wrap="square" lIns="91425" tIns="91425" rIns="91425" bIns="91425" anchor="t" anchorCtr="0">
            <a:noAutofit/>
          </a:bodyPr>
          <a:lstStyle/>
          <a:p>
            <a:pPr algn="just" fontAlgn="base"/>
            <a:r>
              <a:rPr lang="vi-VN" sz="2400" b="1" i="1" dirty="0">
                <a:solidFill>
                  <a:srgbClr val="303947"/>
                </a:solidFill>
                <a:effectLst/>
                <a:latin typeface="Arial (body)"/>
              </a:rPr>
              <a:t>– Hợp đồng quyền chọn:</a:t>
            </a:r>
            <a:r>
              <a:rPr lang="vi-VN" sz="2400" b="0" i="1" dirty="0">
                <a:solidFill>
                  <a:srgbClr val="303947"/>
                </a:solidFill>
                <a:effectLst/>
                <a:latin typeface="Arial (body)"/>
              </a:rPr>
              <a:t> </a:t>
            </a:r>
            <a:r>
              <a:rPr lang="vi-VN" sz="2400" b="0" i="0" dirty="0">
                <a:solidFill>
                  <a:srgbClr val="303947"/>
                </a:solidFill>
                <a:effectLst/>
                <a:latin typeface="Arial (body)"/>
              </a:rPr>
              <a:t>Người nắm giữ hợp đồng quyền chọn có quyền, nhưng không có nghĩa vụ, mua hoặc bán một loại tài sản cơ sở tại một thời điểm nhất định trong tương lai theo mức giá được xác định trước. Người bán hợp đồng có nghĩa vụ thực hiện giao dịch khi người nắm giữ hợp đồng chọn thực hiện quyền. Hợp đồng quyền chọn bao gồm quyền chọn mua và quyền chọn bán.</a:t>
            </a:r>
            <a:endParaRPr lang="vi-VN" sz="2400" b="0" i="0" dirty="0">
              <a:solidFill>
                <a:srgbClr val="303947"/>
              </a:solidFill>
              <a:effectLst/>
              <a:latin typeface="Arial (body)"/>
            </a:endParaRPr>
          </a:p>
          <a:p>
            <a:pPr algn="just" fontAlgn="base"/>
            <a:endParaRPr lang="vi-VN" sz="2400" b="0" i="0" dirty="0">
              <a:solidFill>
                <a:srgbClr val="303947"/>
              </a:solidFill>
              <a:effectLst/>
              <a:latin typeface="Arial (body)"/>
            </a:endParaRPr>
          </a:p>
          <a:p>
            <a:pPr algn="just" fontAlgn="base"/>
            <a:r>
              <a:rPr lang="vi-VN" sz="2400" b="1" i="1" dirty="0">
                <a:solidFill>
                  <a:srgbClr val="303947"/>
                </a:solidFill>
                <a:effectLst/>
                <a:latin typeface="Arial (body)"/>
              </a:rPr>
              <a:t>– Hợp đồng hoán đổi:</a:t>
            </a:r>
            <a:r>
              <a:rPr lang="vi-VN" sz="2400" b="0" i="1" dirty="0">
                <a:solidFill>
                  <a:srgbClr val="303947"/>
                </a:solidFill>
                <a:effectLst/>
                <a:latin typeface="Arial (body)"/>
              </a:rPr>
              <a:t> </a:t>
            </a:r>
            <a:r>
              <a:rPr lang="vi-VN" sz="2400" b="0" i="0" dirty="0">
                <a:solidFill>
                  <a:srgbClr val="303947"/>
                </a:solidFill>
                <a:effectLst/>
                <a:latin typeface="Arial (body)"/>
              </a:rPr>
              <a:t>Hợp đồng hoán đổi là một thỏa thuận giữa hai bên về việc hoán đổi các dòng tiền phát sinh từ các công cụ tài chính trong tương lai. Hợp đồng sẽ quy định rõ thời điểm hoán đổi dòng tiền và phương pháp tính toán cụ thể.</a:t>
            </a:r>
            <a:endParaRPr lang="vi-VN" sz="2400" b="0" i="0" dirty="0">
              <a:solidFill>
                <a:srgbClr val="303947"/>
              </a:solidFill>
              <a:effectLst/>
              <a:latin typeface="Arial (body)"/>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23272" y="773540"/>
            <a:ext cx="8488219" cy="5243801"/>
          </a:xfrm>
          <a:prstGeom prst="rect">
            <a:avLst/>
          </a:prstGeom>
          <a:noFill/>
          <a:ln>
            <a:noFill/>
          </a:ln>
        </p:spPr>
        <p:txBody>
          <a:bodyPr spcFirstLastPara="1" wrap="square" lIns="91425" tIns="91425" rIns="91425" bIns="91425" anchor="t" anchorCtr="0">
            <a:noAutofit/>
          </a:bodyPr>
          <a:lstStyle/>
          <a:p>
            <a:pPr algn="just" fontAlgn="base"/>
            <a:r>
              <a:rPr lang="vi-VN" sz="2400" b="0" i="0" dirty="0">
                <a:solidFill>
                  <a:srgbClr val="303947"/>
                </a:solidFill>
                <a:effectLst/>
                <a:latin typeface="+mn-lt"/>
              </a:rPr>
              <a:t>Trong đó, hợp đồng tương lai sẽ là sản phẩm chứng khoán phái sinh đầu tiên được niêm yết và giao dịch trên thị trường Việt Nam, cụ thể là Hợp đồng tương lai trên chỉ số cổ phiếu (VN30 và HNX30) và Hợp đồng tương lai trên trái phiếu chính phủ (kỳ hạn 5 năm).</a:t>
            </a:r>
            <a:endParaRPr lang="vi-VN" sz="2400" b="0" i="0" dirty="0">
              <a:solidFill>
                <a:srgbClr val="303947"/>
              </a:solidFill>
              <a:effectLst/>
              <a:latin typeface="+mn-lt"/>
            </a:endParaRPr>
          </a:p>
          <a:p>
            <a:pPr algn="just" fontAlgn="base"/>
            <a:endParaRPr lang="vi-VN" sz="2400" dirty="0">
              <a:solidFill>
                <a:srgbClr val="303947"/>
              </a:solidFill>
              <a:latin typeface="+mn-lt"/>
            </a:endParaRPr>
          </a:p>
          <a:p>
            <a:pPr algn="just" fontAlgn="base"/>
            <a:r>
              <a:rPr lang="vi-VN" sz="2400" b="0" i="0" dirty="0">
                <a:solidFill>
                  <a:srgbClr val="303947"/>
                </a:solidFill>
                <a:effectLst/>
                <a:latin typeface="+mn-lt"/>
              </a:rPr>
              <a:t>Các sản phẩm này được lựa chọn trước tiên do tính chất sản phẩm đơn giản, tài sản cơ sở đều là các công cụ có độ rủi ro thấp và có tính đại diện cao. Nguyên tắc giao dịch Hợp đồng tương lai cũng không quá khác biệt so với giao dịch cổ phiếu trên thị trường cơ sở.</a:t>
            </a:r>
            <a:endParaRPr lang="vi-VN" sz="2400" b="0" i="0" dirty="0">
              <a:solidFill>
                <a:srgbClr val="303947"/>
              </a:solidFill>
              <a:effectLst/>
              <a:latin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773540"/>
            <a:ext cx="8285017" cy="5243801"/>
          </a:xfrm>
          <a:prstGeom prst="rect">
            <a:avLst/>
          </a:prstGeom>
          <a:noFill/>
          <a:ln>
            <a:noFill/>
          </a:ln>
        </p:spPr>
        <p:txBody>
          <a:bodyPr spcFirstLastPara="1" wrap="square" lIns="91425" tIns="91425" rIns="91425" bIns="91425" anchor="t" anchorCtr="0">
            <a:noAutofit/>
          </a:bodyPr>
          <a:lstStyle/>
          <a:p>
            <a:pPr algn="just" fontAlgn="base"/>
            <a:endParaRPr lang="vi-VN" sz="2400" b="0" i="0" dirty="0">
              <a:solidFill>
                <a:srgbClr val="303947"/>
              </a:solidFill>
              <a:effectLst/>
              <a:latin typeface="Open Sans" panose="020B0606030504020204" pitchFamily="34"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48" y="773540"/>
            <a:ext cx="8453919" cy="57812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773540"/>
            <a:ext cx="8488218" cy="5243801"/>
          </a:xfrm>
          <a:prstGeom prst="rect">
            <a:avLst/>
          </a:prstGeom>
          <a:noFill/>
          <a:ln>
            <a:noFill/>
          </a:ln>
        </p:spPr>
        <p:txBody>
          <a:bodyPr spcFirstLastPara="1" wrap="square" lIns="91425" tIns="91425" rIns="91425" bIns="91425" anchor="t" anchorCtr="0">
            <a:noAutofit/>
          </a:bodyPr>
          <a:lstStyle/>
          <a:p>
            <a:pPr algn="l" fontAlgn="base"/>
            <a:r>
              <a:rPr lang="vi-VN" sz="2400" b="1" i="0" dirty="0" smtClean="0">
                <a:solidFill>
                  <a:srgbClr val="F39200"/>
                </a:solidFill>
                <a:effectLst/>
                <a:latin typeface="+mn-lt"/>
              </a:rPr>
              <a:t>GIAO DỊCH HỢP ĐỒNG TƯƠNG LAI CÓ GÌ KHÁC BIỆT SO VỚI GIAO DỊCH CỔ PHIẾU?</a:t>
            </a:r>
            <a:endParaRPr lang="vi-VN" sz="2400" b="1" i="0" dirty="0" smtClean="0">
              <a:solidFill>
                <a:srgbClr val="303947"/>
              </a:solidFill>
              <a:effectLst/>
              <a:latin typeface="+mn-lt"/>
            </a:endParaRPr>
          </a:p>
          <a:p>
            <a:pPr algn="just" fontAlgn="base"/>
            <a:r>
              <a:rPr lang="vi-VN" sz="2400" b="0" i="0" dirty="0" smtClean="0">
                <a:solidFill>
                  <a:srgbClr val="303947"/>
                </a:solidFill>
                <a:effectLst/>
                <a:latin typeface="+mn-lt"/>
              </a:rPr>
              <a:t>Việc giao dịch Hợp đồng đồng tương lai diễn ra tương tự so với giao dịch cổ phiếu. Nhà đầu tư có thể thực hiện giao dịch thông qua giao dịch khớp lệnh hoặc giao dịch thoả thuận.</a:t>
            </a:r>
            <a:endParaRPr lang="vi-VN" sz="2400" b="0" i="0" dirty="0" smtClean="0">
              <a:solidFill>
                <a:srgbClr val="303947"/>
              </a:solidFill>
              <a:effectLst/>
              <a:latin typeface="+mn-lt"/>
            </a:endParaRPr>
          </a:p>
          <a:p>
            <a:pPr algn="just" fontAlgn="base"/>
            <a:r>
              <a:rPr lang="vi-VN" sz="2400" b="0" i="0" dirty="0" smtClean="0">
                <a:solidFill>
                  <a:srgbClr val="303947"/>
                </a:solidFill>
                <a:effectLst/>
                <a:latin typeface="+mn-lt"/>
              </a:rPr>
              <a:t>Các Hợp đồng tương lai sẽ có bảng giá riêng biệt, nhà đầu tư dựa trên kỳ vọng của mình vào xu hướng của chỉ số có thể đặt lệnh và khớp lệnh để tham gia vào Hợp đồng tương lai. Tương tự như cổ phiếu, nhà đầu tư kỳ vọng chỉ số tăng sẽ mua hợp đồng tương lai chỉ số, nhà đầu tư kỳ vọng chỉ số giảm sẽ bán hợp đồng tương lai chỉ số. Một điểm khác biệt là các hợp đồng tương lai sẽ đáo hạn, do đó nhà đầu tư khi tham gia giao dịch cần lưu ý chọn hợp đồng có tháng đáo hạn phù hợp.</a:t>
            </a:r>
            <a:endParaRPr lang="vi-VN" sz="2400" b="0" i="0" dirty="0">
              <a:solidFill>
                <a:srgbClr val="303947"/>
              </a:solidFill>
              <a:effectLst/>
              <a:latin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773540"/>
            <a:ext cx="8285017" cy="5243801"/>
          </a:xfrm>
          <a:prstGeom prst="rect">
            <a:avLst/>
          </a:prstGeom>
          <a:noFill/>
          <a:ln>
            <a:noFill/>
          </a:ln>
        </p:spPr>
        <p:txBody>
          <a:bodyPr spcFirstLastPara="1" wrap="square" lIns="91425" tIns="91425" rIns="91425" bIns="91425" anchor="t" anchorCtr="0">
            <a:noAutofit/>
          </a:bodyPr>
          <a:lstStyle/>
          <a:p>
            <a:pPr algn="l" fontAlgn="base"/>
            <a:endParaRPr lang="vi-VN" sz="2400" b="0" i="0" dirty="0">
              <a:solidFill>
                <a:srgbClr val="303947"/>
              </a:solidFill>
              <a:effectLst/>
              <a:latin typeface="Open Sans" panose="020B0606030504020204" pitchFamily="34"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3540"/>
            <a:ext cx="9144000" cy="5041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891527"/>
            <a:ext cx="8554065" cy="5243801"/>
          </a:xfrm>
          <a:prstGeom prst="rect">
            <a:avLst/>
          </a:prstGeom>
          <a:noFill/>
          <a:ln>
            <a:noFill/>
          </a:ln>
        </p:spPr>
        <p:txBody>
          <a:bodyPr spcFirstLastPara="1" wrap="square" lIns="91425" tIns="91425" rIns="91425" bIns="91425" anchor="t" anchorCtr="0">
            <a:noAutofit/>
          </a:bodyPr>
          <a:lstStyle/>
          <a:p>
            <a:pPr algn="just" fontAlgn="base"/>
            <a:r>
              <a:rPr lang="vi-VN" sz="2400" b="0" i="0" dirty="0">
                <a:solidFill>
                  <a:srgbClr val="303947"/>
                </a:solidFill>
                <a:effectLst/>
                <a:latin typeface="+mn-lt"/>
              </a:rPr>
              <a:t>Đối với cổ phiếu trên thị trường cơ sở, nhà đầu tư muốn mua cổ phiếu cần phải có đủ số tiền, và nhà đầu tư muốn bán cổ phiếu phải có đủ số cổ phiếu trước khi giao dịch. </a:t>
            </a:r>
            <a:endParaRPr lang="vi-VN" sz="2400" b="0" i="0" dirty="0">
              <a:solidFill>
                <a:srgbClr val="303947"/>
              </a:solidFill>
              <a:effectLst/>
              <a:latin typeface="+mn-lt"/>
            </a:endParaRPr>
          </a:p>
          <a:p>
            <a:pPr algn="just" fontAlgn="base"/>
            <a:endParaRPr lang="vi-VN" sz="2400" b="0" i="0" dirty="0">
              <a:solidFill>
                <a:srgbClr val="303947"/>
              </a:solidFill>
              <a:effectLst/>
              <a:latin typeface="+mn-lt"/>
            </a:endParaRPr>
          </a:p>
          <a:p>
            <a:pPr algn="just" fontAlgn="base"/>
            <a:r>
              <a:rPr lang="vi-VN" sz="2400" b="0" i="0" dirty="0">
                <a:solidFill>
                  <a:srgbClr val="303947"/>
                </a:solidFill>
                <a:effectLst/>
                <a:latin typeface="+mn-lt"/>
              </a:rPr>
              <a:t>Tuy nhiên, đối với Hợp đồng tương lai, nhà đầu tư không cần có đủ toàn bộ số tiền để tham gia vị thế mua, hoặc không cần nắm giữ tài sản cơ sở để tham gia vị thế bán.</a:t>
            </a:r>
            <a:endParaRPr lang="vi-VN" sz="2400" b="0" i="0" dirty="0">
              <a:solidFill>
                <a:srgbClr val="303947"/>
              </a:solidFill>
              <a:effectLst/>
              <a:latin typeface="+mn-lt"/>
            </a:endParaRPr>
          </a:p>
          <a:p>
            <a:pPr algn="just" fontAlgn="base"/>
            <a:endParaRPr lang="vi-VN" sz="2400" dirty="0">
              <a:solidFill>
                <a:srgbClr val="303947"/>
              </a:solidFill>
              <a:latin typeface="+mn-lt"/>
            </a:endParaRPr>
          </a:p>
          <a:p>
            <a:pPr algn="just" fontAlgn="base"/>
            <a:r>
              <a:rPr lang="vi-VN" sz="2400" b="0" i="0" dirty="0" smtClean="0">
                <a:solidFill>
                  <a:srgbClr val="303947"/>
                </a:solidFill>
                <a:effectLst/>
                <a:latin typeface="+mn-lt"/>
              </a:rPr>
              <a:t>Nhà </a:t>
            </a:r>
            <a:r>
              <a:rPr lang="vi-VN" sz="2400" b="0" i="0" dirty="0">
                <a:solidFill>
                  <a:srgbClr val="303947"/>
                </a:solidFill>
                <a:effectLst/>
                <a:latin typeface="+mn-lt"/>
              </a:rPr>
              <a:t>đầu tư khi giao dịch Hợp đồng tương lai, đối với cả bên mua và bên bán, sẽ cần làm quen với hai hoạt động chính trong Giao dịch hợp đồng tương lai: </a:t>
            </a:r>
            <a:r>
              <a:rPr lang="vi-VN" sz="2400" b="1" i="0" dirty="0">
                <a:solidFill>
                  <a:srgbClr val="303947"/>
                </a:solidFill>
                <a:effectLst/>
                <a:latin typeface="+mn-lt"/>
              </a:rPr>
              <a:t>Ký quỹ</a:t>
            </a:r>
            <a:r>
              <a:rPr lang="vi-VN" sz="2400" b="0" i="0" dirty="0">
                <a:solidFill>
                  <a:srgbClr val="303947"/>
                </a:solidFill>
                <a:effectLst/>
                <a:latin typeface="+mn-lt"/>
              </a:rPr>
              <a:t> và </a:t>
            </a:r>
            <a:r>
              <a:rPr lang="vi-VN" sz="2400" b="1" i="0" dirty="0">
                <a:solidFill>
                  <a:srgbClr val="303947"/>
                </a:solidFill>
                <a:effectLst/>
                <a:latin typeface="+mn-lt"/>
              </a:rPr>
              <a:t>thanh toán hàng ngày</a:t>
            </a:r>
            <a:r>
              <a:rPr lang="vi-VN" sz="2400" b="0" i="0" dirty="0">
                <a:solidFill>
                  <a:srgbClr val="303947"/>
                </a:solidFill>
                <a:effectLst/>
                <a:latin typeface="+mn-lt"/>
              </a:rPr>
              <a:t>.</a:t>
            </a:r>
            <a:endParaRPr lang="vi-VN" sz="2400" b="0" i="0" dirty="0">
              <a:solidFill>
                <a:srgbClr val="303947"/>
              </a:solidFill>
              <a:effectLst/>
              <a:latin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891527"/>
            <a:ext cx="8554065" cy="5243801"/>
          </a:xfrm>
          <a:prstGeom prst="rect">
            <a:avLst/>
          </a:prstGeom>
          <a:noFill/>
          <a:ln>
            <a:noFill/>
          </a:ln>
        </p:spPr>
        <p:txBody>
          <a:bodyPr spcFirstLastPara="1" wrap="square" lIns="91425" tIns="91425" rIns="91425" bIns="91425" anchor="t" anchorCtr="0">
            <a:noAutofit/>
          </a:bodyPr>
          <a:lstStyle/>
          <a:p>
            <a:pPr algn="just" fontAlgn="base"/>
            <a:r>
              <a:rPr lang="vi-VN" sz="2400" b="1" i="0" dirty="0">
                <a:solidFill>
                  <a:srgbClr val="F39200"/>
                </a:solidFill>
                <a:effectLst/>
                <a:latin typeface="+mn-lt"/>
              </a:rPr>
              <a:t>KÝ QUỸ LÀ GÌ VÀ KÝ QUỸ HOẠT ĐỘNG NHƯ THẾ NÀO?</a:t>
            </a:r>
            <a:endParaRPr lang="vi-VN" sz="2400" b="1" i="0" dirty="0">
              <a:solidFill>
                <a:srgbClr val="303947"/>
              </a:solidFill>
              <a:effectLst/>
              <a:latin typeface="+mn-lt"/>
            </a:endParaRPr>
          </a:p>
          <a:p>
            <a:pPr algn="just" fontAlgn="base"/>
            <a:r>
              <a:rPr lang="vi-VN" sz="2400" b="0" i="0" dirty="0">
                <a:solidFill>
                  <a:srgbClr val="303947"/>
                </a:solidFill>
                <a:effectLst/>
                <a:latin typeface="+mn-lt"/>
              </a:rPr>
              <a:t>Ký quỹ là một trong những điểm khác biệt của giao dịch chứng khoán phái sinh so với giao dịch cổ phiếu. Ký quỹ trong giao dịch chứng khoán phái sinh đóng vai trò như một khoản đặt cọc để đảm bảo việc thực hiện nghĩa vụ của hai bên khi tham gia hợp đồng. </a:t>
            </a:r>
            <a:endParaRPr lang="vi-VN" sz="2400" b="0" i="0" dirty="0">
              <a:solidFill>
                <a:srgbClr val="303947"/>
              </a:solidFill>
              <a:effectLst/>
              <a:latin typeface="+mn-lt"/>
            </a:endParaRPr>
          </a:p>
          <a:p>
            <a:pPr algn="just" fontAlgn="base"/>
            <a:r>
              <a:rPr lang="vi-VN" sz="2400" b="0" i="0" dirty="0">
                <a:solidFill>
                  <a:srgbClr val="303947"/>
                </a:solidFill>
                <a:effectLst/>
                <a:latin typeface="+mn-lt"/>
              </a:rPr>
              <a:t>Trung tâm lưu ký sẽ quy định tỉ lệ ký quỹ ban đầu cho mỗi loại hợp đồng khác nhau.</a:t>
            </a:r>
            <a:endParaRPr lang="vi-VN" sz="2400" b="0" i="0" dirty="0">
              <a:solidFill>
                <a:srgbClr val="303947"/>
              </a:solidFill>
              <a:effectLst/>
              <a:latin typeface="+mn-lt"/>
            </a:endParaRPr>
          </a:p>
          <a:p>
            <a:pPr algn="just" fontAlgn="base"/>
            <a:r>
              <a:rPr lang="vi-VN" sz="2400" b="0" i="0" dirty="0">
                <a:solidFill>
                  <a:srgbClr val="303947"/>
                </a:solidFill>
                <a:effectLst/>
                <a:latin typeface="+mn-lt"/>
              </a:rPr>
              <a:t>Tỉ lệ ký quỹ ban đầu do trung tâm lưu ký quy định sẽ nêu rõ nhà đầu tư phải ký quỹ bao nhiêu phầm trăm giá trị hợp đồng trước khi tham gia giao dịch chứng khoán phái sinh.</a:t>
            </a:r>
            <a:endParaRPr lang="vi-VN" sz="2400" b="0" i="0" dirty="0">
              <a:solidFill>
                <a:srgbClr val="303947"/>
              </a:solidFill>
              <a:effectLst/>
              <a:latin typeface="+mn-lt"/>
            </a:endParaRPr>
          </a:p>
          <a:p>
            <a:pPr algn="just" fontAlgn="base"/>
            <a:r>
              <a:rPr lang="vi-VN" sz="2400" b="0" i="0" dirty="0">
                <a:solidFill>
                  <a:srgbClr val="303947"/>
                </a:solidFill>
                <a:effectLst/>
                <a:latin typeface="+mn-lt"/>
              </a:rPr>
              <a:t>Nhà đầu tư không có đủ số tiền ký quỹ như yêu cầu có thể bị gọi ký quỹ, và phải nộp đầy đủ ký quỹ để có thể tiếp tục nắm giữ vị thế đối với Hợp đồng tương lai.</a:t>
            </a:r>
            <a:endParaRPr lang="vi-VN" sz="2400" b="0" i="0" dirty="0">
              <a:solidFill>
                <a:srgbClr val="303947"/>
              </a:solidFill>
              <a:effectLst/>
              <a:latin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891527"/>
            <a:ext cx="8554065" cy="5243801"/>
          </a:xfrm>
          <a:prstGeom prst="rect">
            <a:avLst/>
          </a:prstGeom>
          <a:noFill/>
          <a:ln>
            <a:noFill/>
          </a:ln>
        </p:spPr>
        <p:txBody>
          <a:bodyPr spcFirstLastPara="1" wrap="square" lIns="91425" tIns="91425" rIns="91425" bIns="91425" anchor="t" anchorCtr="0">
            <a:noAutofit/>
          </a:bodyPr>
          <a:lstStyle/>
          <a:p>
            <a:pPr algn="l" fontAlgn="base"/>
            <a:r>
              <a:rPr lang="vi-VN" sz="2100" b="1" i="0" dirty="0">
                <a:solidFill>
                  <a:srgbClr val="F39200"/>
                </a:solidFill>
                <a:effectLst/>
                <a:latin typeface="+mn-lt"/>
              </a:rPr>
              <a:t>VIỆC THANH TOÁN HÀNG NGÀY DIỄN RA NHƯ THẾ NÀO?</a:t>
            </a:r>
            <a:endParaRPr lang="vi-VN" sz="2100" b="1" i="0" dirty="0">
              <a:solidFill>
                <a:srgbClr val="303947"/>
              </a:solidFill>
              <a:effectLst/>
              <a:latin typeface="+mn-lt"/>
            </a:endParaRPr>
          </a:p>
          <a:p>
            <a:pPr algn="just" fontAlgn="base"/>
            <a:r>
              <a:rPr lang="vi-VN" sz="2100" b="0" i="0" dirty="0">
                <a:solidFill>
                  <a:srgbClr val="303947"/>
                </a:solidFill>
                <a:effectLst/>
                <a:latin typeface="+mn-lt"/>
              </a:rPr>
              <a:t>Một điểm khác biệt nữa của thị trường chứng khoán phái sinh là cơ chế thanh toán hàng ngày. Nhà đầu tư khi giao dịch và nắm giữ các vị thế trong các hợp đồng chứng khoán phái sinh sẽ phải thực hiện thanh toán </a:t>
            </a:r>
            <a:r>
              <a:rPr lang="vi-VN" sz="2100" b="1" i="0" dirty="0">
                <a:solidFill>
                  <a:srgbClr val="303947"/>
                </a:solidFill>
                <a:effectLst/>
                <a:latin typeface="+mn-lt"/>
              </a:rPr>
              <a:t>toàn bộ lãi lỗ</a:t>
            </a:r>
            <a:r>
              <a:rPr lang="vi-VN" sz="2100" b="0" i="0" dirty="0">
                <a:solidFill>
                  <a:srgbClr val="303947"/>
                </a:solidFill>
                <a:effectLst/>
                <a:latin typeface="+mn-lt"/>
              </a:rPr>
              <a:t> phát sinh từ các vị thế đó mỗi ngày:</a:t>
            </a:r>
            <a:endParaRPr lang="vi-VN" sz="2100" b="0" i="0" dirty="0">
              <a:solidFill>
                <a:srgbClr val="303947"/>
              </a:solidFill>
              <a:effectLst/>
              <a:latin typeface="+mn-lt"/>
            </a:endParaRPr>
          </a:p>
          <a:p>
            <a:pPr algn="just" fontAlgn="base"/>
            <a:r>
              <a:rPr lang="vi-VN" sz="2100" b="0" i="0" dirty="0">
                <a:solidFill>
                  <a:srgbClr val="303947"/>
                </a:solidFill>
                <a:effectLst/>
                <a:latin typeface="+mn-lt"/>
              </a:rPr>
              <a:t>– </a:t>
            </a:r>
            <a:r>
              <a:rPr lang="vi-VN" sz="2100" b="1" i="0" dirty="0">
                <a:solidFill>
                  <a:srgbClr val="303947"/>
                </a:solidFill>
                <a:effectLst/>
                <a:latin typeface="+mn-lt"/>
              </a:rPr>
              <a:t>Nếu tài khoản chứng khoán phái sinh của nhà đầu tư lỗ ròng:</a:t>
            </a:r>
            <a:r>
              <a:rPr lang="vi-VN" sz="2100" b="0" i="0" dirty="0">
                <a:solidFill>
                  <a:srgbClr val="303947"/>
                </a:solidFill>
                <a:effectLst/>
                <a:latin typeface="+mn-lt"/>
              </a:rPr>
              <a:t> nhà đầu tư sẽ phải thanh toán đầy đủ toàn bộ số lỗ phát sinh chậm nhất đến 9h sáng ngày hôm sau.</a:t>
            </a:r>
            <a:endParaRPr lang="vi-VN" sz="2100" b="0" i="0" dirty="0">
              <a:solidFill>
                <a:srgbClr val="303947"/>
              </a:solidFill>
              <a:effectLst/>
              <a:latin typeface="+mn-lt"/>
            </a:endParaRPr>
          </a:p>
          <a:p>
            <a:pPr algn="just" fontAlgn="base"/>
            <a:r>
              <a:rPr lang="vi-VN" sz="2100" b="0" i="0" dirty="0" smtClean="0">
                <a:solidFill>
                  <a:srgbClr val="303947"/>
                </a:solidFill>
                <a:effectLst/>
                <a:latin typeface="+mn-lt"/>
              </a:rPr>
              <a:t>–</a:t>
            </a:r>
            <a:r>
              <a:rPr lang="vi-VN" sz="2100" b="1" i="0" dirty="0">
                <a:solidFill>
                  <a:srgbClr val="303947"/>
                </a:solidFill>
                <a:effectLst/>
                <a:latin typeface="+mn-lt"/>
              </a:rPr>
              <a:t> Nếu tài khoản chứng khoán phái sinh của nhà đầu tư lãi ròng:</a:t>
            </a:r>
            <a:r>
              <a:rPr lang="vi-VN" sz="2100" b="0" i="0" dirty="0">
                <a:solidFill>
                  <a:srgbClr val="303947"/>
                </a:solidFill>
                <a:effectLst/>
                <a:latin typeface="+mn-lt"/>
              </a:rPr>
              <a:t> nhà đầu tư sẽ nhận được đầy đủ số lãi phát sinh sau 11h sáng ngày hôm sau.</a:t>
            </a:r>
            <a:endParaRPr lang="vi-VN" sz="2100" b="0" i="0" dirty="0">
              <a:solidFill>
                <a:srgbClr val="303947"/>
              </a:solidFill>
              <a:effectLst/>
              <a:latin typeface="+mn-lt"/>
            </a:endParaRPr>
          </a:p>
          <a:p>
            <a:pPr algn="just" fontAlgn="base"/>
            <a:r>
              <a:rPr lang="vi-VN" sz="2100" b="0" i="0" dirty="0">
                <a:solidFill>
                  <a:srgbClr val="303947"/>
                </a:solidFill>
                <a:effectLst/>
                <a:latin typeface="+mn-lt"/>
              </a:rPr>
              <a:t>Lãi/lỗ ở mỗi vị thế sẽ được tính toán dựa trên giá giao dịch đóng cửa của hợp đồng tương lai đó. Riêng đối với các hợp đồng tương lai chỉ số đến ngày đáo hạn, lãi/lỗ sẽ được tính toán dựa trên giá đóng cửa của chỉ số tại ngày đáo hạn của hợp đồng tương lai đó.</a:t>
            </a:r>
            <a:endParaRPr lang="vi-VN" sz="2100" b="0" i="0" dirty="0">
              <a:solidFill>
                <a:srgbClr val="303947"/>
              </a:solidFill>
              <a:effectLst/>
              <a:latin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891527"/>
            <a:ext cx="8554065" cy="5243801"/>
          </a:xfrm>
          <a:prstGeom prst="rect">
            <a:avLst/>
          </a:prstGeom>
          <a:noFill/>
          <a:ln>
            <a:noFill/>
          </a:ln>
        </p:spPr>
        <p:txBody>
          <a:bodyPr spcFirstLastPara="1" wrap="square" lIns="91425" tIns="91425" rIns="91425" bIns="91425" anchor="t" anchorCtr="0">
            <a:noAutofit/>
          </a:bodyPr>
          <a:lstStyle/>
          <a:p>
            <a:pPr algn="l" fontAlgn="base"/>
            <a:r>
              <a:rPr lang="vi-VN" sz="2400" b="1" i="0" dirty="0">
                <a:solidFill>
                  <a:srgbClr val="F39200"/>
                </a:solidFill>
                <a:effectLst/>
                <a:latin typeface="+mn-lt"/>
              </a:rPr>
              <a:t>QUY MÔ HỢP ĐỒNG ĐƯỢC TÍNH TOÁN NHƯ THẾ NÀO?</a:t>
            </a:r>
            <a:endParaRPr lang="vi-VN" sz="2400" b="1" i="0" dirty="0">
              <a:solidFill>
                <a:srgbClr val="F39200"/>
              </a:solidFill>
              <a:effectLst/>
              <a:latin typeface="+mn-lt"/>
            </a:endParaRPr>
          </a:p>
          <a:p>
            <a:pPr algn="l" fontAlgn="base"/>
            <a:endParaRPr lang="vi-VN" sz="2400" b="1" i="0" dirty="0">
              <a:solidFill>
                <a:srgbClr val="303947"/>
              </a:solidFill>
              <a:effectLst/>
              <a:latin typeface="+mn-lt"/>
            </a:endParaRPr>
          </a:p>
          <a:p>
            <a:pPr algn="just" fontAlgn="base"/>
            <a:r>
              <a:rPr lang="vi-VN" sz="2400" b="0" i="0" dirty="0">
                <a:solidFill>
                  <a:srgbClr val="303947"/>
                </a:solidFill>
                <a:effectLst/>
                <a:latin typeface="+mn-lt"/>
              </a:rPr>
              <a:t>Giống như giá của mỗi cổ phiếu, quy mô của mỗi hợp đồng phái sinh sẽ cho biết giá trị đầu tư mà nhà đầu tư đang tham gia là bao nhiêu. Quy mô hợp đồng sẽ được tính theo công thức:</a:t>
            </a:r>
            <a:endParaRPr lang="vi-VN" sz="2400" b="0" i="0" dirty="0">
              <a:solidFill>
                <a:srgbClr val="303947"/>
              </a:solidFill>
              <a:effectLst/>
              <a:latin typeface="+mn-lt"/>
            </a:endParaRPr>
          </a:p>
          <a:p>
            <a:pPr algn="just" fontAlgn="base"/>
            <a:endParaRPr lang="vi-VN" sz="2400" b="0" i="0" dirty="0">
              <a:solidFill>
                <a:srgbClr val="303947"/>
              </a:solidFill>
              <a:effectLst/>
              <a:latin typeface="+mn-lt"/>
            </a:endParaRPr>
          </a:p>
          <a:p>
            <a:pPr algn="just" fontAlgn="base"/>
            <a:r>
              <a:rPr lang="vi-VN" sz="2400" b="1" i="0" dirty="0">
                <a:solidFill>
                  <a:srgbClr val="303947"/>
                </a:solidFill>
                <a:effectLst/>
                <a:latin typeface="+mn-lt"/>
              </a:rPr>
              <a:t>Quy mô hợp đồng = giá Hợp đồng tương lai * hệ số nhân</a:t>
            </a:r>
            <a:endParaRPr lang="vi-VN" sz="2400" b="0" i="0" dirty="0">
              <a:solidFill>
                <a:srgbClr val="303947"/>
              </a:solidFill>
              <a:effectLst/>
              <a:latin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891527"/>
            <a:ext cx="8554065" cy="5243801"/>
          </a:xfrm>
          <a:prstGeom prst="rect">
            <a:avLst/>
          </a:prstGeom>
          <a:noFill/>
          <a:ln>
            <a:noFill/>
          </a:ln>
        </p:spPr>
        <p:txBody>
          <a:bodyPr spcFirstLastPara="1" wrap="square" lIns="91425" tIns="91425" rIns="91425" bIns="91425" anchor="t" anchorCtr="0">
            <a:noAutofit/>
          </a:bodyPr>
          <a:lstStyle/>
          <a:p>
            <a:pPr algn="just" fontAlgn="base"/>
            <a:r>
              <a:rPr lang="vi-VN" sz="2000" b="1" i="0" dirty="0">
                <a:solidFill>
                  <a:srgbClr val="F39200"/>
                </a:solidFill>
                <a:effectLst/>
                <a:latin typeface="+mn-lt"/>
              </a:rPr>
              <a:t>NHÀ ĐẦU TƯ CẦN CHÚ Ý GÌ KHI THAM GIA GIAO DỊCH CHỨNG KHOÁN PHÁI SINH ?</a:t>
            </a:r>
            <a:endParaRPr lang="vi-VN" sz="2000" b="1" i="0" dirty="0">
              <a:solidFill>
                <a:srgbClr val="F39200"/>
              </a:solidFill>
              <a:effectLst/>
              <a:latin typeface="+mn-lt"/>
            </a:endParaRPr>
          </a:p>
          <a:p>
            <a:pPr algn="just" fontAlgn="base"/>
            <a:endParaRPr lang="vi-VN" sz="2000" b="1" i="0" dirty="0">
              <a:solidFill>
                <a:srgbClr val="303947"/>
              </a:solidFill>
              <a:effectLst/>
              <a:latin typeface="+mn-lt"/>
            </a:endParaRPr>
          </a:p>
          <a:p>
            <a:pPr algn="just" fontAlgn="base"/>
            <a:r>
              <a:rPr lang="vi-VN" sz="2000" b="0" i="0" dirty="0">
                <a:solidFill>
                  <a:srgbClr val="303947"/>
                </a:solidFill>
                <a:effectLst/>
                <a:latin typeface="+mn-lt"/>
              </a:rPr>
              <a:t>Khi giao dịch chứng khoán phái sinh, sau khi đã nắm giữ vị thế, nhà đầu tư cần theo dõi hai loại tỷ lệ: </a:t>
            </a:r>
            <a:r>
              <a:rPr lang="vi-VN" sz="2000" b="1" i="0" dirty="0">
                <a:solidFill>
                  <a:srgbClr val="000000"/>
                </a:solidFill>
                <a:effectLst/>
                <a:latin typeface="+mn-lt"/>
              </a:rPr>
              <a:t>Tỷ lệ sử dụng tài sản ký quỹ</a:t>
            </a:r>
            <a:r>
              <a:rPr lang="vi-VN" sz="2000" b="0" i="0" dirty="0">
                <a:solidFill>
                  <a:srgbClr val="000000"/>
                </a:solidFill>
                <a:effectLst/>
                <a:latin typeface="+mn-lt"/>
              </a:rPr>
              <a:t> và </a:t>
            </a:r>
            <a:r>
              <a:rPr lang="vi-VN" sz="2000" b="1" i="0" dirty="0">
                <a:solidFill>
                  <a:srgbClr val="000000"/>
                </a:solidFill>
                <a:effectLst/>
                <a:latin typeface="+mn-lt"/>
              </a:rPr>
              <a:t>tỷ lệ tài khoản phái sinh</a:t>
            </a:r>
            <a:r>
              <a:rPr lang="vi-VN" sz="2000" b="0" i="0" dirty="0">
                <a:solidFill>
                  <a:srgbClr val="303947"/>
                </a:solidFill>
                <a:effectLst/>
                <a:latin typeface="+mn-lt"/>
              </a:rPr>
              <a:t>.</a:t>
            </a:r>
            <a:endParaRPr lang="vi-VN" sz="2000" b="0" i="0" dirty="0">
              <a:solidFill>
                <a:srgbClr val="303947"/>
              </a:solidFill>
              <a:effectLst/>
              <a:latin typeface="+mn-lt"/>
            </a:endParaRPr>
          </a:p>
          <a:p>
            <a:pPr algn="just" fontAlgn="base"/>
            <a:r>
              <a:rPr lang="vi-VN" sz="2000" b="1" i="0" dirty="0">
                <a:solidFill>
                  <a:srgbClr val="303947"/>
                </a:solidFill>
                <a:effectLst/>
                <a:latin typeface="+mn-lt"/>
              </a:rPr>
              <a:t>Tỷ lệ sử dụng tài sản ký quỹ</a:t>
            </a:r>
            <a:r>
              <a:rPr lang="vi-VN" sz="2000" b="0" i="0" dirty="0">
                <a:solidFill>
                  <a:srgbClr val="303947"/>
                </a:solidFill>
                <a:effectLst/>
                <a:latin typeface="+mn-lt"/>
              </a:rPr>
              <a:t> = Giá trị ký quỹ yêu cầu/Giá trị tài sản ký quỹ hợp lệ</a:t>
            </a:r>
            <a:endParaRPr lang="vi-VN" sz="2000" b="0" i="0" dirty="0">
              <a:solidFill>
                <a:srgbClr val="303947"/>
              </a:solidFill>
              <a:effectLst/>
              <a:latin typeface="+mn-lt"/>
            </a:endParaRPr>
          </a:p>
          <a:p>
            <a:pPr algn="just" fontAlgn="base"/>
            <a:r>
              <a:rPr lang="vi-VN" sz="2000" b="1" i="0" dirty="0">
                <a:solidFill>
                  <a:srgbClr val="303947"/>
                </a:solidFill>
                <a:effectLst/>
                <a:latin typeface="+mn-lt"/>
              </a:rPr>
              <a:t>Tỷ lệ sử dụng tài khoản phái sinh</a:t>
            </a:r>
            <a:r>
              <a:rPr lang="vi-VN" sz="2000" b="0" i="0" dirty="0">
                <a:solidFill>
                  <a:srgbClr val="303947"/>
                </a:solidFill>
                <a:effectLst/>
                <a:latin typeface="+mn-lt"/>
              </a:rPr>
              <a:t> = Giá trị ký quỹ yêu cầu/Giá trị tài sản ròng hợp lệ</a:t>
            </a:r>
            <a:endParaRPr lang="vi-VN" sz="2000" b="0" i="0" dirty="0">
              <a:solidFill>
                <a:srgbClr val="303947"/>
              </a:solidFill>
              <a:effectLst/>
              <a:latin typeface="+mn-lt"/>
            </a:endParaRPr>
          </a:p>
          <a:p>
            <a:pPr algn="just" fontAlgn="base"/>
            <a:r>
              <a:rPr lang="vi-VN" sz="2000" b="1" i="0" dirty="0">
                <a:solidFill>
                  <a:srgbClr val="303947"/>
                </a:solidFill>
                <a:effectLst/>
                <a:latin typeface="+mn-lt"/>
              </a:rPr>
              <a:t>Giá trị ký quỹ yêu cầu</a:t>
            </a:r>
            <a:r>
              <a:rPr lang="vi-VN" sz="2000" b="0" i="0" dirty="0">
                <a:solidFill>
                  <a:srgbClr val="303947"/>
                </a:solidFill>
                <a:effectLst/>
                <a:latin typeface="+mn-lt"/>
              </a:rPr>
              <a:t> = IM + VM + DM</a:t>
            </a:r>
            <a:endParaRPr lang="vi-VN" sz="2000" b="0" i="0" dirty="0">
              <a:solidFill>
                <a:srgbClr val="303947"/>
              </a:solidFill>
              <a:effectLst/>
              <a:latin typeface="+mn-lt"/>
            </a:endParaRPr>
          </a:p>
          <a:p>
            <a:pPr algn="just" fontAlgn="base"/>
            <a:r>
              <a:rPr lang="vi-VN" sz="2000" b="0" i="1" dirty="0">
                <a:solidFill>
                  <a:srgbClr val="303947"/>
                </a:solidFill>
                <a:effectLst/>
                <a:latin typeface="+mn-lt"/>
              </a:rPr>
              <a:t>Trong đó:</a:t>
            </a:r>
            <a:endParaRPr lang="vi-VN" sz="2000" b="0" i="0" dirty="0">
              <a:solidFill>
                <a:srgbClr val="303947"/>
              </a:solidFill>
              <a:effectLst/>
              <a:latin typeface="+mn-lt"/>
            </a:endParaRPr>
          </a:p>
          <a:p>
            <a:pPr algn="just" fontAlgn="base"/>
            <a:r>
              <a:rPr lang="vi-VN" sz="2000" b="1" i="0" dirty="0">
                <a:solidFill>
                  <a:srgbClr val="303947"/>
                </a:solidFill>
                <a:effectLst/>
                <a:latin typeface="+mn-lt"/>
              </a:rPr>
              <a:t>IM:</a:t>
            </a:r>
            <a:r>
              <a:rPr lang="vi-VN" sz="2000" b="0" i="0" dirty="0">
                <a:solidFill>
                  <a:srgbClr val="303947"/>
                </a:solidFill>
                <a:effectLst/>
                <a:latin typeface="+mn-lt"/>
              </a:rPr>
              <a:t> Ký quỹ ban đầu theo quy định của Trung tâm lưu ký.</a:t>
            </a:r>
            <a:endParaRPr lang="vi-VN" sz="2000" b="0" i="0" dirty="0">
              <a:solidFill>
                <a:srgbClr val="303947"/>
              </a:solidFill>
              <a:effectLst/>
              <a:latin typeface="+mn-lt"/>
            </a:endParaRPr>
          </a:p>
          <a:p>
            <a:pPr algn="just" fontAlgn="base"/>
            <a:r>
              <a:rPr lang="vi-VN" sz="2000" b="1" i="0" dirty="0">
                <a:solidFill>
                  <a:srgbClr val="303947"/>
                </a:solidFill>
                <a:effectLst/>
                <a:latin typeface="+mn-lt"/>
              </a:rPr>
              <a:t>VM</a:t>
            </a:r>
            <a:r>
              <a:rPr lang="vi-VN" sz="2000" b="0" i="0" dirty="0">
                <a:solidFill>
                  <a:srgbClr val="303947"/>
                </a:solidFill>
                <a:effectLst/>
                <a:latin typeface="+mn-lt"/>
              </a:rPr>
              <a:t>: Giá trị lỗ ròng phát sinh trong phiên (nếu có).</a:t>
            </a:r>
            <a:endParaRPr lang="vi-VN" sz="2000" b="0" i="0" dirty="0">
              <a:solidFill>
                <a:srgbClr val="303947"/>
              </a:solidFill>
              <a:effectLst/>
              <a:latin typeface="+mn-lt"/>
            </a:endParaRPr>
          </a:p>
          <a:p>
            <a:pPr algn="just" fontAlgn="base"/>
            <a:r>
              <a:rPr lang="vi-VN" sz="2000" b="1" i="0" dirty="0">
                <a:solidFill>
                  <a:srgbClr val="303947"/>
                </a:solidFill>
                <a:effectLst/>
                <a:latin typeface="+mn-lt"/>
              </a:rPr>
              <a:t>DM:</a:t>
            </a:r>
            <a:r>
              <a:rPr lang="vi-VN" sz="2000" b="0" i="0" dirty="0">
                <a:solidFill>
                  <a:srgbClr val="303947"/>
                </a:solidFill>
                <a:effectLst/>
                <a:latin typeface="+mn-lt"/>
              </a:rPr>
              <a:t> Ký quỹ chuyển giao, dùng thay cho IM đối với các hợp đồng phái sinh chuyển giao vật chất đến ngày đáo hạn.</a:t>
            </a:r>
            <a:endParaRPr lang="vi-VN" sz="2000" b="0" i="0" dirty="0">
              <a:solidFill>
                <a:srgbClr val="303947"/>
              </a:solidFill>
              <a:effectLst/>
              <a:latin typeface="+mn-lt"/>
            </a:endParaRPr>
          </a:p>
          <a:p>
            <a:pPr algn="just"/>
            <a:br>
              <a:rPr lang="vi-VN" sz="2000" dirty="0">
                <a:latin typeface="+mn-lt"/>
              </a:rPr>
            </a:br>
            <a:endParaRPr lang="vi-VN" sz="2000" b="0" i="0" dirty="0">
              <a:solidFill>
                <a:srgbClr val="303947"/>
              </a:solidFill>
              <a:effectLst/>
              <a:latin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Tổng</a:t>
            </a:r>
            <a:r>
              <a:rPr lang="en-US" sz="2400" b="1" dirty="0">
                <a:solidFill>
                  <a:schemeClr val="lt1"/>
                </a:solidFill>
              </a:rPr>
              <a:t> </a:t>
            </a:r>
            <a:r>
              <a:rPr lang="en-US" sz="2400" b="1" dirty="0" err="1">
                <a:solidFill>
                  <a:schemeClr val="lt1"/>
                </a:solidFill>
              </a:rPr>
              <a:t>quan</a:t>
            </a:r>
            <a:r>
              <a:rPr lang="en-US" sz="2400" b="1" dirty="0">
                <a:solidFill>
                  <a:schemeClr val="lt1"/>
                </a:solidFill>
              </a:rPr>
              <a:t> </a:t>
            </a:r>
            <a:r>
              <a:rPr lang="en-US" sz="2400" b="1" dirty="0" err="1">
                <a:solidFill>
                  <a:schemeClr val="lt1"/>
                </a:solidFill>
              </a:rPr>
              <a:t>về</a:t>
            </a:r>
            <a:r>
              <a:rPr lang="en-US" sz="2400" b="1" dirty="0">
                <a:solidFill>
                  <a:schemeClr val="lt1"/>
                </a:solidFill>
              </a:rPr>
              <a:t> CKVN</a:t>
            </a:r>
            <a:endParaRPr sz="2400" b="1" i="0" u="none" strike="noStrike" cap="none" dirty="0">
              <a:solidFill>
                <a:schemeClr val="lt1"/>
              </a:solidFill>
              <a:sym typeface="Arial" panose="020B0604020202020204"/>
            </a:endParaRPr>
          </a:p>
        </p:txBody>
      </p:sp>
      <p:sp>
        <p:nvSpPr>
          <p:cNvPr id="101" name="Google Shape;101;p3"/>
          <p:cNvSpPr txBox="1"/>
          <p:nvPr/>
        </p:nvSpPr>
        <p:spPr>
          <a:xfrm>
            <a:off x="304800" y="891527"/>
            <a:ext cx="8554065" cy="5243801"/>
          </a:xfrm>
          <a:prstGeom prst="rect">
            <a:avLst/>
          </a:prstGeom>
          <a:noFill/>
          <a:ln>
            <a:noFill/>
          </a:ln>
        </p:spPr>
        <p:txBody>
          <a:bodyPr spcFirstLastPara="1" wrap="square" lIns="91425" tIns="91425" rIns="91425" bIns="91425" anchor="t" anchorCtr="0">
            <a:noAutofit/>
          </a:bodyPr>
          <a:lstStyle/>
          <a:p>
            <a:pPr algn="just" fontAlgn="base"/>
            <a:r>
              <a:rPr lang="vi-VN" sz="2000" b="0" i="0" dirty="0">
                <a:solidFill>
                  <a:srgbClr val="303947"/>
                </a:solidFill>
                <a:effectLst/>
                <a:latin typeface="+mn-lt"/>
              </a:rPr>
              <a:t>Giá trị tài sản ký quỹ hợp lệ: Số tài sản ký quỹ hợp lệ đã nộp lên Trung tâm lưu ký.</a:t>
            </a:r>
            <a:endParaRPr lang="vi-VN" sz="2000" b="0" i="0" dirty="0">
              <a:solidFill>
                <a:srgbClr val="303947"/>
              </a:solidFill>
              <a:effectLst/>
              <a:latin typeface="+mn-lt"/>
            </a:endParaRPr>
          </a:p>
          <a:p>
            <a:pPr algn="just" fontAlgn="base"/>
            <a:endParaRPr lang="vi-VN" sz="2000" b="0" i="0" dirty="0">
              <a:solidFill>
                <a:srgbClr val="303947"/>
              </a:solidFill>
              <a:effectLst/>
              <a:latin typeface="+mn-lt"/>
            </a:endParaRPr>
          </a:p>
          <a:p>
            <a:pPr algn="just" fontAlgn="base"/>
            <a:r>
              <a:rPr lang="vi-VN" sz="2000" b="0" i="0" dirty="0">
                <a:solidFill>
                  <a:srgbClr val="303947"/>
                </a:solidFill>
                <a:effectLst/>
                <a:latin typeface="+mn-lt"/>
              </a:rPr>
              <a:t>Giá trị tài sản ròng hợp lệ: Số tài sản ký quỹ hợp lệ đã nộp lên Trung tâm lưu ký + tiền tại CTY CK– nợ tại CTY CK</a:t>
            </a:r>
            <a:endParaRPr lang="vi-VN" sz="2000" b="0" i="0" dirty="0">
              <a:solidFill>
                <a:srgbClr val="303947"/>
              </a:solidFill>
              <a:effectLst/>
              <a:latin typeface="+mn-lt"/>
            </a:endParaRPr>
          </a:p>
          <a:p>
            <a:pPr algn="just" fontAlgn="base"/>
            <a:r>
              <a:rPr lang="vi-VN" sz="2000" b="0" i="0" dirty="0">
                <a:solidFill>
                  <a:srgbClr val="303947"/>
                </a:solidFill>
                <a:effectLst/>
                <a:latin typeface="+mn-lt"/>
              </a:rPr>
              <a:t>CTY CK sẽ quy định các mức an toàn, cảnh báo và xử lý đối với từng tỷ lệ này:</a:t>
            </a:r>
            <a:endParaRPr lang="vi-VN" sz="2000" b="0" i="0" dirty="0">
              <a:solidFill>
                <a:srgbClr val="303947"/>
              </a:solidFill>
              <a:effectLst/>
              <a:latin typeface="+mn-lt"/>
            </a:endParaRPr>
          </a:p>
          <a:p>
            <a:pPr algn="just" fontAlgn="base"/>
            <a:endParaRPr lang="vi-VN" sz="2000" b="0" i="0" dirty="0">
              <a:solidFill>
                <a:srgbClr val="303947"/>
              </a:solidFill>
              <a:effectLst/>
              <a:latin typeface="+mn-lt"/>
            </a:endParaRPr>
          </a:p>
          <a:p>
            <a:pPr algn="just" fontAlgn="base"/>
            <a:r>
              <a:rPr lang="vi-VN" sz="1800" b="1" i="1" dirty="0">
                <a:solidFill>
                  <a:srgbClr val="303947"/>
                </a:solidFill>
                <a:effectLst/>
                <a:latin typeface="+mn-lt"/>
              </a:rPr>
              <a:t>– Mức an toàn:</a:t>
            </a:r>
            <a:r>
              <a:rPr lang="vi-VN" sz="1800" b="0" i="1" dirty="0">
                <a:solidFill>
                  <a:srgbClr val="303947"/>
                </a:solidFill>
                <a:effectLst/>
                <a:latin typeface="+mn-lt"/>
              </a:rPr>
              <a:t> </a:t>
            </a:r>
            <a:r>
              <a:rPr lang="vi-VN" sz="1800" b="0" i="0" dirty="0">
                <a:solidFill>
                  <a:srgbClr val="303947"/>
                </a:solidFill>
                <a:effectLst/>
                <a:latin typeface="+mn-lt"/>
              </a:rPr>
              <a:t>Nhà đầu tư sẽ được giao dịch chứng khoán phái sinh tối đa cho tới khi tỷ lệ đạt mức an toàn này.</a:t>
            </a:r>
            <a:endParaRPr lang="vi-VN" sz="1800" b="0" i="0" dirty="0">
              <a:solidFill>
                <a:srgbClr val="303947"/>
              </a:solidFill>
              <a:effectLst/>
              <a:latin typeface="+mn-lt"/>
            </a:endParaRPr>
          </a:p>
          <a:p>
            <a:pPr algn="just" fontAlgn="base"/>
            <a:endParaRPr lang="vi-VN" sz="1800" b="0" i="0" dirty="0">
              <a:solidFill>
                <a:srgbClr val="303947"/>
              </a:solidFill>
              <a:effectLst/>
              <a:latin typeface="+mn-lt"/>
            </a:endParaRPr>
          </a:p>
          <a:p>
            <a:pPr algn="just" fontAlgn="base"/>
            <a:r>
              <a:rPr lang="vi-VN" sz="1800" b="1" i="0" dirty="0">
                <a:solidFill>
                  <a:srgbClr val="303947"/>
                </a:solidFill>
                <a:effectLst/>
                <a:latin typeface="+mn-lt"/>
              </a:rPr>
              <a:t>–</a:t>
            </a:r>
            <a:r>
              <a:rPr lang="vi-VN" sz="1800" b="1" i="1" dirty="0">
                <a:solidFill>
                  <a:srgbClr val="303947"/>
                </a:solidFill>
                <a:effectLst/>
                <a:latin typeface="+mn-lt"/>
              </a:rPr>
              <a:t> Mức cảnh báo:</a:t>
            </a:r>
            <a:r>
              <a:rPr lang="vi-VN" sz="1800" b="0" i="0" dirty="0">
                <a:solidFill>
                  <a:srgbClr val="303947"/>
                </a:solidFill>
                <a:effectLst/>
                <a:latin typeface="+mn-lt"/>
              </a:rPr>
              <a:t> Khi vượt quá mức này, CTY CK sẽ gọi bổ sung ký quỹ và nhà đầu tư phải nộp thêm ký quỹ hoặc đóng bớt vị thế để tỷ lệ về thấp hơn hoặc bằng mức an toàn.</a:t>
            </a:r>
            <a:endParaRPr lang="vi-VN" sz="1800" b="0" i="0" dirty="0">
              <a:solidFill>
                <a:srgbClr val="303947"/>
              </a:solidFill>
              <a:effectLst/>
              <a:latin typeface="+mn-lt"/>
            </a:endParaRPr>
          </a:p>
          <a:p>
            <a:pPr algn="just" fontAlgn="base"/>
            <a:endParaRPr lang="vi-VN" sz="1800" b="0" i="0" dirty="0">
              <a:solidFill>
                <a:srgbClr val="303947"/>
              </a:solidFill>
              <a:effectLst/>
              <a:latin typeface="+mn-lt"/>
            </a:endParaRPr>
          </a:p>
          <a:p>
            <a:pPr algn="just" fontAlgn="base"/>
            <a:r>
              <a:rPr lang="vi-VN" sz="1800" b="1" i="1" dirty="0">
                <a:solidFill>
                  <a:srgbClr val="303947"/>
                </a:solidFill>
                <a:effectLst/>
                <a:latin typeface="+mn-lt"/>
              </a:rPr>
              <a:t>– Mức xử lý:</a:t>
            </a:r>
            <a:r>
              <a:rPr lang="vi-VN" sz="1800" b="0" i="1" dirty="0">
                <a:solidFill>
                  <a:srgbClr val="303947"/>
                </a:solidFill>
                <a:effectLst/>
                <a:latin typeface="+mn-lt"/>
              </a:rPr>
              <a:t> </a:t>
            </a:r>
            <a:r>
              <a:rPr lang="vi-VN" sz="1800" b="0" i="0" dirty="0">
                <a:solidFill>
                  <a:srgbClr val="303947"/>
                </a:solidFill>
                <a:effectLst/>
                <a:latin typeface="+mn-lt"/>
              </a:rPr>
              <a:t>Tài khoản của nhà đầu tư sẽ bị xử lý đóng vị thế nếu vượt quá mức này.</a:t>
            </a:r>
            <a:endParaRPr lang="vi-VN" sz="1800" b="0" i="0" dirty="0">
              <a:solidFill>
                <a:srgbClr val="303947"/>
              </a:solidFill>
              <a:effectLst/>
              <a:latin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dirty="0">
                <a:solidFill>
                  <a:schemeClr val="lt1"/>
                </a:solidFill>
              </a:rPr>
              <a:t>Nội dung chính</a:t>
            </a:r>
            <a:endParaRPr sz="2400" b="1" i="0" u="none" strike="noStrike" cap="none" dirty="0">
              <a:solidFill>
                <a:schemeClr val="lt1"/>
              </a:solidFill>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800" b="1" dirty="0" err="1">
                <a:solidFill>
                  <a:schemeClr val="dk1"/>
                </a:solidFill>
                <a:latin typeface="+mn-lt"/>
                <a:ea typeface="Maven Pro"/>
                <a:cs typeface="Maven Pro"/>
                <a:sym typeface="Maven Pro"/>
              </a:rPr>
              <a:t>Thực</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hành</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tại</a:t>
            </a:r>
            <a:r>
              <a:rPr lang="en-US" sz="1800" b="1" dirty="0">
                <a:solidFill>
                  <a:schemeClr val="dk1"/>
                </a:solidFill>
                <a:latin typeface="+mn-lt"/>
                <a:ea typeface="Maven Pro"/>
                <a:cs typeface="Maven Pro"/>
                <a:sym typeface="Maven Pro"/>
              </a:rPr>
              <a:t> </a:t>
            </a:r>
            <a:r>
              <a:rPr lang="en-US" sz="1800" b="1" dirty="0" err="1">
                <a:solidFill>
                  <a:schemeClr val="dk1"/>
                </a:solidFill>
                <a:latin typeface="+mn-lt"/>
                <a:ea typeface="Maven Pro"/>
                <a:cs typeface="Maven Pro"/>
                <a:sym typeface="Maven Pro"/>
              </a:rPr>
              <a:t>lớp</a:t>
            </a:r>
            <a:endParaRPr lang="en-US"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vi-VN" sz="1800" b="1" dirty="0" smtClean="0">
                <a:solidFill>
                  <a:schemeClr val="dk1"/>
                </a:solidFill>
                <a:latin typeface="+mn-lt"/>
                <a:ea typeface="Maven Pro"/>
                <a:cs typeface="Maven Pro"/>
                <a:sym typeface="Maven Pro"/>
              </a:rPr>
              <a:t>API</a:t>
            </a:r>
            <a:r>
              <a:rPr lang="en-US" sz="1800" b="1" dirty="0" smtClean="0">
                <a:solidFill>
                  <a:schemeClr val="dk1"/>
                </a:solidFill>
                <a:latin typeface="+mn-lt"/>
                <a:ea typeface="Maven Pro"/>
                <a:cs typeface="Maven Pro"/>
                <a:sym typeface="Maven Pro"/>
              </a:rPr>
              <a:t> SSI, DNSE, Forex</a:t>
            </a:r>
            <a:endParaRPr lang="vi-VN"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vi-VN" sz="1800" b="1" dirty="0">
                <a:solidFill>
                  <a:schemeClr val="dk1"/>
                </a:solidFill>
                <a:latin typeface="+mn-lt"/>
                <a:ea typeface="Maven Pro"/>
                <a:cs typeface="Maven Pro"/>
                <a:sym typeface="Maven Pro"/>
              </a:rPr>
              <a:t>Tạo key, get data</a:t>
            </a:r>
            <a:endParaRPr lang="vi-VN" sz="1800" b="1" dirty="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vi-VN" sz="1800" b="1" dirty="0">
                <a:solidFill>
                  <a:schemeClr val="dk1"/>
                </a:solidFill>
                <a:latin typeface="+mn-lt"/>
                <a:ea typeface="Maven Pro"/>
                <a:cs typeface="Maven Pro"/>
                <a:sym typeface="Maven Pro"/>
              </a:rPr>
              <a:t>Clean &amp; chuẩn hóa </a:t>
            </a:r>
            <a:r>
              <a:rPr lang="vi-VN" sz="1800" b="1" dirty="0" smtClean="0">
                <a:solidFill>
                  <a:schemeClr val="dk1"/>
                </a:solidFill>
                <a:latin typeface="+mn-lt"/>
                <a:ea typeface="Maven Pro"/>
                <a:cs typeface="Maven Pro"/>
                <a:sym typeface="Maven Pro"/>
              </a:rPr>
              <a:t>data</a:t>
            </a:r>
            <a:endParaRPr lang="en-US" sz="1800" b="1" dirty="0" smtClean="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err="1" smtClean="0">
                <a:solidFill>
                  <a:schemeClr val="dk1"/>
                </a:solidFill>
                <a:latin typeface="+mn-lt"/>
                <a:ea typeface="Maven Pro"/>
                <a:cs typeface="Maven Pro"/>
                <a:sym typeface="Maven Pro"/>
              </a:rPr>
              <a:t>Chiến</a:t>
            </a:r>
            <a:r>
              <a:rPr lang="en-US" sz="1800" b="1" dirty="0" smtClean="0">
                <a:solidFill>
                  <a:schemeClr val="dk1"/>
                </a:solidFill>
                <a:latin typeface="+mn-lt"/>
                <a:ea typeface="Maven Pro"/>
                <a:cs typeface="Maven Pro"/>
                <a:sym typeface="Maven Pro"/>
              </a:rPr>
              <a:t> </a:t>
            </a:r>
            <a:r>
              <a:rPr lang="en-US" sz="1800" b="1" dirty="0" err="1" smtClean="0">
                <a:solidFill>
                  <a:schemeClr val="dk1"/>
                </a:solidFill>
                <a:latin typeface="+mn-lt"/>
                <a:ea typeface="Maven Pro"/>
                <a:cs typeface="Maven Pro"/>
                <a:sym typeface="Maven Pro"/>
              </a:rPr>
              <a:t>lược</a:t>
            </a:r>
            <a:endParaRPr lang="en-US" sz="1800" b="1" dirty="0" smtClean="0">
              <a:solidFill>
                <a:schemeClr val="dk1"/>
              </a:solidFill>
              <a:latin typeface="+mn-lt"/>
              <a:ea typeface="Maven Pro"/>
              <a:cs typeface="Maven Pro"/>
              <a:sym typeface="Maven Pro"/>
            </a:endParaRPr>
          </a:p>
          <a:p>
            <a:pPr marL="457200" lvl="0" indent="-355600">
              <a:lnSpc>
                <a:spcPct val="115000"/>
              </a:lnSpc>
              <a:spcBef>
                <a:spcPts val="1600"/>
              </a:spcBef>
              <a:buClr>
                <a:schemeClr val="dk1"/>
              </a:buClr>
              <a:buSzPts val="2000"/>
              <a:buFont typeface="Maven Pro"/>
              <a:buAutoNum type="arabicPeriod"/>
            </a:pPr>
            <a:r>
              <a:rPr lang="en-US" sz="1800" b="1" dirty="0" err="1" smtClean="0">
                <a:solidFill>
                  <a:schemeClr val="dk1"/>
                </a:solidFill>
                <a:latin typeface="+mn-lt"/>
                <a:ea typeface="Maven Pro"/>
                <a:cs typeface="Maven Pro"/>
                <a:sym typeface="Maven Pro"/>
              </a:rPr>
              <a:t>Vào</a:t>
            </a:r>
            <a:r>
              <a:rPr lang="en-US" sz="1800" b="1" dirty="0" smtClean="0">
                <a:solidFill>
                  <a:schemeClr val="dk1"/>
                </a:solidFill>
                <a:latin typeface="+mn-lt"/>
                <a:ea typeface="Maven Pro"/>
                <a:cs typeface="Maven Pro"/>
                <a:sym typeface="Maven Pro"/>
              </a:rPr>
              <a:t> </a:t>
            </a:r>
            <a:r>
              <a:rPr lang="en-US" sz="1800" b="1" dirty="0" err="1" smtClean="0">
                <a:solidFill>
                  <a:schemeClr val="dk1"/>
                </a:solidFill>
                <a:latin typeface="+mn-lt"/>
                <a:ea typeface="Maven Pro"/>
                <a:cs typeface="Maven Pro"/>
                <a:sym typeface="Maven Pro"/>
              </a:rPr>
              <a:t>lệnh</a:t>
            </a:r>
            <a:endParaRPr lang="en-US" sz="1800" b="1"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endParaRPr sz="1800" b="1" dirty="0">
              <a:solidFill>
                <a:schemeClr val="dk1"/>
              </a:solidFill>
              <a:latin typeface="+mn-lt"/>
              <a:ea typeface="Maven Pro"/>
              <a:cs typeface="Maven Pro"/>
              <a:sym typeface="Maven Pr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API SSI</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lang="en-US" sz="1800" b="1" noProof="0" dirty="0" smtClean="0">
                <a:ea typeface="Maven Pro"/>
                <a:cs typeface="Maven Pro"/>
                <a:sym typeface="Maven Pro"/>
              </a:rPr>
              <a:t>B1: </a:t>
            </a:r>
            <a:r>
              <a:rPr lang="en-US" sz="1800" b="1" noProof="0" dirty="0" err="1" smtClean="0">
                <a:ea typeface="Maven Pro"/>
                <a:cs typeface="Maven Pro"/>
                <a:sym typeface="Maven Pro"/>
              </a:rPr>
              <a:t>Đăng</a:t>
            </a:r>
            <a:r>
              <a:rPr lang="en-US" sz="1800" b="1" noProof="0" dirty="0" smtClean="0">
                <a:ea typeface="Maven Pro"/>
                <a:cs typeface="Maven Pro"/>
                <a:sym typeface="Maven Pro"/>
              </a:rPr>
              <a:t> </a:t>
            </a:r>
            <a:r>
              <a:rPr lang="en-US" sz="1800" b="1" noProof="0" dirty="0" err="1" smtClean="0">
                <a:ea typeface="Maven Pro"/>
                <a:cs typeface="Maven Pro"/>
                <a:sym typeface="Maven Pro"/>
              </a:rPr>
              <a:t>ký</a:t>
            </a:r>
            <a:r>
              <a:rPr lang="en-US" sz="1800" b="1" noProof="0" dirty="0" smtClean="0">
                <a:ea typeface="Maven Pro"/>
                <a:cs typeface="Maven Pro"/>
                <a:sym typeface="Maven Pro"/>
              </a:rPr>
              <a:t> </a:t>
            </a:r>
            <a:r>
              <a:rPr lang="en-US" sz="1800" b="1" noProof="0" dirty="0" err="1" smtClean="0">
                <a:ea typeface="Maven Pro"/>
                <a:cs typeface="Maven Pro"/>
                <a:sym typeface="Maven Pro"/>
              </a:rPr>
              <a:t>tài</a:t>
            </a:r>
            <a:r>
              <a:rPr lang="en-US" sz="1800" b="1" noProof="0" dirty="0" smtClean="0">
                <a:ea typeface="Maven Pro"/>
                <a:cs typeface="Maven Pro"/>
                <a:sym typeface="Maven Pro"/>
              </a:rPr>
              <a:t> </a:t>
            </a:r>
            <a:r>
              <a:rPr lang="en-US" sz="1800" b="1" noProof="0" dirty="0" err="1" smtClean="0">
                <a:ea typeface="Maven Pro"/>
                <a:cs typeface="Maven Pro"/>
                <a:sym typeface="Maven Pro"/>
              </a:rPr>
              <a:t>khoản</a:t>
            </a:r>
            <a:endPar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B2: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Đăng</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ký</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API: FC Data (Data), FC Trading (Trading)</a:t>
            </a:r>
            <a:endParaRPr kumimoji="0" lang="en-US" sz="18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2" name="Picture 1"/>
          <p:cNvPicPr>
            <a:picLocks noChangeAspect="1"/>
          </p:cNvPicPr>
          <p:nvPr/>
        </p:nvPicPr>
        <p:blipFill>
          <a:blip r:embed="rId2"/>
          <a:stretch>
            <a:fillRect/>
          </a:stretch>
        </p:blipFill>
        <p:spPr>
          <a:xfrm>
            <a:off x="639905" y="1930398"/>
            <a:ext cx="8303024" cy="178261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API SSI</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Tạo</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KEY</a:t>
            </a:r>
            <a:endParaRPr kumimoji="0" lang="en-US" sz="18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3" name="Picture 2"/>
          <p:cNvPicPr>
            <a:picLocks noChangeAspect="1"/>
          </p:cNvPicPr>
          <p:nvPr/>
        </p:nvPicPr>
        <p:blipFill>
          <a:blip r:embed="rId2"/>
          <a:stretch>
            <a:fillRect/>
          </a:stretch>
        </p:blipFill>
        <p:spPr>
          <a:xfrm>
            <a:off x="656132" y="1318419"/>
            <a:ext cx="8270025" cy="322690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API </a:t>
            </a: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DNSE</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SzPts val="2000"/>
              <a:defRPr/>
            </a:pP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B1: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Đăng</a:t>
            </a:r>
            <a:r>
              <a:rPr kumimoji="0" lang="en-US" sz="1800" b="1" i="0" u="none" strike="noStrike" kern="0" cap="none" spc="0" normalizeH="0" noProof="0" dirty="0" smtClean="0">
                <a:ln>
                  <a:noFill/>
                </a:ln>
                <a:solidFill>
                  <a:srgbClr val="000000"/>
                </a:solidFill>
                <a:effectLst/>
                <a:uLnTx/>
                <a:uFillTx/>
                <a:latin typeface="Arial" panose="020B0604020202020204"/>
                <a:ea typeface="Maven Pro"/>
                <a:cs typeface="Maven Pro"/>
                <a:sym typeface="Maven Pro"/>
              </a:rPr>
              <a:t> </a:t>
            </a:r>
            <a:r>
              <a:rPr kumimoji="0" lang="en-US" sz="1800" b="1" i="0" u="none" strike="noStrike" kern="0" cap="none" spc="0" normalizeH="0" noProof="0" dirty="0" err="1" smtClean="0">
                <a:ln>
                  <a:noFill/>
                </a:ln>
                <a:solidFill>
                  <a:srgbClr val="000000"/>
                </a:solidFill>
                <a:effectLst/>
                <a:uLnTx/>
                <a:uFillTx/>
                <a:latin typeface="Arial" panose="020B0604020202020204"/>
                <a:ea typeface="Maven Pro"/>
                <a:cs typeface="Maven Pro"/>
                <a:sym typeface="Maven Pro"/>
              </a:rPr>
              <a:t>ký</a:t>
            </a:r>
            <a:r>
              <a:rPr kumimoji="0" lang="en-US" sz="1800" b="1" i="0" u="none" strike="noStrike" kern="0" cap="none" spc="0" normalizeH="0" noProof="0" dirty="0" smtClean="0">
                <a:ln>
                  <a:noFill/>
                </a:ln>
                <a:solidFill>
                  <a:srgbClr val="000000"/>
                </a:solidFill>
                <a:effectLst/>
                <a:uLnTx/>
                <a:uFillTx/>
                <a:latin typeface="Arial" panose="020B0604020202020204"/>
                <a:ea typeface="Maven Pro"/>
                <a:cs typeface="Maven Pro"/>
                <a:sym typeface="Maven Pro"/>
              </a:rPr>
              <a:t> </a:t>
            </a:r>
            <a:r>
              <a:rPr kumimoji="0" lang="en-US" sz="1800" b="1" i="0" u="none" strike="noStrike" kern="0" cap="none" spc="0" normalizeH="0" noProof="0" dirty="0" err="1" smtClean="0">
                <a:ln>
                  <a:noFill/>
                </a:ln>
                <a:solidFill>
                  <a:srgbClr val="000000"/>
                </a:solidFill>
                <a:effectLst/>
                <a:uLnTx/>
                <a:uFillTx/>
                <a:latin typeface="Arial" panose="020B0604020202020204"/>
                <a:ea typeface="Maven Pro"/>
                <a:cs typeface="Maven Pro"/>
                <a:sym typeface="Maven Pro"/>
              </a:rPr>
              <a:t>tài</a:t>
            </a:r>
            <a:r>
              <a:rPr kumimoji="0" lang="en-US" sz="1800" b="1" i="0" u="none" strike="noStrike" kern="0" cap="none" spc="0" normalizeH="0" noProof="0" dirty="0" smtClean="0">
                <a:ln>
                  <a:noFill/>
                </a:ln>
                <a:solidFill>
                  <a:srgbClr val="000000"/>
                </a:solidFill>
                <a:effectLst/>
                <a:uLnTx/>
                <a:uFillTx/>
                <a:latin typeface="Arial" panose="020B0604020202020204"/>
                <a:ea typeface="Maven Pro"/>
                <a:cs typeface="Maven Pro"/>
                <a:sym typeface="Maven Pro"/>
              </a:rPr>
              <a:t> </a:t>
            </a:r>
            <a:r>
              <a:rPr kumimoji="0" lang="en-US" sz="1800" b="1" i="0" u="none" strike="noStrike" kern="0" cap="none" spc="0" normalizeH="0" noProof="0" dirty="0" err="1" smtClean="0">
                <a:ln>
                  <a:noFill/>
                </a:ln>
                <a:solidFill>
                  <a:srgbClr val="000000"/>
                </a:solidFill>
                <a:effectLst/>
                <a:uLnTx/>
                <a:uFillTx/>
                <a:latin typeface="Arial" panose="020B0604020202020204"/>
                <a:ea typeface="Maven Pro"/>
                <a:cs typeface="Maven Pro"/>
                <a:sym typeface="Maven Pro"/>
              </a:rPr>
              <a:t>khoản</a:t>
            </a:r>
            <a:r>
              <a:rPr lang="en-US" sz="1800" b="1" dirty="0">
                <a:ea typeface="Maven Pro"/>
                <a:cs typeface="Maven Pro"/>
                <a:sym typeface="Maven Pro"/>
              </a:rPr>
              <a:t>: </a:t>
            </a:r>
            <a:r>
              <a:rPr lang="en-US" sz="1800" b="1" dirty="0">
                <a:ea typeface="Maven Pro"/>
                <a:cs typeface="Maven Pro"/>
                <a:sym typeface="Maven Pro"/>
                <a:hlinkClick r:id="rId2"/>
              </a:rPr>
              <a:t>https://</a:t>
            </a:r>
            <a:r>
              <a:rPr lang="en-US" sz="1800" b="1" dirty="0" smtClean="0">
                <a:ea typeface="Maven Pro"/>
                <a:cs typeface="Maven Pro"/>
                <a:sym typeface="Maven Pro"/>
                <a:hlinkClick r:id="rId2"/>
              </a:rPr>
              <a:t>entradex.dnse.com.vn/dashboard</a:t>
            </a:r>
            <a:r>
              <a:rPr lang="en-US" sz="1800" b="1" dirty="0" smtClean="0">
                <a:ea typeface="Maven Pro"/>
                <a:cs typeface="Maven Pro"/>
                <a:sym typeface="Maven Pro"/>
              </a:rPr>
              <a:t> </a:t>
            </a:r>
            <a:endPar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Đăng</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ký</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API</a:t>
            </a:r>
            <a:endParaRPr kumimoji="0" sz="18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API Forex</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Tài</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khoản</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MT5</a:t>
            </a:r>
            <a:endParaRPr kumimoji="0" sz="18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2" name="Picture 1"/>
          <p:cNvPicPr>
            <a:picLocks noChangeAspect="1"/>
          </p:cNvPicPr>
          <p:nvPr/>
        </p:nvPicPr>
        <p:blipFill>
          <a:blip r:embed="rId2"/>
          <a:stretch>
            <a:fillRect/>
          </a:stretch>
        </p:blipFill>
        <p:spPr>
          <a:xfrm>
            <a:off x="628072" y="1283310"/>
            <a:ext cx="8280137" cy="38059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API Forex</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Bật</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Auto Trade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lên</a:t>
            </a:r>
            <a:endParaRPr kumimoji="0" sz="18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3" name="Picture 2"/>
          <p:cNvPicPr>
            <a:picLocks noChangeAspect="1"/>
          </p:cNvPicPr>
          <p:nvPr/>
        </p:nvPicPr>
        <p:blipFill>
          <a:blip r:embed="rId2"/>
          <a:stretch>
            <a:fillRect/>
          </a:stretch>
        </p:blipFill>
        <p:spPr>
          <a:xfrm>
            <a:off x="620308" y="1205250"/>
            <a:ext cx="7481970" cy="484098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API Forex</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Cài</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đặt</a:t>
            </a:r>
            <a:r>
              <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MT5</a:t>
            </a:r>
            <a:endParaRPr kumimoji="0" lang="en-US" sz="1800" b="1"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800" b="0"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Pip install metatrader5</a:t>
            </a:r>
            <a:endParaRPr kumimoji="0" lang="en-US" sz="1800" b="0"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800" b="0"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Vào</a:t>
            </a:r>
            <a:r>
              <a:rPr kumimoji="0" lang="en-US" sz="1800" b="0" i="0" u="none" strike="noStrike" kern="0" cap="none" spc="0" normalizeH="0" baseline="0" noProof="0" dirty="0" smtClean="0">
                <a:ln>
                  <a:noFill/>
                </a:ln>
                <a:solidFill>
                  <a:srgbClr val="000000"/>
                </a:solidFill>
                <a:effectLst/>
                <a:uLnTx/>
                <a:uFillTx/>
                <a:latin typeface="Arial" panose="020B0604020202020204"/>
                <a:ea typeface="Maven Pro"/>
                <a:cs typeface="Maven Pro"/>
                <a:sym typeface="Maven Pro"/>
              </a:rPr>
              <a:t> </a:t>
            </a:r>
            <a:r>
              <a:rPr kumimoji="0" lang="en-US" sz="1800" b="0" i="0" u="none" strike="noStrike" kern="0" cap="none" spc="0" normalizeH="0" baseline="0" noProof="0" dirty="0" err="1" smtClean="0">
                <a:ln>
                  <a:noFill/>
                </a:ln>
                <a:solidFill>
                  <a:srgbClr val="000000"/>
                </a:solidFill>
                <a:effectLst/>
                <a:uLnTx/>
                <a:uFillTx/>
                <a:latin typeface="Arial" panose="020B0604020202020204"/>
                <a:ea typeface="Maven Pro"/>
                <a:cs typeface="Maven Pro"/>
                <a:sym typeface="Maven Pro"/>
              </a:rPr>
              <a:t>lệnh</a:t>
            </a:r>
            <a:endParaRPr kumimoji="0" lang="en-US" sz="18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2" name="Picture 1"/>
          <p:cNvPicPr>
            <a:picLocks noChangeAspect="1"/>
          </p:cNvPicPr>
          <p:nvPr/>
        </p:nvPicPr>
        <p:blipFill>
          <a:blip r:embed="rId2"/>
          <a:stretch>
            <a:fillRect/>
          </a:stretch>
        </p:blipFill>
        <p:spPr>
          <a:xfrm>
            <a:off x="1762916" y="2133599"/>
            <a:ext cx="6309666" cy="384232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5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9310</Words>
  <Application>WPS Presentation</Application>
  <PresentationFormat>On-screen Show (4:3)</PresentationFormat>
  <Paragraphs>193</Paragraphs>
  <Slides>29</Slides>
  <Notes>29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29</vt:i4>
      </vt:variant>
    </vt:vector>
  </HeadingPairs>
  <TitlesOfParts>
    <vt:vector size="41" baseType="lpstr">
      <vt:lpstr>Arial</vt:lpstr>
      <vt:lpstr>SimSun</vt:lpstr>
      <vt:lpstr>Wingdings</vt:lpstr>
      <vt:lpstr>Arial</vt:lpstr>
      <vt:lpstr>Calibri</vt:lpstr>
      <vt:lpstr>Arial (body)</vt:lpstr>
      <vt:lpstr>Open Sans</vt:lpstr>
      <vt:lpstr>Segoe Print</vt:lpstr>
      <vt:lpstr>Microsoft YaHei</vt:lpstr>
      <vt:lpstr>Arial Unicode MS</vt:lpstr>
      <vt:lpstr>Maven Pro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43</cp:revision>
  <dcterms:created xsi:type="dcterms:W3CDTF">2021-10-18T16:01:00Z</dcterms:created>
  <dcterms:modified xsi:type="dcterms:W3CDTF">2025-10-01T13:06:00Z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E8046CDBDA1F4CDFA6296E2775A7E771_12</vt:lpwstr>
  </property>
  <property fmtid="{D5CDD505-2E9C-101B-9397-08002B2CF9AE}" pid="3" name="KSOProductBuildVer">
    <vt:lpwstr>1033-12.2.0.22549</vt:lpwstr>
  </property>
</Properties>
</file>