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81" r:id="rId7"/>
    <p:sldId id="284" r:id="rId8"/>
    <p:sldId id="283" r:id="rId9"/>
    <p:sldId id="286" r:id="rId10"/>
    <p:sldId id="287" r:id="rId11"/>
    <p:sldId id="285" r:id="rId12"/>
    <p:sldId id="290" r:id="rId13"/>
    <p:sldId id="274" r:id="rId14"/>
  </p:sldIdLst>
  <p:sldSz cx="9144000" cy="6858000" type="screen4x3"/>
  <p:notesSz cx="6858000" cy="9144000"/>
  <p:embeddedFontLst>
    <p:embeddedFont>
      <p:font typeface="Calibri" panose="020F0502020204030204"/>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4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1"/>
        <p:cNvGrpSpPr/>
        <p:nvPr/>
      </p:nvGrpSpPr>
      <p:grpSpPr>
        <a:xfrm>
          <a:off x="0" y="0"/>
          <a:ext cx="0" cy="0"/>
          <a:chOff x="0" y="0"/>
          <a:chExt cx="0" cy="0"/>
        </a:xfrm>
      </p:grpSpPr>
      <p:sp>
        <p:nvSpPr>
          <p:cNvPr id="202" name="Google Shape;20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03" name="Google Shape;203;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181356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800"/>
              <a:buFont typeface="Arial" panose="020B0604020202020204"/>
              <a:buNone/>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 </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Giới thiệu về API và Xây dựng dữ liệu DWH (DataWareHouse)</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rgbClr val="000000"/>
              </a:buClr>
              <a:buSzPts val="2800"/>
              <a:buFont typeface="Arial" panose="020B0604020202020204"/>
              <a:buNone/>
            </a:pPr>
            <a:endParaRPr sz="2800" b="1" i="1" u="none" strike="noStrike" cap="none" dirty="0">
              <a:solidFill>
                <a:srgbClr val="FF0000"/>
              </a:solidFill>
              <a:latin typeface="Arial" panose="020B0604020202020204"/>
              <a:ea typeface="Arial" panose="020B0604020202020204"/>
              <a:cs typeface="Arial" panose="020B0604020202020204"/>
              <a:sym typeface="Arial" panose="020B0604020202020204"/>
            </a:endParaRPr>
          </a:p>
        </p:txBody>
      </p:sp>
      <p:sp>
        <p:nvSpPr>
          <p:cNvPr id="95" name="Google Shape;95;p2"/>
          <p:cNvSpPr txBox="1"/>
          <p:nvPr/>
        </p:nvSpPr>
        <p:spPr>
          <a:xfrm>
            <a:off x="5482524" y="4841000"/>
            <a:ext cx="3661500" cy="9518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a:solidFill>
                  <a:schemeClr val="dk1"/>
                </a:solidFill>
                <a:latin typeface="Arial" panose="020B0604020202020204"/>
                <a:ea typeface="Arial" panose="020B0604020202020204"/>
                <a:cs typeface="Arial" panose="020B0604020202020204"/>
                <a:sym typeface="Arial" panose="020B0604020202020204"/>
              </a:rPr>
              <a:t>GV. Đặng Trí Thanh</a:t>
            </a:r>
            <a:endParaRPr sz="2800" b="0" i="1"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2800" i="1">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err="1" smtClean="0">
                <a:solidFill>
                  <a:schemeClr val="lt1"/>
                </a:solidFill>
              </a:rPr>
              <a:t>Đặt</a:t>
            </a:r>
            <a:r>
              <a:rPr lang="en-US" sz="2400" dirty="0" smtClean="0">
                <a:solidFill>
                  <a:schemeClr val="lt1"/>
                </a:solidFill>
              </a:rPr>
              <a:t> </a:t>
            </a:r>
            <a:r>
              <a:rPr lang="en-US" sz="2400" dirty="0" err="1" smtClean="0">
                <a:solidFill>
                  <a:schemeClr val="lt1"/>
                </a:solidFill>
              </a:rPr>
              <a:t>câu</a:t>
            </a:r>
            <a:r>
              <a:rPr lang="en-US" sz="2400" dirty="0" smtClean="0">
                <a:solidFill>
                  <a:schemeClr val="lt1"/>
                </a:solidFill>
              </a:rPr>
              <a:t> </a:t>
            </a:r>
            <a:r>
              <a:rPr lang="en-US" sz="2400" dirty="0" err="1" smtClean="0">
                <a:solidFill>
                  <a:schemeClr val="lt1"/>
                </a:solidFill>
              </a:rPr>
              <a:t>hỏi</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Chúng</a:t>
            </a:r>
            <a:r>
              <a:rPr lang="en-US" sz="1800" b="1" dirty="0" smtClean="0">
                <a:solidFill>
                  <a:schemeClr val="dk1"/>
                </a:solidFill>
              </a:rPr>
              <a:t> ta </a:t>
            </a:r>
            <a:r>
              <a:rPr lang="en-US" sz="1800" b="1" dirty="0" err="1" smtClean="0">
                <a:solidFill>
                  <a:schemeClr val="dk1"/>
                </a:solidFill>
              </a:rPr>
              <a:t>có</a:t>
            </a:r>
            <a:r>
              <a:rPr lang="en-US" sz="1800" b="1" dirty="0" smtClean="0">
                <a:solidFill>
                  <a:schemeClr val="dk1"/>
                </a:solidFill>
              </a:rPr>
              <a:t> </a:t>
            </a:r>
            <a:r>
              <a:rPr lang="en-US" sz="1800" b="1" dirty="0" err="1" smtClean="0">
                <a:solidFill>
                  <a:schemeClr val="dk1"/>
                </a:solidFill>
              </a:rPr>
              <a:t>chiến</a:t>
            </a:r>
            <a:r>
              <a:rPr lang="en-US" sz="1800" b="1" dirty="0" smtClean="0">
                <a:solidFill>
                  <a:schemeClr val="dk1"/>
                </a:solidFill>
              </a:rPr>
              <a:t> </a:t>
            </a:r>
            <a:r>
              <a:rPr lang="en-US" sz="1800" b="1" dirty="0" err="1" smtClean="0">
                <a:solidFill>
                  <a:schemeClr val="dk1"/>
                </a:solidFill>
              </a:rPr>
              <a:t>lược</a:t>
            </a:r>
            <a:r>
              <a:rPr lang="en-US" sz="1800" b="1" dirty="0" smtClean="0">
                <a:solidFill>
                  <a:schemeClr val="dk1"/>
                </a:solidFill>
              </a:rPr>
              <a:t> </a:t>
            </a:r>
            <a:r>
              <a:rPr lang="en-US" sz="1800" b="1" dirty="0" err="1" smtClean="0">
                <a:solidFill>
                  <a:schemeClr val="dk1"/>
                </a:solidFill>
              </a:rPr>
              <a:t>như</a:t>
            </a:r>
            <a:r>
              <a:rPr lang="en-US" sz="1800" b="1" dirty="0" smtClean="0">
                <a:solidFill>
                  <a:schemeClr val="dk1"/>
                </a:solidFill>
              </a:rPr>
              <a:t> </a:t>
            </a:r>
            <a:r>
              <a:rPr lang="en-US" sz="1800" b="1" dirty="0" err="1" smtClean="0">
                <a:solidFill>
                  <a:schemeClr val="dk1"/>
                </a:solidFill>
              </a:rPr>
              <a:t>sau</a:t>
            </a:r>
            <a:r>
              <a:rPr lang="en-US" sz="1800" b="1" dirty="0">
                <a:solidFill>
                  <a:schemeClr val="dk1"/>
                </a:solidFill>
              </a:rPr>
              <a:t>:</a:t>
            </a:r>
            <a:endParaRPr lang="en-US" sz="1800" b="1" dirty="0" smtClean="0">
              <a:solidFill>
                <a:schemeClr val="dk1"/>
              </a:solidFill>
            </a:endParaRPr>
          </a:p>
          <a:p>
            <a:pPr marL="101600" marR="0" lvl="0" indent="0" algn="just" rtl="0">
              <a:lnSpc>
                <a:spcPct val="115000"/>
              </a:lnSpc>
              <a:spcBef>
                <a:spcPts val="1600"/>
              </a:spcBef>
              <a:spcAft>
                <a:spcPts val="0"/>
              </a:spcAft>
              <a:buNone/>
            </a:pP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ML, Momentum, RSI</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hoặc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MA, ATR</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t>
            </a:r>
            <a:endPar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lvl="0" algn="just">
              <a:lnSpc>
                <a:spcPct val="115000"/>
              </a:lnSpc>
              <a:spcBef>
                <a:spcPts val="1600"/>
              </a:spcBef>
            </a:pPr>
            <a:r>
              <a:rPr lang="en-US" sz="1800" b="1" dirty="0" err="1">
                <a:solidFill>
                  <a:schemeClr val="dk1"/>
                </a:solidFill>
              </a:rPr>
              <a:t>để</a:t>
            </a:r>
            <a:r>
              <a:rPr lang="en-US" sz="1800" b="1" dirty="0">
                <a:solidFill>
                  <a:schemeClr val="dk1"/>
                </a:solidFill>
              </a:rPr>
              <a:t> </a:t>
            </a:r>
            <a:r>
              <a:rPr lang="en-US" sz="1800" b="1" dirty="0" err="1">
                <a:solidFill>
                  <a:schemeClr val="dk1"/>
                </a:solidFill>
              </a:rPr>
              <a:t>làm</a:t>
            </a:r>
            <a:r>
              <a:rPr lang="en-US" sz="1800" b="1" dirty="0">
                <a:solidFill>
                  <a:schemeClr val="dk1"/>
                </a:solidFill>
              </a:rPr>
              <a:t> </a:t>
            </a:r>
            <a:r>
              <a:rPr lang="en-US" sz="1800" b="1" dirty="0" err="1">
                <a:solidFill>
                  <a:schemeClr val="dk1"/>
                </a:solidFill>
              </a:rPr>
              <a:t>sao</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thi</a:t>
            </a:r>
            <a:r>
              <a:rPr lang="en-US" sz="1800" b="1" dirty="0">
                <a:solidFill>
                  <a:schemeClr val="dk1"/>
                </a:solidFill>
              </a:rPr>
              <a:t> </a:t>
            </a:r>
            <a:r>
              <a:rPr lang="en-US" sz="1800" b="1" dirty="0" err="1">
                <a:solidFill>
                  <a:schemeClr val="dk1"/>
                </a:solidFill>
              </a:rPr>
              <a:t>chiến</a:t>
            </a:r>
            <a:r>
              <a:rPr lang="en-US" sz="1800" b="1" dirty="0">
                <a:solidFill>
                  <a:schemeClr val="dk1"/>
                </a:solidFill>
              </a:rPr>
              <a:t> </a:t>
            </a:r>
            <a:r>
              <a:rPr lang="en-US" sz="1800" b="1" dirty="0" err="1">
                <a:solidFill>
                  <a:schemeClr val="dk1"/>
                </a:solidFill>
              </a:rPr>
              <a:t>lược</a:t>
            </a:r>
            <a:r>
              <a:rPr lang="en-US" sz="1800" b="1" dirty="0">
                <a:solidFill>
                  <a:schemeClr val="dk1"/>
                </a:solidFill>
              </a:rPr>
              <a:t> ML </a:t>
            </a:r>
            <a:r>
              <a:rPr lang="en-US" sz="1800" b="1" dirty="0" err="1">
                <a:solidFill>
                  <a:schemeClr val="dk1"/>
                </a:solidFill>
              </a:rPr>
              <a:t>này</a:t>
            </a:r>
            <a:r>
              <a:rPr lang="en-US" sz="1800" b="1" dirty="0">
                <a:solidFill>
                  <a:schemeClr val="dk1"/>
                </a:solidFill>
              </a:rPr>
              <a:t> </a:t>
            </a:r>
            <a:r>
              <a:rPr lang="en-US" sz="1800" b="1" dirty="0" err="1">
                <a:solidFill>
                  <a:schemeClr val="dk1"/>
                </a:solidFill>
              </a:rPr>
              <a:t>tự</a:t>
            </a:r>
            <a:r>
              <a:rPr lang="en-US" sz="1800" b="1" dirty="0">
                <a:solidFill>
                  <a:schemeClr val="dk1"/>
                </a:solidFill>
              </a:rPr>
              <a:t> </a:t>
            </a:r>
            <a:r>
              <a:rPr lang="en-US" sz="1800" b="1" dirty="0" err="1">
                <a:solidFill>
                  <a:schemeClr val="dk1"/>
                </a:solidFill>
              </a:rPr>
              <a:t>động</a:t>
            </a:r>
            <a:r>
              <a:rPr lang="en-US" sz="1800" b="1" dirty="0">
                <a:solidFill>
                  <a:schemeClr val="dk1"/>
                </a:solidFill>
              </a:rPr>
              <a:t>?</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18523" y="2484529"/>
            <a:ext cx="4237876" cy="2068997"/>
          </a:xfrm>
          <a:prstGeom prst="rect">
            <a:avLst/>
          </a:prstGeom>
        </p:spPr>
      </p:pic>
      <p:pic>
        <p:nvPicPr>
          <p:cNvPr id="4" name="Picture 3"/>
          <p:cNvPicPr>
            <a:picLocks noChangeAspect="1"/>
          </p:cNvPicPr>
          <p:nvPr/>
        </p:nvPicPr>
        <p:blipFill>
          <a:blip r:embed="rId3"/>
          <a:stretch>
            <a:fillRect/>
          </a:stretch>
        </p:blipFill>
        <p:spPr>
          <a:xfrm>
            <a:off x="5068233" y="4159825"/>
            <a:ext cx="4075767" cy="20994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dirty="0">
                <a:solidFill>
                  <a:schemeClr val="lt1"/>
                </a:solidFill>
                <a:latin typeface="Arial" panose="020B0604020202020204"/>
                <a:ea typeface="Arial" panose="020B0604020202020204"/>
                <a:cs typeface="Arial" panose="020B0604020202020204"/>
                <a:sym typeface="Arial" panose="020B0604020202020204"/>
              </a:rPr>
              <a:t>Nội dung chính</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1. Giới thiệu về API:</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API là gì? Tại sao API quan trọng trong việc thu thập dữ liệu.</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Làm quen với th</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viện Requests </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ể lấy dữ liệu từ API.</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2. Làm việc với dữ liệu từ API:</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Gửi yêu cầu API và xử l</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ý</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dữ liệu JSON trả về.</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Tích hợp API từ Binance </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ể thu thập giá Crypto thời gian thực.</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3. Xây dựng DWH cơ bản:</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Khái niệm Data Warehouse: Cách tổ chức dữ liệu từ nhiều nguồn.</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L</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u dữ liệu từ API vào CSV hoặc cơ sở dữ liệu SQL.</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Sử dụng th</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viện SQLAlchemy </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ể thao tác dữ liệu trong cơ sở dữ liệu.</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4. Bài tập thực hành:</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Viết chương trình thu thập dữ liệu giá Crypto qua Binance API, chuẩn hóa và l</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u trữ vào file CSV hoặc cơ sở dữ liệu SQL.</a:t>
            </a:r>
            <a:endParaRPr lang="vi-VN"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altLang="vi-VN" sz="2400" b="0" i="0" u="none" strike="noStrike" cap="none" dirty="0">
                <a:solidFill>
                  <a:schemeClr val="lt1"/>
                </a:solidFill>
                <a:latin typeface="Arial" panose="020B0604020202020204"/>
                <a:ea typeface="Arial" panose="020B0604020202020204"/>
                <a:cs typeface="Arial" panose="020B0604020202020204"/>
                <a:sym typeface="Arial" panose="020B0604020202020204"/>
              </a:rPr>
              <a:t>1. Giới thiệu về API</a:t>
            </a:r>
            <a:endParaRPr lang="en-US" altLang="vi-VN"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API là gì? </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API (Application Programming Interface) là một tập hợp các quy tắc và giao thức cho phép các ứng dụng phần mềm giao tiếp với nhau. API cung cấp cách tiêu chuẩn hóa </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ể một ch</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ơng trình t</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ơng tác với các ch</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ơng trình khác thông qua việc gửi và nhận dữ liệu.</a:t>
            </a:r>
            <a:endPar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Ví dụ: Khi bạn </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ặt hàng trên một trang th</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ơng mại </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iện tử, API sẽ liên kết ứng dụng web với cơ sở dữ liệu của họ </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ể lấy thông tin về sản phẩm và gửi </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ơn hàng.</a:t>
            </a:r>
            <a:endPar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lang="vi-VN"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1464945" y="2609215"/>
            <a:ext cx="6242685" cy="34220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altLang="vi-VN" sz="2400" b="0" i="0" u="none" strike="noStrike" cap="none" dirty="0">
                <a:solidFill>
                  <a:schemeClr val="lt1"/>
                </a:solidFill>
                <a:latin typeface="Arial" panose="020B0604020202020204"/>
                <a:ea typeface="Arial" panose="020B0604020202020204"/>
                <a:cs typeface="Arial" panose="020B0604020202020204"/>
                <a:sym typeface="Arial" panose="020B0604020202020204"/>
              </a:rPr>
              <a:t>1. Giới thiệu về API</a:t>
            </a:r>
            <a:endParaRPr lang="en-US" altLang="vi-VN"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Tại sao API quan trọng trong việc thu thập dữ liệu.</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API (Application Programming Interface) </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óng vai trò rất quan trọng trong việc thu thập dữ liệu vì nó cung cấp một cách hiệu quả, bảo mật và có tổ chức </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ể truy cập thông tin từ các hệ thống hoặc dịch vụ khác. D</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ới </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ây là những l</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ý</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do chính:</a:t>
            </a:r>
            <a:endPar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1. Truy cập dữ liệu tự </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ộng và nhanh chóng</a:t>
            </a:r>
            <a:endPar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Tiết kiệm thời gian: API cho phép thu thập dữ liệu tự </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ộng thay vì thực hiện các thao tác thủ công nh</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tải file hay copy-paste.</a:t>
            </a:r>
            <a:endPar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Cập nhật theo thời gian thực: API cung cấp dữ liệu mới nhất mà không cần tải lại toàn bộ nội dung.</a:t>
            </a:r>
            <a:endPar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Ví dụ: Lấy giá tiền </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iện tử thời gian thực từ API của Binance.</a:t>
            </a:r>
            <a:endParaRPr lang="en-US" altLang="en-US" sz="13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2. Hiệu quả và tiết kiệm tài nguyên</a:t>
            </a:r>
            <a:endPar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API chỉ trả về dữ liệu bạn cần thông qua các tham số trong yêu cầu, giảm b</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ă</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ng thông và thời gian xử l</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ý</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t>
            </a:r>
            <a:endPar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Ng</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ời dùng không cần truy cập toàn bộ cơ sở dữ liệu mà vẫn có </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đư</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ợc thông tin mong muốn.</a:t>
            </a:r>
            <a:endPar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Ví dụ: Bạn có thể chỉ cần thông tin giá cổ phiếu của một mã cụ thể mà không cần tải toàn bộ dữ liệu thị tr</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ờng.</a:t>
            </a:r>
            <a:endParaRPr lang="en-US" altLang="en-US" sz="13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altLang="vi-VN" sz="2400" b="0" i="0" u="none" strike="noStrike" cap="none" dirty="0">
                <a:solidFill>
                  <a:schemeClr val="lt1"/>
                </a:solidFill>
                <a:latin typeface="Arial" panose="020B0604020202020204"/>
                <a:ea typeface="Arial" panose="020B0604020202020204"/>
                <a:cs typeface="Arial" panose="020B0604020202020204"/>
                <a:sym typeface="Arial" panose="020B0604020202020204"/>
              </a:rPr>
              <a:t>1. Giới thiệu về API</a:t>
            </a:r>
            <a:endParaRPr lang="en-US" altLang="vi-VN"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rtl="0" eaLnBrk="1" fontAlgn="auto" latinLnBrk="0" hangingPunct="1">
              <a:lnSpc>
                <a:spcPct val="115000"/>
              </a:lnSpc>
              <a:spcBef>
                <a:spcPts val="1000"/>
              </a:spcBef>
              <a:spcAft>
                <a:spcPts val="0"/>
              </a:spcAft>
              <a:buNone/>
            </a:pPr>
            <a:r>
              <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Tại sao API quan trọng trong việc thu thập dữ liệu.</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3. Tích hợp dễ dàng với các hệ thống khác</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API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óng vai trò cầu nối giữa các hệ thống phần mềm, cho phép chúng giao tiếp và trao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ổi dữ liệu.</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iều này giúp xây dựng ứng dụng phức tạp bằng cách sử dụng dữ liệu từ nhiều nguồn khác nhau.</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Ví dụ: Kết hợp dữ liệu thời tiết từ một API với dữ liệu giao thông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ể tạo ứng dụng dự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oán thời gian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i lại.</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4. Tính bảo mật cao</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API yêu cầu xác thực (authentication) và cấp quyền (authorization), giúp bảo vệ dữ liệu và ng</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ă</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n chặn truy cập trái phép.</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Các giao thức bảo mật nh</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OAuth hoặc API Key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ảm bảo rằng chỉ những ng</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ời dùng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đư</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ợc phép mới có thể truy cập dữ liệu.</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5. T</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ă</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ng khả n</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ă</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ng mở rộng</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Sử dụng API giúp mở rộng khả n</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ă</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ng ứng dụng mà không cần xây dựng lại từ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ầu.</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API cung cấp một cách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ể thêm chức n</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ă</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ng mới mà không làm ảnh h</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ởng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ến hệ thống hiện tại.</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Ví dụ: Một ứng dụng th</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ư</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ơng mại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iện tử có thể tích hợp API thanh toán của Stripe hoặc PayPal </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ể xử l</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ý</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altLang="vi-VN" sz="2400" b="0" i="0" u="none" strike="noStrike" cap="none" dirty="0">
                <a:solidFill>
                  <a:schemeClr val="lt1"/>
                </a:solidFill>
                <a:latin typeface="Arial" panose="020B0604020202020204"/>
                <a:ea typeface="Arial" panose="020B0604020202020204"/>
                <a:cs typeface="Arial" panose="020B0604020202020204"/>
                <a:sym typeface="Arial" panose="020B0604020202020204"/>
              </a:rPr>
              <a:t>1. Giới thiệu về API</a:t>
            </a:r>
            <a:endParaRPr lang="en-US" altLang="vi-VN"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rtl="0" eaLnBrk="1" fontAlgn="auto" latinLnBrk="0" hangingPunct="1">
              <a:lnSpc>
                <a:spcPct val="115000"/>
              </a:lnSpc>
              <a:spcBef>
                <a:spcPts val="1000"/>
              </a:spcBef>
              <a:spcAft>
                <a:spcPts val="0"/>
              </a:spcAft>
              <a:buNone/>
            </a:pPr>
            <a:r>
              <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Tại sao API quan trọng trong việc thu thập dữ liệu.</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6. Tạo cơ hội cho đổi mới và sáng tạo</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API cung cấp quyền truy cập vào dữ liệu từ các dịch vụ lớn, giúp các nhà phát triển tạo ra các ứng dụng và giải pháp mới.</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Các startup thường sử dụng API để xây dựng sản phẩm mà không cần phải phát triển từ con số không.</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Ví dụ: Dịch vụ phân tích tài chính sử dụng API của Yahoo Finance để cung cấp thông tin thị trường.</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7. Đảm bảo tính nhất quán của dữ liệu</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Dữ liệu qua API thường được chuẩn hóa, đảm bảo người dùng nhận được thông tin theo một định dạng nhất định.</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eaLnBrk="1" fontAlgn="auto" latinLnBrk="0" hangingPunct="1">
              <a:lnSpc>
                <a:spcPct val="115000"/>
              </a:lnSpc>
              <a:spcBef>
                <a:spcPts val="1000"/>
              </a:spcBef>
              <a:spcAft>
                <a:spcPts val="0"/>
              </a:spcAft>
              <a:buNone/>
            </a:pP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Điều này giúp việc xử lý</a:t>
            </a:r>
            <a:r>
              <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và phân tích dữ liệu dễ dàng hơn.</a:t>
            </a:r>
            <a:endParaRPr lang="en-US" altLang="en-US"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305"/>
            <a:ext cx="8681720" cy="407670"/>
          </a:xfrm>
          <a:prstGeom prst="rect">
            <a:avLst/>
          </a:prstGeom>
          <a:noFill/>
          <a:ln>
            <a:noFill/>
          </a:ln>
        </p:spPr>
        <p:txBody>
          <a:bodyPr spcFirstLastPara="1" wrap="square" lIns="91425" tIns="45700" rIns="91425" bIns="45700" anchor="t" anchorCtr="0">
            <a:spAutoFit/>
          </a:bodyPr>
          <a:lstStyle/>
          <a:p>
            <a:pPr marL="101600" marR="0" lvl="0" indent="0" algn="l" rtl="0">
              <a:lnSpc>
                <a:spcPct val="115000"/>
              </a:lnSpc>
              <a:spcBef>
                <a:spcPts val="1600"/>
              </a:spcBef>
              <a:spcAft>
                <a:spcPts val="0"/>
              </a:spcAft>
              <a:buNone/>
            </a:pPr>
            <a:r>
              <a:rPr lang="en-US" altLang="vi-VN" sz="1800" b="1" i="0" u="none" strike="noStrike" cap="none" dirty="0">
                <a:solidFill>
                  <a:schemeClr val="bg1"/>
                </a:solidFill>
                <a:latin typeface="Arial" panose="020B0604020202020204"/>
                <a:ea typeface="Arial" panose="020B0604020202020204"/>
                <a:cs typeface="Arial" panose="020B0604020202020204"/>
                <a:sym typeface="Arial" panose="020B0604020202020204"/>
              </a:rPr>
              <a:t>2.</a:t>
            </a:r>
            <a:r>
              <a:rPr lang="en-US" altLang="vi-VN" sz="1800" b="0" i="0" u="none" strike="noStrike" cap="none" dirty="0">
                <a:solidFill>
                  <a:schemeClr val="bg1"/>
                </a:solidFill>
                <a:latin typeface="Arial" panose="020B0604020202020204"/>
                <a:ea typeface="Arial" panose="020B0604020202020204"/>
                <a:cs typeface="Arial" panose="020B0604020202020204"/>
                <a:sym typeface="Arial" panose="020B0604020202020204"/>
              </a:rPr>
              <a:t> </a:t>
            </a:r>
            <a:r>
              <a:rPr lang="en-US" altLang="en-US" sz="1800" b="1" dirty="0" smtClean="0">
                <a:solidFill>
                  <a:schemeClr val="bg1"/>
                </a:solidFill>
                <a:sym typeface="Arial" panose="020B0604020202020204"/>
              </a:rPr>
              <a:t>Làm quen với thư viện để lấy dữ liệu từ API.: Code Python</a:t>
            </a:r>
            <a:endParaRPr lang="en-US" altLang="en-US" sz="1800" b="1" i="0" u="none" strike="noStrike" cap="none" dirty="0" smtClean="0">
              <a:solidFill>
                <a:schemeClr val="bg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Làm quen với lấy dữ liệu từ API.: Code Python</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Thư viện yfinance </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Lấy dữ liệu từ MT5</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Lấy dữ liệu từ Binance</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Đẩy dữ liệu qua Redis</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Lấy dữ liệu nhiều năm</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305"/>
            <a:ext cx="8681720" cy="407670"/>
          </a:xfrm>
          <a:prstGeom prst="rect">
            <a:avLst/>
          </a:prstGeom>
          <a:noFill/>
          <a:ln>
            <a:noFill/>
          </a:ln>
        </p:spPr>
        <p:txBody>
          <a:bodyPr spcFirstLastPara="1" wrap="square" lIns="91425" tIns="45700" rIns="91425" bIns="45700" anchor="t" anchorCtr="0">
            <a:spAutoFit/>
          </a:bodyPr>
          <a:lstStyle/>
          <a:p>
            <a:pPr marL="101600" marR="0" lvl="0" indent="0" algn="l" rtl="0">
              <a:lnSpc>
                <a:spcPct val="115000"/>
              </a:lnSpc>
              <a:spcBef>
                <a:spcPts val="1600"/>
              </a:spcBef>
              <a:spcAft>
                <a:spcPts val="0"/>
              </a:spcAft>
              <a:buNone/>
            </a:pPr>
            <a:r>
              <a:rPr lang="en-US" altLang="en-US" sz="1800" b="1" dirty="0" smtClean="0">
                <a:solidFill>
                  <a:schemeClr val="bg1"/>
                </a:solidFill>
                <a:sym typeface="Arial" panose="020B0604020202020204"/>
              </a:rPr>
              <a:t>3. Xây dựng DWH cơ bản</a:t>
            </a:r>
            <a:endParaRPr lang="en-US" altLang="en-US" sz="1800" b="1" i="0" u="none" strike="noStrike" cap="none" dirty="0" smtClean="0">
              <a:solidFill>
                <a:schemeClr val="bg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en-US" altLang="en-US" b="1" i="0" u="sng" strike="noStrike" cap="none" dirty="0" smtClean="0">
                <a:solidFill>
                  <a:schemeClr val="dk1"/>
                </a:solidFill>
                <a:latin typeface="Arial" panose="020B0604020202020204"/>
                <a:ea typeface="Arial" panose="020B0604020202020204"/>
                <a:cs typeface="Arial" panose="020B0604020202020204"/>
                <a:sym typeface="Arial" panose="020B0604020202020204"/>
              </a:rPr>
              <a:t>Luồng 1:</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Lấy dữ liệu từ Binance</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Đẩy dữ liệu qua Redis (ở trên)</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Đẩy dữ liệu qua SQL Server, MongoDB, MySQL</a:t>
            </a: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lang="en-US" altLang="en-US"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0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4225</Words>
  <Application>WPS Presentation</Application>
  <PresentationFormat>On-screen Show (4:3)</PresentationFormat>
  <Paragraphs>96</Paragraphs>
  <Slides>11</Slides>
  <Notes>27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PCDTT</cp:lastModifiedBy>
  <cp:revision>67</cp:revision>
  <dcterms:created xsi:type="dcterms:W3CDTF">2021-10-18T16:01:00Z</dcterms:created>
  <dcterms:modified xsi:type="dcterms:W3CDTF">2025-07-22T13:49:41Z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8DBBAECFE570400C9C9EA433CD5A1909_12</vt:lpwstr>
  </property>
  <property fmtid="{D5CDD505-2E9C-101B-9397-08002B2CF9AE}" pid="3" name="KSOProductBuildVer">
    <vt:lpwstr>1033-12.2.0.21931</vt:lpwstr>
  </property>
</Properties>
</file>