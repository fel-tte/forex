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90" r:id="rId37"/>
    <p:sldId id="291" r:id="rId38"/>
    <p:sldId id="292" r:id="rId39"/>
    <p:sldId id="293" r:id="rId40"/>
    <p:sldId id="294" r:id="rId41"/>
    <p:sldId id="295" r:id="rId42"/>
    <p:sldId id="289" r:id="rId4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4" name="Google Shape;10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0" name="Google Shape;110;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6" name="Google Shape;11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5" name="Google Shape;125;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9"/>
        <p:cNvGrpSpPr/>
        <p:nvPr/>
      </p:nvGrpSpPr>
      <p:grpSpPr>
        <a:xfrm>
          <a:off x="0" y="0"/>
          <a:ext cx="0" cy="0"/>
          <a:chOff x="0" y="0"/>
          <a:chExt cx="0" cy="0"/>
        </a:xfrm>
      </p:grpSpPr>
      <p:sp>
        <p:nvSpPr>
          <p:cNvPr id="130" name="Google Shape;13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1" name="Google Shape;131;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7" name="Google Shape;13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3" name="Google Shape;143;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3" name="Google Shape;153;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9" name="Google Shape;159;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3"/>
        <p:cNvGrpSpPr/>
        <p:nvPr/>
      </p:nvGrpSpPr>
      <p:grpSpPr>
        <a:xfrm>
          <a:off x="0" y="0"/>
          <a:ext cx="0" cy="0"/>
          <a:chOff x="0" y="0"/>
          <a:chExt cx="0" cy="0"/>
        </a:xfrm>
      </p:grpSpPr>
      <p:sp>
        <p:nvSpPr>
          <p:cNvPr id="164" name="Google Shape;16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9"/>
        <p:cNvGrpSpPr/>
        <p:nvPr/>
      </p:nvGrpSpPr>
      <p:grpSpPr>
        <a:xfrm>
          <a:off x="0" y="0"/>
          <a:ext cx="0" cy="0"/>
          <a:chOff x="0" y="0"/>
          <a:chExt cx="0" cy="0"/>
        </a:xfrm>
      </p:grpSpPr>
      <p:sp>
        <p:nvSpPr>
          <p:cNvPr id="170" name="Google Shape;17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1" name="Google Shape;171;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5"/>
        <p:cNvGrpSpPr/>
        <p:nvPr/>
      </p:nvGrpSpPr>
      <p:grpSpPr>
        <a:xfrm>
          <a:off x="0" y="0"/>
          <a:ext cx="0" cy="0"/>
          <a:chOff x="0" y="0"/>
          <a:chExt cx="0" cy="0"/>
        </a:xfrm>
      </p:grpSpPr>
      <p:sp>
        <p:nvSpPr>
          <p:cNvPr id="176" name="Google Shape;17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7" name="Google Shape;177;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1"/>
        <p:cNvGrpSpPr/>
        <p:nvPr/>
      </p:nvGrpSpPr>
      <p:grpSpPr>
        <a:xfrm>
          <a:off x="0" y="0"/>
          <a:ext cx="0" cy="0"/>
          <a:chOff x="0" y="0"/>
          <a:chExt cx="0" cy="0"/>
        </a:xfrm>
      </p:grpSpPr>
      <p:sp>
        <p:nvSpPr>
          <p:cNvPr id="182" name="Google Shape;18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3" name="Google Shape;18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9" name="Google Shape;189;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3"/>
        <p:cNvGrpSpPr/>
        <p:nvPr/>
      </p:nvGrpSpPr>
      <p:grpSpPr>
        <a:xfrm>
          <a:off x="0" y="0"/>
          <a:ext cx="0" cy="0"/>
          <a:chOff x="0" y="0"/>
          <a:chExt cx="0" cy="0"/>
        </a:xfrm>
      </p:grpSpPr>
      <p:sp>
        <p:nvSpPr>
          <p:cNvPr id="194" name="Google Shape;19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5" name="Google Shape;195;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1" name="Google Shape;201;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5"/>
        <p:cNvGrpSpPr/>
        <p:nvPr/>
      </p:nvGrpSpPr>
      <p:grpSpPr>
        <a:xfrm>
          <a:off x="0" y="0"/>
          <a:ext cx="0" cy="0"/>
          <a:chOff x="0" y="0"/>
          <a:chExt cx="0" cy="0"/>
        </a:xfrm>
      </p:grpSpPr>
      <p:sp>
        <p:nvSpPr>
          <p:cNvPr id="206" name="Google Shape;20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7" name="Google Shape;207;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1"/>
        <p:cNvGrpSpPr/>
        <p:nvPr/>
      </p:nvGrpSpPr>
      <p:grpSpPr>
        <a:xfrm>
          <a:off x="0" y="0"/>
          <a:ext cx="0" cy="0"/>
          <a:chOff x="0" y="0"/>
          <a:chExt cx="0" cy="0"/>
        </a:xfrm>
      </p:grpSpPr>
      <p:sp>
        <p:nvSpPr>
          <p:cNvPr id="212" name="Google Shape;21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3" name="Google Shape;213;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9" name="Google Shape;219;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3"/>
        <p:cNvGrpSpPr/>
        <p:nvPr/>
      </p:nvGrpSpPr>
      <p:grpSpPr>
        <a:xfrm>
          <a:off x="0" y="0"/>
          <a:ext cx="0" cy="0"/>
          <a:chOff x="0" y="0"/>
          <a:chExt cx="0" cy="0"/>
        </a:xfrm>
      </p:grpSpPr>
      <p:sp>
        <p:nvSpPr>
          <p:cNvPr id="224" name="Google Shape;22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9"/>
        <p:cNvGrpSpPr/>
        <p:nvPr/>
      </p:nvGrpSpPr>
      <p:grpSpPr>
        <a:xfrm>
          <a:off x="0" y="0"/>
          <a:ext cx="0" cy="0"/>
          <a:chOff x="0" y="0"/>
          <a:chExt cx="0" cy="0"/>
        </a:xfrm>
      </p:grpSpPr>
      <p:sp>
        <p:nvSpPr>
          <p:cNvPr id="230" name="Google Shape;230;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1" name="Google Shape;231;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5"/>
        <p:cNvGrpSpPr/>
        <p:nvPr/>
      </p:nvGrpSpPr>
      <p:grpSpPr>
        <a:xfrm>
          <a:off x="0" y="0"/>
          <a:ext cx="0" cy="0"/>
          <a:chOff x="0" y="0"/>
          <a:chExt cx="0" cy="0"/>
        </a:xfrm>
      </p:grpSpPr>
      <p:sp>
        <p:nvSpPr>
          <p:cNvPr id="236" name="Google Shape;23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7" name="Google Shape;237;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2"/>
        <p:cNvGrpSpPr/>
        <p:nvPr/>
      </p:nvGrpSpPr>
      <p:grpSpPr>
        <a:xfrm>
          <a:off x="0" y="0"/>
          <a:ext cx="0" cy="0"/>
          <a:chOff x="0" y="0"/>
          <a:chExt cx="0" cy="0"/>
        </a:xfrm>
      </p:grpSpPr>
      <p:sp>
        <p:nvSpPr>
          <p:cNvPr id="243" name="Google Shape;24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44" name="Google Shape;244;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9"/>
        <p:cNvGrpSpPr/>
        <p:nvPr/>
      </p:nvGrpSpPr>
      <p:grpSpPr>
        <a:xfrm>
          <a:off x="0" y="0"/>
          <a:ext cx="0" cy="0"/>
          <a:chOff x="0" y="0"/>
          <a:chExt cx="0" cy="0"/>
        </a:xfrm>
      </p:grpSpPr>
      <p:sp>
        <p:nvSpPr>
          <p:cNvPr id="250" name="Google Shape;25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1" name="Google Shape;251;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6"/>
        <p:cNvGrpSpPr/>
        <p:nvPr/>
      </p:nvGrpSpPr>
      <p:grpSpPr>
        <a:xfrm>
          <a:off x="0" y="0"/>
          <a:ext cx="0" cy="0"/>
          <a:chOff x="0" y="0"/>
          <a:chExt cx="0" cy="0"/>
        </a:xfrm>
      </p:grpSpPr>
      <p:sp>
        <p:nvSpPr>
          <p:cNvPr id="257" name="Google Shape;25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8" name="Google Shape;258;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3"/>
        <p:cNvGrpSpPr/>
        <p:nvPr/>
      </p:nvGrpSpPr>
      <p:grpSpPr>
        <a:xfrm>
          <a:off x="0" y="0"/>
          <a:ext cx="0" cy="0"/>
          <a:chOff x="0" y="0"/>
          <a:chExt cx="0" cy="0"/>
        </a:xfrm>
      </p:grpSpPr>
      <p:sp>
        <p:nvSpPr>
          <p:cNvPr id="264" name="Google Shape;264;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5" name="Google Shape;265;p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0"/>
        <p:cNvGrpSpPr/>
        <p:nvPr/>
      </p:nvGrpSpPr>
      <p:grpSpPr>
        <a:xfrm>
          <a:off x="0" y="0"/>
          <a:ext cx="0" cy="0"/>
          <a:chOff x="0" y="0"/>
          <a:chExt cx="0" cy="0"/>
        </a:xfrm>
      </p:grpSpPr>
      <p:sp>
        <p:nvSpPr>
          <p:cNvPr id="271" name="Google Shape;27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72" name="Google Shape;272;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g2a934b0c898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79" name="Google Shape;279;g2a934b0c898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4"/>
        <p:cNvGrpSpPr/>
        <p:nvPr/>
      </p:nvGrpSpPr>
      <p:grpSpPr>
        <a:xfrm>
          <a:off x="0" y="0"/>
          <a:ext cx="0" cy="0"/>
          <a:chOff x="0" y="0"/>
          <a:chExt cx="0" cy="0"/>
        </a:xfrm>
      </p:grpSpPr>
      <p:sp>
        <p:nvSpPr>
          <p:cNvPr id="285" name="Google Shape;285;g2a934b0c898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6" name="Google Shape;286;g2a934b0c898_0_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1"/>
        <p:cNvGrpSpPr/>
        <p:nvPr/>
      </p:nvGrpSpPr>
      <p:grpSpPr>
        <a:xfrm>
          <a:off x="0" y="0"/>
          <a:ext cx="0" cy="0"/>
          <a:chOff x="0" y="0"/>
          <a:chExt cx="0" cy="0"/>
        </a:xfrm>
      </p:grpSpPr>
      <p:sp>
        <p:nvSpPr>
          <p:cNvPr id="292" name="Google Shape;292;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3" name="Google Shape;293;p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9" name="Google Shape;219;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9" name="Google Shape;219;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9" name="Google Shape;219;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9" name="Google Shape;219;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9" name="Google Shape;219;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9" name="Google Shape;219;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8"/>
        <p:cNvGrpSpPr/>
        <p:nvPr/>
      </p:nvGrpSpPr>
      <p:grpSpPr>
        <a:xfrm>
          <a:off x="0" y="0"/>
          <a:ext cx="0" cy="0"/>
          <a:chOff x="0" y="0"/>
          <a:chExt cx="0" cy="0"/>
        </a:xfrm>
      </p:grpSpPr>
      <p:sp>
        <p:nvSpPr>
          <p:cNvPr id="299" name="Google Shape;29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0" name="Google Shape;300;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3.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3.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3.jpe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hyperlink" Target="http://127.0.0.1:8000/docs" TargetMode="External"/><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3.jpe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hyperlink" Target="https://entradex.dnse.com.vn/" TargetMode="External"/><Relationship Id="rId1" Type="http://schemas.openxmlformats.org/officeDocument/2006/relationships/image" Target="../media/image3.jpe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hyperlink" Target="https://hdsd.dnse.com.vn/san-pham-dich-vu/api-lightspeed/ii.-trading-api" TargetMode="External"/><Relationship Id="rId1" Type="http://schemas.openxmlformats.org/officeDocument/2006/relationships/image" Target="../media/image3.jpe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3.jpe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3.jpe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3.jpe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3.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Machine Learning For Investment</a:t>
            </a:r>
            <a:endParaRPr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1815841"/>
          </a:xfrm>
          <a:prstGeom prst="rect">
            <a:avLst/>
          </a:prstGeom>
          <a:noFill/>
          <a:ln>
            <a:noFill/>
          </a:ln>
        </p:spPr>
        <p:txBody>
          <a:bodyPr spcFirstLastPara="1" wrap="square" lIns="91425" tIns="45700" rIns="91425" bIns="45700" anchor="t" anchorCtr="0">
            <a:spAutoFit/>
          </a:bodyPr>
          <a:lstStyle/>
          <a:p>
            <a:pPr lvl="0" algn="just">
              <a:buSzPts val="2800"/>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 Triển khai thực tế chiến lược cho Crypto Binance, SSI</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-DNSE, </a:t>
            </a:r>
            <a:r>
              <a:rPr lang="vi-VN" sz="2800" b="1" i="1" dirty="0">
                <a:solidFill>
                  <a:srgbClr val="FF0000"/>
                </a:solidFill>
              </a:rPr>
              <a:t>Forex MT5</a:t>
            </a:r>
            <a:endParaRPr sz="2800" b="0" i="0" u="none" strike="noStrike" cap="none" dirty="0">
              <a:solidFill>
                <a:srgbClr val="000000"/>
              </a:solidFill>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2800" b="1" i="1" u="none" strike="noStrike" cap="none" dirty="0">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482536" y="4841005"/>
            <a:ext cx="3661464"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a:solidFill>
                  <a:schemeClr val="dk1"/>
                </a:solidFill>
                <a:latin typeface="Arial" panose="020B0604020202020204"/>
                <a:ea typeface="Arial" panose="020B0604020202020204"/>
                <a:cs typeface="Arial" panose="020B0604020202020204"/>
                <a:sym typeface="Arial" panose="020B0604020202020204"/>
              </a:rPr>
              <a:t>GV. Đặng Trí Thanh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Nội dung chính</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algn="l" rtl="0">
              <a:lnSpc>
                <a:spcPct val="115000"/>
              </a:lnSpc>
              <a:spcBef>
                <a:spcPts val="1600"/>
              </a:spcBef>
              <a:spcAft>
                <a:spcPts val="0"/>
              </a:spcAft>
              <a:buClr>
                <a:schemeClr val="dk1"/>
              </a:buClr>
              <a:buSzPts val="2000"/>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Chiến lược và Auto Trade</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cho</a:t>
            </a: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15000"/>
              </a:lnSpc>
              <a:spcBef>
                <a:spcPts val="1600"/>
              </a:spcBef>
              <a:spcAft>
                <a:spcPts val="0"/>
              </a:spcAft>
              <a:buClr>
                <a:schemeClr val="dk1"/>
              </a:buClr>
              <a:buSzPts val="2000"/>
              <a:buFontTx/>
              <a:buChar char="-"/>
            </a:pPr>
            <a:r>
              <a:rPr lang="vi-VN" sz="1800" b="1" i="0" u="none" strike="noStrike" cap="none" dirty="0">
                <a:solidFill>
                  <a:schemeClr val="dk1"/>
                </a:solidFill>
                <a:sym typeface="Arial" panose="020B0604020202020204"/>
              </a:rPr>
              <a:t>SSI</a:t>
            </a:r>
            <a:endParaRPr lang="en-US" sz="1800" b="1" i="0" u="none" strike="noStrike" cap="none" dirty="0">
              <a:solidFill>
                <a:schemeClr val="dk1"/>
              </a:solidFill>
              <a:sym typeface="Arial" panose="020B0604020202020204"/>
            </a:endParaRPr>
          </a:p>
          <a:p>
            <a:pPr marL="387350" marR="0" lvl="0" indent="-285750" algn="l" rtl="0">
              <a:lnSpc>
                <a:spcPct val="115000"/>
              </a:lnSpc>
              <a:spcBef>
                <a:spcPts val="1600"/>
              </a:spcBef>
              <a:spcAft>
                <a:spcPts val="0"/>
              </a:spcAft>
              <a:buClr>
                <a:schemeClr val="dk1"/>
              </a:buClr>
              <a:buSzPts val="2000"/>
              <a:buFontTx/>
              <a:buChar char="-"/>
            </a:pPr>
            <a:r>
              <a:rPr lang="en-US" sz="1800" b="1" dirty="0">
                <a:solidFill>
                  <a:schemeClr val="dk1"/>
                </a:solidFill>
              </a:rPr>
              <a:t>DNSE</a:t>
            </a:r>
            <a:endParaRPr sz="1800" b="1" i="0" u="none" strike="noStrike" cap="none" dirty="0">
              <a:solidFill>
                <a:schemeClr val="dk1"/>
              </a:solidFill>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p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Mô hình hệ thống</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7" name="Google Shape;107;p1"/>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Xây dựng chiến lược</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Lập trình</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Backtesting</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Tự động hóa</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OG: Order Good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OF: Order Follower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800"/>
              <a:buFont typeface="Arial" panose="020B0604020202020204"/>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1"/>
        <p:cNvGrpSpPr/>
        <p:nvPr/>
      </p:nvGrpSpPr>
      <p:grpSpPr>
        <a:xfrm>
          <a:off x="0" y="0"/>
          <a:ext cx="0" cy="0"/>
          <a:chOff x="0" y="0"/>
          <a:chExt cx="0" cy="0"/>
        </a:xfrm>
      </p:grpSpPr>
      <p:sp>
        <p:nvSpPr>
          <p:cNvPr id="112" name="Google Shape;112;p5"/>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13" name="Google Shape;113;p5"/>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Đây là bước phát triển </a:t>
            </a:r>
            <a:r>
              <a:rPr lang="vi-VN" sz="1600" b="1" i="0" u="sng" strike="noStrike" cap="none">
                <a:solidFill>
                  <a:srgbClr val="000000"/>
                </a:solidFill>
                <a:latin typeface="Arial" panose="020B0604020202020204"/>
                <a:ea typeface="Arial" panose="020B0604020202020204"/>
                <a:cs typeface="Arial" panose="020B0604020202020204"/>
                <a:sym typeface="Arial" panose="020B0604020202020204"/>
              </a:rPr>
              <a:t>các quy tắc và điều kiện cho việc giao dịch</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Các quy tắc giao dịch rõ ràng và cụ thể. Những quy tắc này có thể dựa trên các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chỉ báo kỹ thuật</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mô hình giá</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hoặc các loại phân tích khác như phân tích cơ bản hoặc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tin tức</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Cụ thể hóa những quy tắc này thành các hướng dẫn chi tiết về khi nào và làm thế nào để thực hiện giao dịch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Ví dụ cho Chiến lược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Doji chân dài - Mua chứng khoán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Tần Suất Giao Dịch: Nến theo khung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nào</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=&gt;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Ngày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Biểu đồ giá: Các chỉ số OHLC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Timeframe của sàn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OHLC (Timeframe của mình: Ví dụ: 5m+2)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Chỉ Báo Kỹ Thuật: Sử dụng các chỉ báo như trung bình động, RSI (Relative Strength Index), MACD (Moving Average Convergence Divergence) để xác định điểm mua hoặc bán</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=&gt; Tín hiệu Mua hoặc Bán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7"/>
        <p:cNvGrpSpPr/>
        <p:nvPr/>
      </p:nvGrpSpPr>
      <p:grpSpPr>
        <a:xfrm>
          <a:off x="0" y="0"/>
          <a:ext cx="0" cy="0"/>
          <a:chOff x="0" y="0"/>
          <a:chExt cx="0" cy="0"/>
        </a:xfrm>
      </p:grpSpPr>
      <p:sp>
        <p:nvSpPr>
          <p:cNvPr id="118" name="Google Shape;118;p6"/>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19" name="Google Shape;119;p6"/>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Doji Chân dài – Mua</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l" rtl="0">
              <a:lnSpc>
                <a:spcPct val="115000"/>
              </a:lnSpc>
              <a:spcBef>
                <a:spcPts val="1600"/>
              </a:spcBef>
              <a:spcAft>
                <a:spcPts val="0"/>
              </a:spcAft>
              <a:buClr>
                <a:schemeClr val="dk1"/>
              </a:buClr>
              <a:buSzPts val="2000"/>
              <a:buFont typeface="Arial" panose="020B0604020202020204"/>
              <a:buAutoNum type="alphaLcParenR"/>
            </a:pPr>
            <a:r>
              <a:rPr lang="vi-VN" sz="1600" b="1" i="0" u="sng" strike="noStrike" cap="none">
                <a:solidFill>
                  <a:schemeClr val="dk1"/>
                </a:solidFill>
                <a:latin typeface="Arial" panose="020B0604020202020204"/>
                <a:ea typeface="Arial" panose="020B0604020202020204"/>
                <a:cs typeface="Arial" panose="020B0604020202020204"/>
                <a:sym typeface="Arial" panose="020B0604020202020204"/>
              </a:rPr>
              <a:t>Nhận diện nến Doji chân dài: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00000"/>
              </a:lnSpc>
              <a:spcBef>
                <a:spcPts val="1600"/>
              </a:spcBef>
              <a:spcAft>
                <a:spcPts val="0"/>
              </a:spcAft>
              <a:buClr>
                <a:schemeClr val="dk1"/>
              </a:buClr>
              <a:buSzPts val="2000"/>
              <a:buFont typeface="Arial" panose="020B0604020202020204"/>
              <a:buChar char="-"/>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Là nến Doji: Nến Doji là nến có giá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mở cửa và đóng cửa </a:t>
            </a:r>
            <a:r>
              <a:rPr lang="vi-VN" sz="1600" b="1" i="0" u="none" strike="noStrike" cap="none">
                <a:solidFill>
                  <a:srgbClr val="FFC000"/>
                </a:solidFill>
                <a:latin typeface="Arial" panose="020B0604020202020204"/>
                <a:ea typeface="Arial" panose="020B0604020202020204"/>
                <a:cs typeface="Arial" panose="020B0604020202020204"/>
                <a:sym typeface="Arial" panose="020B0604020202020204"/>
              </a:rPr>
              <a:t>gần bằng nhau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(không quan trọng giá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Open &gt; hơn hay &lt; giá Close</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00000"/>
              </a:lnSpc>
              <a:spcBef>
                <a:spcPts val="1600"/>
              </a:spcBef>
              <a:spcAft>
                <a:spcPts val="0"/>
              </a:spcAft>
              <a:buClr>
                <a:schemeClr val="dk1"/>
              </a:buClr>
              <a:buSzPts val="2000"/>
              <a:buFont typeface="Arial" panose="020B0604020202020204"/>
              <a:buChar char="-"/>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Là nến Doji có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00000"/>
              </a:lnSpc>
              <a:spcBef>
                <a:spcPts val="1600"/>
              </a:spcBef>
              <a:spcAft>
                <a:spcPts val="0"/>
              </a:spcAft>
              <a:buClr>
                <a:srgbClr val="000000"/>
              </a:buClr>
              <a:buSzPts val="1600"/>
              <a:buFont typeface="Arial" panose="020B0604020202020204"/>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Bóng nến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trên &gt;= 2 lần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thân nến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và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bóng nến dưới &gt;= 2 lần thân nến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20" name="Google Shape;120;p6"/>
          <p:cNvSpPr txBox="1"/>
          <p:nvPr/>
        </p:nvSpPr>
        <p:spPr>
          <a:xfrm>
            <a:off x="1260739" y="5508638"/>
            <a:ext cx="74157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vi-VN" sz="1800" b="1" i="0" u="none" strike="noStrike" cap="none">
                <a:solidFill>
                  <a:srgbClr val="00B050"/>
                </a:solidFill>
                <a:latin typeface="Arial" panose="020B0604020202020204"/>
                <a:ea typeface="Arial" panose="020B0604020202020204"/>
                <a:cs typeface="Arial" panose="020B0604020202020204"/>
                <a:sym typeface="Arial" panose="020B0604020202020204"/>
              </a:rPr>
              <a:t>GIÁ MỞ CỦA &amp; GIÁ ĐÓNG CỬA GẦN NHƯ NẰM TẠI CÙNG 1 ĐIỂM</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21" name="Google Shape;121;p6"/>
          <p:cNvPicPr preferRelativeResize="0"/>
          <p:nvPr/>
        </p:nvPicPr>
        <p:blipFill rotWithShape="1">
          <a:blip r:embed="rId2"/>
          <a:srcRect/>
          <a:stretch>
            <a:fillRect/>
          </a:stretch>
        </p:blipFill>
        <p:spPr>
          <a:xfrm>
            <a:off x="304800" y="5355301"/>
            <a:ext cx="833200" cy="689000"/>
          </a:xfrm>
          <a:prstGeom prst="rect">
            <a:avLst/>
          </a:prstGeom>
          <a:noFill/>
          <a:ln>
            <a:noFill/>
          </a:ln>
        </p:spPr>
      </p:pic>
      <p:pic>
        <p:nvPicPr>
          <p:cNvPr id="122" name="Google Shape;122;p6"/>
          <p:cNvPicPr preferRelativeResize="0"/>
          <p:nvPr/>
        </p:nvPicPr>
        <p:blipFill rotWithShape="1">
          <a:blip r:embed="rId3"/>
          <a:srcRect/>
          <a:stretch>
            <a:fillRect/>
          </a:stretch>
        </p:blipFill>
        <p:spPr>
          <a:xfrm>
            <a:off x="1017930" y="3403425"/>
            <a:ext cx="2409482" cy="21052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26"/>
        <p:cNvGrpSpPr/>
        <p:nvPr/>
      </p:nvGrpSpPr>
      <p:grpSpPr>
        <a:xfrm>
          <a:off x="0" y="0"/>
          <a:ext cx="0" cy="0"/>
          <a:chOff x="0" y="0"/>
          <a:chExt cx="0" cy="0"/>
        </a:xfrm>
      </p:grpSpPr>
      <p:sp>
        <p:nvSpPr>
          <p:cNvPr id="127" name="Google Shape;127;p7"/>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28" name="Google Shape;128;p7"/>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1. Chiến lược Doji Chân dài – Mua (tt)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Chiến lược vào lệnh: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Cần nến xác nhận: </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Sau khi xuất hiện nến Doji chân dài =&gt; Cần 1 nến xác nhận xu hướng</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Quan sát nến tiếp theo:</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just" rtl="0">
              <a:lnSpc>
                <a:spcPct val="100000"/>
              </a:lnSpc>
              <a:spcBef>
                <a:spcPts val="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Nếu nến tiếp theo sau Doji là một nến giảm (màu đỏ hoặc đen) và đóng cửa dưới thân nến của Doji, điều này có thể được coi là một nến xác nhận giảm giá.</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just" rtl="0">
              <a:lnSpc>
                <a:spcPct val="100000"/>
              </a:lnSpc>
              <a:spcBef>
                <a:spcPts val="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Ngược lại, nếu nến tiếp theo là một nến tăng (màu xanh lá hoặc trắng) và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đóng cửa trên thân nến của Doji</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nó có thể là một nến xác nhận tăng giá.</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Code kiểm tra nến xác nhận sau nến Doji chân dài 1 nến: </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Vậy nếu code để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kiểm tra nến xác nhận sau nến Doji chân dài 1 nến </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thì chúng ta sẽ code gì?</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1"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Nếu nến tiếp theo là một nến tăng (màu xanh lá hoặc trắng) và đóng cửa trên thân nến của Doji, nó có thể là một nến xác nhận tăng giá. =&gt; </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Thực hiện chiến lược mua vào</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2"/>
        <p:cNvGrpSpPr/>
        <p:nvPr/>
      </p:nvGrpSpPr>
      <p:grpSpPr>
        <a:xfrm>
          <a:off x="0" y="0"/>
          <a:ext cx="0" cy="0"/>
          <a:chOff x="0" y="0"/>
          <a:chExt cx="0" cy="0"/>
        </a:xfrm>
      </p:grpSpPr>
      <p:sp>
        <p:nvSpPr>
          <p:cNvPr id="133" name="Google Shape;133;p8"/>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4" name="Google Shape;134;p8"/>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1. Chiến lược Doji Chân dài – Mua (tt)</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Tổng hợp tư duy code</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1/ Code nhận diện nến Doji chân dài: Vậy nếu code để nhận diện nến Doji chân dài thì chúng ta sẽ code gì?</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Kiểm tra giá mở cửa và đóng cửa có gần bằng nhau không?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Kiểm tra bóng nến trên có lớn hơn hoặc bằng 2 lần thân nến không?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Kiểm tra bóng nến dưới có lớn hơn hoặc bằng 2 lần thân nến không?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2/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Code kiểm tra nến xác nhận sau nến Doji chân dài 1 nến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Vậy nếu code để kiểm tra nến xác nhận sau nến Doji chân dài 1 nến thì chúng ta sẽ code gì?</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Nếu nến tiếp theo là một nến tăng (màu xanh lá hoặc trắng) và đóng cửa trên thân nến của Doji, nó có thể là một nến xác nhận tăng giá. =&gt; Thực hiện chiến lược mua vào</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8"/>
        <p:cNvGrpSpPr/>
        <p:nvPr/>
      </p:nvGrpSpPr>
      <p:grpSpPr>
        <a:xfrm>
          <a:off x="0" y="0"/>
          <a:ext cx="0" cy="0"/>
          <a:chOff x="0" y="0"/>
          <a:chExt cx="0" cy="0"/>
        </a:xfrm>
      </p:grpSpPr>
      <p:sp>
        <p:nvSpPr>
          <p:cNvPr id="139" name="Google Shape;139;p9"/>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40" name="Google Shape;140;p9"/>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1. Chiến lược Doji Chân dài – Mua (tt)</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Code chiến lược: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15000"/>
              </a:lnSpc>
              <a:spcBef>
                <a:spcPts val="1600"/>
              </a:spcBef>
              <a:spcAft>
                <a:spcPts val="0"/>
              </a:spcAft>
              <a:buClr>
                <a:schemeClr val="dk1"/>
              </a:buClr>
              <a:buSzPts val="2000"/>
              <a:buFont typeface="Arial" panose="020B0604020202020204"/>
              <a:buChar char="-"/>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Vậy kiểm tra nến hiện tại có phải là nến tăng hay không =&gt; Nếu nến tăng thì kiểm tra nến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trước</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nến hiện tại 1 nến có phải là nến Doji chân dài hay không =&gt; Kiểm tra nến hiện tại có giá </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đóng cửa trên thân nến của Doji, nó có thể là một nến xác nhận tăng giá</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=&gt; Nếu cả 2 điều kiện đó thỏa thì vào 1 lệnh mua</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44"/>
        <p:cNvGrpSpPr/>
        <p:nvPr/>
      </p:nvGrpSpPr>
      <p:grpSpPr>
        <a:xfrm>
          <a:off x="0" y="0"/>
          <a:ext cx="0" cy="0"/>
          <a:chOff x="0" y="0"/>
          <a:chExt cx="0" cy="0"/>
        </a:xfrm>
      </p:grpSpPr>
      <p:sp>
        <p:nvSpPr>
          <p:cNvPr id="145" name="Google Shape;145;p1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46" name="Google Shape;146;p10"/>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Doji Chân dài – Mua</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l" rtl="0">
              <a:lnSpc>
                <a:spcPct val="115000"/>
              </a:lnSpc>
              <a:spcBef>
                <a:spcPts val="1600"/>
              </a:spcBef>
              <a:spcAft>
                <a:spcPts val="0"/>
              </a:spcAft>
              <a:buClr>
                <a:schemeClr val="dk1"/>
              </a:buClr>
              <a:buSzPts val="2000"/>
              <a:buFont typeface="Arial" panose="020B0604020202020204"/>
              <a:buAutoNum type="alphaLcParenR" startAt="2"/>
            </a:pPr>
            <a:r>
              <a:rPr lang="vi-VN" sz="1600" b="1" i="0" u="sng" strike="noStrike" cap="none">
                <a:solidFill>
                  <a:schemeClr val="dk1"/>
                </a:solidFill>
                <a:latin typeface="Arial" panose="020B0604020202020204"/>
                <a:ea typeface="Arial" panose="020B0604020202020204"/>
                <a:cs typeface="Arial" panose="020B0604020202020204"/>
                <a:sym typeface="Arial" panose="020B0604020202020204"/>
              </a:rPr>
              <a:t>Các loại nến Doji khác</a:t>
            </a:r>
            <a:endParaRPr sz="1600" b="1" i="0" u="sng"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47" name="Google Shape;147;p10"/>
          <p:cNvPicPr preferRelativeResize="0"/>
          <p:nvPr/>
        </p:nvPicPr>
        <p:blipFill rotWithShape="1">
          <a:blip r:embed="rId2"/>
          <a:srcRect/>
          <a:stretch>
            <a:fillRect/>
          </a:stretch>
        </p:blipFill>
        <p:spPr>
          <a:xfrm>
            <a:off x="304801" y="2696264"/>
            <a:ext cx="4479976" cy="1744166"/>
          </a:xfrm>
          <a:prstGeom prst="rect">
            <a:avLst/>
          </a:prstGeom>
          <a:noFill/>
          <a:ln>
            <a:noFill/>
          </a:ln>
        </p:spPr>
      </p:pic>
      <p:sp>
        <p:nvSpPr>
          <p:cNvPr id="148" name="Google Shape;148;p10"/>
          <p:cNvSpPr txBox="1"/>
          <p:nvPr/>
        </p:nvSpPr>
        <p:spPr>
          <a:xfrm>
            <a:off x="1260739" y="1897226"/>
            <a:ext cx="74157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vi-VN" sz="1800" b="1" i="0" u="none" strike="noStrike" cap="none">
                <a:solidFill>
                  <a:srgbClr val="00B050"/>
                </a:solidFill>
                <a:latin typeface="Arial" panose="020B0604020202020204"/>
                <a:ea typeface="Arial" panose="020B0604020202020204"/>
                <a:cs typeface="Arial" panose="020B0604020202020204"/>
                <a:sym typeface="Arial" panose="020B0604020202020204"/>
              </a:rPr>
              <a:t>GIÁ MỞ CỦA &amp; GIÁ ĐÓNG CỬA GẦN NHƯ NẰM TẠI CÙNG 1 ĐIỂM</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49" name="Google Shape;149;p10"/>
          <p:cNvPicPr preferRelativeResize="0"/>
          <p:nvPr/>
        </p:nvPicPr>
        <p:blipFill rotWithShape="1">
          <a:blip r:embed="rId3"/>
          <a:srcRect/>
          <a:stretch>
            <a:fillRect/>
          </a:stretch>
        </p:blipFill>
        <p:spPr>
          <a:xfrm>
            <a:off x="304800" y="1743889"/>
            <a:ext cx="833200" cy="689000"/>
          </a:xfrm>
          <a:prstGeom prst="rect">
            <a:avLst/>
          </a:prstGeom>
          <a:noFill/>
          <a:ln>
            <a:noFill/>
          </a:ln>
        </p:spPr>
      </p:pic>
      <p:pic>
        <p:nvPicPr>
          <p:cNvPr id="150" name="Google Shape;150;p10"/>
          <p:cNvPicPr preferRelativeResize="0"/>
          <p:nvPr/>
        </p:nvPicPr>
        <p:blipFill rotWithShape="1">
          <a:blip r:embed="rId4"/>
          <a:srcRect/>
          <a:stretch>
            <a:fillRect/>
          </a:stretch>
        </p:blipFill>
        <p:spPr>
          <a:xfrm>
            <a:off x="4784777" y="2254031"/>
            <a:ext cx="4359223" cy="26487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54"/>
        <p:cNvGrpSpPr/>
        <p:nvPr/>
      </p:nvGrpSpPr>
      <p:grpSpPr>
        <a:xfrm>
          <a:off x="0" y="0"/>
          <a:ext cx="0" cy="0"/>
          <a:chOff x="0" y="0"/>
          <a:chExt cx="0" cy="0"/>
        </a:xfrm>
      </p:grpSpPr>
      <p:sp>
        <p:nvSpPr>
          <p:cNvPr id="155" name="Google Shape;155;p1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6" name="Google Shape;156;p11"/>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giao dịch theo chỉ số biến động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Chiến lược SPY500 – VIX)</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Clr>
                <a:schemeClr val="dk1"/>
              </a:buClr>
              <a:buSzPts val="2000"/>
              <a:buFont typeface="Arial" panose="020B0604020202020204"/>
              <a:buChar char="-"/>
            </a:pPr>
            <a:r>
              <a:rPr lang="vi-VN" sz="1800" b="0" i="0" u="none" strike="noStrike" cap="none">
                <a:solidFill>
                  <a:schemeClr val="dk1"/>
                </a:solidFill>
                <a:latin typeface="Arial" panose="020B0604020202020204"/>
                <a:ea typeface="Arial" panose="020B0604020202020204"/>
                <a:cs typeface="Arial" panose="020B0604020202020204"/>
                <a:sym typeface="Arial" panose="020B0604020202020204"/>
              </a:rPr>
              <a:t>SPY là chứng chỉ quỹ: </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S&amp;P 500 ETF (SPY) theo dõi chỉ số S&amp;P 500, một trong những chỉ số chính của thị trường chứng khoán Mỹ, bao gồm cổ phiếu của 500 công ty lớn nhất tại Mỹ. Về lịch sử,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S&amp;P 500 thường có xu hướng tăng trưởng trong dài hạn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nhưng không phải mỗi năm đều tăng. Giá trị của SPY, tương tự như S&amp;P 500, biến động dựa trên nhiều yếu tố, bao gồm tình hình kinh tế vĩ mô, chính sách tiền tệ, lợi nhuận của doanh nghiệp, và các sự kiện toàn cầu.</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Clr>
                <a:schemeClr val="dk1"/>
              </a:buClr>
              <a:buSzPts val="2000"/>
              <a:buFont typeface="Arial" panose="020B0604020202020204"/>
              <a:buChar char="-"/>
            </a:pPr>
            <a:r>
              <a:rPr lang="vi-VN" sz="1800" b="0" i="0" u="none" strike="noStrike" cap="none">
                <a:solidFill>
                  <a:srgbClr val="FF0000"/>
                </a:solidFill>
                <a:latin typeface="Arial" panose="020B0604020202020204"/>
                <a:ea typeface="Arial" panose="020B0604020202020204"/>
                <a:cs typeface="Arial" panose="020B0604020202020204"/>
                <a:sym typeface="Arial" panose="020B0604020202020204"/>
              </a:rPr>
              <a:t>Giao dịch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SPY dựa vào chỉ số biến động thị trường (đo lường bởi VIX):</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Mua và nắm giữ SPY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Khi thị trường có biến động (VIX cao), chiến lược đề xuất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bán để giữ tiền mặt</a:t>
            </a:r>
            <a:endParaRPr sz="1600" b="0"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Khi thị trường ổn định (VIX thấp),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chiến lược lại đề xuất mua</a:t>
            </a:r>
            <a:endParaRPr sz="1600" b="0"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215900" algn="just" rtl="0">
              <a:lnSpc>
                <a:spcPct val="115000"/>
              </a:lnSpc>
              <a:spcBef>
                <a:spcPts val="1600"/>
              </a:spcBef>
              <a:spcAft>
                <a:spcPts val="0"/>
              </a:spcAft>
              <a:buClr>
                <a:schemeClr val="dk1"/>
              </a:buClr>
              <a:buSzPts val="20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60"/>
        <p:cNvGrpSpPr/>
        <p:nvPr/>
      </p:nvGrpSpPr>
      <p:grpSpPr>
        <a:xfrm>
          <a:off x="0" y="0"/>
          <a:ext cx="0" cy="0"/>
          <a:chOff x="0" y="0"/>
          <a:chExt cx="0" cy="0"/>
        </a:xfrm>
      </p:grpSpPr>
      <p:sp>
        <p:nvSpPr>
          <p:cNvPr id="161" name="Google Shape;161;p1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2" name="Google Shape;162;p1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giao dịch theo chỉ số biến động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Chiến lược SPY500 – VIX) (tt)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0000"/>
              </a:lnSpc>
              <a:spcBef>
                <a:spcPts val="0"/>
              </a:spcBef>
              <a:spcAft>
                <a:spcPts val="0"/>
              </a:spcAft>
              <a:buClr>
                <a:srgbClr val="000000"/>
              </a:buClr>
              <a:buSzPts val="1600"/>
              <a:buFont typeface="Arial" panose="020B0604020202020204"/>
              <a:buChar char="-"/>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Mua và Nắm Giữ SPY</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Chiến lược này dự định mua và nắm giữ SPY, một quỹ đầu tư ETF theo dõi chỉ số S&amp;P 500, trong những điều kiện nhất định của thị trường.</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0000"/>
              </a:lnSpc>
              <a:spcBef>
                <a:spcPts val="0"/>
              </a:spcBef>
              <a:spcAft>
                <a:spcPts val="0"/>
              </a:spcAft>
              <a:buClr>
                <a:srgbClr val="000000"/>
              </a:buClr>
              <a:buSzPts val="1600"/>
              <a:buFont typeface="Arial" panose="020B0604020202020204"/>
              <a:buChar char="-"/>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Bán Khi Biến Động Cao (VIX Cao)</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Khi chỉ số biến động VIX vượt qua một ngưỡng nhất định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trong trường hợp này là 30</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điều này coi như một dấu hiệu của sự biến động cao trong thị trường. Chiến lược này đề xuất việc bán SPY và giữ tiền mặt trong những thời kỳ như vậy. Điều này dựa trên quan điểm rằng khi thị trường biến động mạnh, việc giữ tiền mặt có thể là an toàn hơn so với việc giữ các tài sản có giá biến động lớn.</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0000"/>
              </a:lnSpc>
              <a:spcBef>
                <a:spcPts val="0"/>
              </a:spcBef>
              <a:spcAft>
                <a:spcPts val="0"/>
              </a:spcAft>
              <a:buClr>
                <a:srgbClr val="000000"/>
              </a:buClr>
              <a:buSzPts val="1600"/>
              <a:buFont typeface="Arial" panose="020B0604020202020204"/>
              <a:buChar char="-"/>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Mua Khi Thị Trường Ổn Định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VIX Thấp</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Ngược lại, khi chỉ số VIX thấp, điều này cho thấy thị trường đang ổn định hơn, chiến lược này đề xuất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mua SP</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Y. Quan điểm ở đây là trong môi trường ít biến động, đầu tư vào thị trường chứng khoán (qua SPY) có thể mang lại lợi nhuận tốt hơn so với việc giữ tiền mặt.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215900" algn="just" rtl="0">
              <a:lnSpc>
                <a:spcPct val="115000"/>
              </a:lnSpc>
              <a:spcBef>
                <a:spcPts val="1600"/>
              </a:spcBef>
              <a:spcAft>
                <a:spcPts val="0"/>
              </a:spcAft>
              <a:buClr>
                <a:schemeClr val="dk1"/>
              </a:buClr>
              <a:buSzPts val="20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66"/>
        <p:cNvGrpSpPr/>
        <p:nvPr/>
      </p:nvGrpSpPr>
      <p:grpSpPr>
        <a:xfrm>
          <a:off x="0" y="0"/>
          <a:ext cx="0" cy="0"/>
          <a:chOff x="0" y="0"/>
          <a:chExt cx="0" cy="0"/>
        </a:xfrm>
      </p:grpSpPr>
      <p:sp>
        <p:nvSpPr>
          <p:cNvPr id="167" name="Google Shape;167;p1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8" name="Google Shape;168;p1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giao dịch theo chỉ số biến động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Chiến lược SPY500 – VIX) (tt)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Code chiến lược:</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15000"/>
              </a:lnSpc>
              <a:spcBef>
                <a:spcPts val="1600"/>
              </a:spcBef>
              <a:spcAft>
                <a:spcPts val="0"/>
              </a:spcAft>
              <a:buClr>
                <a:schemeClr val="dk1"/>
              </a:buClr>
              <a:buSzPts val="2000"/>
              <a:buFont typeface="Arial" panose="020B0604020202020204"/>
              <a:buChar char="-"/>
            </a:pP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Load data của 1 ngày mới nhất (hiện tại)</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15000"/>
              </a:lnSpc>
              <a:spcBef>
                <a:spcPts val="1600"/>
              </a:spcBef>
              <a:spcAft>
                <a:spcPts val="0"/>
              </a:spcAft>
              <a:buClr>
                <a:schemeClr val="dk1"/>
              </a:buClr>
              <a:buSzPts val="2000"/>
              <a:buFont typeface="Arial" panose="020B0604020202020204"/>
              <a:buChar char="-"/>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Kiểm tra xem ngưỡng VIX: nếu VIX nhỏ hơn ngưỡng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ví dụ như 30</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thì mua, ngược lại nếu VIX lớn hơn ngưỡng thì bán</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44500" marR="0" lvl="0" indent="-215900" algn="just" rtl="0">
              <a:lnSpc>
                <a:spcPct val="115000"/>
              </a:lnSpc>
              <a:spcBef>
                <a:spcPts val="1600"/>
              </a:spcBef>
              <a:spcAft>
                <a:spcPts val="0"/>
              </a:spcAft>
              <a:buClr>
                <a:schemeClr val="dk1"/>
              </a:buClr>
              <a:buSzPts val="20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2"/>
        <p:cNvGrpSpPr/>
        <p:nvPr/>
      </p:nvGrpSpPr>
      <p:grpSpPr>
        <a:xfrm>
          <a:off x="0" y="0"/>
          <a:ext cx="0" cy="0"/>
          <a:chOff x="0" y="0"/>
          <a:chExt cx="0" cy="0"/>
        </a:xfrm>
      </p:grpSpPr>
      <p:sp>
        <p:nvSpPr>
          <p:cNvPr id="173" name="Google Shape;173;p14"/>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4" name="Google Shape;174;p14"/>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3"/>
            </a:pPr>
            <a:r>
              <a:rPr lang="vi-VN"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Chiến lược giao dịch MA, ATR</a:t>
            </a:r>
            <a:endParaRPr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Tính MA và ATR</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ma_</a:t>
            </a:r>
            <a:r>
              <a:rPr lang="vi-VN" sz="1400" b="0" i="0" u="none" strike="noStrike" cap="none" dirty="0">
                <a:solidFill>
                  <a:srgbClr val="FF0000"/>
                </a:solidFill>
                <a:latin typeface="Arial" panose="020B0604020202020204"/>
                <a:ea typeface="Arial" panose="020B0604020202020204"/>
                <a:cs typeface="Arial" panose="020B0604020202020204"/>
                <a:sym typeface="Arial" panose="020B0604020202020204"/>
              </a:rPr>
              <a:t>fast</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_period = 50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ma_</a:t>
            </a:r>
            <a:r>
              <a:rPr lang="vi-VN" sz="1400" b="0" i="0" u="none" strike="noStrike" cap="none" dirty="0">
                <a:solidFill>
                  <a:srgbClr val="FF0000"/>
                </a:solidFill>
                <a:latin typeface="Arial" panose="020B0604020202020204"/>
                <a:ea typeface="Arial" panose="020B0604020202020204"/>
                <a:cs typeface="Arial" panose="020B0604020202020204"/>
                <a:sym typeface="Arial" panose="020B0604020202020204"/>
              </a:rPr>
              <a:t>slow</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_period = 200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FF0000"/>
                </a:solidFill>
                <a:latin typeface="Arial" panose="020B0604020202020204"/>
                <a:ea typeface="Arial" panose="020B0604020202020204"/>
                <a:cs typeface="Arial" panose="020B0604020202020204"/>
                <a:sym typeface="Arial" panose="020B0604020202020204"/>
              </a:rPr>
              <a:t>atr</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_period = 14</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atr_threshold = 1000 # 1000 dong so voi gia thuc te 85 100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Clr>
                <a:srgbClr val="000000"/>
              </a:buClr>
              <a:buSzPts val="14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Xác định tín hiệu mua</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data['Signal'] = np.where((data['</a:t>
            </a:r>
            <a:r>
              <a:rPr lang="vi-VN" sz="1400" b="0" i="0" u="none" strike="noStrike" cap="none" dirty="0">
                <a:solidFill>
                  <a:srgbClr val="FF0000"/>
                </a:solidFill>
                <a:latin typeface="Arial" panose="020B0604020202020204"/>
                <a:ea typeface="Arial" panose="020B0604020202020204"/>
                <a:cs typeface="Arial" panose="020B0604020202020204"/>
                <a:sym typeface="Arial" panose="020B0604020202020204"/>
              </a:rPr>
              <a:t>MA_Fast</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&gt; data['</a:t>
            </a:r>
            <a:r>
              <a:rPr lang="vi-VN" sz="1400" b="0" i="0" u="none" strike="noStrike" cap="none" dirty="0">
                <a:solidFill>
                  <a:srgbClr val="FF0000"/>
                </a:solidFill>
                <a:latin typeface="Arial" panose="020B0604020202020204"/>
                <a:ea typeface="Arial" panose="020B0604020202020204"/>
                <a:cs typeface="Arial" panose="020B0604020202020204"/>
                <a:sym typeface="Arial" panose="020B0604020202020204"/>
              </a:rPr>
              <a:t>MA_Slow</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&amp; (data['ATR'] &lt;= atr_threshold), </a:t>
            </a:r>
            <a:r>
              <a:rPr lang="vi-VN" sz="1400" b="0" i="0" u="none" strike="noStrike" cap="none" dirty="0">
                <a:solidFill>
                  <a:srgbClr val="FF0000"/>
                </a:solidFill>
                <a:latin typeface="Arial" panose="020B0604020202020204"/>
                <a:ea typeface="Arial" panose="020B0604020202020204"/>
                <a:cs typeface="Arial" panose="020B0604020202020204"/>
                <a:sym typeface="Arial" panose="020B0604020202020204"/>
              </a:rPr>
              <a:t>1</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8"/>
        <p:cNvGrpSpPr/>
        <p:nvPr/>
      </p:nvGrpSpPr>
      <p:grpSpPr>
        <a:xfrm>
          <a:off x="0" y="0"/>
          <a:ext cx="0" cy="0"/>
          <a:chOff x="0" y="0"/>
          <a:chExt cx="0" cy="0"/>
        </a:xfrm>
      </p:grpSpPr>
      <p:sp>
        <p:nvSpPr>
          <p:cNvPr id="179" name="Google Shape;179;p15"/>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80" name="Google Shape;180;p15"/>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4"/>
            </a:pPr>
            <a:r>
              <a:rPr lang="vi-VN"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Chiến lược giao dịch đường Bollinger Bands và RSI</a:t>
            </a:r>
            <a:endParaRPr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Tính toán SMA và độ lệch chuẩn cho giá đóng cửa</a:t>
            </a:r>
            <a:endParaRPr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window = 20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data['SMA'] = data['Close'].rolling(window=window).mean()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data['STD'] = data['Close'].rolling(window=window).std()</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b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Tính toán Bollinger Bands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data['Upper_Band'] = data['SMA'] + (data['STD'] * 2)</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data['Lower_Band'] = data['SMA'] - (data['STD'] * 2)</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b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Thiết lập cửa sổ thời gian và tính RSI</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windowRSI = 14</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def compute_rsi(data, window=windowRSI):</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delta = data.diff()</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up, down = delta.copy(), delta.copy()</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up[up &lt; 0] = 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down[down &gt; 0] = 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gain = up.rolling(window=window).mean()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loss = down.abs().rolling(window=window).mean()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RS = gain / loss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return 100 - (100 / (1 + RS))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b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data['RSI'] = compute_rsi(data['Close'])</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b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 Tạo cột tín hiệu mua và bán</a:t>
            </a:r>
            <a:endParaRPr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data['Buy_Signal'] = ((data['Close'] &lt;= data['Lower_Band']) &amp; (data['RSI'] &lt; 30))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vi-VN" sz="12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data['Sell_Signal'] = ((data['Close'] &gt;= data['Upper_Band']) &amp; (data['RSI'] &gt; 70))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200"/>
              <a:buFont typeface="Arial" panose="020B0604020202020204"/>
              <a:buNone/>
            </a:pPr>
            <a:endParaRPr sz="12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84"/>
        <p:cNvGrpSpPr/>
        <p:nvPr/>
      </p:nvGrpSpPr>
      <p:grpSpPr>
        <a:xfrm>
          <a:off x="0" y="0"/>
          <a:ext cx="0" cy="0"/>
          <a:chOff x="0" y="0"/>
          <a:chExt cx="0" cy="0"/>
        </a:xfrm>
      </p:grpSpPr>
      <p:sp>
        <p:nvSpPr>
          <p:cNvPr id="185" name="Google Shape;185;p16"/>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86" name="Google Shape;186;p16"/>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5"/>
            </a:pPr>
            <a:r>
              <a:rPr lang="vi-VN"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Chiến lược giao dịch đường MACD và SMA</a:t>
            </a:r>
            <a:endParaRPr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Thiết lập cửa sổ thời gian cho SMA và độ lệch chuẩn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window = 20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b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Tính toán SMA cho giá đóng cửa</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data['SMA'] = data['Close'].rolling(window=window).mean()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b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Tính toán MACD</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EMA ngắn hạn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data['short_ema'] = data['Close'].</a:t>
            </a:r>
            <a:r>
              <a:rPr lang="vi-VN" sz="1400" b="0" i="0" u="none" strike="noStrike" cap="none" dirty="0">
                <a:solidFill>
                  <a:srgbClr val="FF0000"/>
                </a:solidFill>
                <a:latin typeface="Arial" panose="020B0604020202020204"/>
                <a:ea typeface="Arial" panose="020B0604020202020204"/>
                <a:cs typeface="Arial" panose="020B0604020202020204"/>
                <a:sym typeface="Arial" panose="020B0604020202020204"/>
              </a:rPr>
              <a:t>ewm(span=12</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adjust=False).mean() # Co the su dung 5</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EMA dài hạn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data['long_ema']  = data['Close'].</a:t>
            </a:r>
            <a:r>
              <a:rPr lang="vi-VN" sz="1400" b="0" i="0" u="none" strike="noStrike" cap="none" dirty="0">
                <a:solidFill>
                  <a:srgbClr val="FF0000"/>
                </a:solidFill>
                <a:latin typeface="Arial" panose="020B0604020202020204"/>
                <a:ea typeface="Arial" panose="020B0604020202020204"/>
                <a:cs typeface="Arial" panose="020B0604020202020204"/>
                <a:sym typeface="Arial" panose="020B0604020202020204"/>
              </a:rPr>
              <a:t>ewm(span=26</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adjust=False).mean() # Co the su dung 10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Tính MACD</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data['MACD'] = data['short_ema']  - data['long_ema']</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Tính Signal Line</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data['Signal_Line'] = data['MACD'].ewm(span=9, adjust=False).mean()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b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Tạo cột tín hiệu mua/bán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data['Buy_Signal'] = (data['MACD'] &gt; data['Signal_Line']) &amp; (data['Close'] &gt; data['SMA'])</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data['Sell_Signal'] = (data['MACD'] &lt; data['Signal_Line']) &amp; (data['Close'] &lt; data['SMA'])</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b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90"/>
        <p:cNvGrpSpPr/>
        <p:nvPr/>
      </p:nvGrpSpPr>
      <p:grpSpPr>
        <a:xfrm>
          <a:off x="0" y="0"/>
          <a:ext cx="0" cy="0"/>
          <a:chOff x="0" y="0"/>
          <a:chExt cx="0" cy="0"/>
        </a:xfrm>
      </p:grpSpPr>
      <p:sp>
        <p:nvSpPr>
          <p:cNvPr id="191" name="Google Shape;191;p17"/>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2. Lập trình</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2" name="Google Shape;192;p17"/>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Xem lại code các bài trước</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96"/>
        <p:cNvGrpSpPr/>
        <p:nvPr/>
      </p:nvGrpSpPr>
      <p:grpSpPr>
        <a:xfrm>
          <a:off x="0" y="0"/>
          <a:ext cx="0" cy="0"/>
          <a:chOff x="0" y="0"/>
          <a:chExt cx="0" cy="0"/>
        </a:xfrm>
      </p:grpSpPr>
      <p:sp>
        <p:nvSpPr>
          <p:cNvPr id="197" name="Google Shape;197;p18"/>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3. Backtesting</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8" name="Google Shape;198;p18"/>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Xem lại code các bài trước</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02"/>
        <p:cNvGrpSpPr/>
        <p:nvPr/>
      </p:nvGrpSpPr>
      <p:grpSpPr>
        <a:xfrm>
          <a:off x="0" y="0"/>
          <a:ext cx="0" cy="0"/>
          <a:chOff x="0" y="0"/>
          <a:chExt cx="0" cy="0"/>
        </a:xfrm>
      </p:grpSpPr>
      <p:sp>
        <p:nvSpPr>
          <p:cNvPr id="203" name="Google Shape;203;p19"/>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4. Tự động hóa</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4" name="Google Shape;204;p19"/>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Xem lại code các bài trước</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08"/>
        <p:cNvGrpSpPr/>
        <p:nvPr/>
      </p:nvGrpSpPr>
      <p:grpSpPr>
        <a:xfrm>
          <a:off x="0" y="0"/>
          <a:ext cx="0" cy="0"/>
          <a:chOff x="0" y="0"/>
          <a:chExt cx="0" cy="0"/>
        </a:xfrm>
      </p:grpSpPr>
      <p:sp>
        <p:nvSpPr>
          <p:cNvPr id="209" name="Google Shape;209;p2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5. Order Good</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10" name="Google Shape;210;p20"/>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OG</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(Order Good): Đây là một điểm kiểm tra hoặc một tín hiệu trong hệ thống giao dịch để xác định cơ hội giao dịch tốt, hay một điểm vào lệnh tối ưu. Nó có thể dựa trên một phân tích kỹ thuật, tin tức cơ bản hoặc một kết hợp của cả hai, và chỉ ra rằng một lệnh mua hoặc bán có thể được thực hiện dựa trên các điều kiện đã được xác định trước.</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GetData</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Clr>
                <a:schemeClr val="dk1"/>
              </a:buClr>
              <a:buSzPts val="2000"/>
              <a:buFont typeface="Arial" panose="020B0604020202020204"/>
              <a:buChar char="-"/>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Sử dụng các module trong Common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Clr>
                <a:schemeClr val="dk1"/>
              </a:buClr>
              <a:buSzPts val="2000"/>
              <a:buFont typeface="Arial" panose="020B0604020202020204"/>
              <a:buChar char="-"/>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Bao gồm MT5, Binance, yfinance, SSI</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Xác định tín hiệu</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Bắn tín hiệu lên bộ nhớ</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14"/>
        <p:cNvGrpSpPr/>
        <p:nvPr/>
      </p:nvGrpSpPr>
      <p:grpSpPr>
        <a:xfrm>
          <a:off x="0" y="0"/>
          <a:ext cx="0" cy="0"/>
          <a:chOff x="0" y="0"/>
          <a:chExt cx="0" cy="0"/>
        </a:xfrm>
      </p:grpSpPr>
      <p:sp>
        <p:nvSpPr>
          <p:cNvPr id="215" name="Google Shape;215;p2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6. Order Follower</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16" name="Google Shape;216;p21"/>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OF (Order Follower)</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Khi một lệnh giao dịch đã được đặt (dựa trên "Order Good"), "Order Follower" là quá trình theo dõi lệnh đó. Điều này bao gồm việc quản lý lệnh, như đặt các lệnh dừng lỗ (stop-loss), chốt lời (take-profit), hoặc thậm chí là hủy lệnh nếu điều kiện thị trường thay đổi hoặc lệnh không được kích hoạt trong một khoảng thời gian nhất định.</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Đọc bộ nhớ</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Vào lệnh (OrderSend)</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Clr>
                <a:srgbClr val="000000"/>
              </a:buClr>
              <a:buSzPts val="16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0"/>
        <p:cNvGrpSpPr/>
        <p:nvPr/>
      </p:nvGrpSpPr>
      <p:grpSpPr>
        <a:xfrm>
          <a:off x="0" y="0"/>
          <a:ext cx="0" cy="0"/>
          <a:chOff x="0" y="0"/>
          <a:chExt cx="0" cy="0"/>
        </a:xfrm>
      </p:grpSpPr>
      <p:sp>
        <p:nvSpPr>
          <p:cNvPr id="221" name="Google Shape;221;p2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Chứng khoán SSI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2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6"/>
        <p:cNvGrpSpPr/>
        <p:nvPr/>
      </p:nvGrpSpPr>
      <p:grpSpPr>
        <a:xfrm>
          <a:off x="0" y="0"/>
          <a:ext cx="0" cy="0"/>
          <a:chOff x="0" y="0"/>
          <a:chExt cx="0" cy="0"/>
        </a:xfrm>
      </p:grpSpPr>
      <p:sp>
        <p:nvSpPr>
          <p:cNvPr id="227" name="Google Shape;227;p2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Chứng khoán SSI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8" name="Google Shape;228;p2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Công ty Cổ phần Chứng khoán </a:t>
            </a:r>
            <a:r>
              <a:rPr lang="vi-VN" sz="1600" b="1" i="0" u="none" strike="noStrike" cap="none">
                <a:solidFill>
                  <a:srgbClr val="000000"/>
                </a:solidFill>
              </a:rPr>
              <a:t>SSI (SSI - HOSE)</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được thành lập vào tháng </a:t>
            </a:r>
            <a:r>
              <a:rPr lang="vi-VN" sz="1600" b="1" i="0" u="none" strike="noStrike" cap="none">
                <a:solidFill>
                  <a:srgbClr val="000000"/>
                </a:solidFill>
              </a:rPr>
              <a:t>12 năm 1999</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là một trong những Công ty hoạt động lâu đời nhất tại Thị trường Chứng khoán Việt Nam. Sau 23 năm vận hành theo cơ chế thị trường, Công ty đã phát triển trở thành một định chế tài chính </a:t>
            </a:r>
            <a:r>
              <a:rPr lang="vi-VN" sz="1600" b="1" i="0" u="none" strike="noStrike" cap="none">
                <a:solidFill>
                  <a:srgbClr val="000000"/>
                </a:solidFill>
              </a:rPr>
              <a:t>lớn nhất trên thị trường</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có tốc độ phát triển nhanh nhất với mức vốn điều lệ tăng hơn 2500 lần.</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Bằng tiềm lực tài chính vững mạnh, hoạt động quản trị doanh nghiệp theo tiêu chuẩn quốc tế, đội ngũ nhân sự hùng hậu và chuyên nghiệp, SSI luôn cung cấp cho khách hàng những sản phẩm, dịch vụ vượt trội và toàn diện, đảm bảo tối đa lợi ích cổ đông.</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Hiện nay, Công ty có mạng lưới hoạt động rộng rãi tại những thành phố lớn trên cả nước như Hà Nội, Thành phố Hồ Chí Minh, Hải Phòng. </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32"/>
        <p:cNvGrpSpPr/>
        <p:nvPr/>
      </p:nvGrpSpPr>
      <p:grpSpPr>
        <a:xfrm>
          <a:off x="0" y="0"/>
          <a:ext cx="0" cy="0"/>
          <a:chOff x="0" y="0"/>
          <a:chExt cx="0" cy="0"/>
        </a:xfrm>
      </p:grpSpPr>
      <p:sp>
        <p:nvSpPr>
          <p:cNvPr id="233" name="Google Shape;233;p24"/>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Chứng khoán SSI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4" name="Google Shape;234;p24"/>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Áp dụng các loại lệnh</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ATO: At the </a:t>
            </a:r>
            <a:r>
              <a:rPr lang="vi-VN" sz="1600" b="1" i="0" u="none" strike="noStrike" cap="none">
                <a:solidFill>
                  <a:srgbClr val="000000"/>
                </a:solidFill>
              </a:rPr>
              <a:t>Open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Order: Khớp lệnh liên tục tại phiên mở cửa (</a:t>
            </a:r>
            <a:r>
              <a:rPr lang="vi-VN" sz="1600" b="1" i="0" u="none" strike="noStrike" cap="none">
                <a:solidFill>
                  <a:srgbClr val="000000"/>
                </a:solidFill>
              </a:rPr>
              <a:t>09h00 – 09h15</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Limited: Khớp lệnh theo mức giá cụ thể</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ATC: At the </a:t>
            </a:r>
            <a:r>
              <a:rPr lang="vi-VN" sz="1600" b="1" i="0" u="none" strike="noStrike" cap="none">
                <a:solidFill>
                  <a:srgbClr val="000000"/>
                </a:solidFill>
              </a:rPr>
              <a:t>Close </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Order: Khớp lệnh liên tục tại phiên đóng cửa (</a:t>
            </a:r>
            <a:r>
              <a:rPr lang="vi-VN" sz="1600" b="1" i="0" u="none" strike="noStrike" cap="none">
                <a:solidFill>
                  <a:srgbClr val="000000"/>
                </a:solidFill>
              </a:rPr>
              <a:t>14h30 – 14h45</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38"/>
        <p:cNvGrpSpPr/>
        <p:nvPr/>
      </p:nvGrpSpPr>
      <p:grpSpPr>
        <a:xfrm>
          <a:off x="0" y="0"/>
          <a:ext cx="0" cy="0"/>
          <a:chOff x="0" y="0"/>
          <a:chExt cx="0" cy="0"/>
        </a:xfrm>
      </p:grpSpPr>
      <p:sp>
        <p:nvSpPr>
          <p:cNvPr id="239" name="Google Shape;239;p25"/>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Thiết lập API giao dịch trên SSI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0" name="Google Shape;240;p25"/>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Chuyển phương thức xác thực sang phương thức xác thực SMS, Email…</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41" name="Google Shape;241;p25"/>
          <p:cNvPicPr preferRelativeResize="0"/>
          <p:nvPr/>
        </p:nvPicPr>
        <p:blipFill>
          <a:blip r:embed="rId2"/>
          <a:stretch>
            <a:fillRect/>
          </a:stretch>
        </p:blipFill>
        <p:spPr>
          <a:xfrm>
            <a:off x="660400" y="1149925"/>
            <a:ext cx="8049499" cy="472748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45"/>
        <p:cNvGrpSpPr/>
        <p:nvPr/>
      </p:nvGrpSpPr>
      <p:grpSpPr>
        <a:xfrm>
          <a:off x="0" y="0"/>
          <a:ext cx="0" cy="0"/>
          <a:chOff x="0" y="0"/>
          <a:chExt cx="0" cy="0"/>
        </a:xfrm>
      </p:grpSpPr>
      <p:sp>
        <p:nvSpPr>
          <p:cNvPr id="246" name="Google Shape;246;p39"/>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panose="020B0604020202020204"/>
              <a:buNone/>
            </a:pPr>
            <a:r>
              <a:rPr lang="vi-VN" sz="2400" b="1">
                <a:solidFill>
                  <a:schemeClr val="lt1"/>
                </a:solidFill>
              </a:rPr>
              <a:t>Thiết lập API giao dịch trên SSI</a:t>
            </a:r>
            <a:endParaRPr sz="2400" b="1">
              <a:solidFill>
                <a:schemeClr val="lt1"/>
              </a:solidFill>
            </a:endParaRPr>
          </a:p>
        </p:txBody>
      </p:sp>
      <p:sp>
        <p:nvSpPr>
          <p:cNvPr id="247" name="Google Shape;247;p39"/>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a:solidFill>
                  <a:schemeClr val="dk1"/>
                </a:solidFill>
              </a:rPr>
              <a:t>Đăng ký dịch vụ API: FCData và FCTrading</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48" name="Google Shape;248;p39"/>
          <p:cNvPicPr preferRelativeResize="0"/>
          <p:nvPr/>
        </p:nvPicPr>
        <p:blipFill>
          <a:blip r:embed="rId2"/>
          <a:stretch>
            <a:fillRect/>
          </a:stretch>
        </p:blipFill>
        <p:spPr>
          <a:xfrm>
            <a:off x="147788" y="1416625"/>
            <a:ext cx="8839198" cy="197451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52"/>
        <p:cNvGrpSpPr/>
        <p:nvPr/>
      </p:nvGrpSpPr>
      <p:grpSpPr>
        <a:xfrm>
          <a:off x="0" y="0"/>
          <a:ext cx="0" cy="0"/>
          <a:chOff x="0" y="0"/>
          <a:chExt cx="0" cy="0"/>
        </a:xfrm>
      </p:grpSpPr>
      <p:sp>
        <p:nvSpPr>
          <p:cNvPr id="253" name="Google Shape;253;p4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Thiết lập API giao dịch trên </a:t>
            </a:r>
            <a:r>
              <a:rPr lang="vi-VN" sz="2400" b="1">
                <a:solidFill>
                  <a:schemeClr val="lt1"/>
                </a:solidFill>
              </a:rPr>
              <a:t>SSI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4" name="Google Shape;254;p40"/>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a:solidFill>
                  <a:schemeClr val="dk1"/>
                </a:solidFill>
              </a:rPr>
              <a:t>Lấy ConsumerID và ConsumerSecret và PrivateKey </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55" name="Google Shape;255;p40"/>
          <p:cNvPicPr preferRelativeResize="0"/>
          <p:nvPr/>
        </p:nvPicPr>
        <p:blipFill>
          <a:blip r:embed="rId2"/>
          <a:stretch>
            <a:fillRect/>
          </a:stretch>
        </p:blipFill>
        <p:spPr>
          <a:xfrm>
            <a:off x="304800" y="1353125"/>
            <a:ext cx="8558052" cy="38970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59"/>
        <p:cNvGrpSpPr/>
        <p:nvPr/>
      </p:nvGrpSpPr>
      <p:grpSpPr>
        <a:xfrm>
          <a:off x="0" y="0"/>
          <a:ext cx="0" cy="0"/>
          <a:chOff x="0" y="0"/>
          <a:chExt cx="0" cy="0"/>
        </a:xfrm>
      </p:grpSpPr>
      <p:sp>
        <p:nvSpPr>
          <p:cNvPr id="260" name="Google Shape;260;p4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Thiết lập API giao dịch trên </a:t>
            </a:r>
            <a:r>
              <a:rPr lang="vi-VN" sz="2400" b="1">
                <a:solidFill>
                  <a:schemeClr val="lt1"/>
                </a:solidFill>
              </a:rPr>
              <a:t>SSI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1" name="Google Shape;261;p41"/>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b="1">
                <a:solidFill>
                  <a:schemeClr val="dk1"/>
                </a:solidFill>
              </a:rPr>
              <a:t>Download API về cài lên máy tính</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62" name="Google Shape;262;p41"/>
          <p:cNvPicPr preferRelativeResize="0"/>
          <p:nvPr/>
        </p:nvPicPr>
        <p:blipFill>
          <a:blip r:embed="rId2"/>
          <a:stretch>
            <a:fillRect/>
          </a:stretch>
        </p:blipFill>
        <p:spPr>
          <a:xfrm>
            <a:off x="368300" y="1213425"/>
            <a:ext cx="8495749" cy="3592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66"/>
        <p:cNvGrpSpPr/>
        <p:nvPr/>
      </p:nvGrpSpPr>
      <p:grpSpPr>
        <a:xfrm>
          <a:off x="0" y="0"/>
          <a:ext cx="0" cy="0"/>
          <a:chOff x="0" y="0"/>
          <a:chExt cx="0" cy="0"/>
        </a:xfrm>
      </p:grpSpPr>
      <p:sp>
        <p:nvSpPr>
          <p:cNvPr id="267" name="Google Shape;267;p42"/>
          <p:cNvSpPr txBox="1"/>
          <p:nvPr/>
        </p:nvSpPr>
        <p:spPr>
          <a:xfrm>
            <a:off x="304799" y="154525"/>
            <a:ext cx="841432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Cài đặt package để code Python </a:t>
            </a:r>
            <a:r>
              <a:rPr lang="vi-VN" sz="2400" b="1">
                <a:solidFill>
                  <a:schemeClr val="lt1"/>
                </a:solidFill>
              </a:rPr>
              <a:t>SSI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8" name="Google Shape;268;p4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a:solidFill>
                  <a:schemeClr val="dk1"/>
                </a:solidFill>
              </a:rPr>
              <a:t>Cấu hình để chạy API: Sau khi download về =&gt; Extract file zip ra</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69" name="Google Shape;269;p42"/>
          <p:cNvPicPr preferRelativeResize="0"/>
          <p:nvPr/>
        </p:nvPicPr>
        <p:blipFill>
          <a:blip r:embed="rId2"/>
          <a:stretch>
            <a:fillRect/>
          </a:stretch>
        </p:blipFill>
        <p:spPr>
          <a:xfrm>
            <a:off x="424875" y="1188025"/>
            <a:ext cx="8285025" cy="307643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73"/>
        <p:cNvGrpSpPr/>
        <p:nvPr/>
      </p:nvGrpSpPr>
      <p:grpSpPr>
        <a:xfrm>
          <a:off x="0" y="0"/>
          <a:ext cx="0" cy="0"/>
          <a:chOff x="0" y="0"/>
          <a:chExt cx="0" cy="0"/>
        </a:xfrm>
      </p:grpSpPr>
      <p:sp>
        <p:nvSpPr>
          <p:cNvPr id="274" name="Google Shape;274;p43"/>
          <p:cNvSpPr txBox="1"/>
          <p:nvPr/>
        </p:nvSpPr>
        <p:spPr>
          <a:xfrm>
            <a:off x="304799" y="154525"/>
            <a:ext cx="841432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Cài đặt package để code Python </a:t>
            </a:r>
            <a:r>
              <a:rPr lang="vi-VN" sz="2400" b="1">
                <a:solidFill>
                  <a:schemeClr val="lt1"/>
                </a:solidFill>
              </a:rPr>
              <a:t>SSI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75" name="Google Shape;275;p4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a:solidFill>
                  <a:schemeClr val="dk1"/>
                </a:solidFill>
              </a:rPr>
              <a:t>Thêm ConsumerID, ConsumerSecret, PrivateKey vào file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76" name="Google Shape;276;p43"/>
          <p:cNvPicPr preferRelativeResize="0"/>
          <p:nvPr/>
        </p:nvPicPr>
        <p:blipFill>
          <a:blip r:embed="rId2"/>
          <a:stretch>
            <a:fillRect/>
          </a:stretch>
        </p:blipFill>
        <p:spPr>
          <a:xfrm>
            <a:off x="424875" y="1115155"/>
            <a:ext cx="8414325" cy="340181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80"/>
        <p:cNvGrpSpPr/>
        <p:nvPr/>
      </p:nvGrpSpPr>
      <p:grpSpPr>
        <a:xfrm>
          <a:off x="0" y="0"/>
          <a:ext cx="0" cy="0"/>
          <a:chOff x="0" y="0"/>
          <a:chExt cx="0" cy="0"/>
        </a:xfrm>
      </p:grpSpPr>
      <p:sp>
        <p:nvSpPr>
          <p:cNvPr id="281" name="Google Shape;281;g2a934b0c898_0_13"/>
          <p:cNvSpPr txBox="1"/>
          <p:nvPr/>
        </p:nvSpPr>
        <p:spPr>
          <a:xfrm>
            <a:off x="304799" y="154525"/>
            <a:ext cx="8414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Cài đặt package để code Python </a:t>
            </a:r>
            <a:r>
              <a:rPr lang="vi-VN" sz="2400" b="1">
                <a:solidFill>
                  <a:schemeClr val="lt1"/>
                </a:solidFill>
              </a:rPr>
              <a:t>SSI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2" name="Google Shape;282;g2a934b0c898_0_13"/>
          <p:cNvSpPr txBox="1"/>
          <p:nvPr/>
        </p:nvSpPr>
        <p:spPr>
          <a:xfrm>
            <a:off x="424875" y="6162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a:solidFill>
                  <a:schemeClr val="dk1"/>
                </a:solidFill>
              </a:rPr>
              <a:t>Khởi động API</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83" name="Google Shape;283;g2a934b0c898_0_13"/>
          <p:cNvPicPr preferRelativeResize="0"/>
          <p:nvPr/>
        </p:nvPicPr>
        <p:blipFill>
          <a:blip r:embed="rId2"/>
          <a:stretch>
            <a:fillRect/>
          </a:stretch>
        </p:blipFill>
        <p:spPr>
          <a:xfrm>
            <a:off x="424875" y="1115154"/>
            <a:ext cx="8414398" cy="318977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87"/>
        <p:cNvGrpSpPr/>
        <p:nvPr/>
      </p:nvGrpSpPr>
      <p:grpSpPr>
        <a:xfrm>
          <a:off x="0" y="0"/>
          <a:ext cx="0" cy="0"/>
          <a:chOff x="0" y="0"/>
          <a:chExt cx="0" cy="0"/>
        </a:xfrm>
      </p:grpSpPr>
      <p:sp>
        <p:nvSpPr>
          <p:cNvPr id="288" name="Google Shape;288;g2a934b0c898_0_20"/>
          <p:cNvSpPr txBox="1"/>
          <p:nvPr/>
        </p:nvSpPr>
        <p:spPr>
          <a:xfrm>
            <a:off x="304799" y="154525"/>
            <a:ext cx="8414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Cài đặt package để code Python </a:t>
            </a:r>
            <a:r>
              <a:rPr lang="vi-VN" sz="2400" b="1">
                <a:solidFill>
                  <a:schemeClr val="lt1"/>
                </a:solidFill>
              </a:rPr>
              <a:t>SSI</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9" name="Google Shape;289;g2a934b0c898_0_20"/>
          <p:cNvSpPr txBox="1"/>
          <p:nvPr/>
        </p:nvSpPr>
        <p:spPr>
          <a:xfrm>
            <a:off x="424875" y="6162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a:solidFill>
                  <a:schemeClr val="dk1"/>
                </a:solidFill>
              </a:rPr>
              <a:t>Giao diện API: Truy cập </a:t>
            </a:r>
            <a:r>
              <a:rPr lang="vi-VN" sz="1600" u="sng">
                <a:solidFill>
                  <a:schemeClr val="hlink"/>
                </a:solidFill>
                <a:hlinkClick r:id="rId2"/>
              </a:rPr>
              <a:t>http://127.0.0.1:8000/docs#</a:t>
            </a:r>
            <a:r>
              <a:rPr lang="vi-VN" sz="1600">
                <a:solidFill>
                  <a:schemeClr val="dk1"/>
                </a:solidFill>
              </a:rPr>
              <a: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90" name="Google Shape;290;g2a934b0c898_0_20"/>
          <p:cNvPicPr preferRelativeResize="0"/>
          <p:nvPr/>
        </p:nvPicPr>
        <p:blipFill>
          <a:blip r:embed="rId3"/>
          <a:stretch>
            <a:fillRect/>
          </a:stretch>
        </p:blipFill>
        <p:spPr>
          <a:xfrm>
            <a:off x="424875" y="1175325"/>
            <a:ext cx="8414398" cy="436368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94"/>
        <p:cNvGrpSpPr/>
        <p:nvPr/>
      </p:nvGrpSpPr>
      <p:grpSpPr>
        <a:xfrm>
          <a:off x="0" y="0"/>
          <a:ext cx="0" cy="0"/>
          <a:chOff x="0" y="0"/>
          <a:chExt cx="0" cy="0"/>
        </a:xfrm>
      </p:grpSpPr>
      <p:sp>
        <p:nvSpPr>
          <p:cNvPr id="295" name="Google Shape;295;p44"/>
          <p:cNvSpPr txBox="1"/>
          <p:nvPr/>
        </p:nvSpPr>
        <p:spPr>
          <a:xfrm>
            <a:off x="304799" y="154525"/>
            <a:ext cx="841432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Lập trình v</a:t>
            </a:r>
            <a:r>
              <a:rPr lang="vi-VN" sz="2400" b="1">
                <a:solidFill>
                  <a:schemeClr val="lt1"/>
                </a:solidFill>
              </a:rPr>
              <a:t>ào lệnh</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96" name="Google Shape;296;p44"/>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rgbClr val="000000"/>
              </a:buClr>
              <a:buSzPts val="1600"/>
              <a:buFont typeface="Arial" panose="020B0604020202020204"/>
              <a:buNone/>
            </a:pPr>
            <a:r>
              <a:rPr lang="vi-VN" sz="1600"/>
              <a:t>Để vào lệnh thì chúng ta cần:</a:t>
            </a:r>
            <a:endParaRPr sz="1600"/>
          </a:p>
          <a:p>
            <a:pPr marL="457200" marR="0" lvl="0" indent="-330200" algn="just" rtl="0">
              <a:lnSpc>
                <a:spcPct val="115000"/>
              </a:lnSpc>
              <a:spcBef>
                <a:spcPts val="1600"/>
              </a:spcBef>
              <a:spcAft>
                <a:spcPts val="0"/>
              </a:spcAft>
              <a:buSzPts val="1600"/>
              <a:buChar char="-"/>
            </a:pPr>
            <a:r>
              <a:rPr lang="vi-VN" sz="1600" b="1"/>
              <a:t>Tạo OTP xác thực (getOTP)</a:t>
            </a:r>
            <a:endParaRPr sz="1600" b="1"/>
          </a:p>
          <a:p>
            <a:pPr marL="457200" marR="0" lvl="0" indent="-330200" algn="just" rtl="0">
              <a:lnSpc>
                <a:spcPct val="115000"/>
              </a:lnSpc>
              <a:spcBef>
                <a:spcPts val="0"/>
              </a:spcBef>
              <a:spcAft>
                <a:spcPts val="0"/>
              </a:spcAft>
              <a:buSzPts val="1600"/>
              <a:buChar char="-"/>
            </a:pPr>
            <a:r>
              <a:rPr lang="vi-VN" sz="1600" b="1"/>
              <a:t>Xác thực OTP (verifyOTP)</a:t>
            </a:r>
            <a:endParaRPr sz="1600" b="1"/>
          </a:p>
          <a:p>
            <a:pPr marL="457200" marR="0" lvl="0" indent="-330200" algn="just" rtl="0">
              <a:lnSpc>
                <a:spcPct val="115000"/>
              </a:lnSpc>
              <a:spcBef>
                <a:spcPts val="0"/>
              </a:spcBef>
              <a:spcAft>
                <a:spcPts val="0"/>
              </a:spcAft>
              <a:buSzPts val="1600"/>
              <a:buChar char="-"/>
            </a:pPr>
            <a:r>
              <a:rPr lang="vi-VN" sz="1600" b="1"/>
              <a:t>Vào lệnh</a:t>
            </a:r>
            <a:endParaRPr sz="1600" b="1"/>
          </a:p>
          <a:p>
            <a:pPr marL="0" marR="0" lvl="0" indent="0" algn="just" rtl="0">
              <a:lnSpc>
                <a:spcPct val="115000"/>
              </a:lnSpc>
              <a:spcBef>
                <a:spcPts val="1600"/>
              </a:spcBef>
              <a:spcAft>
                <a:spcPts val="0"/>
              </a:spcAft>
              <a:buNone/>
            </a:pPr>
            <a:endParaRPr sz="1600"/>
          </a:p>
          <a:p>
            <a:pPr marL="0" marR="0" lvl="0" indent="0" algn="just" rtl="0">
              <a:lnSpc>
                <a:spcPct val="115000"/>
              </a:lnSpc>
              <a:spcBef>
                <a:spcPts val="1600"/>
              </a:spcBef>
              <a:spcAft>
                <a:spcPts val="0"/>
              </a:spcAft>
              <a:buNone/>
            </a:pPr>
            <a:endParaRPr sz="1600"/>
          </a:p>
          <a:p>
            <a:pPr marL="0" marR="0" lvl="0" indent="0" algn="just" rtl="0">
              <a:lnSpc>
                <a:spcPct val="115000"/>
              </a:lnSpc>
              <a:spcBef>
                <a:spcPts val="1600"/>
              </a:spcBef>
              <a:spcAft>
                <a:spcPts val="0"/>
              </a:spcAft>
              <a:buNone/>
            </a:pPr>
            <a:endParaRPr sz="1600"/>
          </a:p>
          <a:p>
            <a:pPr marL="0" marR="0" lvl="0" indent="0" algn="just" rtl="0">
              <a:lnSpc>
                <a:spcPct val="115000"/>
              </a:lnSpc>
              <a:spcBef>
                <a:spcPts val="1600"/>
              </a:spcBef>
              <a:spcAft>
                <a:spcPts val="0"/>
              </a:spcAft>
              <a:buNone/>
            </a:pPr>
            <a:endParaRPr sz="1600"/>
          </a:p>
          <a:p>
            <a:pPr marL="0" marR="0" lvl="0" indent="0" algn="just" rtl="0">
              <a:lnSpc>
                <a:spcPct val="115000"/>
              </a:lnSpc>
              <a:spcBef>
                <a:spcPts val="1600"/>
              </a:spcBef>
              <a:spcAft>
                <a:spcPts val="0"/>
              </a:spcAft>
              <a:buNone/>
            </a:pPr>
            <a:endParaRPr sz="1600"/>
          </a:p>
          <a:p>
            <a:pPr marL="457200" marR="0" lvl="0" indent="-330200" algn="just" rtl="0">
              <a:lnSpc>
                <a:spcPct val="115000"/>
              </a:lnSpc>
              <a:spcBef>
                <a:spcPts val="1600"/>
              </a:spcBef>
              <a:spcAft>
                <a:spcPts val="0"/>
              </a:spcAft>
              <a:buSzPts val="1600"/>
              <a:buChar char="-"/>
            </a:pPr>
            <a:r>
              <a:rPr lang="vi-VN" sz="1600"/>
              <a:t>Code</a:t>
            </a:r>
            <a:endParaRPr sz="1600"/>
          </a:p>
        </p:txBody>
      </p:sp>
      <p:pic>
        <p:nvPicPr>
          <p:cNvPr id="297" name="Google Shape;297;p44"/>
          <p:cNvPicPr preferRelativeResize="0"/>
          <p:nvPr/>
        </p:nvPicPr>
        <p:blipFill>
          <a:blip r:embed="rId2"/>
          <a:stretch>
            <a:fillRect/>
          </a:stretch>
        </p:blipFill>
        <p:spPr>
          <a:xfrm>
            <a:off x="424875" y="2314650"/>
            <a:ext cx="8549650" cy="1686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0"/>
        <p:cNvGrpSpPr/>
        <p:nvPr/>
      </p:nvGrpSpPr>
      <p:grpSpPr>
        <a:xfrm>
          <a:off x="0" y="0"/>
          <a:ext cx="0" cy="0"/>
          <a:chOff x="0" y="0"/>
          <a:chExt cx="0" cy="0"/>
        </a:xfrm>
      </p:grpSpPr>
      <p:sp>
        <p:nvSpPr>
          <p:cNvPr id="221" name="Google Shape;221;p2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Chứng khoán </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DNSE</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2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gn="just">
              <a:lnSpc>
                <a:spcPct val="115000"/>
              </a:lnSpc>
              <a:spcBef>
                <a:spcPts val="1600"/>
              </a:spcBef>
              <a:buSzPts val="1600"/>
            </a:pPr>
            <a:r>
              <a:rPr lang="en-US" sz="16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Truy</a:t>
            </a:r>
            <a:r>
              <a:rPr lang="en-US" sz="16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cập</a:t>
            </a:r>
            <a:r>
              <a:rPr lang="en-US" sz="16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vào</a:t>
            </a:r>
            <a:r>
              <a:rPr lang="en-US" sz="1600" b="1" dirty="0">
                <a:solidFill>
                  <a:schemeClr val="dk1"/>
                </a:solidFill>
              </a:rPr>
              <a:t>: </a:t>
            </a:r>
            <a:r>
              <a:rPr lang="en-US" sz="1600" b="1" dirty="0">
                <a:solidFill>
                  <a:schemeClr val="dk1"/>
                </a:solidFill>
                <a:hlinkClick r:id="rId2"/>
              </a:rPr>
              <a:t>https://entradex.dnse.com.vn/</a:t>
            </a:r>
            <a:r>
              <a:rPr lang="en-US" sz="1600" b="1" dirty="0">
                <a:solidFill>
                  <a:schemeClr val="dk1"/>
                </a:solidFill>
              </a:rPr>
              <a:t>  </a:t>
            </a: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3"/>
          <a:stretch>
            <a:fillRect/>
          </a:stretch>
        </p:blipFill>
        <p:spPr>
          <a:xfrm>
            <a:off x="646546" y="1325575"/>
            <a:ext cx="8386888" cy="428089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0"/>
        <p:cNvGrpSpPr/>
        <p:nvPr/>
      </p:nvGrpSpPr>
      <p:grpSpPr>
        <a:xfrm>
          <a:off x="0" y="0"/>
          <a:ext cx="0" cy="0"/>
          <a:chOff x="0" y="0"/>
          <a:chExt cx="0" cy="0"/>
        </a:xfrm>
      </p:grpSpPr>
      <p:sp>
        <p:nvSpPr>
          <p:cNvPr id="221" name="Google Shape;221;p2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Chứng khoán </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DNSE</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2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SzPts val="1600"/>
            </a:pPr>
            <a:r>
              <a:rPr lang="en-US" sz="1600" b="1" i="0" u="none" strike="noStrike" cap="none" dirty="0">
                <a:solidFill>
                  <a:schemeClr val="dk1"/>
                </a:solidFill>
                <a:latin typeface="Arial" panose="020B0604020202020204"/>
                <a:ea typeface="Arial" panose="020B0604020202020204"/>
                <a:cs typeface="Arial" panose="020B0604020202020204"/>
                <a:sym typeface="Arial" panose="020B0604020202020204"/>
              </a:rPr>
              <a:t>Trading API</a:t>
            </a:r>
            <a:r>
              <a:rPr lang="en-US" sz="1600" b="1" dirty="0">
                <a:solidFill>
                  <a:schemeClr val="dk1"/>
                </a:solidFill>
              </a:rPr>
              <a:t>: </a:t>
            </a:r>
            <a:r>
              <a:rPr lang="en-US" sz="1600" b="1" dirty="0">
                <a:solidFill>
                  <a:schemeClr val="dk1"/>
                </a:solidFill>
                <a:hlinkClick r:id="rId2"/>
              </a:rPr>
              <a:t>https://hdsd.dnse.com.vn/san-pham-dich-vu/api-lightspeed/ii.-trading-api</a:t>
            </a:r>
            <a:r>
              <a:rPr lang="en-US" sz="1600" b="1" dirty="0">
                <a:solidFill>
                  <a:schemeClr val="dk1"/>
                </a:solidFill>
              </a:rPr>
              <a:t> </a:t>
            </a: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3"/>
          <a:stretch>
            <a:fillRect/>
          </a:stretch>
        </p:blipFill>
        <p:spPr>
          <a:xfrm>
            <a:off x="624710" y="1551709"/>
            <a:ext cx="6894944" cy="44704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0"/>
        <p:cNvGrpSpPr/>
        <p:nvPr/>
      </p:nvGrpSpPr>
      <p:grpSpPr>
        <a:xfrm>
          <a:off x="0" y="0"/>
          <a:ext cx="0" cy="0"/>
          <a:chOff x="0" y="0"/>
          <a:chExt cx="0" cy="0"/>
        </a:xfrm>
      </p:grpSpPr>
      <p:sp>
        <p:nvSpPr>
          <p:cNvPr id="221" name="Google Shape;221;p2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Chứng khoán </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DNSE</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2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SzPts val="1600"/>
            </a:pPr>
            <a:r>
              <a:rPr lang="en-US" sz="1600" b="1" i="0" u="none" strike="noStrike" cap="none" dirty="0">
                <a:solidFill>
                  <a:schemeClr val="dk1"/>
                </a:solidFill>
                <a:latin typeface="Arial" panose="020B0604020202020204"/>
                <a:ea typeface="Arial" panose="020B0604020202020204"/>
                <a:cs typeface="Arial" panose="020B0604020202020204"/>
                <a:sym typeface="Arial" panose="020B0604020202020204"/>
              </a:rPr>
              <a:t>Code</a:t>
            </a:r>
            <a:r>
              <a:rPr lang="en-US" sz="1600" b="1" dirty="0">
                <a:solidFill>
                  <a:schemeClr val="dk1"/>
                </a:solidFill>
              </a:rPr>
              <a:t>: </a:t>
            </a:r>
            <a:r>
              <a:rPr lang="en-US" sz="1600" b="1" dirty="0" err="1">
                <a:solidFill>
                  <a:schemeClr val="dk1"/>
                </a:solidFill>
              </a:rPr>
              <a:t>theo</a:t>
            </a:r>
            <a:r>
              <a:rPr lang="en-US" sz="1600" b="1" dirty="0">
                <a:solidFill>
                  <a:schemeClr val="dk1"/>
                </a:solidFill>
              </a:rPr>
              <a:t> </a:t>
            </a:r>
            <a:r>
              <a:rPr lang="en-US" sz="1600" b="1" dirty="0" err="1">
                <a:solidFill>
                  <a:schemeClr val="dk1"/>
                </a:solidFill>
              </a:rPr>
              <a:t>các</a:t>
            </a:r>
            <a:r>
              <a:rPr lang="en-US" sz="1600" b="1" dirty="0">
                <a:solidFill>
                  <a:schemeClr val="dk1"/>
                </a:solidFill>
              </a:rPr>
              <a:t> </a:t>
            </a:r>
            <a:r>
              <a:rPr lang="en-US" sz="1600" b="1" dirty="0" err="1">
                <a:solidFill>
                  <a:schemeClr val="dk1"/>
                </a:solidFill>
              </a:rPr>
              <a:t>bước</a:t>
            </a:r>
            <a:endParaRPr lang="en-US" sz="1600" b="1" dirty="0">
              <a:solidFill>
                <a:schemeClr val="dk1"/>
              </a:solidFill>
            </a:endParaRPr>
          </a:p>
          <a:p>
            <a:pPr marL="387350" lvl="0" indent="-285750">
              <a:lnSpc>
                <a:spcPct val="115000"/>
              </a:lnSpc>
              <a:spcBef>
                <a:spcPts val="1600"/>
              </a:spcBef>
              <a:buSzPts val="1600"/>
              <a:buFontTx/>
              <a:buChar char="-"/>
            </a:pPr>
            <a:r>
              <a:rPr lang="en-US" sz="1600" b="1" dirty="0" err="1">
                <a:solidFill>
                  <a:schemeClr val="dk1"/>
                </a:solidFill>
              </a:rPr>
              <a:t>Bước</a:t>
            </a:r>
            <a:r>
              <a:rPr lang="en-US" sz="1600" b="1" dirty="0">
                <a:solidFill>
                  <a:schemeClr val="dk1"/>
                </a:solidFill>
              </a:rPr>
              <a:t> 1: </a:t>
            </a:r>
            <a:r>
              <a:rPr lang="en-US" sz="1600" b="1" dirty="0" err="1">
                <a:solidFill>
                  <a:schemeClr val="dk1"/>
                </a:solidFill>
              </a:rPr>
              <a:t>Lấy</a:t>
            </a:r>
            <a:r>
              <a:rPr lang="en-US" sz="1600" b="1" dirty="0">
                <a:solidFill>
                  <a:schemeClr val="dk1"/>
                </a:solidFill>
              </a:rPr>
              <a:t> Token</a:t>
            </a:r>
            <a:endParaRPr lang="en-US" sz="1600" b="1" dirty="0">
              <a:solidFill>
                <a:schemeClr val="dk1"/>
              </a:solidFill>
            </a:endParaRPr>
          </a:p>
          <a:p>
            <a:pPr marL="101600" lvl="0">
              <a:lnSpc>
                <a:spcPct val="115000"/>
              </a:lnSpc>
              <a:spcBef>
                <a:spcPts val="1600"/>
              </a:spcBef>
              <a:buSzPts val="1600"/>
            </a:pPr>
            <a:r>
              <a:rPr lang="en-US" sz="1600" b="1" dirty="0">
                <a:solidFill>
                  <a:schemeClr val="dk1"/>
                </a:solidFill>
              </a:rPr>
              <a:t> </a:t>
            </a: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908190" y="1745672"/>
            <a:ext cx="7866354" cy="430199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0"/>
        <p:cNvGrpSpPr/>
        <p:nvPr/>
      </p:nvGrpSpPr>
      <p:grpSpPr>
        <a:xfrm>
          <a:off x="0" y="0"/>
          <a:ext cx="0" cy="0"/>
          <a:chOff x="0" y="0"/>
          <a:chExt cx="0" cy="0"/>
        </a:xfrm>
      </p:grpSpPr>
      <p:sp>
        <p:nvSpPr>
          <p:cNvPr id="221" name="Google Shape;221;p2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Chứng khoán </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DNSE</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2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SzPts val="1600"/>
            </a:pPr>
            <a:r>
              <a:rPr lang="en-US" sz="1600" b="1" i="0" u="none" strike="noStrike" cap="none" dirty="0">
                <a:solidFill>
                  <a:schemeClr val="dk1"/>
                </a:solidFill>
                <a:latin typeface="Arial" panose="020B0604020202020204"/>
                <a:ea typeface="Arial" panose="020B0604020202020204"/>
                <a:cs typeface="Arial" panose="020B0604020202020204"/>
                <a:sym typeface="Arial" panose="020B0604020202020204"/>
              </a:rPr>
              <a:t>Code</a:t>
            </a:r>
            <a:r>
              <a:rPr lang="en-US" sz="1600" b="1" dirty="0">
                <a:solidFill>
                  <a:schemeClr val="dk1"/>
                </a:solidFill>
              </a:rPr>
              <a:t>: </a:t>
            </a:r>
            <a:r>
              <a:rPr lang="en-US" sz="1600" b="1" dirty="0" err="1">
                <a:solidFill>
                  <a:schemeClr val="dk1"/>
                </a:solidFill>
              </a:rPr>
              <a:t>theo</a:t>
            </a:r>
            <a:r>
              <a:rPr lang="en-US" sz="1600" b="1" dirty="0">
                <a:solidFill>
                  <a:schemeClr val="dk1"/>
                </a:solidFill>
              </a:rPr>
              <a:t> </a:t>
            </a:r>
            <a:r>
              <a:rPr lang="en-US" sz="1600" b="1" dirty="0" err="1">
                <a:solidFill>
                  <a:schemeClr val="dk1"/>
                </a:solidFill>
              </a:rPr>
              <a:t>các</a:t>
            </a:r>
            <a:r>
              <a:rPr lang="en-US" sz="1600" b="1" dirty="0">
                <a:solidFill>
                  <a:schemeClr val="dk1"/>
                </a:solidFill>
              </a:rPr>
              <a:t> </a:t>
            </a:r>
            <a:r>
              <a:rPr lang="en-US" sz="1600" b="1" dirty="0" err="1">
                <a:solidFill>
                  <a:schemeClr val="dk1"/>
                </a:solidFill>
              </a:rPr>
              <a:t>bước</a:t>
            </a:r>
            <a:endParaRPr lang="en-US" sz="1600" b="1" dirty="0">
              <a:solidFill>
                <a:schemeClr val="dk1"/>
              </a:solidFill>
            </a:endParaRPr>
          </a:p>
          <a:p>
            <a:pPr marL="387350" lvl="0" indent="-285750">
              <a:lnSpc>
                <a:spcPct val="115000"/>
              </a:lnSpc>
              <a:spcBef>
                <a:spcPts val="1600"/>
              </a:spcBef>
              <a:buSzPts val="1600"/>
              <a:buFontTx/>
              <a:buChar char="-"/>
            </a:pPr>
            <a:r>
              <a:rPr lang="en-US" sz="1600" b="1" dirty="0" err="1">
                <a:solidFill>
                  <a:schemeClr val="dk1"/>
                </a:solidFill>
              </a:rPr>
              <a:t>Bước</a:t>
            </a:r>
            <a:r>
              <a:rPr lang="en-US" sz="1600" b="1" dirty="0">
                <a:solidFill>
                  <a:schemeClr val="dk1"/>
                </a:solidFill>
              </a:rPr>
              <a:t> 2: </a:t>
            </a:r>
            <a:r>
              <a:rPr lang="en-US" sz="1600" b="1" dirty="0" err="1">
                <a:solidFill>
                  <a:schemeClr val="dk1"/>
                </a:solidFill>
              </a:rPr>
              <a:t>Gán</a:t>
            </a:r>
            <a:r>
              <a:rPr lang="en-US" sz="1600" b="1" dirty="0">
                <a:solidFill>
                  <a:schemeClr val="dk1"/>
                </a:solidFill>
              </a:rPr>
              <a:t> Token </a:t>
            </a:r>
            <a:r>
              <a:rPr lang="en-US" sz="1600" b="1" dirty="0" err="1">
                <a:solidFill>
                  <a:schemeClr val="dk1"/>
                </a:solidFill>
              </a:rPr>
              <a:t>vào</a:t>
            </a:r>
            <a:r>
              <a:rPr lang="en-US" sz="1600" b="1" dirty="0">
                <a:solidFill>
                  <a:schemeClr val="dk1"/>
                </a:solidFill>
              </a:rPr>
              <a:t> </a:t>
            </a:r>
            <a:r>
              <a:rPr lang="en-US" sz="1600" b="1" dirty="0" err="1">
                <a:solidFill>
                  <a:schemeClr val="dk1"/>
                </a:solidFill>
              </a:rPr>
              <a:t>để</a:t>
            </a:r>
            <a:r>
              <a:rPr lang="en-US" sz="1600" b="1" dirty="0">
                <a:solidFill>
                  <a:schemeClr val="dk1"/>
                </a:solidFill>
              </a:rPr>
              <a:t> </a:t>
            </a:r>
            <a:r>
              <a:rPr lang="en-US" sz="1600" b="1" dirty="0" err="1">
                <a:solidFill>
                  <a:schemeClr val="dk1"/>
                </a:solidFill>
              </a:rPr>
              <a:t>lấy</a:t>
            </a:r>
            <a:r>
              <a:rPr lang="en-US" sz="1600" b="1" dirty="0">
                <a:solidFill>
                  <a:schemeClr val="dk1"/>
                </a:solidFill>
              </a:rPr>
              <a:t> </a:t>
            </a:r>
            <a:r>
              <a:rPr lang="en-US" sz="1600" b="1" dirty="0" err="1">
                <a:solidFill>
                  <a:schemeClr val="dk1"/>
                </a:solidFill>
              </a:rPr>
              <a:t>thông</a:t>
            </a:r>
            <a:r>
              <a:rPr lang="en-US" sz="1600" b="1" dirty="0">
                <a:solidFill>
                  <a:schemeClr val="dk1"/>
                </a:solidFill>
              </a:rPr>
              <a:t> tin </a:t>
            </a:r>
            <a:r>
              <a:rPr lang="en-US" sz="1600" b="1" dirty="0" err="1">
                <a:solidFill>
                  <a:schemeClr val="dk1"/>
                </a:solidFill>
              </a:rPr>
              <a:t>tài</a:t>
            </a:r>
            <a:r>
              <a:rPr lang="en-US" sz="1600" b="1" dirty="0">
                <a:solidFill>
                  <a:schemeClr val="dk1"/>
                </a:solidFill>
              </a:rPr>
              <a:t> </a:t>
            </a:r>
            <a:r>
              <a:rPr lang="en-US" sz="1600" b="1" dirty="0" err="1">
                <a:solidFill>
                  <a:schemeClr val="dk1"/>
                </a:solidFill>
              </a:rPr>
              <a:t>khoản</a:t>
            </a:r>
            <a:endParaRPr lang="en-US" sz="1600" b="1" dirty="0">
              <a:solidFill>
                <a:schemeClr val="dk1"/>
              </a:solidFill>
            </a:endParaRPr>
          </a:p>
          <a:p>
            <a:pPr marL="101600" lvl="0">
              <a:lnSpc>
                <a:spcPct val="115000"/>
              </a:lnSpc>
              <a:spcBef>
                <a:spcPts val="1600"/>
              </a:spcBef>
              <a:buSzPts val="1600"/>
            </a:pPr>
            <a:r>
              <a:rPr lang="en-US" sz="1600" b="1" dirty="0">
                <a:solidFill>
                  <a:schemeClr val="dk1"/>
                </a:solidFill>
              </a:rPr>
              <a:t> </a:t>
            </a: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2"/>
          <a:stretch>
            <a:fillRect/>
          </a:stretch>
        </p:blipFill>
        <p:spPr>
          <a:xfrm>
            <a:off x="908799" y="1753384"/>
            <a:ext cx="8069971" cy="427977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0"/>
        <p:cNvGrpSpPr/>
        <p:nvPr/>
      </p:nvGrpSpPr>
      <p:grpSpPr>
        <a:xfrm>
          <a:off x="0" y="0"/>
          <a:ext cx="0" cy="0"/>
          <a:chOff x="0" y="0"/>
          <a:chExt cx="0" cy="0"/>
        </a:xfrm>
      </p:grpSpPr>
      <p:sp>
        <p:nvSpPr>
          <p:cNvPr id="221" name="Google Shape;221;p2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Chứng khoán </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DNSE</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2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SzPts val="1600"/>
            </a:pPr>
            <a:r>
              <a:rPr lang="en-US" sz="1600" b="1" i="0" u="none" strike="noStrike" cap="none" dirty="0">
                <a:solidFill>
                  <a:schemeClr val="dk1"/>
                </a:solidFill>
                <a:latin typeface="Arial" panose="020B0604020202020204"/>
                <a:ea typeface="Arial" panose="020B0604020202020204"/>
                <a:cs typeface="Arial" panose="020B0604020202020204"/>
                <a:sym typeface="Arial" panose="020B0604020202020204"/>
              </a:rPr>
              <a:t>Code</a:t>
            </a:r>
            <a:r>
              <a:rPr lang="en-US" sz="1600" b="1" dirty="0">
                <a:solidFill>
                  <a:schemeClr val="dk1"/>
                </a:solidFill>
              </a:rPr>
              <a:t>: </a:t>
            </a:r>
            <a:r>
              <a:rPr lang="en-US" sz="1600" b="1" dirty="0" err="1">
                <a:solidFill>
                  <a:schemeClr val="dk1"/>
                </a:solidFill>
              </a:rPr>
              <a:t>theo</a:t>
            </a:r>
            <a:r>
              <a:rPr lang="en-US" sz="1600" b="1" dirty="0">
                <a:solidFill>
                  <a:schemeClr val="dk1"/>
                </a:solidFill>
              </a:rPr>
              <a:t> </a:t>
            </a:r>
            <a:r>
              <a:rPr lang="en-US" sz="1600" b="1" dirty="0" err="1">
                <a:solidFill>
                  <a:schemeClr val="dk1"/>
                </a:solidFill>
              </a:rPr>
              <a:t>các</a:t>
            </a:r>
            <a:r>
              <a:rPr lang="en-US" sz="1600" b="1" dirty="0">
                <a:solidFill>
                  <a:schemeClr val="dk1"/>
                </a:solidFill>
              </a:rPr>
              <a:t> </a:t>
            </a:r>
            <a:r>
              <a:rPr lang="en-US" sz="1600" b="1" dirty="0" err="1">
                <a:solidFill>
                  <a:schemeClr val="dk1"/>
                </a:solidFill>
              </a:rPr>
              <a:t>bước</a:t>
            </a:r>
            <a:endParaRPr lang="en-US" sz="1600" b="1" dirty="0">
              <a:solidFill>
                <a:schemeClr val="dk1"/>
              </a:solidFill>
            </a:endParaRPr>
          </a:p>
          <a:p>
            <a:pPr marL="387350" lvl="0" indent="-285750">
              <a:lnSpc>
                <a:spcPct val="115000"/>
              </a:lnSpc>
              <a:spcBef>
                <a:spcPts val="1600"/>
              </a:spcBef>
              <a:buSzPts val="1600"/>
              <a:buFontTx/>
              <a:buChar char="-"/>
            </a:pPr>
            <a:r>
              <a:rPr lang="en-US" sz="1600" b="1" dirty="0" err="1">
                <a:solidFill>
                  <a:schemeClr val="dk1"/>
                </a:solidFill>
              </a:rPr>
              <a:t>Bước</a:t>
            </a:r>
            <a:r>
              <a:rPr lang="en-US" sz="1600" b="1" dirty="0">
                <a:solidFill>
                  <a:schemeClr val="dk1"/>
                </a:solidFill>
              </a:rPr>
              <a:t> 3: </a:t>
            </a:r>
            <a:r>
              <a:rPr lang="en-US" sz="1600" b="1" dirty="0" err="1">
                <a:solidFill>
                  <a:schemeClr val="dk1"/>
                </a:solidFill>
              </a:rPr>
              <a:t>Lấy</a:t>
            </a:r>
            <a:r>
              <a:rPr lang="en-US" sz="1600" b="1" dirty="0">
                <a:solidFill>
                  <a:schemeClr val="dk1"/>
                </a:solidFill>
              </a:rPr>
              <a:t> </a:t>
            </a:r>
            <a:r>
              <a:rPr lang="en-US" sz="1600" b="1" dirty="0" err="1">
                <a:solidFill>
                  <a:schemeClr val="dk1"/>
                </a:solidFill>
              </a:rPr>
              <a:t>thông</a:t>
            </a:r>
            <a:r>
              <a:rPr lang="en-US" sz="1600" b="1" dirty="0">
                <a:solidFill>
                  <a:schemeClr val="dk1"/>
                </a:solidFill>
              </a:rPr>
              <a:t> tin </a:t>
            </a:r>
            <a:r>
              <a:rPr lang="en-US" sz="1600" b="1" dirty="0" err="1">
                <a:solidFill>
                  <a:schemeClr val="dk1"/>
                </a:solidFill>
              </a:rPr>
              <a:t>tiểu</a:t>
            </a:r>
            <a:r>
              <a:rPr lang="en-US" sz="1600" b="1" dirty="0">
                <a:solidFill>
                  <a:schemeClr val="dk1"/>
                </a:solidFill>
              </a:rPr>
              <a:t> </a:t>
            </a:r>
            <a:r>
              <a:rPr lang="en-US" sz="1600" b="1" dirty="0" err="1">
                <a:solidFill>
                  <a:schemeClr val="dk1"/>
                </a:solidFill>
              </a:rPr>
              <a:t>khoản</a:t>
            </a:r>
            <a:endParaRPr lang="en-US" sz="1600" b="1" dirty="0">
              <a:solidFill>
                <a:schemeClr val="dk1"/>
              </a:solidFill>
            </a:endParaRPr>
          </a:p>
          <a:p>
            <a:pPr marL="101600" lvl="0">
              <a:lnSpc>
                <a:spcPct val="115000"/>
              </a:lnSpc>
              <a:spcBef>
                <a:spcPts val="1600"/>
              </a:spcBef>
              <a:buSzPts val="1600"/>
            </a:pPr>
            <a:r>
              <a:rPr lang="en-US" sz="1600" b="1" dirty="0">
                <a:solidFill>
                  <a:schemeClr val="dk1"/>
                </a:solidFill>
              </a:rPr>
              <a:t> </a:t>
            </a: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912223" y="1753385"/>
            <a:ext cx="7993835" cy="424206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0"/>
        <p:cNvGrpSpPr/>
        <p:nvPr/>
      </p:nvGrpSpPr>
      <p:grpSpPr>
        <a:xfrm>
          <a:off x="0" y="0"/>
          <a:ext cx="0" cy="0"/>
          <a:chOff x="0" y="0"/>
          <a:chExt cx="0" cy="0"/>
        </a:xfrm>
      </p:grpSpPr>
      <p:sp>
        <p:nvSpPr>
          <p:cNvPr id="221" name="Google Shape;221;p2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Chứng khoán </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DNSE</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2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SzPts val="1600"/>
            </a:pPr>
            <a:r>
              <a:rPr lang="en-US" sz="1600" b="1" i="0" u="none" strike="noStrike" cap="none" dirty="0">
                <a:solidFill>
                  <a:schemeClr val="dk1"/>
                </a:solidFill>
                <a:latin typeface="Arial" panose="020B0604020202020204"/>
                <a:ea typeface="Arial" panose="020B0604020202020204"/>
                <a:cs typeface="Arial" panose="020B0604020202020204"/>
                <a:sym typeface="Arial" panose="020B0604020202020204"/>
              </a:rPr>
              <a:t>Code</a:t>
            </a:r>
            <a:r>
              <a:rPr lang="en-US" sz="1600" b="1" dirty="0">
                <a:solidFill>
                  <a:schemeClr val="dk1"/>
                </a:solidFill>
              </a:rPr>
              <a:t>: </a:t>
            </a:r>
            <a:r>
              <a:rPr lang="en-US" sz="1600" b="1" dirty="0" err="1">
                <a:solidFill>
                  <a:schemeClr val="dk1"/>
                </a:solidFill>
              </a:rPr>
              <a:t>theo</a:t>
            </a:r>
            <a:r>
              <a:rPr lang="en-US" sz="1600" b="1" dirty="0">
                <a:solidFill>
                  <a:schemeClr val="dk1"/>
                </a:solidFill>
              </a:rPr>
              <a:t> </a:t>
            </a:r>
            <a:r>
              <a:rPr lang="en-US" sz="1600" b="1" dirty="0" err="1">
                <a:solidFill>
                  <a:schemeClr val="dk1"/>
                </a:solidFill>
              </a:rPr>
              <a:t>các</a:t>
            </a:r>
            <a:r>
              <a:rPr lang="en-US" sz="1600" b="1" dirty="0">
                <a:solidFill>
                  <a:schemeClr val="dk1"/>
                </a:solidFill>
              </a:rPr>
              <a:t> </a:t>
            </a:r>
            <a:r>
              <a:rPr lang="en-US" sz="1600" b="1" dirty="0" err="1">
                <a:solidFill>
                  <a:schemeClr val="dk1"/>
                </a:solidFill>
              </a:rPr>
              <a:t>bước</a:t>
            </a:r>
            <a:endParaRPr lang="en-US" sz="1600" b="1" dirty="0">
              <a:solidFill>
                <a:schemeClr val="dk1"/>
              </a:solidFill>
            </a:endParaRPr>
          </a:p>
          <a:p>
            <a:pPr marL="387350" lvl="0" indent="-285750">
              <a:lnSpc>
                <a:spcPct val="115000"/>
              </a:lnSpc>
              <a:spcBef>
                <a:spcPts val="1600"/>
              </a:spcBef>
              <a:buSzPts val="1600"/>
              <a:buFontTx/>
              <a:buChar char="-"/>
            </a:pPr>
            <a:r>
              <a:rPr lang="en-US" sz="1600" b="1" dirty="0" err="1">
                <a:solidFill>
                  <a:schemeClr val="dk1"/>
                </a:solidFill>
              </a:rPr>
              <a:t>Bước</a:t>
            </a:r>
            <a:r>
              <a:rPr lang="en-US" sz="1600" b="1" dirty="0">
                <a:solidFill>
                  <a:schemeClr val="dk1"/>
                </a:solidFill>
              </a:rPr>
              <a:t> 4: </a:t>
            </a:r>
            <a:r>
              <a:rPr lang="en-US" sz="1600" b="1" dirty="0" err="1">
                <a:solidFill>
                  <a:schemeClr val="dk1"/>
                </a:solidFill>
              </a:rPr>
              <a:t>Giao</a:t>
            </a:r>
            <a:r>
              <a:rPr lang="en-US" sz="1600" b="1" dirty="0">
                <a:solidFill>
                  <a:schemeClr val="dk1"/>
                </a:solidFill>
              </a:rPr>
              <a:t> </a:t>
            </a:r>
            <a:r>
              <a:rPr lang="en-US" sz="1600" b="1" dirty="0" err="1">
                <a:solidFill>
                  <a:schemeClr val="dk1"/>
                </a:solidFill>
              </a:rPr>
              <a:t>dịch</a:t>
            </a:r>
            <a:endParaRPr sz="16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2"/>
          <a:stretch>
            <a:fillRect/>
          </a:stretch>
        </p:blipFill>
        <p:spPr>
          <a:xfrm>
            <a:off x="905165" y="1745814"/>
            <a:ext cx="7840835" cy="431324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30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10641</Words>
  <Application>WPS Presentation</Application>
  <PresentationFormat>On-screen Show (4:3)</PresentationFormat>
  <Paragraphs>320</Paragraphs>
  <Slides>40</Slides>
  <Notes>40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40</vt:i4>
      </vt:variant>
    </vt:vector>
  </HeadingPairs>
  <TitlesOfParts>
    <vt:vector size="50" baseType="lpstr">
      <vt:lpstr>Arial</vt:lpstr>
      <vt:lpstr>SimSun</vt:lpstr>
      <vt:lpstr>Wingdings</vt:lpstr>
      <vt:lpstr>Arial</vt:lpstr>
      <vt:lpstr>Calibri</vt:lpstr>
      <vt:lpstr>Maven Pro</vt:lpstr>
      <vt:lpstr>Segoe Print</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PCDTT</cp:lastModifiedBy>
  <cp:revision>11</cp:revision>
  <dcterms:created xsi:type="dcterms:W3CDTF">2021-10-18T16:01:00Z</dcterms:created>
  <dcterms:modified xsi:type="dcterms:W3CDTF">2025-11-19T13:11:11Z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CDF3429EB390468F91AF74E20CDE8BCE_12</vt:lpwstr>
  </property>
  <property fmtid="{D5CDD505-2E9C-101B-9397-08002B2CF9AE}" pid="3" name="KSOProductBuildVer">
    <vt:lpwstr>1033-12.2.0.23155</vt:lpwstr>
  </property>
</Properties>
</file>