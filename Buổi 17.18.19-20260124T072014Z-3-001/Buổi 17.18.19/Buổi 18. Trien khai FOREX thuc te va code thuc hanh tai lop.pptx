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99" r:id="rId7"/>
    <p:sldId id="320" r:id="rId8"/>
    <p:sldId id="300" r:id="rId9"/>
    <p:sldId id="304" r:id="rId10"/>
    <p:sldId id="306" r:id="rId11"/>
    <p:sldId id="308" r:id="rId12"/>
    <p:sldId id="309" r:id="rId13"/>
    <p:sldId id="305" r:id="rId14"/>
    <p:sldId id="307" r:id="rId15"/>
    <p:sldId id="310" r:id="rId16"/>
    <p:sldId id="311" r:id="rId17"/>
    <p:sldId id="312" r:id="rId18"/>
    <p:sldId id="313" r:id="rId19"/>
    <p:sldId id="314" r:id="rId20"/>
    <p:sldId id="319" r:id="rId21"/>
    <p:sldId id="315" r:id="rId22"/>
    <p:sldId id="316" r:id="rId23"/>
    <p:sldId id="317" r:id="rId24"/>
    <p:sldId id="318" r:id="rId25"/>
    <p:sldId id="301" r:id="rId26"/>
    <p:sldId id="298" r:id="rId27"/>
  </p:sldIdLst>
  <p:sldSz cx="9144000" cy="6858000" type="screen4x3"/>
  <p:notesSz cx="6858000" cy="9144000"/>
  <p:embeddedFontLst>
    <p:embeddedFont>
      <p:font typeface="Calibri" panose="020F0502020204030204"/>
      <p:regular r:id="rId31"/>
      <p:bold r:id="rId32"/>
      <p:italic r:id="rId33"/>
      <p:boldItalic r:id="rId34"/>
    </p:embeddedFont>
    <p:embeddedFont>
      <p:font typeface="Maven Pro"/>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49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font" Target="fonts/font6.fntdata"/><Relationship Id="rId35" Type="http://schemas.openxmlformats.org/officeDocument/2006/relationships/font" Target="fonts/font5.fntdata"/><Relationship Id="rId34" Type="http://schemas.openxmlformats.org/officeDocument/2006/relationships/font" Target="fonts/font4.fntdata"/><Relationship Id="rId33" Type="http://schemas.openxmlformats.org/officeDocument/2006/relationships/font" Target="fonts/font3.fntdata"/><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9"/>
        <p:cNvGrpSpPr/>
        <p:nvPr/>
      </p:nvGrpSpPr>
      <p:grpSpPr>
        <a:xfrm>
          <a:off x="0" y="0"/>
          <a:ext cx="0" cy="0"/>
          <a:chOff x="0" y="0"/>
          <a:chExt cx="0" cy="0"/>
        </a:xfrm>
      </p:grpSpPr>
      <p:sp>
        <p:nvSpPr>
          <p:cNvPr id="350" name="Google Shape;35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1" name="Google Shape;351;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Lập trình Auto Trading</a:t>
            </a:r>
            <a:endPar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1382395"/>
          </a:xfrm>
          <a:prstGeom prst="rect">
            <a:avLst/>
          </a:prstGeom>
          <a:noFill/>
          <a:ln>
            <a:noFill/>
          </a:ln>
        </p:spPr>
        <p:txBody>
          <a:bodyPr spcFirstLastPara="1" wrap="square" lIns="91425" tIns="45700" rIns="91425" bIns="45700" anchor="t" anchorCtr="0">
            <a:spAutoFit/>
          </a:bodyPr>
          <a:lstStyle/>
          <a:p>
            <a:pPr lvl="0" algn="just">
              <a:buSzPts val="2800"/>
            </a:pPr>
            <a:r>
              <a:rPr lang="vi-VN" sz="2800" b="1" i="1" dirty="0">
                <a:solidFill>
                  <a:srgbClr val="FF0000"/>
                </a:solidFill>
              </a:rPr>
              <a:t>Chủ đề: Triển khai thực tế chiến lược cho Crypto Binance, Forex MT5</a:t>
            </a:r>
            <a:r>
              <a:rPr lang="en-US" altLang="vi-VN" sz="2800" b="1" i="1" dirty="0">
                <a:solidFill>
                  <a:srgbClr val="FF0000"/>
                </a:solidFill>
              </a:rPr>
              <a:t>, </a:t>
            </a:r>
            <a:r>
              <a:rPr lang="vi-VN" sz="2800" b="1" i="1" dirty="0">
                <a:solidFill>
                  <a:srgbClr val="FF0000"/>
                </a:solidFill>
                <a:sym typeface="+mn-ea"/>
              </a:rPr>
              <a:t>SSI-DNSE</a:t>
            </a:r>
            <a:endParaRPr lang="en-US" altLang="vi-VN" sz="2800" b="1" i="1" dirty="0">
              <a:solidFill>
                <a:srgbClr val="FF0000"/>
              </a:solidFill>
            </a:endParaRPr>
          </a:p>
        </p:txBody>
      </p:sp>
      <p:sp>
        <p:nvSpPr>
          <p:cNvPr id="95" name="Google Shape;95;p2"/>
          <p:cNvSpPr txBox="1"/>
          <p:nvPr/>
        </p:nvSpPr>
        <p:spPr>
          <a:xfrm>
            <a:off x="5482536" y="4841005"/>
            <a:ext cx="3661464" cy="7359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dirty="0">
                <a:solidFill>
                  <a:schemeClr val="dk1"/>
                </a:solidFill>
                <a:latin typeface="Arial" panose="020B0604020202020204"/>
                <a:ea typeface="Arial" panose="020B0604020202020204"/>
                <a:cs typeface="Arial" panose="020B0604020202020204"/>
                <a:sym typeface="Arial" panose="020B0604020202020204"/>
              </a:rPr>
              <a:t>GV.</a:t>
            </a:r>
            <a:r>
              <a:rPr lang="en-US" sz="2800" b="0" i="1"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2800" i="1" dirty="0">
                <a:solidFill>
                  <a:schemeClr val="dk1"/>
                </a:solidFill>
              </a:rPr>
              <a:t>Đặng Trí Thanh</a:t>
            </a:r>
            <a:endParaRPr lang="en-US" sz="2800" i="1" dirty="0">
              <a:solidFill>
                <a:schemeClr val="dk1"/>
              </a:solidFill>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a:solidFill>
                  <a:schemeClr val="lt1"/>
                </a:solidFill>
              </a:rPr>
              <a:t>Nội dung chính</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800" b="1" dirty="0" err="1">
                <a:solidFill>
                  <a:schemeClr val="dk1"/>
                </a:solidFill>
                <a:latin typeface="+mn-lt"/>
                <a:ea typeface="Maven Pro"/>
                <a:cs typeface="Maven Pro"/>
                <a:sym typeface="Maven Pro"/>
              </a:rPr>
              <a:t>Thực</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hành</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tại</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lớp</a:t>
            </a:r>
            <a:endParaRPr lang="en-US" sz="1800" b="1" dirty="0">
              <a:solidFill>
                <a:schemeClr val="dk1"/>
              </a:solidFill>
              <a:latin typeface="+mn-lt"/>
              <a:ea typeface="Maven Pro"/>
              <a:cs typeface="Maven Pro"/>
              <a:sym typeface="Maven Pro"/>
            </a:endParaRPr>
          </a:p>
          <a:p>
            <a:pPr marL="457200" indent="-355600">
              <a:lnSpc>
                <a:spcPct val="115000"/>
              </a:lnSpc>
              <a:spcBef>
                <a:spcPts val="1600"/>
              </a:spcBef>
              <a:buClr>
                <a:schemeClr val="dk1"/>
              </a:buClr>
              <a:buSzPts val="2000"/>
              <a:buFont typeface="Maven Pro"/>
              <a:buAutoNum type="arabicPeriod"/>
            </a:pPr>
            <a:r>
              <a:rPr lang="en-US" sz="1800" b="1" dirty="0">
                <a:solidFill>
                  <a:schemeClr val="dk1"/>
                </a:solidFill>
                <a:ea typeface="Maven Pro"/>
                <a:cs typeface="Maven Pro"/>
                <a:sym typeface="Maven Pro"/>
              </a:rPr>
              <a:t>Chiến </a:t>
            </a:r>
            <a:r>
              <a:rPr lang="en-US" sz="1800" b="1" dirty="0" err="1">
                <a:solidFill>
                  <a:schemeClr val="dk1"/>
                </a:solidFill>
                <a:ea typeface="Maven Pro"/>
                <a:cs typeface="Maven Pro"/>
                <a:sym typeface="Maven Pro"/>
              </a:rPr>
              <a:t>lược</a:t>
            </a:r>
            <a:r>
              <a:rPr lang="en-US" sz="1800" b="1" dirty="0">
                <a:solidFill>
                  <a:schemeClr val="dk1"/>
                </a:solidFill>
                <a:ea typeface="Maven Pro"/>
                <a:cs typeface="Maven Pro"/>
                <a:sym typeface="Maven Pro"/>
              </a:rPr>
              <a:t> </a:t>
            </a:r>
            <a:r>
              <a:rPr lang="en-US" sz="1800" b="1" dirty="0" err="1">
                <a:solidFill>
                  <a:schemeClr val="dk1"/>
                </a:solidFill>
                <a:ea typeface="Maven Pro"/>
                <a:cs typeface="Maven Pro"/>
                <a:sym typeface="Maven Pro"/>
              </a:rPr>
              <a:t>và</a:t>
            </a:r>
            <a:r>
              <a:rPr lang="en-US" sz="1800" b="1" dirty="0">
                <a:solidFill>
                  <a:schemeClr val="dk1"/>
                </a:solidFill>
                <a:ea typeface="Maven Pro"/>
                <a:cs typeface="Maven Pro"/>
                <a:sym typeface="Maven Pro"/>
              </a:rPr>
              <a:t> Auto Trade Forex</a:t>
            </a:r>
            <a:endParaRPr lang="en-US" sz="1800" b="1" dirty="0">
              <a:solidFill>
                <a:schemeClr val="dk1"/>
              </a:solidFill>
              <a:latin typeface="+mn-lt"/>
              <a:ea typeface="Maven Pro"/>
              <a:cs typeface="Maven Pro"/>
              <a:sym typeface="Maven Pro"/>
            </a:endParaRPr>
          </a:p>
          <a:p>
            <a:pPr marL="457200" lvl="0" indent="-355600">
              <a:lnSpc>
                <a:spcPct val="115000"/>
              </a:lnSpc>
              <a:spcBef>
                <a:spcPts val="1600"/>
              </a:spcBef>
              <a:buClr>
                <a:schemeClr val="dk1"/>
              </a:buClr>
              <a:buSzPts val="2000"/>
              <a:buFont typeface="Maven Pro"/>
              <a:buAutoNum type="arabicPeriod"/>
            </a:pPr>
            <a:r>
              <a:rPr lang="en-US" sz="1800" b="1" dirty="0">
                <a:solidFill>
                  <a:schemeClr val="dk1"/>
                </a:solidFill>
                <a:latin typeface="+mn-lt"/>
                <a:ea typeface="Maven Pro"/>
                <a:cs typeface="Maven Pro"/>
                <a:sym typeface="Maven Pro"/>
              </a:rPr>
              <a:t>Chiến </a:t>
            </a:r>
            <a:r>
              <a:rPr lang="en-US" sz="1800" b="1" dirty="0" err="1">
                <a:solidFill>
                  <a:schemeClr val="dk1"/>
                </a:solidFill>
                <a:latin typeface="+mn-lt"/>
                <a:ea typeface="Maven Pro"/>
                <a:cs typeface="Maven Pro"/>
                <a:sym typeface="Maven Pro"/>
              </a:rPr>
              <a:t>lược</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và</a:t>
            </a:r>
            <a:r>
              <a:rPr lang="en-US" sz="1800" b="1" dirty="0">
                <a:solidFill>
                  <a:schemeClr val="dk1"/>
                </a:solidFill>
                <a:latin typeface="+mn-lt"/>
                <a:ea typeface="Maven Pro"/>
                <a:cs typeface="Maven Pro"/>
                <a:sym typeface="Maven Pro"/>
              </a:rPr>
              <a:t> Auto Trade Crypto </a:t>
            </a:r>
            <a:r>
              <a:rPr lang="en-US" sz="1800" b="1" dirty="0" err="1">
                <a:solidFill>
                  <a:schemeClr val="dk1"/>
                </a:solidFill>
                <a:latin typeface="+mn-lt"/>
                <a:ea typeface="Maven Pro"/>
                <a:cs typeface="Maven Pro"/>
                <a:sym typeface="Maven Pro"/>
              </a:rPr>
              <a:t>Binance</a:t>
            </a:r>
            <a:endParaRPr lang="en-US" sz="1800" b="1" dirty="0">
              <a:solidFill>
                <a:schemeClr val="dk1"/>
              </a:solidFill>
              <a:latin typeface="+mn-lt"/>
              <a:ea typeface="Maven Pro"/>
              <a:cs typeface="Maven Pro"/>
              <a:sym typeface="Maven Pro"/>
            </a:endParaRPr>
          </a:p>
          <a:p>
            <a:pPr marL="457200" lvl="0" indent="-355600">
              <a:lnSpc>
                <a:spcPct val="115000"/>
              </a:lnSpc>
              <a:spcBef>
                <a:spcPts val="1600"/>
              </a:spcBef>
              <a:buClr>
                <a:schemeClr val="dk1"/>
              </a:buClr>
              <a:buSzPts val="2000"/>
              <a:buFont typeface="Maven Pro"/>
              <a:buAutoNum type="arabicPeriod"/>
            </a:pPr>
            <a:r>
              <a:rPr lang="en-US" sz="1800" b="1" dirty="0">
                <a:solidFill>
                  <a:schemeClr val="dk1"/>
                </a:solidFill>
                <a:ea typeface="Maven Pro"/>
                <a:cs typeface="Maven Pro"/>
                <a:sym typeface="Maven Pro"/>
              </a:rPr>
              <a:t>Chiến </a:t>
            </a:r>
            <a:r>
              <a:rPr lang="en-US" sz="1800" b="1" dirty="0" err="1">
                <a:solidFill>
                  <a:schemeClr val="dk1"/>
                </a:solidFill>
                <a:ea typeface="Maven Pro"/>
                <a:cs typeface="Maven Pro"/>
                <a:sym typeface="Maven Pro"/>
              </a:rPr>
              <a:t>lược</a:t>
            </a:r>
            <a:r>
              <a:rPr lang="en-US" sz="1800" b="1" dirty="0">
                <a:solidFill>
                  <a:schemeClr val="dk1"/>
                </a:solidFill>
                <a:ea typeface="Maven Pro"/>
                <a:cs typeface="Maven Pro"/>
                <a:sym typeface="Maven Pro"/>
              </a:rPr>
              <a:t> </a:t>
            </a:r>
            <a:r>
              <a:rPr lang="en-US" sz="1800" b="1" dirty="0" err="1">
                <a:solidFill>
                  <a:schemeClr val="dk1"/>
                </a:solidFill>
                <a:ea typeface="Maven Pro"/>
                <a:cs typeface="Maven Pro"/>
                <a:sym typeface="Maven Pro"/>
              </a:rPr>
              <a:t>và</a:t>
            </a:r>
            <a:r>
              <a:rPr lang="en-US" sz="1800" b="1" dirty="0">
                <a:solidFill>
                  <a:schemeClr val="dk1"/>
                </a:solidFill>
                <a:ea typeface="Maven Pro"/>
                <a:cs typeface="Maven Pro"/>
                <a:sym typeface="Maven Pro"/>
              </a:rPr>
              <a:t> Auto Trade SSI</a:t>
            </a:r>
            <a:endParaRPr sz="1800" b="1" dirty="0">
              <a:solidFill>
                <a:schemeClr val="dk1"/>
              </a:solidFill>
              <a:latin typeface="+mn-lt"/>
              <a:ea typeface="Maven Pro"/>
              <a:cs typeface="Maven Pro"/>
              <a:sym typeface="Maven P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Mô</a:t>
            </a:r>
            <a:r>
              <a:rPr lang="en-US" sz="2400" b="1" dirty="0">
                <a:solidFill>
                  <a:schemeClr val="lt1"/>
                </a:solidFill>
              </a:rPr>
              <a:t> </a:t>
            </a:r>
            <a:r>
              <a:rPr lang="en-US" sz="2400" b="1" dirty="0" err="1">
                <a:solidFill>
                  <a:schemeClr val="lt1"/>
                </a:solidFill>
              </a:rPr>
              <a:t>hình</a:t>
            </a:r>
            <a:r>
              <a:rPr lang="en-US" sz="2400" b="1" dirty="0">
                <a:solidFill>
                  <a:schemeClr val="lt1"/>
                </a:solidFill>
              </a:rPr>
              <a:t> </a:t>
            </a:r>
            <a:r>
              <a:rPr lang="en-US" sz="2400" b="1" dirty="0" err="1">
                <a:solidFill>
                  <a:schemeClr val="lt1"/>
                </a:solidFill>
              </a:rPr>
              <a:t>hệ</a:t>
            </a:r>
            <a:r>
              <a:rPr lang="en-US" sz="2400" b="1" dirty="0">
                <a:solidFill>
                  <a:schemeClr val="lt1"/>
                </a:solidFill>
              </a:rPr>
              <a:t> </a:t>
            </a:r>
            <a:r>
              <a:rPr lang="en-US" sz="2400" b="1" dirty="0" err="1">
                <a:solidFill>
                  <a:schemeClr val="lt1"/>
                </a:solidFill>
              </a:rPr>
              <a:t>thống</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57200" lvl="0" indent="-355600">
              <a:lnSpc>
                <a:spcPct val="115000"/>
              </a:lnSpc>
              <a:spcBef>
                <a:spcPts val="1600"/>
              </a:spcBef>
              <a:buClr>
                <a:schemeClr val="dk1"/>
              </a:buClr>
              <a:buSzPts val="2000"/>
              <a:buFont typeface="Maven Pro"/>
              <a:buAutoNum type="arabicPeriod"/>
            </a:pPr>
            <a:r>
              <a:rPr lang="en-US" sz="1800" b="1" dirty="0" err="1">
                <a:solidFill>
                  <a:schemeClr val="dk1"/>
                </a:solidFill>
                <a:latin typeface="+mn-lt"/>
                <a:ea typeface="Maven Pro"/>
                <a:cs typeface="Maven Pro"/>
                <a:sym typeface="Maven Pro"/>
              </a:rPr>
              <a:t>Xây</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dựng</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chiến</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lược</a:t>
            </a:r>
            <a:endParaRPr lang="en-US" sz="1800" b="1" dirty="0">
              <a:solidFill>
                <a:schemeClr val="dk1"/>
              </a:solidFill>
              <a:latin typeface="+mn-lt"/>
              <a:ea typeface="Maven Pro"/>
              <a:cs typeface="Maven Pro"/>
              <a:sym typeface="Maven Pro"/>
            </a:endParaRPr>
          </a:p>
          <a:p>
            <a:pPr marL="457200" lvl="0" indent="-355600">
              <a:lnSpc>
                <a:spcPct val="115000"/>
              </a:lnSpc>
              <a:spcBef>
                <a:spcPts val="1600"/>
              </a:spcBef>
              <a:buClr>
                <a:schemeClr val="dk1"/>
              </a:buClr>
              <a:buSzPts val="2000"/>
              <a:buFont typeface="Maven Pro"/>
              <a:buAutoNum type="arabicPeriod"/>
            </a:pPr>
            <a:r>
              <a:rPr lang="en-US" sz="1800" b="1" dirty="0" err="1">
                <a:solidFill>
                  <a:schemeClr val="dk1"/>
                </a:solidFill>
                <a:latin typeface="+mn-lt"/>
                <a:ea typeface="Maven Pro"/>
                <a:cs typeface="Maven Pro"/>
                <a:sym typeface="Maven Pro"/>
              </a:rPr>
              <a:t>Lập</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trình</a:t>
            </a:r>
            <a:endParaRPr lang="en-US" sz="1800" b="1" dirty="0">
              <a:solidFill>
                <a:schemeClr val="dk1"/>
              </a:solidFill>
              <a:latin typeface="+mn-lt"/>
              <a:ea typeface="Maven Pro"/>
              <a:cs typeface="Maven Pro"/>
              <a:sym typeface="Maven Pro"/>
            </a:endParaRPr>
          </a:p>
          <a:p>
            <a:pPr marL="457200" lvl="0" indent="-355600">
              <a:lnSpc>
                <a:spcPct val="115000"/>
              </a:lnSpc>
              <a:spcBef>
                <a:spcPts val="1600"/>
              </a:spcBef>
              <a:buClr>
                <a:schemeClr val="dk1"/>
              </a:buClr>
              <a:buSzPts val="2000"/>
              <a:buFont typeface="Maven Pro"/>
              <a:buAutoNum type="arabicPeriod"/>
            </a:pPr>
            <a:r>
              <a:rPr lang="en-US" sz="1800" b="1" dirty="0" err="1">
                <a:solidFill>
                  <a:schemeClr val="dk1"/>
                </a:solidFill>
                <a:latin typeface="+mn-lt"/>
                <a:ea typeface="Maven Pro"/>
                <a:cs typeface="Maven Pro"/>
                <a:sym typeface="Maven Pro"/>
              </a:rPr>
              <a:t>Backtesting</a:t>
            </a:r>
            <a:endParaRPr lang="en-US" sz="1800" b="1" dirty="0">
              <a:solidFill>
                <a:schemeClr val="dk1"/>
              </a:solidFill>
              <a:latin typeface="+mn-lt"/>
              <a:ea typeface="Maven Pro"/>
              <a:cs typeface="Maven Pro"/>
              <a:sym typeface="Maven Pro"/>
            </a:endParaRPr>
          </a:p>
          <a:p>
            <a:pPr marL="457200" lvl="0" indent="-355600">
              <a:lnSpc>
                <a:spcPct val="115000"/>
              </a:lnSpc>
              <a:spcBef>
                <a:spcPts val="1600"/>
              </a:spcBef>
              <a:buClr>
                <a:schemeClr val="dk1"/>
              </a:buClr>
              <a:buSzPts val="2000"/>
              <a:buFont typeface="Maven Pro"/>
              <a:buAutoNum type="arabicPeriod"/>
            </a:pPr>
            <a:r>
              <a:rPr lang="en-US" sz="1800" b="1" dirty="0" err="1">
                <a:solidFill>
                  <a:schemeClr val="dk1"/>
                </a:solidFill>
                <a:latin typeface="+mn-lt"/>
                <a:ea typeface="Maven Pro"/>
                <a:cs typeface="Maven Pro"/>
                <a:sym typeface="Maven Pro"/>
              </a:rPr>
              <a:t>Tự</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động</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hóa</a:t>
            </a:r>
            <a:endParaRPr lang="en-US" sz="1800" b="1" dirty="0">
              <a:solidFill>
                <a:schemeClr val="dk1"/>
              </a:solidFill>
              <a:latin typeface="+mn-lt"/>
              <a:ea typeface="Maven Pro"/>
              <a:cs typeface="Maven Pro"/>
              <a:sym typeface="Maven Pro"/>
            </a:endParaRPr>
          </a:p>
          <a:p>
            <a:pPr marL="457200" lvl="0" indent="-355600">
              <a:lnSpc>
                <a:spcPct val="115000"/>
              </a:lnSpc>
              <a:spcBef>
                <a:spcPts val="1600"/>
              </a:spcBef>
              <a:buClr>
                <a:schemeClr val="dk1"/>
              </a:buClr>
              <a:buSzPts val="2000"/>
              <a:buFont typeface="Maven Pro"/>
              <a:buAutoNum type="arabicPeriod"/>
            </a:pPr>
            <a:r>
              <a:rPr lang="en-US" sz="1800" b="1" dirty="0">
                <a:solidFill>
                  <a:schemeClr val="dk1"/>
                </a:solidFill>
                <a:latin typeface="+mn-lt"/>
                <a:ea typeface="Maven Pro"/>
                <a:cs typeface="Maven Pro"/>
                <a:sym typeface="Maven Pro"/>
              </a:rPr>
              <a:t>OG: Order Good</a:t>
            </a:r>
            <a:endParaRPr lang="en-US" sz="1800" b="1" dirty="0">
              <a:solidFill>
                <a:schemeClr val="dk1"/>
              </a:solidFill>
              <a:latin typeface="+mn-lt"/>
              <a:ea typeface="Maven Pro"/>
              <a:cs typeface="Maven Pro"/>
              <a:sym typeface="Maven Pro"/>
            </a:endParaRPr>
          </a:p>
          <a:p>
            <a:pPr marL="457200" lvl="0" indent="-355600">
              <a:lnSpc>
                <a:spcPct val="115000"/>
              </a:lnSpc>
              <a:spcBef>
                <a:spcPts val="1600"/>
              </a:spcBef>
              <a:buClr>
                <a:schemeClr val="dk1"/>
              </a:buClr>
              <a:buSzPts val="2000"/>
              <a:buFont typeface="Maven Pro"/>
              <a:buAutoNum type="arabicPeriod"/>
            </a:pPr>
            <a:r>
              <a:rPr lang="en-US" sz="1800" b="1" dirty="0">
                <a:solidFill>
                  <a:schemeClr val="dk1"/>
                </a:solidFill>
                <a:latin typeface="+mn-lt"/>
                <a:ea typeface="Maven Pro"/>
                <a:cs typeface="Maven Pro"/>
                <a:sym typeface="Maven Pro"/>
              </a:rPr>
              <a:t>OF: Order Follower</a:t>
            </a:r>
            <a:endParaRPr lang="en-US" sz="1800" b="1" dirty="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endParaRPr sz="1800" b="1" dirty="0">
              <a:solidFill>
                <a:schemeClr val="dk1"/>
              </a:solidFill>
              <a:latin typeface="+mn-lt"/>
              <a:ea typeface="Maven Pro"/>
              <a:cs typeface="Maven Pro"/>
              <a:sym typeface="Maven Pr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err="1">
                <a:ln>
                  <a:noFill/>
                </a:ln>
                <a:solidFill>
                  <a:srgbClr val="FFFFFF"/>
                </a:solidFill>
                <a:effectLst/>
                <a:uLnTx/>
                <a:uFillTx/>
                <a:latin typeface="Arial (body)"/>
                <a:cs typeface="Arial" panose="020B0604020202020204"/>
                <a:sym typeface="Arial" panose="020B0604020202020204"/>
              </a:rPr>
              <a:t>Đặt</a:t>
            </a:r>
            <a:r>
              <a:rPr kumimoji="0" lang="en-US" sz="2400" b="0" i="0" u="none" strike="noStrike" kern="0" cap="none" spc="0" normalizeH="0" baseline="0" noProof="0" dirty="0">
                <a:ln>
                  <a:noFill/>
                </a:ln>
                <a:solidFill>
                  <a:srgbClr val="FFFFFF"/>
                </a:solidFill>
                <a:effectLst/>
                <a:uLnTx/>
                <a:uFillTx/>
                <a:latin typeface="Arial (body)"/>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body)"/>
                <a:cs typeface="Arial" panose="020B0604020202020204"/>
                <a:sym typeface="Arial" panose="020B0604020202020204"/>
              </a:rPr>
              <a:t>câu</a:t>
            </a:r>
            <a:r>
              <a:rPr kumimoji="0" lang="en-US" sz="2400" b="0" i="0" u="none" strike="noStrike" kern="0" cap="none" spc="0" normalizeH="0" baseline="0" noProof="0" dirty="0">
                <a:ln>
                  <a:noFill/>
                </a:ln>
                <a:solidFill>
                  <a:srgbClr val="FFFFFF"/>
                </a:solidFill>
                <a:effectLst/>
                <a:uLnTx/>
                <a:uFillTx/>
                <a:latin typeface="Arial (body)"/>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body)"/>
                <a:cs typeface="Arial" panose="020B0604020202020204"/>
                <a:sym typeface="Arial" panose="020B0604020202020204"/>
              </a:rPr>
              <a:t>hỏi</a:t>
            </a:r>
            <a:endParaRPr kumimoji="0" sz="2400" b="0" i="0" u="none" strike="noStrike" kern="0" cap="none" spc="0" normalizeH="0" baseline="0" noProof="0" dirty="0">
              <a:ln>
                <a:noFill/>
              </a:ln>
              <a:solidFill>
                <a:srgbClr val="FFFFFF"/>
              </a:solidFill>
              <a:effectLst/>
              <a:uLnTx/>
              <a:uFillTx/>
              <a:latin typeface="Arial (body)"/>
              <a:cs typeface="Arial" panose="020B0604020202020204"/>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Chúng</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ta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có</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như</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sau</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a:ln>
                  <a:noFill/>
                </a:ln>
                <a:solidFill>
                  <a:srgbClr val="FF0000"/>
                </a:solidFill>
                <a:effectLst/>
                <a:uLnTx/>
                <a:uFillTx/>
                <a:latin typeface="Arial" panose="020B0604020202020204"/>
                <a:ea typeface="Arial" panose="020B0604020202020204"/>
                <a:cs typeface="Arial" panose="020B0604020202020204"/>
                <a:sym typeface="Arial" panose="020B0604020202020204"/>
              </a:rPr>
              <a:t>ML, Momentum, RSI</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hoặc</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ea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a:ln>
                  <a:noFill/>
                </a:ln>
                <a:solidFill>
                  <a:srgbClr val="FF0000"/>
                </a:solidFill>
                <a:effectLst/>
                <a:uLnTx/>
                <a:uFillTx/>
                <a:latin typeface="Arial" panose="020B0604020202020204"/>
                <a:ea typeface="Arial" panose="020B0604020202020204"/>
                <a:cs typeface="Arial" panose="020B0604020202020204"/>
                <a:sym typeface="Arial" panose="020B0604020202020204"/>
              </a:rPr>
              <a:t>Bollinger Bands, RSI</a:t>
            </a:r>
            <a:r>
              <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a:t>
            </a:r>
            <a:endParaRPr kumimoji="0" lang="en-US"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để</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làm</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sao</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thực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thi</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ML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này</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tự</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động</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80750" y="2613514"/>
            <a:ext cx="4078615" cy="2013903"/>
          </a:xfrm>
          <a:prstGeom prst="rect">
            <a:avLst/>
          </a:prstGeom>
        </p:spPr>
      </p:pic>
      <p:pic>
        <p:nvPicPr>
          <p:cNvPr id="5" name="Picture 4"/>
          <p:cNvPicPr>
            <a:picLocks noChangeAspect="1"/>
          </p:cNvPicPr>
          <p:nvPr/>
        </p:nvPicPr>
        <p:blipFill>
          <a:blip r:embed="rId3"/>
          <a:stretch>
            <a:fillRect/>
          </a:stretch>
        </p:blipFill>
        <p:spPr>
          <a:xfrm>
            <a:off x="4952428" y="4159825"/>
            <a:ext cx="4071932" cy="20148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a:solidFill>
                  <a:schemeClr val="lt1"/>
                </a:solidFill>
              </a:rPr>
              <a:t>1. </a:t>
            </a:r>
            <a:r>
              <a:rPr lang="en-US" sz="2400" b="1" dirty="0" err="1">
                <a:solidFill>
                  <a:schemeClr val="lt1"/>
                </a:solidFill>
              </a:rPr>
              <a:t>Xây</a:t>
            </a:r>
            <a:r>
              <a:rPr lang="en-US" sz="2400" b="1" dirty="0">
                <a:solidFill>
                  <a:schemeClr val="lt1"/>
                </a:solidFill>
              </a:rPr>
              <a:t> </a:t>
            </a:r>
            <a:r>
              <a:rPr lang="en-US" sz="2400" b="1" dirty="0" err="1">
                <a:solidFill>
                  <a:schemeClr val="lt1"/>
                </a:solidFill>
              </a:rPr>
              <a:t>dựng</a:t>
            </a:r>
            <a:r>
              <a:rPr lang="en-US" sz="2400" b="1" dirty="0">
                <a:solidFill>
                  <a:schemeClr val="lt1"/>
                </a:solidFill>
              </a:rPr>
              <a:t> </a:t>
            </a:r>
            <a:r>
              <a:rPr lang="en-US" sz="2400" b="1" dirty="0" err="1">
                <a:solidFill>
                  <a:schemeClr val="lt1"/>
                </a:solidFill>
              </a:rPr>
              <a:t>chiến</a:t>
            </a:r>
            <a:r>
              <a:rPr lang="en-US" sz="2400" b="1" dirty="0">
                <a:solidFill>
                  <a:schemeClr val="lt1"/>
                </a:solidFill>
              </a:rPr>
              <a:t> </a:t>
            </a:r>
            <a:r>
              <a:rPr lang="en-US" sz="2400" b="1" dirty="0" err="1">
                <a:solidFill>
                  <a:schemeClr val="lt1"/>
                </a:solidFill>
              </a:rPr>
              <a:t>lược</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gn="just">
              <a:lnSpc>
                <a:spcPct val="115000"/>
              </a:lnSpc>
              <a:spcBef>
                <a:spcPts val="1600"/>
              </a:spcBef>
              <a:buClr>
                <a:schemeClr val="dk1"/>
              </a:buClr>
              <a:buSzPts val="2000"/>
            </a:pPr>
            <a:r>
              <a:rPr lang="vi-VN" sz="1600" dirty="0"/>
              <a:t>Đây là bước phát triển </a:t>
            </a:r>
            <a:r>
              <a:rPr lang="vi-VN" sz="1600" b="1" u="sng" dirty="0"/>
              <a:t>các quy tắc và điều kiện cho việc giao dịch</a:t>
            </a:r>
            <a:r>
              <a:rPr lang="vi-VN" sz="1600" dirty="0"/>
              <a:t>.</a:t>
            </a:r>
            <a:endParaRPr lang="en-US" sz="1600" dirty="0"/>
          </a:p>
          <a:p>
            <a:pPr marL="101600" algn="just">
              <a:lnSpc>
                <a:spcPct val="115000"/>
              </a:lnSpc>
              <a:spcBef>
                <a:spcPts val="1600"/>
              </a:spcBef>
              <a:buClr>
                <a:schemeClr val="dk1"/>
              </a:buClr>
              <a:buSzPts val="2000"/>
            </a:pPr>
            <a:r>
              <a:rPr lang="en-US" sz="1600" dirty="0"/>
              <a:t>C</a:t>
            </a:r>
            <a:r>
              <a:rPr lang="vi-VN" sz="1600" dirty="0"/>
              <a:t>ác quy tắc giao dịch rõ ràng và cụ thể. Những quy tắc này có thể dựa trên các </a:t>
            </a:r>
            <a:r>
              <a:rPr lang="vi-VN" sz="1600" dirty="0">
                <a:solidFill>
                  <a:srgbClr val="FF0000"/>
                </a:solidFill>
              </a:rPr>
              <a:t>chỉ báo kỹ thuật</a:t>
            </a:r>
            <a:r>
              <a:rPr lang="vi-VN" sz="1600" dirty="0"/>
              <a:t>, </a:t>
            </a:r>
            <a:r>
              <a:rPr lang="vi-VN" sz="1600" dirty="0">
                <a:solidFill>
                  <a:srgbClr val="FF0000"/>
                </a:solidFill>
              </a:rPr>
              <a:t>mô hình giá</a:t>
            </a:r>
            <a:r>
              <a:rPr lang="vi-VN" sz="1600" dirty="0"/>
              <a:t>, hoặc các loại phân tích khác như phân tích cơ bản hoặc </a:t>
            </a:r>
            <a:r>
              <a:rPr lang="vi-VN" sz="1600" dirty="0">
                <a:solidFill>
                  <a:srgbClr val="FF0000"/>
                </a:solidFill>
              </a:rPr>
              <a:t>tin tức</a:t>
            </a:r>
            <a:r>
              <a:rPr lang="vi-VN" sz="1600" dirty="0"/>
              <a:t>.</a:t>
            </a:r>
            <a:endParaRPr lang="en-US" sz="1600" dirty="0"/>
          </a:p>
          <a:p>
            <a:pPr marL="101600" lvl="0" algn="just">
              <a:lnSpc>
                <a:spcPct val="115000"/>
              </a:lnSpc>
              <a:spcBef>
                <a:spcPts val="1600"/>
              </a:spcBef>
              <a:buClr>
                <a:schemeClr val="dk1"/>
              </a:buClr>
              <a:buSzPts val="2000"/>
            </a:pPr>
            <a:r>
              <a:rPr lang="vi-VN" sz="1600" dirty="0">
                <a:solidFill>
                  <a:schemeClr val="tx1"/>
                </a:solidFill>
              </a:rPr>
              <a:t>Cụ thể hóa những quy tắc này thành các hướng dẫn chi tiết về khi nào và làm thế nào để thực hiện giao dịch</a:t>
            </a:r>
            <a:endParaRPr lang="vi-VN" sz="1600" dirty="0">
              <a:solidFill>
                <a:schemeClr val="tx1"/>
              </a:solidFill>
            </a:endParaRPr>
          </a:p>
          <a:p>
            <a:pPr marL="101600" lvl="0" algn="just">
              <a:lnSpc>
                <a:spcPct val="115000"/>
              </a:lnSpc>
              <a:spcBef>
                <a:spcPts val="1600"/>
              </a:spcBef>
            </a:pPr>
            <a:r>
              <a:rPr lang="vi-VN" sz="1600" dirty="0"/>
              <a:t>- </a:t>
            </a:r>
            <a:r>
              <a:rPr lang="vi-VN" sz="1600" b="1" dirty="0"/>
              <a:t>Ví dụ cho Chiến lược </a:t>
            </a:r>
            <a:r>
              <a:rPr lang="vi-VN" sz="1600" dirty="0">
                <a:solidFill>
                  <a:srgbClr val="FF0000"/>
                </a:solidFill>
              </a:rPr>
              <a:t>Doji chân dài - Mua chứng khoán</a:t>
            </a:r>
            <a:r>
              <a:rPr lang="vi-VN" sz="1600" dirty="0"/>
              <a:t>:</a:t>
            </a:r>
            <a:endParaRPr lang="vi-VN" sz="1600" dirty="0"/>
          </a:p>
          <a:p>
            <a:pPr marL="101600" lvl="0" algn="just">
              <a:lnSpc>
                <a:spcPct val="115000"/>
              </a:lnSpc>
              <a:spcBef>
                <a:spcPts val="1600"/>
              </a:spcBef>
            </a:pPr>
            <a:r>
              <a:rPr lang="vi-VN" sz="1600" dirty="0"/>
              <a:t>  + </a:t>
            </a:r>
            <a:r>
              <a:rPr lang="vi-VN" sz="1600" b="1" dirty="0"/>
              <a:t>Tần Suất Giao Dịch</a:t>
            </a:r>
            <a:r>
              <a:rPr lang="vi-VN" sz="1600" dirty="0"/>
              <a:t>: Nến theo khung </a:t>
            </a:r>
            <a:r>
              <a:rPr lang="vi-VN" sz="1600" dirty="0">
                <a:solidFill>
                  <a:srgbClr val="FF0000"/>
                </a:solidFill>
              </a:rPr>
              <a:t>nào</a:t>
            </a:r>
            <a:r>
              <a:rPr lang="vi-VN" sz="1600" dirty="0"/>
              <a:t> =&gt; </a:t>
            </a:r>
            <a:r>
              <a:rPr lang="vi-VN" sz="1600" dirty="0">
                <a:solidFill>
                  <a:srgbClr val="FF0000"/>
                </a:solidFill>
              </a:rPr>
              <a:t>Ngày</a:t>
            </a:r>
            <a:endParaRPr lang="vi-VN" sz="1600" dirty="0">
              <a:solidFill>
                <a:srgbClr val="FF0000"/>
              </a:solidFill>
            </a:endParaRPr>
          </a:p>
          <a:p>
            <a:pPr marL="101600" lvl="0" algn="just">
              <a:lnSpc>
                <a:spcPct val="115000"/>
              </a:lnSpc>
              <a:spcBef>
                <a:spcPts val="1600"/>
              </a:spcBef>
            </a:pPr>
            <a:r>
              <a:rPr lang="vi-VN" sz="1600" dirty="0"/>
              <a:t>  + </a:t>
            </a:r>
            <a:r>
              <a:rPr lang="vi-VN" sz="1600" b="1" dirty="0"/>
              <a:t>Biểu đồ giá: </a:t>
            </a:r>
            <a:r>
              <a:rPr lang="vi-VN" sz="1600" dirty="0"/>
              <a:t>Các chỉ số OHLC (</a:t>
            </a:r>
            <a:r>
              <a:rPr lang="en-US" sz="1600" dirty="0">
                <a:solidFill>
                  <a:srgbClr val="FF0000"/>
                </a:solidFill>
              </a:rPr>
              <a:t>Timeframe </a:t>
            </a:r>
            <a:r>
              <a:rPr lang="en-US" sz="1600" dirty="0" err="1">
                <a:solidFill>
                  <a:srgbClr val="FF0000"/>
                </a:solidFill>
              </a:rPr>
              <a:t>của</a:t>
            </a:r>
            <a:r>
              <a:rPr lang="en-US" sz="1600" dirty="0">
                <a:solidFill>
                  <a:srgbClr val="FF0000"/>
                </a:solidFill>
              </a:rPr>
              <a:t> </a:t>
            </a:r>
            <a:r>
              <a:rPr lang="en-US" sz="1600" dirty="0" err="1">
                <a:solidFill>
                  <a:srgbClr val="FF0000"/>
                </a:solidFill>
              </a:rPr>
              <a:t>sàn</a:t>
            </a:r>
            <a:r>
              <a:rPr lang="vi-VN" sz="1600" dirty="0"/>
              <a:t>) / OHLC (</a:t>
            </a:r>
            <a:r>
              <a:rPr lang="en-US" sz="1600" b="1" dirty="0"/>
              <a:t>Timeframe </a:t>
            </a:r>
            <a:r>
              <a:rPr lang="en-US" sz="1600" b="1" dirty="0" err="1"/>
              <a:t>của</a:t>
            </a:r>
            <a:r>
              <a:rPr lang="en-US" sz="1600" b="1" dirty="0"/>
              <a:t> </a:t>
            </a:r>
            <a:r>
              <a:rPr lang="en-US" sz="1600" b="1" dirty="0" err="1"/>
              <a:t>mình</a:t>
            </a:r>
            <a:r>
              <a:rPr lang="en-US" sz="1600" b="1" dirty="0"/>
              <a:t>: </a:t>
            </a:r>
            <a:r>
              <a:rPr lang="en-US" sz="1600" b="1" dirty="0" err="1"/>
              <a:t>Ví</a:t>
            </a:r>
            <a:r>
              <a:rPr lang="en-US" sz="1600" b="1" dirty="0"/>
              <a:t> </a:t>
            </a:r>
            <a:r>
              <a:rPr lang="en-US" sz="1600" b="1" dirty="0" err="1"/>
              <a:t>dụ</a:t>
            </a:r>
            <a:r>
              <a:rPr lang="en-US" sz="1600" b="1" dirty="0"/>
              <a:t>: </a:t>
            </a:r>
            <a:r>
              <a:rPr lang="vi-VN" sz="1600" b="1" dirty="0"/>
              <a:t>5m+2</a:t>
            </a:r>
            <a:r>
              <a:rPr lang="vi-VN" sz="1600" dirty="0"/>
              <a:t>)</a:t>
            </a:r>
            <a:endParaRPr lang="vi-VN" sz="1600" dirty="0"/>
          </a:p>
          <a:p>
            <a:pPr marL="101600" lvl="0" algn="just">
              <a:lnSpc>
                <a:spcPct val="115000"/>
              </a:lnSpc>
              <a:spcBef>
                <a:spcPts val="1600"/>
              </a:spcBef>
            </a:pPr>
            <a:r>
              <a:rPr lang="vi-VN" sz="1600" dirty="0"/>
              <a:t>  + </a:t>
            </a:r>
            <a:r>
              <a:rPr lang="vi-VN" sz="1600" b="1" dirty="0"/>
              <a:t>Chỉ Báo Kỹ Thuật: </a:t>
            </a:r>
            <a:r>
              <a:rPr lang="vi-VN" sz="1600" dirty="0"/>
              <a:t>Sử dụng các chỉ báo như trung bình động, RSI (Relative Strength Index), MACD (Moving Average Convergence Divergence) </a:t>
            </a:r>
            <a:r>
              <a:rPr lang="vi-VN" sz="1600" b="1" dirty="0"/>
              <a:t>để xác định điểm mua hoặc bán</a:t>
            </a:r>
            <a:endParaRPr lang="en-US" sz="1600" b="1" dirty="0"/>
          </a:p>
          <a:p>
            <a:pPr marL="101600" lvl="0" algn="just">
              <a:lnSpc>
                <a:spcPct val="115000"/>
              </a:lnSpc>
              <a:spcBef>
                <a:spcPts val="1600"/>
              </a:spcBef>
            </a:pPr>
            <a:r>
              <a:rPr lang="vi-VN" sz="1600" dirty="0"/>
              <a:t>=&gt; </a:t>
            </a:r>
            <a:r>
              <a:rPr lang="vi-VN" sz="1600" b="1" dirty="0"/>
              <a:t>Tín hiệu Mua hoặc Bán</a:t>
            </a:r>
            <a:endParaRPr lang="vi-VN" sz="1600" b="1" dirty="0"/>
          </a:p>
          <a:p>
            <a:pPr marL="101600" algn="just">
              <a:lnSpc>
                <a:spcPct val="115000"/>
              </a:lnSpc>
              <a:spcBef>
                <a:spcPts val="1600"/>
              </a:spcBef>
              <a:buClr>
                <a:schemeClr val="dk1"/>
              </a:buClr>
              <a:buSzPts val="2000"/>
            </a:pPr>
            <a:endParaRPr lang="vi-VN" sz="1600" dirty="0"/>
          </a:p>
          <a:p>
            <a:pPr marL="101600" lvl="0" algn="just">
              <a:lnSpc>
                <a:spcPct val="115000"/>
              </a:lnSpc>
              <a:spcBef>
                <a:spcPts val="1600"/>
              </a:spcBef>
              <a:buClr>
                <a:schemeClr val="dk1"/>
              </a:buClr>
              <a:buSzPts val="2000"/>
            </a:pPr>
            <a:endParaRPr sz="1600" b="1" dirty="0">
              <a:solidFill>
                <a:schemeClr val="dk1"/>
              </a:solidFill>
              <a:latin typeface="+mn-lt"/>
              <a:ea typeface="Maven Pro"/>
              <a:cs typeface="Maven Pro"/>
              <a:sym typeface="Maven P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a:solidFill>
                  <a:schemeClr val="lt1"/>
                </a:solidFill>
              </a:rPr>
              <a:t>1. </a:t>
            </a:r>
            <a:r>
              <a:rPr lang="en-US" sz="2400" b="1" dirty="0" err="1">
                <a:solidFill>
                  <a:schemeClr val="lt1"/>
                </a:solidFill>
              </a:rPr>
              <a:t>Xây</a:t>
            </a:r>
            <a:r>
              <a:rPr lang="en-US" sz="2400" b="1" dirty="0">
                <a:solidFill>
                  <a:schemeClr val="lt1"/>
                </a:solidFill>
              </a:rPr>
              <a:t> </a:t>
            </a:r>
            <a:r>
              <a:rPr lang="en-US" sz="2400" b="1" dirty="0" err="1">
                <a:solidFill>
                  <a:schemeClr val="lt1"/>
                </a:solidFill>
              </a:rPr>
              <a:t>dựng</a:t>
            </a:r>
            <a:r>
              <a:rPr lang="en-US" sz="2400" b="1" dirty="0">
                <a:solidFill>
                  <a:schemeClr val="lt1"/>
                </a:solidFill>
              </a:rPr>
              <a:t> </a:t>
            </a:r>
            <a:r>
              <a:rPr lang="en-US" sz="2400" b="1" dirty="0" err="1">
                <a:solidFill>
                  <a:schemeClr val="lt1"/>
                </a:solidFill>
              </a:rPr>
              <a:t>chiến</a:t>
            </a:r>
            <a:r>
              <a:rPr lang="en-US" sz="2400" b="1" dirty="0">
                <a:solidFill>
                  <a:schemeClr val="lt1"/>
                </a:solidFill>
              </a:rPr>
              <a:t> </a:t>
            </a:r>
            <a:r>
              <a:rPr lang="en-US" sz="2400" b="1" dirty="0" err="1">
                <a:solidFill>
                  <a:schemeClr val="lt1"/>
                </a:solidFill>
              </a:rPr>
              <a:t>lược</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lvl="0" indent="-342900" algn="just">
              <a:lnSpc>
                <a:spcPct val="115000"/>
              </a:lnSpc>
              <a:spcBef>
                <a:spcPts val="1600"/>
              </a:spcBef>
              <a:buClr>
                <a:schemeClr val="dk1"/>
              </a:buClr>
              <a:buSzPts val="2000"/>
              <a:buAutoNum type="arabicPeriod"/>
            </a:pPr>
            <a:r>
              <a:rPr lang="en-US" sz="1600" dirty="0"/>
              <a:t>Chiến </a:t>
            </a:r>
            <a:r>
              <a:rPr lang="en-US" sz="1600" dirty="0" err="1"/>
              <a:t>lược</a:t>
            </a:r>
            <a:r>
              <a:rPr lang="en-US" sz="1600" dirty="0"/>
              <a:t> </a:t>
            </a:r>
            <a:r>
              <a:rPr lang="en-US" sz="1600" dirty="0" err="1"/>
              <a:t>Doji</a:t>
            </a:r>
            <a:r>
              <a:rPr lang="en-US" sz="1600" dirty="0"/>
              <a:t> </a:t>
            </a:r>
            <a:r>
              <a:rPr lang="en-US" sz="1600" dirty="0" err="1"/>
              <a:t>Chân</a:t>
            </a:r>
            <a:r>
              <a:rPr lang="en-US" sz="1600" dirty="0"/>
              <a:t> </a:t>
            </a:r>
            <a:r>
              <a:rPr lang="en-US" sz="1600" dirty="0" err="1"/>
              <a:t>dài</a:t>
            </a:r>
            <a:r>
              <a:rPr lang="en-US" sz="1600" dirty="0"/>
              <a:t> – </a:t>
            </a:r>
            <a:r>
              <a:rPr lang="en-US" sz="1600" dirty="0" err="1"/>
              <a:t>Mua</a:t>
            </a:r>
            <a:endParaRPr lang="en-US" sz="1600" dirty="0"/>
          </a:p>
          <a:p>
            <a:pPr marL="444500" lvl="0" indent="-342900">
              <a:lnSpc>
                <a:spcPct val="115000"/>
              </a:lnSpc>
              <a:spcBef>
                <a:spcPts val="1600"/>
              </a:spcBef>
              <a:buClr>
                <a:schemeClr val="dk1"/>
              </a:buClr>
              <a:buSzPts val="2000"/>
              <a:buAutoNum type="alphaLcParenR"/>
            </a:pPr>
            <a:r>
              <a:rPr lang="vi-VN" sz="1600" b="1" u="sng" dirty="0">
                <a:solidFill>
                  <a:schemeClr val="tx1"/>
                </a:solidFill>
                <a:ea typeface="Maven Pro"/>
                <a:cs typeface="Maven Pro"/>
                <a:sym typeface="Maven Pro"/>
              </a:rPr>
              <a:t>Nhận diện nến Doji chân dài: </a:t>
            </a:r>
            <a:endParaRPr lang="vi-VN" sz="1600" b="1" u="sng" dirty="0">
              <a:solidFill>
                <a:schemeClr val="tx1"/>
              </a:solidFill>
              <a:ea typeface="Maven Pro"/>
              <a:cs typeface="Maven Pro"/>
              <a:sym typeface="Maven Pro"/>
            </a:endParaRPr>
          </a:p>
          <a:p>
            <a:pPr marL="387350" lvl="0" indent="-285750">
              <a:spcBef>
                <a:spcPts val="1600"/>
              </a:spcBef>
              <a:buClr>
                <a:schemeClr val="dk1"/>
              </a:buClr>
              <a:buSzPts val="2000"/>
              <a:buFontTx/>
              <a:buChar char="-"/>
            </a:pPr>
            <a:r>
              <a:rPr lang="vi-VN" sz="1600" b="1" dirty="0">
                <a:solidFill>
                  <a:schemeClr val="tx1"/>
                </a:solidFill>
                <a:ea typeface="Maven Pro"/>
                <a:cs typeface="Maven Pro"/>
                <a:sym typeface="Maven Pro"/>
              </a:rPr>
              <a:t>Là nến Doji: Nến Doji là nến có giá </a:t>
            </a:r>
            <a:r>
              <a:rPr lang="vi-VN" sz="1600" b="1" dirty="0">
                <a:solidFill>
                  <a:srgbClr val="FF0000"/>
                </a:solidFill>
                <a:ea typeface="Maven Pro"/>
                <a:cs typeface="Maven Pro"/>
                <a:sym typeface="Maven Pro"/>
              </a:rPr>
              <a:t>mở cửa và đóng cửa </a:t>
            </a:r>
            <a:r>
              <a:rPr lang="vi-VN" sz="1600" b="1" dirty="0">
                <a:solidFill>
                  <a:srgbClr val="FFC000"/>
                </a:solidFill>
                <a:ea typeface="Maven Pro"/>
                <a:cs typeface="Maven Pro"/>
                <a:sym typeface="Maven Pro"/>
              </a:rPr>
              <a:t>gần bằng nhau </a:t>
            </a:r>
            <a:r>
              <a:rPr lang="vi-VN" sz="1600" b="1" dirty="0">
                <a:solidFill>
                  <a:schemeClr val="tx1"/>
                </a:solidFill>
                <a:ea typeface="Maven Pro"/>
                <a:cs typeface="Maven Pro"/>
                <a:sym typeface="Maven Pro"/>
              </a:rPr>
              <a:t>(không quan trọng giá </a:t>
            </a:r>
            <a:r>
              <a:rPr lang="vi-VN" sz="1600" b="1" dirty="0">
                <a:solidFill>
                  <a:srgbClr val="FF0000"/>
                </a:solidFill>
                <a:ea typeface="Maven Pro"/>
                <a:cs typeface="Maven Pro"/>
                <a:sym typeface="Maven Pro"/>
              </a:rPr>
              <a:t>Open &gt; hơn hay &lt; giá Close</a:t>
            </a:r>
            <a:r>
              <a:rPr lang="vi-VN" sz="1600" b="1" dirty="0">
                <a:solidFill>
                  <a:schemeClr val="tx1"/>
                </a:solidFill>
                <a:ea typeface="Maven Pro"/>
                <a:cs typeface="Maven Pro"/>
                <a:sym typeface="Maven Pro"/>
              </a:rPr>
              <a:t>)</a:t>
            </a:r>
            <a:endParaRPr lang="vi-VN" sz="1600" b="1" dirty="0">
              <a:solidFill>
                <a:schemeClr val="tx1"/>
              </a:solidFill>
              <a:ea typeface="Maven Pro"/>
              <a:cs typeface="Maven Pro"/>
              <a:sym typeface="Maven Pro"/>
            </a:endParaRPr>
          </a:p>
          <a:p>
            <a:pPr marL="387350" lvl="0" indent="-285750">
              <a:spcBef>
                <a:spcPts val="1600"/>
              </a:spcBef>
              <a:buClr>
                <a:schemeClr val="dk1"/>
              </a:buClr>
              <a:buSzPts val="2000"/>
              <a:buFontTx/>
              <a:buChar char="-"/>
            </a:pPr>
            <a:r>
              <a:rPr lang="vi-VN" sz="1600" dirty="0">
                <a:solidFill>
                  <a:schemeClr val="tx1"/>
                </a:solidFill>
                <a:ea typeface="Maven Pro"/>
                <a:cs typeface="Maven Pro"/>
                <a:sym typeface="Maven Pro"/>
              </a:rPr>
              <a:t>Là nến Doji có      </a:t>
            </a:r>
            <a:endParaRPr lang="vi-VN" sz="1600" dirty="0">
              <a:solidFill>
                <a:schemeClr val="tx1"/>
              </a:solidFill>
              <a:ea typeface="Maven Pro"/>
              <a:cs typeface="Maven Pro"/>
              <a:sym typeface="Maven Pro"/>
            </a:endParaRPr>
          </a:p>
          <a:p>
            <a:pPr marL="101600" lvl="0">
              <a:spcBef>
                <a:spcPts val="1600"/>
              </a:spcBef>
              <a:buClr>
                <a:schemeClr val="dk1"/>
              </a:buClr>
              <a:buSzPts val="2000"/>
            </a:pPr>
            <a:r>
              <a:rPr lang="vi-VN" sz="1600" dirty="0">
                <a:solidFill>
                  <a:schemeClr val="tx1"/>
                </a:solidFill>
                <a:ea typeface="Maven Pro"/>
                <a:cs typeface="Maven Pro"/>
                <a:sym typeface="Maven Pro"/>
              </a:rPr>
              <a:t>     + </a:t>
            </a:r>
            <a:r>
              <a:rPr lang="vi-VN" sz="1600" b="1" dirty="0">
                <a:solidFill>
                  <a:srgbClr val="FF0000"/>
                </a:solidFill>
                <a:ea typeface="Maven Pro"/>
                <a:cs typeface="Maven Pro"/>
                <a:sym typeface="Maven Pro"/>
              </a:rPr>
              <a:t>Bóng nến </a:t>
            </a:r>
            <a:r>
              <a:rPr lang="vi-VN" sz="1600" b="1" dirty="0">
                <a:solidFill>
                  <a:schemeClr val="tx1"/>
                </a:solidFill>
                <a:ea typeface="Maven Pro"/>
                <a:cs typeface="Maven Pro"/>
                <a:sym typeface="Maven Pro"/>
              </a:rPr>
              <a:t>trên &gt;= 2 lần </a:t>
            </a:r>
            <a:r>
              <a:rPr lang="vi-VN" sz="1600" b="1" dirty="0">
                <a:solidFill>
                  <a:srgbClr val="FF0000"/>
                </a:solidFill>
                <a:ea typeface="Maven Pro"/>
                <a:cs typeface="Maven Pro"/>
                <a:sym typeface="Maven Pro"/>
              </a:rPr>
              <a:t>thân nến </a:t>
            </a:r>
            <a:r>
              <a:rPr lang="vi-VN" sz="1600" b="1" dirty="0">
                <a:solidFill>
                  <a:schemeClr val="tx1"/>
                </a:solidFill>
                <a:ea typeface="Maven Pro"/>
                <a:cs typeface="Maven Pro"/>
                <a:sym typeface="Maven Pro"/>
              </a:rPr>
              <a:t>và </a:t>
            </a:r>
            <a:r>
              <a:rPr lang="vi-VN" sz="1600" b="1" dirty="0">
                <a:solidFill>
                  <a:srgbClr val="FF0000"/>
                </a:solidFill>
                <a:ea typeface="Maven Pro"/>
                <a:cs typeface="Maven Pro"/>
                <a:sym typeface="Maven Pro"/>
              </a:rPr>
              <a:t>bóng nến dưới &gt;= 2 lần thân nến </a:t>
            </a:r>
            <a:endParaRPr lang="vi-VN" sz="1600" b="1" dirty="0">
              <a:solidFill>
                <a:srgbClr val="FF0000"/>
              </a:solidFill>
              <a:ea typeface="Maven Pro"/>
              <a:cs typeface="Maven Pro"/>
              <a:sym typeface="Maven Pro"/>
            </a:endParaRPr>
          </a:p>
          <a:p>
            <a:pPr marL="101600" lvl="0">
              <a:lnSpc>
                <a:spcPct val="115000"/>
              </a:lnSpc>
              <a:spcBef>
                <a:spcPts val="1600"/>
              </a:spcBef>
              <a:buClr>
                <a:schemeClr val="dk1"/>
              </a:buClr>
              <a:buSzPts val="2000"/>
            </a:pPr>
            <a:endParaRPr lang="vi-VN"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vi-VN" sz="1600" b="1" dirty="0">
                <a:solidFill>
                  <a:schemeClr val="dk1"/>
                </a:solidFill>
                <a:ea typeface="Maven Pro"/>
                <a:cs typeface="Maven Pro"/>
                <a:sym typeface="Maven Pro"/>
              </a:rPr>
              <a:t>      </a:t>
            </a:r>
            <a:endParaRPr lang="vi-VN" sz="1600" b="1" dirty="0">
              <a:solidFill>
                <a:schemeClr val="dk1"/>
              </a:solidFill>
              <a:ea typeface="Maven Pro"/>
              <a:cs typeface="Maven Pro"/>
              <a:sym typeface="Maven Pro"/>
            </a:endParaRPr>
          </a:p>
          <a:p>
            <a:pPr marL="101600" lvl="0" algn="just">
              <a:lnSpc>
                <a:spcPct val="115000"/>
              </a:lnSpc>
              <a:spcBef>
                <a:spcPts val="1600"/>
              </a:spcBef>
              <a:buClr>
                <a:schemeClr val="dk1"/>
              </a:buClr>
              <a:buSzPts val="2000"/>
            </a:pPr>
            <a:endParaRPr lang="vi-VN" sz="1600" dirty="0"/>
          </a:p>
          <a:p>
            <a:pPr marL="101600" algn="just">
              <a:lnSpc>
                <a:spcPct val="115000"/>
              </a:lnSpc>
              <a:spcBef>
                <a:spcPts val="1600"/>
              </a:spcBef>
              <a:buClr>
                <a:schemeClr val="dk1"/>
              </a:buClr>
              <a:buSzPts val="2000"/>
            </a:pPr>
            <a:endParaRPr lang="vi-VN" sz="1600" dirty="0"/>
          </a:p>
          <a:p>
            <a:pPr marL="101600" lvl="0" algn="just">
              <a:lnSpc>
                <a:spcPct val="115000"/>
              </a:lnSpc>
              <a:spcBef>
                <a:spcPts val="1600"/>
              </a:spcBef>
              <a:buClr>
                <a:schemeClr val="dk1"/>
              </a:buClr>
              <a:buSzPts val="2000"/>
            </a:pPr>
            <a:endParaRPr sz="1600" b="1" dirty="0">
              <a:solidFill>
                <a:schemeClr val="dk1"/>
              </a:solidFill>
              <a:latin typeface="+mn-lt"/>
              <a:ea typeface="Maven Pro"/>
              <a:cs typeface="Maven Pro"/>
              <a:sym typeface="Maven Pro"/>
            </a:endParaRPr>
          </a:p>
        </p:txBody>
      </p:sp>
      <p:sp>
        <p:nvSpPr>
          <p:cNvPr id="5" name="Google Shape;125;p4"/>
          <p:cNvSpPr txBox="1"/>
          <p:nvPr/>
        </p:nvSpPr>
        <p:spPr>
          <a:xfrm>
            <a:off x="1260739" y="5508638"/>
            <a:ext cx="7415700" cy="36929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panose="020B0604020202020204"/>
              <a:buNone/>
            </a:pPr>
            <a:r>
              <a:rPr lang="vi-VN" sz="1800" b="1" dirty="0">
                <a:solidFill>
                  <a:srgbClr val="00B050"/>
                </a:solidFill>
              </a:rPr>
              <a:t>GIÁ MỞ CỦA &amp; GIÁ ĐÓNG CỬA GẦN NHƯ NẰM TẠI CÙNG 1 ĐIỂM</a:t>
            </a:r>
            <a:endParaRPr sz="1800" b="1" dirty="0">
              <a:solidFill>
                <a:schemeClr val="dk1"/>
              </a:solidFill>
            </a:endParaRPr>
          </a:p>
        </p:txBody>
      </p:sp>
      <p:pic>
        <p:nvPicPr>
          <p:cNvPr id="6" name="Google Shape;126;p4"/>
          <p:cNvPicPr preferRelativeResize="0"/>
          <p:nvPr/>
        </p:nvPicPr>
        <p:blipFill>
          <a:blip r:embed="rId2"/>
          <a:stretch>
            <a:fillRect/>
          </a:stretch>
        </p:blipFill>
        <p:spPr>
          <a:xfrm>
            <a:off x="304800" y="5355301"/>
            <a:ext cx="833200" cy="689000"/>
          </a:xfrm>
          <a:prstGeom prst="rect">
            <a:avLst/>
          </a:prstGeom>
          <a:noFill/>
          <a:ln>
            <a:noFill/>
          </a:ln>
        </p:spPr>
      </p:pic>
      <p:pic>
        <p:nvPicPr>
          <p:cNvPr id="8" name="Picture 7"/>
          <p:cNvPicPr>
            <a:picLocks noChangeAspect="1"/>
          </p:cNvPicPr>
          <p:nvPr/>
        </p:nvPicPr>
        <p:blipFill>
          <a:blip r:embed="rId3"/>
          <a:stretch>
            <a:fillRect/>
          </a:stretch>
        </p:blipFill>
        <p:spPr>
          <a:xfrm>
            <a:off x="1017930" y="3403425"/>
            <a:ext cx="2409482" cy="21052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a:solidFill>
                  <a:schemeClr val="lt1"/>
                </a:solidFill>
              </a:rPr>
              <a:t>1. </a:t>
            </a:r>
            <a:r>
              <a:rPr lang="en-US" sz="2400" dirty="0" err="1">
                <a:solidFill>
                  <a:schemeClr val="lt1"/>
                </a:solidFill>
              </a:rPr>
              <a:t>Xây</a:t>
            </a:r>
            <a:r>
              <a:rPr lang="en-US" sz="2400" dirty="0">
                <a:solidFill>
                  <a:schemeClr val="lt1"/>
                </a:solidFill>
              </a:rPr>
              <a:t> </a:t>
            </a:r>
            <a:r>
              <a:rPr lang="en-US" sz="2400" dirty="0" err="1">
                <a:solidFill>
                  <a:schemeClr val="lt1"/>
                </a:solidFill>
              </a:rPr>
              <a:t>dựng</a:t>
            </a:r>
            <a:r>
              <a:rPr lang="en-US" sz="2400" dirty="0">
                <a:solidFill>
                  <a:schemeClr val="lt1"/>
                </a:solidFill>
              </a:rPr>
              <a:t> </a:t>
            </a:r>
            <a:r>
              <a:rPr lang="en-US" sz="2400" dirty="0" err="1">
                <a:solidFill>
                  <a:schemeClr val="lt1"/>
                </a:solidFill>
              </a:rPr>
              <a:t>chiến</a:t>
            </a:r>
            <a:r>
              <a:rPr lang="en-US" sz="2400" dirty="0">
                <a:solidFill>
                  <a:schemeClr val="lt1"/>
                </a:solidFill>
              </a:rPr>
              <a:t> </a:t>
            </a:r>
            <a:r>
              <a:rPr lang="en-US" sz="2400" dirty="0" err="1">
                <a:solidFill>
                  <a:schemeClr val="lt1"/>
                </a:solidFill>
              </a:rPr>
              <a:t>lược</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gn="just">
              <a:lnSpc>
                <a:spcPct val="115000"/>
              </a:lnSpc>
              <a:spcBef>
                <a:spcPts val="1600"/>
              </a:spcBef>
              <a:buClr>
                <a:schemeClr val="dk1"/>
              </a:buClr>
              <a:buSzPts val="2000"/>
            </a:pPr>
            <a:r>
              <a:rPr lang="en-US" sz="1600" dirty="0"/>
              <a:t>1. Chiến </a:t>
            </a:r>
            <a:r>
              <a:rPr lang="en-US" sz="1600" dirty="0" err="1"/>
              <a:t>lược</a:t>
            </a:r>
            <a:r>
              <a:rPr lang="en-US" sz="1600" dirty="0"/>
              <a:t> </a:t>
            </a:r>
            <a:r>
              <a:rPr lang="en-US" sz="1600" dirty="0" err="1"/>
              <a:t>Doji</a:t>
            </a:r>
            <a:r>
              <a:rPr lang="en-US" sz="1600" dirty="0"/>
              <a:t> </a:t>
            </a:r>
            <a:r>
              <a:rPr lang="en-US" sz="1600" dirty="0" err="1"/>
              <a:t>Chân</a:t>
            </a:r>
            <a:r>
              <a:rPr lang="en-US" sz="1600" dirty="0"/>
              <a:t> </a:t>
            </a:r>
            <a:r>
              <a:rPr lang="en-US" sz="1600" dirty="0" err="1"/>
              <a:t>dài</a:t>
            </a:r>
            <a:r>
              <a:rPr lang="en-US" sz="1600" dirty="0"/>
              <a:t> – </a:t>
            </a:r>
            <a:r>
              <a:rPr lang="en-US" sz="1600" dirty="0" err="1"/>
              <a:t>Mua</a:t>
            </a:r>
            <a:r>
              <a:rPr lang="en-US" sz="1600" dirty="0"/>
              <a:t> (</a:t>
            </a:r>
            <a:r>
              <a:rPr lang="en-US" sz="1600" dirty="0" err="1"/>
              <a:t>tt</a:t>
            </a:r>
            <a:r>
              <a:rPr lang="en-US" sz="1600" dirty="0"/>
              <a:t>)</a:t>
            </a:r>
            <a:endParaRPr lang="en-US" sz="1600" dirty="0"/>
          </a:p>
          <a:p>
            <a:pPr marL="101600" algn="just">
              <a:lnSpc>
                <a:spcPct val="115000"/>
              </a:lnSpc>
              <a:spcBef>
                <a:spcPts val="1600"/>
              </a:spcBef>
              <a:buClr>
                <a:schemeClr val="dk1"/>
              </a:buClr>
              <a:buSzPts val="2000"/>
            </a:pPr>
            <a:r>
              <a:rPr lang="en-US" sz="1600" b="1" dirty="0">
                <a:solidFill>
                  <a:schemeClr val="tx1"/>
                </a:solidFill>
                <a:ea typeface="Maven Pro"/>
                <a:cs typeface="Maven Pro"/>
                <a:sym typeface="Maven Pro"/>
              </a:rPr>
              <a:t>Chiến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vào</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lệnh</a:t>
            </a:r>
            <a:r>
              <a:rPr lang="en-US" sz="1600" b="1" dirty="0">
                <a:solidFill>
                  <a:schemeClr val="tx1"/>
                </a:solidFill>
                <a:ea typeface="Maven Pro"/>
                <a:cs typeface="Maven Pro"/>
                <a:sym typeface="Maven Pro"/>
              </a:rPr>
              <a:t>:</a:t>
            </a:r>
            <a:endParaRPr lang="en-US" sz="1600" b="1" dirty="0">
              <a:solidFill>
                <a:schemeClr val="tx1"/>
              </a:solidFill>
              <a:ea typeface="Maven Pro"/>
              <a:cs typeface="Maven Pro"/>
              <a:sym typeface="Maven Pro"/>
            </a:endParaRPr>
          </a:p>
          <a:p>
            <a:pPr marL="101600" algn="just">
              <a:lnSpc>
                <a:spcPct val="115000"/>
              </a:lnSpc>
              <a:spcBef>
                <a:spcPts val="1600"/>
              </a:spcBef>
              <a:buClr>
                <a:schemeClr val="dk1"/>
              </a:buClr>
              <a:buSzPts val="2000"/>
            </a:pPr>
            <a:r>
              <a:rPr lang="en-US" sz="1600" b="1" dirty="0" err="1">
                <a:solidFill>
                  <a:schemeClr val="tx1"/>
                </a:solidFill>
                <a:ea typeface="Maven Pro"/>
                <a:cs typeface="Maven Pro"/>
                <a:sym typeface="Maven Pro"/>
              </a:rPr>
              <a:t>Cần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xác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nhận</a:t>
            </a:r>
            <a:r>
              <a:rPr lang="en-US" sz="1600" b="1" dirty="0">
                <a:solidFill>
                  <a:schemeClr val="tx1"/>
                </a:solidFill>
                <a:ea typeface="Maven Pro"/>
                <a:cs typeface="Maven Pro"/>
                <a:sym typeface="Maven Pro"/>
              </a:rPr>
              <a:t>: </a:t>
            </a:r>
            <a:r>
              <a:rPr lang="en-US" sz="1600" dirty="0" err="1">
                <a:solidFill>
                  <a:schemeClr val="tx1"/>
                </a:solidFill>
                <a:ea typeface="Maven Pro"/>
                <a:cs typeface="Maven Pro"/>
                <a:sym typeface="Maven Pro"/>
              </a:rPr>
              <a:t>Sau</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khi</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xuất</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hiện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nến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Doji</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chân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dài</a:t>
            </a:r>
            <a:r>
              <a:rPr lang="en-US" sz="1600" dirty="0">
                <a:solidFill>
                  <a:schemeClr val="tx1"/>
                </a:solidFill>
                <a:ea typeface="Maven Pro"/>
                <a:cs typeface="Maven Pro"/>
                <a:sym typeface="Maven Pro"/>
              </a:rPr>
              <a:t> =&gt; </a:t>
            </a:r>
            <a:r>
              <a:rPr lang="en-US" sz="1600" dirty="0" err="1">
                <a:solidFill>
                  <a:schemeClr val="tx1"/>
                </a:solidFill>
                <a:ea typeface="Maven Pro"/>
                <a:cs typeface="Maven Pro"/>
                <a:sym typeface="Maven Pro"/>
              </a:rPr>
              <a:t>Cần</a:t>
            </a:r>
            <a:r>
              <a:rPr lang="en-US" sz="1600" dirty="0">
                <a:solidFill>
                  <a:schemeClr val="tx1"/>
                </a:solidFill>
                <a:ea typeface="Maven Pro"/>
                <a:cs typeface="Maven Pro"/>
                <a:sym typeface="Maven Pro"/>
              </a:rPr>
              <a:t> 1 </a:t>
            </a:r>
            <a:r>
              <a:rPr lang="en-US" sz="1600" dirty="0" err="1">
                <a:solidFill>
                  <a:schemeClr val="tx1"/>
                </a:solidFill>
                <a:ea typeface="Maven Pro"/>
                <a:cs typeface="Maven Pro"/>
                <a:sym typeface="Maven Pro"/>
              </a:rPr>
              <a:t>nến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xác</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nhận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xu</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hướng</a:t>
            </a:r>
            <a:r>
              <a:rPr lang="en-US" sz="1600" b="1" dirty="0">
                <a:solidFill>
                  <a:schemeClr val="tx1"/>
                </a:solidFill>
                <a:ea typeface="Maven Pro"/>
                <a:cs typeface="Maven Pro"/>
                <a:sym typeface="Maven Pro"/>
              </a:rPr>
              <a:t> </a:t>
            </a:r>
            <a:endParaRPr lang="en-US" sz="1600" b="1" dirty="0">
              <a:solidFill>
                <a:schemeClr val="tx1"/>
              </a:solidFill>
              <a:ea typeface="Maven Pro"/>
              <a:cs typeface="Maven Pro"/>
              <a:sym typeface="Maven Pro"/>
            </a:endParaRPr>
          </a:p>
          <a:p>
            <a:pPr marL="101600" algn="just">
              <a:lnSpc>
                <a:spcPct val="115000"/>
              </a:lnSpc>
              <a:spcBef>
                <a:spcPts val="1600"/>
              </a:spcBef>
              <a:buClr>
                <a:schemeClr val="dk1"/>
              </a:buClr>
              <a:buSzPts val="2000"/>
            </a:pPr>
            <a:r>
              <a:rPr lang="vi-VN" sz="1600" b="1" dirty="0"/>
              <a:t>Quan sát nến tiếp theo:</a:t>
            </a:r>
            <a:endParaRPr lang="vi-VN" sz="1600" dirty="0"/>
          </a:p>
          <a:p>
            <a:pPr lvl="1" algn="just"/>
            <a:r>
              <a:rPr lang="en-US" sz="1600" dirty="0"/>
              <a:t>  + </a:t>
            </a:r>
            <a:r>
              <a:rPr lang="vi-VN" sz="1600" dirty="0"/>
              <a:t>Nếu nến tiếp theo sau Doji là một nến giảm (màu đỏ hoặc đen) và đóng cửa dưới thân nến của Doji, điều này có thể được coi là một nến xác nhận giảm giá.</a:t>
            </a:r>
            <a:endParaRPr lang="vi-VN" sz="1600" dirty="0"/>
          </a:p>
          <a:p>
            <a:pPr lvl="1" algn="just"/>
            <a:r>
              <a:rPr lang="en-US" sz="1600" dirty="0"/>
              <a:t>  + </a:t>
            </a:r>
            <a:r>
              <a:rPr lang="vi-VN" sz="1600" dirty="0"/>
              <a:t>Ngược lại, nếu nến tiếp theo là một nến tăng (màu xanh lá hoặc trắng) và </a:t>
            </a:r>
            <a:r>
              <a:rPr lang="vi-VN" sz="1600" dirty="0">
                <a:solidFill>
                  <a:srgbClr val="FF0000"/>
                </a:solidFill>
              </a:rPr>
              <a:t>đóng cửa trên thân nến của Doji</a:t>
            </a:r>
            <a:r>
              <a:rPr lang="vi-VN" sz="1600" dirty="0"/>
              <a:t>, nó có thể là một nến xác nhận tăng giá.</a:t>
            </a:r>
            <a:endParaRPr lang="vi-VN" sz="1600" dirty="0"/>
          </a:p>
          <a:p>
            <a:pPr marL="101600" lvl="0" algn="just">
              <a:lnSpc>
                <a:spcPct val="115000"/>
              </a:lnSpc>
              <a:spcBef>
                <a:spcPts val="1600"/>
              </a:spcBef>
              <a:buClr>
                <a:schemeClr val="dk1"/>
              </a:buClr>
              <a:buSzPts val="2000"/>
            </a:pPr>
            <a:r>
              <a:rPr lang="en-US" sz="1600" b="1" dirty="0">
                <a:solidFill>
                  <a:schemeClr val="tx1"/>
                </a:solidFill>
                <a:ea typeface="Maven Pro"/>
                <a:cs typeface="Maven Pro"/>
                <a:sym typeface="Maven Pro"/>
              </a:rPr>
              <a:t>Code </a:t>
            </a:r>
            <a:r>
              <a:rPr lang="en-US" sz="1600" b="1" dirty="0" err="1">
                <a:solidFill>
                  <a:schemeClr val="tx1"/>
                </a:solidFill>
                <a:ea typeface="Maven Pro"/>
                <a:cs typeface="Maven Pro"/>
                <a:sym typeface="Maven Pro"/>
              </a:rPr>
              <a:t>kiểm</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tra</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xác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nhận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sau</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dài</a:t>
            </a:r>
            <a:r>
              <a:rPr lang="en-US" sz="1600" b="1" dirty="0">
                <a:solidFill>
                  <a:schemeClr val="tx1"/>
                </a:solidFill>
                <a:ea typeface="Maven Pro"/>
                <a:cs typeface="Maven Pro"/>
                <a:sym typeface="Maven Pro"/>
              </a:rPr>
              <a:t> 1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dirty="0" err="1">
                <a:solidFill>
                  <a:schemeClr val="tx1"/>
                </a:solidFill>
                <a:ea typeface="Maven Pro"/>
                <a:cs typeface="Maven Pro"/>
                <a:sym typeface="Maven Pro"/>
              </a:rPr>
              <a:t>Vậy</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nếu</a:t>
            </a:r>
            <a:r>
              <a:rPr lang="en-US" sz="1600" dirty="0">
                <a:solidFill>
                  <a:schemeClr val="tx1"/>
                </a:solidFill>
                <a:ea typeface="Maven Pro"/>
                <a:cs typeface="Maven Pro"/>
                <a:sym typeface="Maven Pro"/>
              </a:rPr>
              <a:t> code </a:t>
            </a:r>
            <a:r>
              <a:rPr lang="en-US" sz="1600" dirty="0" err="1">
                <a:solidFill>
                  <a:schemeClr val="tx1"/>
                </a:solidFill>
                <a:ea typeface="Maven Pro"/>
                <a:cs typeface="Maven Pro"/>
                <a:sym typeface="Maven Pro"/>
              </a:rPr>
              <a:t>để</a:t>
            </a:r>
            <a:r>
              <a:rPr lang="en-US" sz="1600"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kiểm</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tra</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xác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nhận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sau</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dài</a:t>
            </a:r>
            <a:r>
              <a:rPr lang="en-US" sz="1600" b="1" dirty="0">
                <a:solidFill>
                  <a:schemeClr val="tx1"/>
                </a:solidFill>
                <a:ea typeface="Maven Pro"/>
                <a:cs typeface="Maven Pro"/>
                <a:sym typeface="Maven Pro"/>
              </a:rPr>
              <a:t> 1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dirty="0" err="1">
                <a:solidFill>
                  <a:schemeClr val="tx1"/>
                </a:solidFill>
                <a:ea typeface="Maven Pro"/>
                <a:cs typeface="Maven Pro"/>
                <a:sym typeface="Maven Pro"/>
              </a:rPr>
              <a:t>thì</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chúng</a:t>
            </a:r>
            <a:r>
              <a:rPr lang="en-US" sz="1600" dirty="0">
                <a:solidFill>
                  <a:schemeClr val="tx1"/>
                </a:solidFill>
                <a:ea typeface="Maven Pro"/>
                <a:cs typeface="Maven Pro"/>
                <a:sym typeface="Maven Pro"/>
              </a:rPr>
              <a:t> ta </a:t>
            </a:r>
            <a:r>
              <a:rPr lang="en-US" sz="1600" dirty="0" err="1">
                <a:solidFill>
                  <a:schemeClr val="tx1"/>
                </a:solidFill>
                <a:ea typeface="Maven Pro"/>
                <a:cs typeface="Maven Pro"/>
                <a:sym typeface="Maven Pro"/>
              </a:rPr>
              <a:t>sẽ</a:t>
            </a:r>
            <a:r>
              <a:rPr lang="en-US" sz="1600" dirty="0">
                <a:solidFill>
                  <a:schemeClr val="tx1"/>
                </a:solidFill>
                <a:ea typeface="Maven Pro"/>
                <a:cs typeface="Maven Pro"/>
                <a:sym typeface="Maven Pro"/>
              </a:rPr>
              <a:t> code </a:t>
            </a:r>
            <a:r>
              <a:rPr lang="en-US" sz="1600" dirty="0" err="1">
                <a:solidFill>
                  <a:schemeClr val="tx1"/>
                </a:solidFill>
                <a:ea typeface="Maven Pro"/>
                <a:cs typeface="Maven Pro"/>
                <a:sym typeface="Maven Pro"/>
              </a:rPr>
              <a:t>gì</a:t>
            </a:r>
            <a:r>
              <a:rPr lang="en-US" sz="1600" dirty="0">
                <a:solidFill>
                  <a:schemeClr val="tx1"/>
                </a:solidFill>
                <a:ea typeface="Maven Pro"/>
                <a:cs typeface="Maven Pro"/>
                <a:sym typeface="Maven Pro"/>
              </a:rPr>
              <a:t>?</a:t>
            </a:r>
            <a:endParaRPr lang="en-US" sz="1600" dirty="0">
              <a:solidFill>
                <a:schemeClr val="tx1"/>
              </a:solidFill>
              <a:ea typeface="Maven Pro"/>
              <a:cs typeface="Maven Pro"/>
              <a:sym typeface="Maven Pro"/>
            </a:endParaRPr>
          </a:p>
          <a:p>
            <a:pPr marL="101600" lvl="1" algn="just">
              <a:lnSpc>
                <a:spcPct val="115000"/>
              </a:lnSpc>
              <a:spcBef>
                <a:spcPts val="1600"/>
              </a:spcBef>
              <a:buClr>
                <a:schemeClr val="dk1"/>
              </a:buClr>
              <a:buSzPts val="2000"/>
            </a:pPr>
            <a:r>
              <a:rPr lang="en-US" sz="1600" dirty="0">
                <a:solidFill>
                  <a:schemeClr val="tx1"/>
                </a:solidFill>
                <a:ea typeface="Maven Pro"/>
                <a:cs typeface="Maven Pro"/>
                <a:sym typeface="Maven Pro"/>
              </a:rPr>
              <a:t>+ </a:t>
            </a:r>
            <a:r>
              <a:rPr lang="en-US" sz="1600" dirty="0">
                <a:ea typeface="Maven Pro"/>
              </a:rPr>
              <a:t>N</a:t>
            </a:r>
            <a:r>
              <a:rPr lang="vi-VN" sz="1600" dirty="0"/>
              <a:t>ếu nến tiếp theo là một nến tăng (màu xanh lá hoặc trắng) và đóng cửa trên thân nến của Doji, nó có thể là một nến xác nhận tăng giá.</a:t>
            </a:r>
            <a:r>
              <a:rPr lang="en-US" sz="1600" dirty="0"/>
              <a:t> =&gt; </a:t>
            </a:r>
            <a:r>
              <a:rPr lang="en-US" sz="1600" b="1" dirty="0" err="1"/>
              <a:t>Thực</a:t>
            </a:r>
            <a:r>
              <a:rPr lang="en-US" sz="1600" b="1" dirty="0"/>
              <a:t> </a:t>
            </a:r>
            <a:r>
              <a:rPr lang="en-US" sz="1600" b="1" dirty="0" err="1"/>
              <a:t>hiện</a:t>
            </a:r>
            <a:r>
              <a:rPr lang="en-US" sz="1600" b="1" dirty="0"/>
              <a:t> </a:t>
            </a:r>
            <a:r>
              <a:rPr lang="en-US" sz="1600" b="1" dirty="0" err="1"/>
              <a:t>chiến</a:t>
            </a:r>
            <a:r>
              <a:rPr lang="en-US" sz="1600" b="1" dirty="0"/>
              <a:t> </a:t>
            </a:r>
            <a:r>
              <a:rPr lang="en-US" sz="1600" b="1" dirty="0" err="1"/>
              <a:t>lược</a:t>
            </a:r>
            <a:r>
              <a:rPr lang="en-US" sz="1600" b="1" dirty="0"/>
              <a:t> </a:t>
            </a:r>
            <a:r>
              <a:rPr lang="en-US" sz="1600" b="1" dirty="0" err="1"/>
              <a:t>mua</a:t>
            </a:r>
            <a:r>
              <a:rPr lang="en-US" sz="1600" b="1" dirty="0"/>
              <a:t> </a:t>
            </a:r>
            <a:r>
              <a:rPr lang="en-US" sz="1600" b="1" dirty="0" err="1"/>
              <a:t>vào</a:t>
            </a:r>
            <a:endParaRPr lang="vi-VN" sz="1600" b="1" dirty="0"/>
          </a:p>
          <a:p>
            <a:pPr marL="101600" lvl="0" algn="just">
              <a:lnSpc>
                <a:spcPct val="115000"/>
              </a:lnSpc>
              <a:spcBef>
                <a:spcPts val="1600"/>
              </a:spcBef>
              <a:buClr>
                <a:schemeClr val="dk1"/>
              </a:buClr>
              <a:buSzPts val="2000"/>
            </a:pPr>
            <a:endParaRPr sz="1600" b="1" dirty="0">
              <a:solidFill>
                <a:schemeClr val="dk1"/>
              </a:solidFill>
              <a:latin typeface="+mn-lt"/>
              <a:ea typeface="Maven Pro"/>
              <a:cs typeface="Maven Pro"/>
              <a:sym typeface="Maven Pr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a:solidFill>
                  <a:schemeClr val="lt1"/>
                </a:solidFill>
              </a:rPr>
              <a:t>1. </a:t>
            </a:r>
            <a:r>
              <a:rPr lang="en-US" sz="2400" dirty="0" err="1">
                <a:solidFill>
                  <a:schemeClr val="lt1"/>
                </a:solidFill>
              </a:rPr>
              <a:t>Xây</a:t>
            </a:r>
            <a:r>
              <a:rPr lang="en-US" sz="2400" dirty="0">
                <a:solidFill>
                  <a:schemeClr val="lt1"/>
                </a:solidFill>
              </a:rPr>
              <a:t> </a:t>
            </a:r>
            <a:r>
              <a:rPr lang="en-US" sz="2400" dirty="0" err="1">
                <a:solidFill>
                  <a:schemeClr val="lt1"/>
                </a:solidFill>
              </a:rPr>
              <a:t>dựng</a:t>
            </a:r>
            <a:r>
              <a:rPr lang="en-US" sz="2400" dirty="0">
                <a:solidFill>
                  <a:schemeClr val="lt1"/>
                </a:solidFill>
              </a:rPr>
              <a:t> </a:t>
            </a:r>
            <a:r>
              <a:rPr lang="en-US" sz="2400" dirty="0" err="1">
                <a:solidFill>
                  <a:schemeClr val="lt1"/>
                </a:solidFill>
              </a:rPr>
              <a:t>chiến</a:t>
            </a:r>
            <a:r>
              <a:rPr lang="en-US" sz="2400" dirty="0">
                <a:solidFill>
                  <a:schemeClr val="lt1"/>
                </a:solidFill>
              </a:rPr>
              <a:t> </a:t>
            </a:r>
            <a:r>
              <a:rPr lang="en-US" sz="2400" dirty="0" err="1">
                <a:solidFill>
                  <a:schemeClr val="lt1"/>
                </a:solidFill>
              </a:rPr>
              <a:t>lược</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a:lnSpc>
                <a:spcPct val="115000"/>
              </a:lnSpc>
              <a:spcBef>
                <a:spcPts val="1600"/>
              </a:spcBef>
              <a:buClr>
                <a:schemeClr val="dk1"/>
              </a:buClr>
              <a:buSzPts val="2000"/>
            </a:pPr>
            <a:r>
              <a:rPr lang="en-US" sz="1600" dirty="0"/>
              <a:t>1. Chiến </a:t>
            </a:r>
            <a:r>
              <a:rPr lang="en-US" sz="1600" dirty="0" err="1"/>
              <a:t>lược</a:t>
            </a:r>
            <a:r>
              <a:rPr lang="en-US" sz="1600" dirty="0"/>
              <a:t> </a:t>
            </a:r>
            <a:r>
              <a:rPr lang="en-US" sz="1600" dirty="0" err="1"/>
              <a:t>Doji</a:t>
            </a:r>
            <a:r>
              <a:rPr lang="en-US" sz="1600" dirty="0"/>
              <a:t> </a:t>
            </a:r>
            <a:r>
              <a:rPr lang="en-US" sz="1600" dirty="0" err="1"/>
              <a:t>Chân</a:t>
            </a:r>
            <a:r>
              <a:rPr lang="en-US" sz="1600" dirty="0"/>
              <a:t> </a:t>
            </a:r>
            <a:r>
              <a:rPr lang="en-US" sz="1600" dirty="0" err="1"/>
              <a:t>dài</a:t>
            </a:r>
            <a:r>
              <a:rPr lang="en-US" sz="1600" dirty="0"/>
              <a:t> – </a:t>
            </a:r>
            <a:r>
              <a:rPr lang="en-US" sz="1600" dirty="0" err="1"/>
              <a:t>Mua</a:t>
            </a:r>
            <a:r>
              <a:rPr lang="en-US" sz="1600" dirty="0"/>
              <a:t> (</a:t>
            </a:r>
            <a:r>
              <a:rPr lang="en-US" sz="1600" dirty="0" err="1"/>
              <a:t>tt</a:t>
            </a:r>
            <a:r>
              <a:rPr lang="en-US" sz="1600" dirty="0"/>
              <a:t>)</a:t>
            </a:r>
            <a:endParaRPr lang="en-US" sz="1600" b="1" dirty="0">
              <a:solidFill>
                <a:schemeClr val="tx1"/>
              </a:solidFill>
              <a:sym typeface="Maven Pro"/>
            </a:endParaRPr>
          </a:p>
          <a:p>
            <a:pPr marL="101600">
              <a:lnSpc>
                <a:spcPct val="115000"/>
              </a:lnSpc>
              <a:spcBef>
                <a:spcPts val="1600"/>
              </a:spcBef>
              <a:buClr>
                <a:schemeClr val="dk1"/>
              </a:buClr>
              <a:buSzPts val="2000"/>
            </a:pPr>
            <a:r>
              <a:rPr lang="en-US" sz="1600" b="1" dirty="0" err="1">
                <a:solidFill>
                  <a:schemeClr val="tx1"/>
                </a:solidFill>
                <a:sym typeface="Maven Pro"/>
              </a:rPr>
              <a:t>Tổng</a:t>
            </a:r>
            <a:r>
              <a:rPr lang="en-US" sz="1600" b="1" dirty="0">
                <a:solidFill>
                  <a:schemeClr val="tx1"/>
                </a:solidFill>
                <a:sym typeface="Maven Pro"/>
              </a:rPr>
              <a:t> </a:t>
            </a:r>
            <a:r>
              <a:rPr lang="en-US" sz="1600" b="1" dirty="0" err="1">
                <a:solidFill>
                  <a:schemeClr val="tx1"/>
                </a:solidFill>
                <a:sym typeface="Maven Pro"/>
              </a:rPr>
              <a:t>hợp</a:t>
            </a:r>
            <a:r>
              <a:rPr lang="en-US" sz="1600" b="1" dirty="0">
                <a:solidFill>
                  <a:schemeClr val="tx1"/>
                </a:solidFill>
                <a:sym typeface="Maven Pro"/>
              </a:rPr>
              <a:t> </a:t>
            </a:r>
            <a:r>
              <a:rPr lang="en-US" sz="1600" b="1" dirty="0" err="1">
                <a:solidFill>
                  <a:schemeClr val="tx1"/>
                </a:solidFill>
                <a:sym typeface="Maven Pro"/>
              </a:rPr>
              <a:t>tư</a:t>
            </a:r>
            <a:r>
              <a:rPr lang="en-US" sz="1600" b="1" dirty="0">
                <a:solidFill>
                  <a:schemeClr val="tx1"/>
                </a:solidFill>
                <a:sym typeface="Maven Pro"/>
              </a:rPr>
              <a:t> </a:t>
            </a:r>
            <a:r>
              <a:rPr lang="en-US" sz="1600" b="1" dirty="0" err="1">
                <a:solidFill>
                  <a:schemeClr val="tx1"/>
                </a:solidFill>
                <a:sym typeface="Maven Pro"/>
              </a:rPr>
              <a:t>duy</a:t>
            </a:r>
            <a:r>
              <a:rPr lang="en-US" sz="1600" b="1" dirty="0">
                <a:solidFill>
                  <a:schemeClr val="tx1"/>
                </a:solidFill>
                <a:sym typeface="Maven Pro"/>
              </a:rPr>
              <a:t> code</a:t>
            </a:r>
            <a:endParaRPr lang="vi-VN" sz="1600" b="1" dirty="0"/>
          </a:p>
          <a:p>
            <a:pPr marL="101600">
              <a:lnSpc>
                <a:spcPct val="115000"/>
              </a:lnSpc>
              <a:spcBef>
                <a:spcPts val="1600"/>
              </a:spcBef>
              <a:buClr>
                <a:schemeClr val="dk1"/>
              </a:buClr>
              <a:buSzPts val="2000"/>
            </a:pPr>
            <a:r>
              <a:rPr lang="vi-VN" sz="1600" dirty="0"/>
              <a:t>1/ Code nhận diện nến Doji chân dài: Vậy nếu code để nhận diện nến Doji chân dài thì chúng ta sẽ code gì?</a:t>
            </a:r>
            <a:endParaRPr lang="vi-VN" sz="1600" dirty="0"/>
          </a:p>
          <a:p>
            <a:pPr marL="101600">
              <a:lnSpc>
                <a:spcPct val="115000"/>
              </a:lnSpc>
              <a:spcBef>
                <a:spcPts val="1600"/>
              </a:spcBef>
              <a:buClr>
                <a:schemeClr val="dk1"/>
              </a:buClr>
              <a:buSzPts val="2000"/>
            </a:pPr>
            <a:r>
              <a:rPr lang="vi-VN" sz="1600" dirty="0"/>
              <a:t>     + Kiểm tra giá mở cửa và đóng cửa có gần bằng nhau không?</a:t>
            </a:r>
            <a:endParaRPr lang="vi-VN" sz="1600" dirty="0"/>
          </a:p>
          <a:p>
            <a:pPr marL="101600">
              <a:lnSpc>
                <a:spcPct val="115000"/>
              </a:lnSpc>
              <a:spcBef>
                <a:spcPts val="1600"/>
              </a:spcBef>
              <a:buClr>
                <a:schemeClr val="dk1"/>
              </a:buClr>
              <a:buSzPts val="2000"/>
            </a:pPr>
            <a:r>
              <a:rPr lang="vi-VN" sz="1600" dirty="0"/>
              <a:t>     + Kiểm tra bóng nến trên có lớn hơn hoặc bằng 2 lần thân nến không?</a:t>
            </a:r>
            <a:endParaRPr lang="vi-VN" sz="1600" dirty="0"/>
          </a:p>
          <a:p>
            <a:pPr marL="101600">
              <a:lnSpc>
                <a:spcPct val="115000"/>
              </a:lnSpc>
              <a:spcBef>
                <a:spcPts val="1600"/>
              </a:spcBef>
              <a:buClr>
                <a:schemeClr val="dk1"/>
              </a:buClr>
              <a:buSzPts val="2000"/>
            </a:pPr>
            <a:r>
              <a:rPr lang="vi-VN" sz="1600" dirty="0"/>
              <a:t>     + Kiểm tra bóng nến dưới có lớn hơn hoặc bằng 2 lần thân nến không?</a:t>
            </a:r>
            <a:endParaRPr lang="vi-VN" sz="1600" dirty="0"/>
          </a:p>
          <a:p>
            <a:pPr marL="101600">
              <a:lnSpc>
                <a:spcPct val="115000"/>
              </a:lnSpc>
              <a:spcBef>
                <a:spcPts val="1600"/>
              </a:spcBef>
              <a:buClr>
                <a:schemeClr val="dk1"/>
              </a:buClr>
              <a:buSzPts val="2000"/>
            </a:pPr>
            <a:r>
              <a:rPr lang="vi-VN" sz="1600" dirty="0"/>
              <a:t>2/ </a:t>
            </a:r>
            <a:r>
              <a:rPr lang="vi-VN" sz="1600" dirty="0">
                <a:solidFill>
                  <a:srgbClr val="FF0000"/>
                </a:solidFill>
              </a:rPr>
              <a:t>Code kiểm tra nến xác nhận sau nến Doji chân dài 1 nến</a:t>
            </a:r>
            <a:r>
              <a:rPr lang="vi-VN" sz="1600" dirty="0"/>
              <a:t>: Vậy nếu code để kiểm tra nến xác nhận sau nến Doji chân dài 1 nến thì chúng ta sẽ code gì?</a:t>
            </a:r>
            <a:endParaRPr lang="vi-VN" sz="1600" dirty="0"/>
          </a:p>
          <a:p>
            <a:pPr marL="101600">
              <a:lnSpc>
                <a:spcPct val="115000"/>
              </a:lnSpc>
              <a:spcBef>
                <a:spcPts val="1600"/>
              </a:spcBef>
              <a:buClr>
                <a:schemeClr val="dk1"/>
              </a:buClr>
              <a:buSzPts val="2000"/>
            </a:pPr>
            <a:r>
              <a:rPr lang="vi-VN" sz="1600" dirty="0"/>
              <a:t>+ Nếu nến tiếp theo là một nến tăng (màu xanh lá hoặc trắng) và đóng cửa trên thân nến của Doji, nó có thể là một nến xác nhận tăng giá. </a:t>
            </a:r>
            <a:r>
              <a:rPr lang="en-US" sz="1600" dirty="0"/>
              <a:t>=&gt; </a:t>
            </a:r>
            <a:r>
              <a:rPr lang="vi-VN" sz="1600" dirty="0"/>
              <a:t>Thực hiện chiến lược mua vào</a:t>
            </a:r>
            <a:endParaRPr lang="vi-VN"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a:solidFill>
                  <a:schemeClr val="lt1"/>
                </a:solidFill>
              </a:rPr>
              <a:t>1. </a:t>
            </a:r>
            <a:r>
              <a:rPr lang="en-US" sz="2400" dirty="0" err="1">
                <a:solidFill>
                  <a:schemeClr val="lt1"/>
                </a:solidFill>
              </a:rPr>
              <a:t>Xây</a:t>
            </a:r>
            <a:r>
              <a:rPr lang="en-US" sz="2400" dirty="0">
                <a:solidFill>
                  <a:schemeClr val="lt1"/>
                </a:solidFill>
              </a:rPr>
              <a:t> </a:t>
            </a:r>
            <a:r>
              <a:rPr lang="en-US" sz="2400" dirty="0" err="1">
                <a:solidFill>
                  <a:schemeClr val="lt1"/>
                </a:solidFill>
              </a:rPr>
              <a:t>dựng</a:t>
            </a:r>
            <a:r>
              <a:rPr lang="en-US" sz="2400" dirty="0">
                <a:solidFill>
                  <a:schemeClr val="lt1"/>
                </a:solidFill>
              </a:rPr>
              <a:t> </a:t>
            </a:r>
            <a:r>
              <a:rPr lang="en-US" sz="2400" dirty="0" err="1">
                <a:solidFill>
                  <a:schemeClr val="lt1"/>
                </a:solidFill>
              </a:rPr>
              <a:t>chiến</a:t>
            </a:r>
            <a:r>
              <a:rPr lang="en-US" sz="2400" dirty="0">
                <a:solidFill>
                  <a:schemeClr val="lt1"/>
                </a:solidFill>
              </a:rPr>
              <a:t> </a:t>
            </a:r>
            <a:r>
              <a:rPr lang="en-US" sz="2400" dirty="0" err="1">
                <a:solidFill>
                  <a:schemeClr val="lt1"/>
                </a:solidFill>
              </a:rPr>
              <a:t>lược</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a:lnSpc>
                <a:spcPct val="115000"/>
              </a:lnSpc>
              <a:spcBef>
                <a:spcPts val="1600"/>
              </a:spcBef>
              <a:buClr>
                <a:schemeClr val="dk1"/>
              </a:buClr>
              <a:buSzPts val="2000"/>
            </a:pPr>
            <a:r>
              <a:rPr lang="en-US" sz="1600" dirty="0"/>
              <a:t>1. Chiến </a:t>
            </a:r>
            <a:r>
              <a:rPr lang="en-US" sz="1600" dirty="0" err="1"/>
              <a:t>lược</a:t>
            </a:r>
            <a:r>
              <a:rPr lang="en-US" sz="1600" dirty="0"/>
              <a:t> </a:t>
            </a:r>
            <a:r>
              <a:rPr lang="en-US" sz="1600" dirty="0" err="1"/>
              <a:t>Doji</a:t>
            </a:r>
            <a:r>
              <a:rPr lang="en-US" sz="1600" dirty="0"/>
              <a:t> </a:t>
            </a:r>
            <a:r>
              <a:rPr lang="en-US" sz="1600" dirty="0" err="1"/>
              <a:t>Chân</a:t>
            </a:r>
            <a:r>
              <a:rPr lang="en-US" sz="1600" dirty="0"/>
              <a:t> </a:t>
            </a:r>
            <a:r>
              <a:rPr lang="en-US" sz="1600" dirty="0" err="1"/>
              <a:t>dài</a:t>
            </a:r>
            <a:r>
              <a:rPr lang="en-US" sz="1600" dirty="0"/>
              <a:t> – </a:t>
            </a:r>
            <a:r>
              <a:rPr lang="en-US" sz="1600" dirty="0" err="1"/>
              <a:t>Mua</a:t>
            </a:r>
            <a:r>
              <a:rPr lang="en-US" sz="1600" dirty="0"/>
              <a:t> (</a:t>
            </a:r>
            <a:r>
              <a:rPr lang="en-US" sz="1600" dirty="0" err="1"/>
              <a:t>tt</a:t>
            </a:r>
            <a:r>
              <a:rPr lang="en-US" sz="1600" dirty="0"/>
              <a:t>)</a:t>
            </a:r>
            <a:endParaRPr lang="en-US" sz="1600" b="1" dirty="0">
              <a:solidFill>
                <a:schemeClr val="tx1"/>
              </a:solidFill>
              <a:sym typeface="Maven Pro"/>
            </a:endParaRPr>
          </a:p>
          <a:p>
            <a:pPr marL="101600">
              <a:lnSpc>
                <a:spcPct val="115000"/>
              </a:lnSpc>
              <a:spcBef>
                <a:spcPts val="1600"/>
              </a:spcBef>
              <a:buClr>
                <a:schemeClr val="dk1"/>
              </a:buClr>
              <a:buSzPts val="2000"/>
            </a:pPr>
            <a:r>
              <a:rPr lang="en-US" sz="1600" b="1" dirty="0">
                <a:solidFill>
                  <a:schemeClr val="tx1"/>
                </a:solidFill>
                <a:sym typeface="Maven Pro"/>
              </a:rPr>
              <a:t>Code </a:t>
            </a:r>
            <a:r>
              <a:rPr lang="en-US" sz="1600" b="1" dirty="0" err="1">
                <a:solidFill>
                  <a:schemeClr val="tx1"/>
                </a:solidFill>
                <a:sym typeface="Maven Pro"/>
              </a:rPr>
              <a:t>chiến</a:t>
            </a:r>
            <a:r>
              <a:rPr lang="en-US" sz="1600" b="1" dirty="0">
                <a:solidFill>
                  <a:schemeClr val="tx1"/>
                </a:solidFill>
                <a:sym typeface="Maven Pro"/>
              </a:rPr>
              <a:t> </a:t>
            </a:r>
            <a:r>
              <a:rPr lang="en-US" sz="1600" b="1" dirty="0" err="1">
                <a:solidFill>
                  <a:schemeClr val="tx1"/>
                </a:solidFill>
                <a:sym typeface="Maven Pro"/>
              </a:rPr>
              <a:t>lược</a:t>
            </a:r>
            <a:r>
              <a:rPr lang="en-US" sz="1600" b="1" dirty="0">
                <a:solidFill>
                  <a:schemeClr val="tx1"/>
                </a:solidFill>
                <a:sym typeface="Maven Pro"/>
              </a:rPr>
              <a:t>: </a:t>
            </a:r>
            <a:endParaRPr lang="en-US" sz="1600" b="1" dirty="0">
              <a:solidFill>
                <a:schemeClr val="tx1"/>
              </a:solidFill>
              <a:sym typeface="Maven Pro"/>
            </a:endParaRPr>
          </a:p>
          <a:p>
            <a:pPr marL="387350" indent="-285750">
              <a:lnSpc>
                <a:spcPct val="115000"/>
              </a:lnSpc>
              <a:spcBef>
                <a:spcPts val="1600"/>
              </a:spcBef>
              <a:buClr>
                <a:schemeClr val="dk1"/>
              </a:buClr>
              <a:buSzPts val="2000"/>
              <a:buFontTx/>
              <a:buChar char="-"/>
            </a:pPr>
            <a:r>
              <a:rPr lang="en-US" sz="1600" dirty="0" err="1">
                <a:solidFill>
                  <a:schemeClr val="tx1"/>
                </a:solidFill>
                <a:sym typeface="Maven Pro"/>
              </a:rPr>
              <a:t>Vậy</a:t>
            </a:r>
            <a:r>
              <a:rPr lang="en-US" sz="1600" dirty="0">
                <a:solidFill>
                  <a:schemeClr val="tx1"/>
                </a:solidFill>
                <a:sym typeface="Maven Pro"/>
              </a:rPr>
              <a:t> </a:t>
            </a:r>
            <a:r>
              <a:rPr lang="en-US" sz="1600" dirty="0" err="1">
                <a:solidFill>
                  <a:schemeClr val="tx1"/>
                </a:solidFill>
                <a:sym typeface="Maven Pro"/>
              </a:rPr>
              <a:t>kiểm</a:t>
            </a:r>
            <a:r>
              <a:rPr lang="en-US" sz="1600" dirty="0">
                <a:solidFill>
                  <a:schemeClr val="tx1"/>
                </a:solidFill>
                <a:sym typeface="Maven Pro"/>
              </a:rPr>
              <a:t> </a:t>
            </a:r>
            <a:r>
              <a:rPr lang="en-US" sz="1600" dirty="0" err="1">
                <a:solidFill>
                  <a:schemeClr val="tx1"/>
                </a:solidFill>
                <a:sym typeface="Maven Pro"/>
              </a:rPr>
              <a:t>tra</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hiện</a:t>
            </a:r>
            <a:r>
              <a:rPr lang="en-US" sz="1600" dirty="0">
                <a:solidFill>
                  <a:schemeClr val="tx1"/>
                </a:solidFill>
                <a:sym typeface="Maven Pro"/>
              </a:rPr>
              <a:t> </a:t>
            </a:r>
            <a:r>
              <a:rPr lang="en-US" sz="1600" dirty="0" err="1">
                <a:solidFill>
                  <a:schemeClr val="tx1"/>
                </a:solidFill>
                <a:sym typeface="Maven Pro"/>
              </a:rPr>
              <a:t>tại</a:t>
            </a:r>
            <a:r>
              <a:rPr lang="en-US" sz="1600" dirty="0">
                <a:solidFill>
                  <a:schemeClr val="tx1"/>
                </a:solidFill>
                <a:sym typeface="Maven Pro"/>
              </a:rPr>
              <a:t> </a:t>
            </a:r>
            <a:r>
              <a:rPr lang="en-US" sz="1600" dirty="0" err="1">
                <a:solidFill>
                  <a:schemeClr val="tx1"/>
                </a:solidFill>
                <a:sym typeface="Maven Pro"/>
              </a:rPr>
              <a:t>có</a:t>
            </a:r>
            <a:r>
              <a:rPr lang="en-US" sz="1600" dirty="0">
                <a:solidFill>
                  <a:schemeClr val="tx1"/>
                </a:solidFill>
                <a:sym typeface="Maven Pro"/>
              </a:rPr>
              <a:t> </a:t>
            </a:r>
            <a:r>
              <a:rPr lang="en-US" sz="1600" dirty="0" err="1">
                <a:solidFill>
                  <a:schemeClr val="tx1"/>
                </a:solidFill>
                <a:sym typeface="Maven Pro"/>
              </a:rPr>
              <a:t>phải</a:t>
            </a:r>
            <a:r>
              <a:rPr lang="en-US" sz="1600" dirty="0">
                <a:solidFill>
                  <a:schemeClr val="tx1"/>
                </a:solidFill>
                <a:sym typeface="Maven Pro"/>
              </a:rPr>
              <a:t> </a:t>
            </a:r>
            <a:r>
              <a:rPr lang="en-US" sz="1600" dirty="0" err="1">
                <a:solidFill>
                  <a:schemeClr val="tx1"/>
                </a:solidFill>
                <a:sym typeface="Maven Pro"/>
              </a:rPr>
              <a:t>là</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tăng</a:t>
            </a:r>
            <a:r>
              <a:rPr lang="en-US" sz="1600" dirty="0">
                <a:solidFill>
                  <a:schemeClr val="tx1"/>
                </a:solidFill>
                <a:sym typeface="Maven Pro"/>
              </a:rPr>
              <a:t> hay </a:t>
            </a:r>
            <a:r>
              <a:rPr lang="en-US" sz="1600" dirty="0" err="1">
                <a:solidFill>
                  <a:schemeClr val="tx1"/>
                </a:solidFill>
                <a:sym typeface="Maven Pro"/>
              </a:rPr>
              <a:t>không</a:t>
            </a:r>
            <a:r>
              <a:rPr lang="en-US" sz="1600" dirty="0">
                <a:solidFill>
                  <a:schemeClr val="tx1"/>
                </a:solidFill>
                <a:sym typeface="Maven Pro"/>
              </a:rPr>
              <a:t> =&gt; </a:t>
            </a:r>
            <a:r>
              <a:rPr lang="en-US" sz="1600" dirty="0" err="1">
                <a:solidFill>
                  <a:schemeClr val="tx1"/>
                </a:solidFill>
                <a:sym typeface="Maven Pro"/>
              </a:rPr>
              <a:t>Nếu</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tăng</a:t>
            </a:r>
            <a:r>
              <a:rPr lang="en-US" sz="1600" dirty="0">
                <a:solidFill>
                  <a:schemeClr val="tx1"/>
                </a:solidFill>
                <a:sym typeface="Maven Pro"/>
              </a:rPr>
              <a:t> </a:t>
            </a:r>
            <a:r>
              <a:rPr lang="en-US" sz="1600" dirty="0" err="1">
                <a:solidFill>
                  <a:schemeClr val="tx1"/>
                </a:solidFill>
                <a:sym typeface="Maven Pro"/>
              </a:rPr>
              <a:t>thì</a:t>
            </a:r>
            <a:r>
              <a:rPr lang="en-US" sz="1600" dirty="0">
                <a:solidFill>
                  <a:schemeClr val="tx1"/>
                </a:solidFill>
                <a:sym typeface="Maven Pro"/>
              </a:rPr>
              <a:t> </a:t>
            </a:r>
            <a:r>
              <a:rPr lang="en-US" sz="1600" dirty="0" err="1">
                <a:solidFill>
                  <a:schemeClr val="tx1"/>
                </a:solidFill>
                <a:sym typeface="Maven Pro"/>
              </a:rPr>
              <a:t>kiểm</a:t>
            </a:r>
            <a:r>
              <a:rPr lang="en-US" sz="1600" dirty="0">
                <a:solidFill>
                  <a:schemeClr val="tx1"/>
                </a:solidFill>
                <a:sym typeface="Maven Pro"/>
              </a:rPr>
              <a:t> </a:t>
            </a:r>
            <a:r>
              <a:rPr lang="en-US" sz="1600" dirty="0" err="1">
                <a:solidFill>
                  <a:schemeClr val="tx1"/>
                </a:solidFill>
                <a:sym typeface="Maven Pro"/>
              </a:rPr>
              <a:t>tra</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rgbClr val="FF0000"/>
                </a:solidFill>
                <a:sym typeface="Maven Pro"/>
              </a:rPr>
              <a:t>trước</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hiện</a:t>
            </a:r>
            <a:r>
              <a:rPr lang="en-US" sz="1600" dirty="0">
                <a:solidFill>
                  <a:schemeClr val="tx1"/>
                </a:solidFill>
                <a:sym typeface="Maven Pro"/>
              </a:rPr>
              <a:t> </a:t>
            </a:r>
            <a:r>
              <a:rPr lang="en-US" sz="1600" dirty="0" err="1">
                <a:solidFill>
                  <a:schemeClr val="tx1"/>
                </a:solidFill>
                <a:sym typeface="Maven Pro"/>
              </a:rPr>
              <a:t>tại</a:t>
            </a:r>
            <a:r>
              <a:rPr lang="en-US" sz="1600" dirty="0">
                <a:solidFill>
                  <a:schemeClr val="tx1"/>
                </a:solidFill>
                <a:sym typeface="Maven Pro"/>
              </a:rPr>
              <a:t> 1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có</a:t>
            </a:r>
            <a:r>
              <a:rPr lang="en-US" sz="1600" dirty="0">
                <a:solidFill>
                  <a:schemeClr val="tx1"/>
                </a:solidFill>
                <a:sym typeface="Maven Pro"/>
              </a:rPr>
              <a:t> </a:t>
            </a:r>
            <a:r>
              <a:rPr lang="en-US" sz="1600" dirty="0" err="1">
                <a:solidFill>
                  <a:schemeClr val="tx1"/>
                </a:solidFill>
                <a:sym typeface="Maven Pro"/>
              </a:rPr>
              <a:t>phải</a:t>
            </a:r>
            <a:r>
              <a:rPr lang="en-US" sz="1600" dirty="0">
                <a:solidFill>
                  <a:schemeClr val="tx1"/>
                </a:solidFill>
                <a:sym typeface="Maven Pro"/>
              </a:rPr>
              <a:t> </a:t>
            </a:r>
            <a:r>
              <a:rPr lang="en-US" sz="1600" dirty="0" err="1">
                <a:solidFill>
                  <a:schemeClr val="tx1"/>
                </a:solidFill>
                <a:sym typeface="Maven Pro"/>
              </a:rPr>
              <a:t>là</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Doji</a:t>
            </a:r>
            <a:r>
              <a:rPr lang="en-US" sz="1600" dirty="0">
                <a:solidFill>
                  <a:schemeClr val="tx1"/>
                </a:solidFill>
                <a:sym typeface="Maven Pro"/>
              </a:rPr>
              <a:t> </a:t>
            </a:r>
            <a:r>
              <a:rPr lang="en-US" sz="1600" dirty="0" err="1">
                <a:solidFill>
                  <a:schemeClr val="tx1"/>
                </a:solidFill>
                <a:sym typeface="Maven Pro"/>
              </a:rPr>
              <a:t>chân</a:t>
            </a:r>
            <a:r>
              <a:rPr lang="en-US" sz="1600" dirty="0">
                <a:solidFill>
                  <a:schemeClr val="tx1"/>
                </a:solidFill>
                <a:sym typeface="Maven Pro"/>
              </a:rPr>
              <a:t> </a:t>
            </a:r>
            <a:r>
              <a:rPr lang="en-US" sz="1600" dirty="0" err="1">
                <a:solidFill>
                  <a:schemeClr val="tx1"/>
                </a:solidFill>
                <a:sym typeface="Maven Pro"/>
              </a:rPr>
              <a:t>dài</a:t>
            </a:r>
            <a:r>
              <a:rPr lang="en-US" sz="1600" dirty="0">
                <a:solidFill>
                  <a:schemeClr val="tx1"/>
                </a:solidFill>
                <a:sym typeface="Maven Pro"/>
              </a:rPr>
              <a:t> hay </a:t>
            </a:r>
            <a:r>
              <a:rPr lang="en-US" sz="1600" dirty="0" err="1">
                <a:solidFill>
                  <a:schemeClr val="tx1"/>
                </a:solidFill>
                <a:sym typeface="Maven Pro"/>
              </a:rPr>
              <a:t>không</a:t>
            </a:r>
            <a:r>
              <a:rPr lang="en-US" sz="1600" dirty="0">
                <a:solidFill>
                  <a:schemeClr val="tx1"/>
                </a:solidFill>
                <a:sym typeface="Maven Pro"/>
              </a:rPr>
              <a:t> =&gt; </a:t>
            </a:r>
            <a:r>
              <a:rPr lang="en-US" sz="1600" dirty="0" err="1">
                <a:solidFill>
                  <a:schemeClr val="tx1"/>
                </a:solidFill>
                <a:sym typeface="Maven Pro"/>
              </a:rPr>
              <a:t>Kiểm</a:t>
            </a:r>
            <a:r>
              <a:rPr lang="en-US" sz="1600" dirty="0">
                <a:solidFill>
                  <a:schemeClr val="tx1"/>
                </a:solidFill>
                <a:sym typeface="Maven Pro"/>
              </a:rPr>
              <a:t> </a:t>
            </a:r>
            <a:r>
              <a:rPr lang="en-US" sz="1600" dirty="0" err="1">
                <a:solidFill>
                  <a:schemeClr val="tx1"/>
                </a:solidFill>
                <a:sym typeface="Maven Pro"/>
              </a:rPr>
              <a:t>tra</a:t>
            </a:r>
            <a:r>
              <a:rPr lang="en-US" sz="1600" dirty="0">
                <a:solidFill>
                  <a:schemeClr val="tx1"/>
                </a:solidFill>
                <a:sym typeface="Maven Pro"/>
              </a:rPr>
              <a:t> </a:t>
            </a:r>
            <a:r>
              <a:rPr lang="en-US" sz="1600" dirty="0" err="1">
                <a:solidFill>
                  <a:schemeClr val="tx1"/>
                </a:solidFill>
                <a:sym typeface="Maven Pro"/>
              </a:rPr>
              <a:t>nến</a:t>
            </a:r>
            <a:r>
              <a:rPr lang="en-US" sz="1600" dirty="0">
                <a:solidFill>
                  <a:schemeClr val="tx1"/>
                </a:solidFill>
                <a:sym typeface="Maven Pro"/>
              </a:rPr>
              <a:t> </a:t>
            </a:r>
            <a:r>
              <a:rPr lang="en-US" sz="1600" dirty="0" err="1">
                <a:solidFill>
                  <a:schemeClr val="tx1"/>
                </a:solidFill>
                <a:sym typeface="Maven Pro"/>
              </a:rPr>
              <a:t>hiện</a:t>
            </a:r>
            <a:r>
              <a:rPr lang="en-US" sz="1600" dirty="0">
                <a:solidFill>
                  <a:schemeClr val="tx1"/>
                </a:solidFill>
                <a:sym typeface="Maven Pro"/>
              </a:rPr>
              <a:t> </a:t>
            </a:r>
            <a:r>
              <a:rPr lang="en-US" sz="1600" dirty="0" err="1">
                <a:solidFill>
                  <a:schemeClr val="tx1"/>
                </a:solidFill>
                <a:sym typeface="Maven Pro"/>
              </a:rPr>
              <a:t>tại</a:t>
            </a:r>
            <a:r>
              <a:rPr lang="en-US" sz="1600" dirty="0">
                <a:solidFill>
                  <a:schemeClr val="tx1"/>
                </a:solidFill>
                <a:sym typeface="Maven Pro"/>
              </a:rPr>
              <a:t> </a:t>
            </a:r>
            <a:r>
              <a:rPr lang="en-US" sz="1600" dirty="0" err="1">
                <a:solidFill>
                  <a:schemeClr val="tx1"/>
                </a:solidFill>
                <a:sym typeface="Maven Pro"/>
              </a:rPr>
              <a:t>có</a:t>
            </a:r>
            <a:r>
              <a:rPr lang="en-US" sz="1600" dirty="0">
                <a:solidFill>
                  <a:schemeClr val="tx1"/>
                </a:solidFill>
                <a:sym typeface="Maven Pro"/>
              </a:rPr>
              <a:t> </a:t>
            </a:r>
            <a:r>
              <a:rPr lang="en-US" sz="1600" dirty="0" err="1">
                <a:solidFill>
                  <a:schemeClr val="tx1"/>
                </a:solidFill>
                <a:sym typeface="Maven Pro"/>
              </a:rPr>
              <a:t>giá</a:t>
            </a:r>
            <a:r>
              <a:rPr lang="en-US" sz="1600" dirty="0">
                <a:solidFill>
                  <a:schemeClr val="tx1"/>
                </a:solidFill>
                <a:sym typeface="Maven Pro"/>
              </a:rPr>
              <a:t> </a:t>
            </a:r>
            <a:r>
              <a:rPr lang="vi-VN" sz="1600" dirty="0"/>
              <a:t>đóng cửa trên thân nến của Doji, nó có thể là một nến xác nhận tăng giá</a:t>
            </a:r>
            <a:endParaRPr lang="en-US" sz="1600" dirty="0">
              <a:solidFill>
                <a:schemeClr val="tx1"/>
              </a:solidFill>
              <a:sym typeface="Maven Pro"/>
            </a:endParaRPr>
          </a:p>
          <a:p>
            <a:pPr marL="101600">
              <a:lnSpc>
                <a:spcPct val="115000"/>
              </a:lnSpc>
              <a:spcBef>
                <a:spcPts val="1600"/>
              </a:spcBef>
              <a:buClr>
                <a:schemeClr val="dk1"/>
              </a:buClr>
              <a:buSzPts val="2000"/>
            </a:pPr>
            <a:r>
              <a:rPr lang="en-US" sz="1600" dirty="0">
                <a:solidFill>
                  <a:schemeClr val="tx1"/>
                </a:solidFill>
                <a:sym typeface="Maven Pro"/>
              </a:rPr>
              <a:t>      =&gt; </a:t>
            </a:r>
            <a:r>
              <a:rPr lang="en-US" sz="1600" dirty="0" err="1">
                <a:solidFill>
                  <a:schemeClr val="tx1"/>
                </a:solidFill>
                <a:sym typeface="Maven Pro"/>
              </a:rPr>
              <a:t>Nếu</a:t>
            </a:r>
            <a:r>
              <a:rPr lang="en-US" sz="1600" dirty="0">
                <a:solidFill>
                  <a:schemeClr val="tx1"/>
                </a:solidFill>
                <a:sym typeface="Maven Pro"/>
              </a:rPr>
              <a:t> </a:t>
            </a:r>
            <a:r>
              <a:rPr lang="en-US" sz="1600" dirty="0" err="1">
                <a:solidFill>
                  <a:schemeClr val="tx1"/>
                </a:solidFill>
                <a:sym typeface="Maven Pro"/>
              </a:rPr>
              <a:t>cả</a:t>
            </a:r>
            <a:r>
              <a:rPr lang="en-US" sz="1600" dirty="0">
                <a:solidFill>
                  <a:schemeClr val="tx1"/>
                </a:solidFill>
                <a:sym typeface="Maven Pro"/>
              </a:rPr>
              <a:t> 2 </a:t>
            </a:r>
            <a:r>
              <a:rPr lang="en-US" sz="1600" dirty="0" err="1">
                <a:solidFill>
                  <a:schemeClr val="tx1"/>
                </a:solidFill>
                <a:sym typeface="Maven Pro"/>
              </a:rPr>
              <a:t>điều</a:t>
            </a:r>
            <a:r>
              <a:rPr lang="en-US" sz="1600" dirty="0">
                <a:solidFill>
                  <a:schemeClr val="tx1"/>
                </a:solidFill>
                <a:sym typeface="Maven Pro"/>
              </a:rPr>
              <a:t> </a:t>
            </a:r>
            <a:r>
              <a:rPr lang="en-US" sz="1600" dirty="0" err="1">
                <a:solidFill>
                  <a:schemeClr val="tx1"/>
                </a:solidFill>
                <a:sym typeface="Maven Pro"/>
              </a:rPr>
              <a:t>kiện</a:t>
            </a:r>
            <a:r>
              <a:rPr lang="en-US" sz="1600" dirty="0">
                <a:solidFill>
                  <a:schemeClr val="tx1"/>
                </a:solidFill>
                <a:sym typeface="Maven Pro"/>
              </a:rPr>
              <a:t> </a:t>
            </a:r>
            <a:r>
              <a:rPr lang="en-US" sz="1600" dirty="0" err="1">
                <a:solidFill>
                  <a:schemeClr val="tx1"/>
                </a:solidFill>
                <a:sym typeface="Maven Pro"/>
              </a:rPr>
              <a:t>đó</a:t>
            </a:r>
            <a:r>
              <a:rPr lang="en-US" sz="1600" dirty="0">
                <a:solidFill>
                  <a:schemeClr val="tx1"/>
                </a:solidFill>
                <a:sym typeface="Maven Pro"/>
              </a:rPr>
              <a:t> </a:t>
            </a:r>
            <a:r>
              <a:rPr lang="en-US" sz="1600" dirty="0" err="1">
                <a:solidFill>
                  <a:schemeClr val="tx1"/>
                </a:solidFill>
                <a:sym typeface="Maven Pro"/>
              </a:rPr>
              <a:t>thỏa</a:t>
            </a:r>
            <a:r>
              <a:rPr lang="en-US" sz="1600" dirty="0">
                <a:solidFill>
                  <a:schemeClr val="tx1"/>
                </a:solidFill>
                <a:sym typeface="Maven Pro"/>
              </a:rPr>
              <a:t> </a:t>
            </a:r>
            <a:r>
              <a:rPr lang="en-US" sz="1600" dirty="0" err="1">
                <a:solidFill>
                  <a:schemeClr val="tx1"/>
                </a:solidFill>
                <a:sym typeface="Maven Pro"/>
              </a:rPr>
              <a:t>thì</a:t>
            </a:r>
            <a:r>
              <a:rPr lang="en-US" sz="1600" dirty="0">
                <a:solidFill>
                  <a:schemeClr val="tx1"/>
                </a:solidFill>
                <a:sym typeface="Maven Pro"/>
              </a:rPr>
              <a:t> </a:t>
            </a:r>
            <a:r>
              <a:rPr lang="en-US" sz="1600" dirty="0" err="1">
                <a:solidFill>
                  <a:schemeClr val="tx1"/>
                </a:solidFill>
                <a:sym typeface="Maven Pro"/>
              </a:rPr>
              <a:t>vào</a:t>
            </a:r>
            <a:r>
              <a:rPr lang="en-US" sz="1600" dirty="0">
                <a:solidFill>
                  <a:schemeClr val="tx1"/>
                </a:solidFill>
                <a:sym typeface="Maven Pro"/>
              </a:rPr>
              <a:t> 1 </a:t>
            </a:r>
            <a:r>
              <a:rPr lang="en-US" sz="1600" dirty="0" err="1">
                <a:solidFill>
                  <a:schemeClr val="tx1"/>
                </a:solidFill>
                <a:sym typeface="Maven Pro"/>
              </a:rPr>
              <a:t>lệnh</a:t>
            </a:r>
            <a:r>
              <a:rPr lang="en-US" sz="1600" dirty="0">
                <a:solidFill>
                  <a:schemeClr val="tx1"/>
                </a:solidFill>
                <a:sym typeface="Maven Pro"/>
              </a:rPr>
              <a:t> </a:t>
            </a:r>
            <a:r>
              <a:rPr lang="en-US" sz="1600" dirty="0" err="1">
                <a:solidFill>
                  <a:schemeClr val="tx1"/>
                </a:solidFill>
                <a:sym typeface="Maven Pro"/>
              </a:rPr>
              <a:t>mua</a:t>
            </a:r>
            <a:endParaRPr lang="en-US" sz="1600" dirty="0">
              <a:solidFill>
                <a:schemeClr val="tx1"/>
              </a:solidFill>
              <a:sym typeface="Maven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a:solidFill>
                  <a:schemeClr val="lt1"/>
                </a:solidFill>
              </a:rPr>
              <a:t>1. </a:t>
            </a:r>
            <a:r>
              <a:rPr lang="en-US" sz="2400" dirty="0" err="1">
                <a:solidFill>
                  <a:schemeClr val="lt1"/>
                </a:solidFill>
              </a:rPr>
              <a:t>Xây</a:t>
            </a:r>
            <a:r>
              <a:rPr lang="en-US" sz="2400" dirty="0">
                <a:solidFill>
                  <a:schemeClr val="lt1"/>
                </a:solidFill>
              </a:rPr>
              <a:t> </a:t>
            </a:r>
            <a:r>
              <a:rPr lang="en-US" sz="2400" dirty="0" err="1">
                <a:solidFill>
                  <a:schemeClr val="lt1"/>
                </a:solidFill>
              </a:rPr>
              <a:t>dựng</a:t>
            </a:r>
            <a:r>
              <a:rPr lang="en-US" sz="2400" dirty="0">
                <a:solidFill>
                  <a:schemeClr val="lt1"/>
                </a:solidFill>
              </a:rPr>
              <a:t> </a:t>
            </a:r>
            <a:r>
              <a:rPr lang="en-US" sz="2400" dirty="0" err="1">
                <a:solidFill>
                  <a:schemeClr val="lt1"/>
                </a:solidFill>
              </a:rPr>
              <a:t>chiến</a:t>
            </a:r>
            <a:r>
              <a:rPr lang="en-US" sz="2400" dirty="0">
                <a:solidFill>
                  <a:schemeClr val="lt1"/>
                </a:solidFill>
              </a:rPr>
              <a:t> </a:t>
            </a:r>
            <a:r>
              <a:rPr lang="en-US" sz="2400" dirty="0" err="1">
                <a:solidFill>
                  <a:schemeClr val="lt1"/>
                </a:solidFill>
              </a:rPr>
              <a:t>lược</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lvl="0" indent="-342900" algn="just">
              <a:lnSpc>
                <a:spcPct val="115000"/>
              </a:lnSpc>
              <a:spcBef>
                <a:spcPts val="1600"/>
              </a:spcBef>
              <a:buClr>
                <a:schemeClr val="dk1"/>
              </a:buClr>
              <a:buSzPts val="2000"/>
              <a:buAutoNum type="arabicPeriod"/>
            </a:pPr>
            <a:r>
              <a:rPr lang="en-US" sz="1600" dirty="0"/>
              <a:t>Chiến </a:t>
            </a:r>
            <a:r>
              <a:rPr lang="en-US" sz="1600" dirty="0" err="1"/>
              <a:t>lược</a:t>
            </a:r>
            <a:r>
              <a:rPr lang="en-US" sz="1600" dirty="0"/>
              <a:t> </a:t>
            </a:r>
            <a:r>
              <a:rPr lang="en-US" sz="1600" dirty="0" err="1"/>
              <a:t>Doji</a:t>
            </a:r>
            <a:r>
              <a:rPr lang="en-US" sz="1600" dirty="0"/>
              <a:t> </a:t>
            </a:r>
            <a:r>
              <a:rPr lang="en-US" sz="1600" dirty="0" err="1"/>
              <a:t>Chân</a:t>
            </a:r>
            <a:r>
              <a:rPr lang="en-US" sz="1600" dirty="0"/>
              <a:t> </a:t>
            </a:r>
            <a:r>
              <a:rPr lang="en-US" sz="1600" dirty="0" err="1"/>
              <a:t>dài</a:t>
            </a:r>
            <a:r>
              <a:rPr lang="en-US" sz="1600" dirty="0"/>
              <a:t> – </a:t>
            </a:r>
            <a:r>
              <a:rPr lang="en-US" sz="1600" dirty="0" err="1"/>
              <a:t>Mua</a:t>
            </a:r>
            <a:endParaRPr lang="en-US" sz="1600" dirty="0"/>
          </a:p>
          <a:p>
            <a:pPr marL="444500" lvl="0" indent="-342900">
              <a:lnSpc>
                <a:spcPct val="115000"/>
              </a:lnSpc>
              <a:spcBef>
                <a:spcPts val="1600"/>
              </a:spcBef>
              <a:buClr>
                <a:schemeClr val="dk1"/>
              </a:buClr>
              <a:buSzPts val="2000"/>
              <a:buFont typeface="+mj-lt"/>
              <a:buAutoNum type="alphaLcParenR" startAt="2"/>
            </a:pPr>
            <a:r>
              <a:rPr lang="en-US" sz="1600" b="1" u="sng" dirty="0" err="1">
                <a:solidFill>
                  <a:schemeClr val="tx1"/>
                </a:solidFill>
                <a:ea typeface="Maven Pro"/>
                <a:cs typeface="Maven Pro"/>
                <a:sym typeface="Maven Pro"/>
              </a:rPr>
              <a:t>Các</a:t>
            </a:r>
            <a:r>
              <a:rPr lang="en-US" sz="1600" b="1" u="sng" dirty="0">
                <a:solidFill>
                  <a:schemeClr val="tx1"/>
                </a:solidFill>
                <a:ea typeface="Maven Pro"/>
                <a:cs typeface="Maven Pro"/>
                <a:sym typeface="Maven Pro"/>
              </a:rPr>
              <a:t> </a:t>
            </a:r>
            <a:r>
              <a:rPr lang="en-US" sz="1600" b="1" u="sng" dirty="0" err="1">
                <a:solidFill>
                  <a:schemeClr val="tx1"/>
                </a:solidFill>
                <a:ea typeface="Maven Pro"/>
                <a:cs typeface="Maven Pro"/>
                <a:sym typeface="Maven Pro"/>
              </a:rPr>
              <a:t>loại</a:t>
            </a:r>
            <a:r>
              <a:rPr lang="en-US" sz="1600" b="1" u="sng" dirty="0">
                <a:solidFill>
                  <a:schemeClr val="tx1"/>
                </a:solidFill>
                <a:ea typeface="Maven Pro"/>
                <a:cs typeface="Maven Pro"/>
                <a:sym typeface="Maven Pro"/>
              </a:rPr>
              <a:t> </a:t>
            </a:r>
            <a:r>
              <a:rPr lang="en-US" sz="1600" b="1" u="sng" dirty="0" err="1">
                <a:solidFill>
                  <a:schemeClr val="tx1"/>
                </a:solidFill>
                <a:ea typeface="Maven Pro"/>
                <a:cs typeface="Maven Pro"/>
                <a:sym typeface="Maven Pro"/>
              </a:rPr>
              <a:t>nến</a:t>
            </a:r>
            <a:r>
              <a:rPr lang="en-US" sz="1600" b="1" u="sng" dirty="0">
                <a:solidFill>
                  <a:schemeClr val="tx1"/>
                </a:solidFill>
                <a:ea typeface="Maven Pro"/>
                <a:cs typeface="Maven Pro"/>
                <a:sym typeface="Maven Pro"/>
              </a:rPr>
              <a:t> </a:t>
            </a:r>
            <a:r>
              <a:rPr lang="en-US" sz="1600" b="1" u="sng" dirty="0" err="1">
                <a:solidFill>
                  <a:schemeClr val="tx1"/>
                </a:solidFill>
                <a:ea typeface="Maven Pro"/>
                <a:cs typeface="Maven Pro"/>
                <a:sym typeface="Maven Pro"/>
              </a:rPr>
              <a:t>Doji</a:t>
            </a:r>
            <a:r>
              <a:rPr lang="en-US" sz="1600" b="1" u="sng" dirty="0">
                <a:solidFill>
                  <a:schemeClr val="tx1"/>
                </a:solidFill>
                <a:ea typeface="Maven Pro"/>
                <a:cs typeface="Maven Pro"/>
                <a:sym typeface="Maven Pro"/>
              </a:rPr>
              <a:t> </a:t>
            </a:r>
            <a:r>
              <a:rPr lang="en-US" sz="1600" b="1" u="sng" dirty="0" err="1">
                <a:solidFill>
                  <a:schemeClr val="tx1"/>
                </a:solidFill>
                <a:ea typeface="Maven Pro"/>
                <a:cs typeface="Maven Pro"/>
                <a:sym typeface="Maven Pro"/>
              </a:rPr>
              <a:t>khác</a:t>
            </a:r>
            <a:endParaRPr lang="vi-VN" sz="1600" b="1" u="sng"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vi-VN" sz="1600" b="1" dirty="0">
                <a:solidFill>
                  <a:schemeClr val="dk1"/>
                </a:solidFill>
                <a:ea typeface="Maven Pro"/>
                <a:cs typeface="Maven Pro"/>
                <a:sym typeface="Maven Pro"/>
              </a:rPr>
              <a:t>      </a:t>
            </a:r>
            <a:endParaRPr lang="vi-VN" sz="1600" b="1" dirty="0">
              <a:solidFill>
                <a:schemeClr val="dk1"/>
              </a:solidFill>
              <a:ea typeface="Maven Pro"/>
              <a:cs typeface="Maven Pro"/>
              <a:sym typeface="Maven Pro"/>
            </a:endParaRPr>
          </a:p>
          <a:p>
            <a:pPr marL="101600" lvl="0" algn="just">
              <a:lnSpc>
                <a:spcPct val="115000"/>
              </a:lnSpc>
              <a:spcBef>
                <a:spcPts val="1600"/>
              </a:spcBef>
              <a:buClr>
                <a:schemeClr val="dk1"/>
              </a:buClr>
              <a:buSzPts val="2000"/>
            </a:pPr>
            <a:endParaRPr lang="vi-VN" sz="1600" dirty="0"/>
          </a:p>
          <a:p>
            <a:pPr marL="101600" algn="just">
              <a:lnSpc>
                <a:spcPct val="115000"/>
              </a:lnSpc>
              <a:spcBef>
                <a:spcPts val="1600"/>
              </a:spcBef>
              <a:buClr>
                <a:schemeClr val="dk1"/>
              </a:buClr>
              <a:buSzPts val="2000"/>
            </a:pPr>
            <a:endParaRPr lang="vi-VN" sz="1600" dirty="0"/>
          </a:p>
          <a:p>
            <a:pPr marL="101600" lvl="0" algn="just">
              <a:lnSpc>
                <a:spcPct val="115000"/>
              </a:lnSpc>
              <a:spcBef>
                <a:spcPts val="1600"/>
              </a:spcBef>
              <a:buClr>
                <a:schemeClr val="dk1"/>
              </a:buClr>
              <a:buSzPts val="2000"/>
            </a:pPr>
            <a:endParaRPr sz="1600" b="1" dirty="0">
              <a:solidFill>
                <a:schemeClr val="dk1"/>
              </a:solidFill>
              <a:latin typeface="+mn-lt"/>
              <a:ea typeface="Maven Pro"/>
              <a:cs typeface="Maven Pro"/>
              <a:sym typeface="Maven Pro"/>
            </a:endParaRPr>
          </a:p>
        </p:txBody>
      </p:sp>
      <p:pic>
        <p:nvPicPr>
          <p:cNvPr id="4" name="Google Shape;124;p4"/>
          <p:cNvPicPr preferRelativeResize="0"/>
          <p:nvPr/>
        </p:nvPicPr>
        <p:blipFill>
          <a:blip r:embed="rId2"/>
          <a:stretch>
            <a:fillRect/>
          </a:stretch>
        </p:blipFill>
        <p:spPr>
          <a:xfrm>
            <a:off x="304801" y="2696264"/>
            <a:ext cx="4479976" cy="1744166"/>
          </a:xfrm>
          <a:prstGeom prst="rect">
            <a:avLst/>
          </a:prstGeom>
          <a:noFill/>
          <a:ln>
            <a:noFill/>
          </a:ln>
        </p:spPr>
      </p:pic>
      <p:sp>
        <p:nvSpPr>
          <p:cNvPr id="5" name="Google Shape;125;p4"/>
          <p:cNvSpPr txBox="1"/>
          <p:nvPr/>
        </p:nvSpPr>
        <p:spPr>
          <a:xfrm>
            <a:off x="1260739" y="1897226"/>
            <a:ext cx="7415700" cy="36929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panose="020B0604020202020204"/>
              <a:buNone/>
            </a:pPr>
            <a:r>
              <a:rPr lang="vi-VN" sz="1800" b="1" dirty="0">
                <a:solidFill>
                  <a:srgbClr val="00B050"/>
                </a:solidFill>
              </a:rPr>
              <a:t>GIÁ MỞ CỦA &amp; GIÁ ĐÓNG CỬA GẦN NHƯ NẰM TẠI CÙNG 1 ĐIỂM</a:t>
            </a:r>
            <a:endParaRPr sz="1800" b="1" dirty="0">
              <a:solidFill>
                <a:schemeClr val="dk1"/>
              </a:solidFill>
            </a:endParaRPr>
          </a:p>
        </p:txBody>
      </p:sp>
      <p:pic>
        <p:nvPicPr>
          <p:cNvPr id="6" name="Google Shape;126;p4"/>
          <p:cNvPicPr preferRelativeResize="0"/>
          <p:nvPr/>
        </p:nvPicPr>
        <p:blipFill>
          <a:blip r:embed="rId3"/>
          <a:stretch>
            <a:fillRect/>
          </a:stretch>
        </p:blipFill>
        <p:spPr>
          <a:xfrm>
            <a:off x="304800" y="1743889"/>
            <a:ext cx="833200" cy="689000"/>
          </a:xfrm>
          <a:prstGeom prst="rect">
            <a:avLst/>
          </a:prstGeom>
          <a:noFill/>
          <a:ln>
            <a:noFill/>
          </a:ln>
        </p:spPr>
      </p:pic>
      <p:pic>
        <p:nvPicPr>
          <p:cNvPr id="8" name="Picture 7"/>
          <p:cNvPicPr>
            <a:picLocks noChangeAspect="1"/>
          </p:cNvPicPr>
          <p:nvPr/>
        </p:nvPicPr>
        <p:blipFill>
          <a:blip r:embed="rId4"/>
          <a:stretch>
            <a:fillRect/>
          </a:stretch>
        </p:blipFill>
        <p:spPr>
          <a:xfrm>
            <a:off x="4784777" y="2254031"/>
            <a:ext cx="4359223" cy="26487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a:solidFill>
                  <a:schemeClr val="lt1"/>
                </a:solidFill>
              </a:rPr>
              <a:t>1. </a:t>
            </a:r>
            <a:r>
              <a:rPr lang="en-US" sz="2400" b="1" dirty="0" err="1">
                <a:solidFill>
                  <a:schemeClr val="lt1"/>
                </a:solidFill>
              </a:rPr>
              <a:t>Xây</a:t>
            </a:r>
            <a:r>
              <a:rPr lang="en-US" sz="2400" b="1" dirty="0">
                <a:solidFill>
                  <a:schemeClr val="lt1"/>
                </a:solidFill>
              </a:rPr>
              <a:t> </a:t>
            </a:r>
            <a:r>
              <a:rPr lang="en-US" sz="2400" b="1" dirty="0" err="1">
                <a:solidFill>
                  <a:schemeClr val="lt1"/>
                </a:solidFill>
              </a:rPr>
              <a:t>dựng</a:t>
            </a:r>
            <a:r>
              <a:rPr lang="en-US" sz="2400" b="1" dirty="0">
                <a:solidFill>
                  <a:schemeClr val="lt1"/>
                </a:solidFill>
              </a:rPr>
              <a:t> </a:t>
            </a:r>
            <a:r>
              <a:rPr lang="en-US" sz="2400" b="1" dirty="0" err="1">
                <a:solidFill>
                  <a:schemeClr val="lt1"/>
                </a:solidFill>
              </a:rPr>
              <a:t>chiến</a:t>
            </a:r>
            <a:r>
              <a:rPr lang="en-US" sz="2400" b="1" dirty="0">
                <a:solidFill>
                  <a:schemeClr val="lt1"/>
                </a:solidFill>
              </a:rPr>
              <a:t> </a:t>
            </a:r>
            <a:r>
              <a:rPr lang="en-US" sz="2400" b="1" dirty="0" err="1">
                <a:solidFill>
                  <a:schemeClr val="lt1"/>
                </a:solidFill>
              </a:rPr>
              <a:t>lược</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indent="-342900" algn="just">
              <a:lnSpc>
                <a:spcPct val="115000"/>
              </a:lnSpc>
              <a:spcBef>
                <a:spcPts val="1600"/>
              </a:spcBef>
              <a:buClr>
                <a:schemeClr val="dk1"/>
              </a:buClr>
              <a:buSzPts val="2000"/>
              <a:buFont typeface="+mj-lt"/>
              <a:buAutoNum type="arabicPeriod" startAt="2"/>
            </a:pPr>
            <a:r>
              <a:rPr lang="vi-VN" sz="1600" b="1" dirty="0"/>
              <a:t>Chiến lược giao dịch theo chỉ số biến động</a:t>
            </a:r>
            <a:r>
              <a:rPr lang="en-US" sz="1600" b="1" dirty="0"/>
              <a:t> (</a:t>
            </a:r>
            <a:r>
              <a:rPr lang="en-US" sz="1600" b="1" dirty="0">
                <a:solidFill>
                  <a:schemeClr val="dk1"/>
                </a:solidFill>
                <a:ea typeface="Maven Pro"/>
                <a:cs typeface="Maven Pro"/>
                <a:sym typeface="Maven Pro"/>
              </a:rPr>
              <a:t>Chiến </a:t>
            </a:r>
            <a:r>
              <a:rPr lang="en-US" sz="1600" b="1" dirty="0" err="1">
                <a:solidFill>
                  <a:schemeClr val="dk1"/>
                </a:solidFill>
                <a:ea typeface="Maven Pro"/>
                <a:cs typeface="Maven Pro"/>
                <a:sym typeface="Maven Pro"/>
              </a:rPr>
              <a:t>lược</a:t>
            </a:r>
            <a:r>
              <a:rPr lang="en-US" sz="1600" b="1" dirty="0">
                <a:solidFill>
                  <a:schemeClr val="dk1"/>
                </a:solidFill>
                <a:ea typeface="Maven Pro"/>
                <a:cs typeface="Maven Pro"/>
                <a:sym typeface="Maven Pro"/>
              </a:rPr>
              <a:t> SPY500 – VIX)</a:t>
            </a:r>
            <a:endParaRPr lang="en-US" sz="1600" b="1" dirty="0">
              <a:solidFill>
                <a:schemeClr val="dk1"/>
              </a:solidFill>
              <a:ea typeface="Maven Pro"/>
              <a:cs typeface="Maven Pro"/>
              <a:sym typeface="Maven Pro"/>
            </a:endParaRPr>
          </a:p>
          <a:p>
            <a:pPr marL="387350" indent="-285750" algn="just">
              <a:lnSpc>
                <a:spcPct val="115000"/>
              </a:lnSpc>
              <a:spcBef>
                <a:spcPts val="1600"/>
              </a:spcBef>
              <a:buClr>
                <a:schemeClr val="dk1"/>
              </a:buClr>
              <a:buSzPts val="2000"/>
              <a:buFontTx/>
              <a:buChar char="-"/>
            </a:pPr>
            <a:r>
              <a:rPr lang="en-US" sz="1800" dirty="0">
                <a:solidFill>
                  <a:schemeClr val="tx1"/>
                </a:solidFill>
                <a:ea typeface="Maven Pro"/>
                <a:cs typeface="Maven Pro"/>
                <a:sym typeface="Maven Pro"/>
              </a:rPr>
              <a:t>SPY </a:t>
            </a:r>
            <a:r>
              <a:rPr lang="en-US" sz="1800" dirty="0" err="1">
                <a:solidFill>
                  <a:schemeClr val="tx1"/>
                </a:solidFill>
                <a:ea typeface="Maven Pro"/>
                <a:cs typeface="Maven Pro"/>
                <a:sym typeface="Maven Pro"/>
              </a:rPr>
              <a:t>là</a:t>
            </a:r>
            <a:r>
              <a:rPr lang="en-US" sz="1800" dirty="0">
                <a:solidFill>
                  <a:schemeClr val="tx1"/>
                </a:solidFill>
                <a:ea typeface="Maven Pro"/>
                <a:cs typeface="Maven Pro"/>
                <a:sym typeface="Maven Pro"/>
              </a:rPr>
              <a:t> </a:t>
            </a:r>
            <a:r>
              <a:rPr lang="en-US" sz="1800" dirty="0" err="1">
                <a:solidFill>
                  <a:schemeClr val="tx1"/>
                </a:solidFill>
                <a:ea typeface="Maven Pro"/>
                <a:cs typeface="Maven Pro"/>
                <a:sym typeface="Maven Pro"/>
              </a:rPr>
              <a:t>chứng</a:t>
            </a:r>
            <a:r>
              <a:rPr lang="en-US" sz="1800" dirty="0">
                <a:solidFill>
                  <a:schemeClr val="tx1"/>
                </a:solidFill>
                <a:ea typeface="Maven Pro"/>
                <a:cs typeface="Maven Pro"/>
                <a:sym typeface="Maven Pro"/>
              </a:rPr>
              <a:t> </a:t>
            </a:r>
            <a:r>
              <a:rPr lang="en-US" sz="1800" dirty="0" err="1">
                <a:solidFill>
                  <a:schemeClr val="tx1"/>
                </a:solidFill>
                <a:ea typeface="Maven Pro"/>
                <a:cs typeface="Maven Pro"/>
                <a:sym typeface="Maven Pro"/>
              </a:rPr>
              <a:t>chỉ</a:t>
            </a:r>
            <a:r>
              <a:rPr lang="en-US" sz="1800" dirty="0">
                <a:solidFill>
                  <a:schemeClr val="tx1"/>
                </a:solidFill>
                <a:ea typeface="Maven Pro"/>
                <a:cs typeface="Maven Pro"/>
                <a:sym typeface="Maven Pro"/>
              </a:rPr>
              <a:t> </a:t>
            </a:r>
            <a:r>
              <a:rPr lang="en-US" sz="1800" dirty="0" err="1">
                <a:solidFill>
                  <a:schemeClr val="tx1"/>
                </a:solidFill>
                <a:ea typeface="Maven Pro"/>
                <a:cs typeface="Maven Pro"/>
                <a:sym typeface="Maven Pro"/>
              </a:rPr>
              <a:t>quỹ</a:t>
            </a:r>
            <a:r>
              <a:rPr lang="en-US" sz="1800" dirty="0">
                <a:solidFill>
                  <a:schemeClr val="tx1"/>
                </a:solidFill>
                <a:ea typeface="Maven Pro"/>
                <a:cs typeface="Maven Pro"/>
                <a:sym typeface="Maven Pro"/>
              </a:rPr>
              <a:t>: </a:t>
            </a:r>
            <a:r>
              <a:rPr lang="vi-VN" sz="1600" dirty="0"/>
              <a:t>S&amp;P 500 ETF (SPY) theo dõi chỉ số S&amp;P 500, một trong những chỉ số chính của thị trường chứng khoán Mỹ, bao gồm cổ phiếu của 500 công ty lớn nhất tại Mỹ. Về lịch sử, </a:t>
            </a:r>
            <a:r>
              <a:rPr lang="vi-VN" sz="1600" dirty="0">
                <a:solidFill>
                  <a:srgbClr val="FF0000"/>
                </a:solidFill>
              </a:rPr>
              <a:t>S&amp;P 500 thường có xu hướng tăng trưởng trong dài hạn</a:t>
            </a:r>
            <a:r>
              <a:rPr lang="vi-VN" sz="1600" dirty="0"/>
              <a:t>, nhưng không phải mỗi năm đều tăng. Giá trị của SPY, tương tự như S&amp;P 500, biến động dựa trên nhiều yếu tố, bao gồm tình hình kinh tế vĩ mô, chính sách tiền tệ, lợi nhuận của doanh nghiệp, và các sự kiện toàn cầu.</a:t>
            </a:r>
            <a:endParaRPr lang="en-US" sz="1800" dirty="0">
              <a:solidFill>
                <a:schemeClr val="tx1"/>
              </a:solidFill>
              <a:ea typeface="Maven Pro"/>
              <a:cs typeface="Maven Pro"/>
              <a:sym typeface="Maven Pro"/>
            </a:endParaRPr>
          </a:p>
          <a:p>
            <a:pPr marL="387350" indent="-285750" algn="just">
              <a:lnSpc>
                <a:spcPct val="115000"/>
              </a:lnSpc>
              <a:spcBef>
                <a:spcPts val="1600"/>
              </a:spcBef>
              <a:buClr>
                <a:schemeClr val="dk1"/>
              </a:buClr>
              <a:buSzPts val="2000"/>
              <a:buFontTx/>
              <a:buChar char="-"/>
            </a:pPr>
            <a:r>
              <a:rPr lang="en-US" sz="1800" dirty="0" err="1">
                <a:solidFill>
                  <a:srgbClr val="FF0000"/>
                </a:solidFill>
                <a:ea typeface="Maven Pro"/>
                <a:cs typeface="Maven Pro"/>
                <a:sym typeface="Maven Pro"/>
              </a:rPr>
              <a:t>Giao</a:t>
            </a:r>
            <a:r>
              <a:rPr lang="en-US" sz="1800" dirty="0">
                <a:solidFill>
                  <a:srgbClr val="FF0000"/>
                </a:solidFill>
                <a:ea typeface="Maven Pro"/>
                <a:cs typeface="Maven Pro"/>
                <a:sym typeface="Maven Pro"/>
              </a:rPr>
              <a:t> </a:t>
            </a:r>
            <a:r>
              <a:rPr lang="en-US" sz="1800" dirty="0" err="1">
                <a:solidFill>
                  <a:srgbClr val="FF0000"/>
                </a:solidFill>
                <a:ea typeface="Maven Pro"/>
                <a:cs typeface="Maven Pro"/>
                <a:sym typeface="Maven Pro"/>
              </a:rPr>
              <a:t>dịch</a:t>
            </a:r>
            <a:r>
              <a:rPr lang="en-US" sz="1800" dirty="0">
                <a:solidFill>
                  <a:srgbClr val="FF0000"/>
                </a:solidFill>
                <a:ea typeface="Maven Pro"/>
                <a:cs typeface="Maven Pro"/>
                <a:sym typeface="Maven Pro"/>
              </a:rPr>
              <a:t> </a:t>
            </a:r>
            <a:r>
              <a:rPr lang="en-US" sz="1600" dirty="0">
                <a:solidFill>
                  <a:srgbClr val="FF0000"/>
                </a:solidFill>
              </a:rPr>
              <a:t>SPY </a:t>
            </a:r>
            <a:r>
              <a:rPr lang="en-US" sz="1600" dirty="0" err="1">
                <a:solidFill>
                  <a:srgbClr val="FF0000"/>
                </a:solidFill>
              </a:rPr>
              <a:t>dựa</a:t>
            </a:r>
            <a:r>
              <a:rPr lang="en-US" sz="1600" dirty="0">
                <a:solidFill>
                  <a:srgbClr val="FF0000"/>
                </a:solidFill>
              </a:rPr>
              <a:t> </a:t>
            </a:r>
            <a:r>
              <a:rPr lang="en-US" sz="1600" dirty="0" err="1">
                <a:solidFill>
                  <a:srgbClr val="FF0000"/>
                </a:solidFill>
              </a:rPr>
              <a:t>vào</a:t>
            </a:r>
            <a:r>
              <a:rPr lang="en-US" sz="1600" dirty="0">
                <a:solidFill>
                  <a:srgbClr val="FF0000"/>
                </a:solidFill>
              </a:rPr>
              <a:t> </a:t>
            </a:r>
            <a:r>
              <a:rPr lang="en-US" sz="1600" dirty="0" err="1">
                <a:solidFill>
                  <a:srgbClr val="FF0000"/>
                </a:solidFill>
              </a:rPr>
              <a:t>chỉ</a:t>
            </a:r>
            <a:r>
              <a:rPr lang="en-US" sz="1600" dirty="0">
                <a:solidFill>
                  <a:srgbClr val="FF0000"/>
                </a:solidFill>
              </a:rPr>
              <a:t> </a:t>
            </a:r>
            <a:r>
              <a:rPr lang="en-US" sz="1600" dirty="0" err="1">
                <a:solidFill>
                  <a:srgbClr val="FF0000"/>
                </a:solidFill>
              </a:rPr>
              <a:t>số</a:t>
            </a:r>
            <a:r>
              <a:rPr lang="en-US" sz="1600" dirty="0">
                <a:solidFill>
                  <a:srgbClr val="FF0000"/>
                </a:solidFill>
              </a:rPr>
              <a:t> </a:t>
            </a:r>
            <a:r>
              <a:rPr lang="en-US" sz="1600" dirty="0" err="1">
                <a:solidFill>
                  <a:srgbClr val="FF0000"/>
                </a:solidFill>
              </a:rPr>
              <a:t>biến</a:t>
            </a:r>
            <a:r>
              <a:rPr lang="en-US" sz="1600" dirty="0">
                <a:solidFill>
                  <a:srgbClr val="FF0000"/>
                </a:solidFill>
              </a:rPr>
              <a:t> </a:t>
            </a:r>
            <a:r>
              <a:rPr lang="en-US" sz="1600" dirty="0" err="1">
                <a:solidFill>
                  <a:srgbClr val="FF0000"/>
                </a:solidFill>
              </a:rPr>
              <a:t>động</a:t>
            </a:r>
            <a:r>
              <a:rPr lang="en-US" sz="1600" dirty="0">
                <a:solidFill>
                  <a:srgbClr val="FF0000"/>
                </a:solidFill>
              </a:rPr>
              <a:t> </a:t>
            </a:r>
            <a:r>
              <a:rPr lang="en-US" sz="1600" dirty="0" err="1">
                <a:solidFill>
                  <a:srgbClr val="FF0000"/>
                </a:solidFill>
              </a:rPr>
              <a:t>thị</a:t>
            </a:r>
            <a:r>
              <a:rPr lang="en-US" sz="1600" dirty="0">
                <a:solidFill>
                  <a:srgbClr val="FF0000"/>
                </a:solidFill>
              </a:rPr>
              <a:t> </a:t>
            </a:r>
            <a:r>
              <a:rPr lang="en-US" sz="1600" dirty="0" err="1">
                <a:solidFill>
                  <a:srgbClr val="FF0000"/>
                </a:solidFill>
              </a:rPr>
              <a:t>trường</a:t>
            </a:r>
            <a:r>
              <a:rPr lang="en-US" sz="1600" dirty="0">
                <a:solidFill>
                  <a:srgbClr val="FF0000"/>
                </a:solidFill>
              </a:rPr>
              <a:t> (</a:t>
            </a:r>
            <a:r>
              <a:rPr lang="en-US" sz="1600" dirty="0" err="1">
                <a:solidFill>
                  <a:srgbClr val="FF0000"/>
                </a:solidFill>
              </a:rPr>
              <a:t>đo</a:t>
            </a:r>
            <a:r>
              <a:rPr lang="en-US" sz="1600" dirty="0">
                <a:solidFill>
                  <a:srgbClr val="FF0000"/>
                </a:solidFill>
              </a:rPr>
              <a:t> </a:t>
            </a:r>
            <a:r>
              <a:rPr lang="en-US" sz="1600" dirty="0" err="1">
                <a:solidFill>
                  <a:srgbClr val="FF0000"/>
                </a:solidFill>
              </a:rPr>
              <a:t>lường</a:t>
            </a:r>
            <a:r>
              <a:rPr lang="en-US" sz="1600" dirty="0">
                <a:solidFill>
                  <a:srgbClr val="FF0000"/>
                </a:solidFill>
              </a:rPr>
              <a:t> </a:t>
            </a:r>
            <a:r>
              <a:rPr lang="en-US" sz="1600" dirty="0" err="1">
                <a:solidFill>
                  <a:srgbClr val="FF0000"/>
                </a:solidFill>
              </a:rPr>
              <a:t>bởi</a:t>
            </a:r>
            <a:r>
              <a:rPr lang="en-US" sz="1600" dirty="0">
                <a:solidFill>
                  <a:srgbClr val="FF0000"/>
                </a:solidFill>
              </a:rPr>
              <a:t> VIX):</a:t>
            </a:r>
            <a:endParaRPr lang="en-US" sz="1600" dirty="0">
              <a:solidFill>
                <a:srgbClr val="FF0000"/>
              </a:solidFill>
            </a:endParaRPr>
          </a:p>
          <a:p>
            <a:pPr marL="101600" algn="just">
              <a:lnSpc>
                <a:spcPct val="115000"/>
              </a:lnSpc>
              <a:spcBef>
                <a:spcPts val="1600"/>
              </a:spcBef>
              <a:buClr>
                <a:schemeClr val="dk1"/>
              </a:buClr>
              <a:buSzPts val="2000"/>
            </a:pPr>
            <a:r>
              <a:rPr lang="en-US" sz="1600" dirty="0"/>
              <a:t>     + </a:t>
            </a:r>
            <a:r>
              <a:rPr lang="en-US" sz="1600" dirty="0" err="1"/>
              <a:t>Mua</a:t>
            </a:r>
            <a:r>
              <a:rPr lang="en-US" sz="1600" dirty="0"/>
              <a:t> </a:t>
            </a:r>
            <a:r>
              <a:rPr lang="en-US" sz="1600" dirty="0" err="1"/>
              <a:t>và</a:t>
            </a:r>
            <a:r>
              <a:rPr lang="en-US" sz="1600" dirty="0"/>
              <a:t> </a:t>
            </a:r>
            <a:r>
              <a:rPr lang="en-US" sz="1600" dirty="0" err="1"/>
              <a:t>nắm</a:t>
            </a:r>
            <a:r>
              <a:rPr lang="en-US" sz="1600" dirty="0"/>
              <a:t> </a:t>
            </a:r>
            <a:r>
              <a:rPr lang="en-US" sz="1600" dirty="0" err="1"/>
              <a:t>giữ</a:t>
            </a:r>
            <a:r>
              <a:rPr lang="en-US" sz="1600" dirty="0"/>
              <a:t> SPY</a:t>
            </a:r>
            <a:endParaRPr lang="en-US" sz="1600" dirty="0"/>
          </a:p>
          <a:p>
            <a:pPr marL="101600" algn="just">
              <a:lnSpc>
                <a:spcPct val="115000"/>
              </a:lnSpc>
              <a:spcBef>
                <a:spcPts val="1600"/>
              </a:spcBef>
              <a:buClr>
                <a:schemeClr val="dk1"/>
              </a:buClr>
              <a:buSzPts val="2000"/>
            </a:pPr>
            <a:r>
              <a:rPr lang="en-US" sz="1600" dirty="0"/>
              <a:t>     + </a:t>
            </a:r>
            <a:r>
              <a:rPr lang="en-US" sz="1600" dirty="0" err="1"/>
              <a:t>Khi</a:t>
            </a:r>
            <a:r>
              <a:rPr lang="en-US" sz="1600" dirty="0"/>
              <a:t> </a:t>
            </a:r>
            <a:r>
              <a:rPr lang="en-US" sz="1600" dirty="0" err="1"/>
              <a:t>thị</a:t>
            </a:r>
            <a:r>
              <a:rPr lang="en-US" sz="1600" dirty="0"/>
              <a:t> </a:t>
            </a:r>
            <a:r>
              <a:rPr lang="en-US" sz="1600" dirty="0" err="1"/>
              <a:t>trường</a:t>
            </a:r>
            <a:r>
              <a:rPr lang="en-US" sz="1600" dirty="0"/>
              <a:t> </a:t>
            </a:r>
            <a:r>
              <a:rPr lang="en-US" sz="1600" dirty="0" err="1"/>
              <a:t>có</a:t>
            </a:r>
            <a:r>
              <a:rPr lang="en-US" sz="1600" dirty="0"/>
              <a:t> </a:t>
            </a:r>
            <a:r>
              <a:rPr lang="en-US" sz="1600" dirty="0" err="1"/>
              <a:t>biến</a:t>
            </a:r>
            <a:r>
              <a:rPr lang="en-US" sz="1600" dirty="0"/>
              <a:t> </a:t>
            </a:r>
            <a:r>
              <a:rPr lang="en-US" sz="1600" dirty="0" err="1"/>
              <a:t>động</a:t>
            </a:r>
            <a:r>
              <a:rPr lang="en-US" sz="1600" dirty="0"/>
              <a:t> (VIX </a:t>
            </a:r>
            <a:r>
              <a:rPr lang="en-US" sz="1600" dirty="0" err="1"/>
              <a:t>cao</a:t>
            </a:r>
            <a:r>
              <a:rPr lang="en-US" sz="1600" dirty="0"/>
              <a:t>), </a:t>
            </a:r>
            <a:r>
              <a:rPr lang="en-US" sz="1600" dirty="0" err="1"/>
              <a:t>chiến</a:t>
            </a:r>
            <a:r>
              <a:rPr lang="en-US" sz="1600" dirty="0"/>
              <a:t> </a:t>
            </a:r>
            <a:r>
              <a:rPr lang="en-US" sz="1600" dirty="0" err="1"/>
              <a:t>lược</a:t>
            </a:r>
            <a:r>
              <a:rPr lang="en-US" sz="1600" dirty="0"/>
              <a:t> </a:t>
            </a:r>
            <a:r>
              <a:rPr lang="en-US" sz="1600" dirty="0" err="1"/>
              <a:t>đề</a:t>
            </a:r>
            <a:r>
              <a:rPr lang="en-US" sz="1600" dirty="0"/>
              <a:t> </a:t>
            </a:r>
            <a:r>
              <a:rPr lang="en-US" sz="1600" dirty="0" err="1"/>
              <a:t>xuất</a:t>
            </a:r>
            <a:r>
              <a:rPr lang="en-US" sz="1600" dirty="0"/>
              <a:t> </a:t>
            </a:r>
            <a:r>
              <a:rPr lang="en-US" sz="1600" dirty="0" err="1">
                <a:solidFill>
                  <a:srgbClr val="FF0000"/>
                </a:solidFill>
              </a:rPr>
              <a:t>bán</a:t>
            </a:r>
            <a:r>
              <a:rPr lang="en-US" sz="1600" dirty="0">
                <a:solidFill>
                  <a:srgbClr val="FF0000"/>
                </a:solidFill>
              </a:rPr>
              <a:t> </a:t>
            </a:r>
            <a:r>
              <a:rPr lang="en-US" sz="1600" dirty="0" err="1">
                <a:solidFill>
                  <a:srgbClr val="FF0000"/>
                </a:solidFill>
              </a:rPr>
              <a:t>để</a:t>
            </a:r>
            <a:r>
              <a:rPr lang="en-US" sz="1600" dirty="0">
                <a:solidFill>
                  <a:srgbClr val="FF0000"/>
                </a:solidFill>
              </a:rPr>
              <a:t> </a:t>
            </a:r>
            <a:r>
              <a:rPr lang="en-US" sz="1600" dirty="0" err="1">
                <a:solidFill>
                  <a:srgbClr val="FF0000"/>
                </a:solidFill>
              </a:rPr>
              <a:t>giữ</a:t>
            </a:r>
            <a:r>
              <a:rPr lang="en-US" sz="1600" dirty="0">
                <a:solidFill>
                  <a:srgbClr val="FF0000"/>
                </a:solidFill>
              </a:rPr>
              <a:t> </a:t>
            </a:r>
            <a:r>
              <a:rPr lang="en-US" sz="1600" dirty="0" err="1">
                <a:solidFill>
                  <a:srgbClr val="FF0000"/>
                </a:solidFill>
              </a:rPr>
              <a:t>tiền</a:t>
            </a:r>
            <a:r>
              <a:rPr lang="en-US" sz="1600" dirty="0">
                <a:solidFill>
                  <a:srgbClr val="FF0000"/>
                </a:solidFill>
              </a:rPr>
              <a:t> </a:t>
            </a:r>
            <a:r>
              <a:rPr lang="en-US" sz="1600" dirty="0" err="1">
                <a:solidFill>
                  <a:srgbClr val="FF0000"/>
                </a:solidFill>
              </a:rPr>
              <a:t>mặt</a:t>
            </a:r>
            <a:endParaRPr lang="en-US" sz="1600" dirty="0">
              <a:solidFill>
                <a:srgbClr val="FF0000"/>
              </a:solidFill>
            </a:endParaRPr>
          </a:p>
          <a:p>
            <a:pPr marL="101600" algn="just">
              <a:lnSpc>
                <a:spcPct val="115000"/>
              </a:lnSpc>
              <a:spcBef>
                <a:spcPts val="1600"/>
              </a:spcBef>
              <a:buClr>
                <a:schemeClr val="dk1"/>
              </a:buClr>
              <a:buSzPts val="2000"/>
            </a:pPr>
            <a:r>
              <a:rPr lang="en-US" sz="1600" dirty="0"/>
              <a:t>     + </a:t>
            </a:r>
            <a:r>
              <a:rPr lang="vi-VN" sz="1600" dirty="0"/>
              <a:t>Khi thị trường ổn định (VIX thấp), </a:t>
            </a:r>
            <a:r>
              <a:rPr lang="vi-VN" sz="1600" dirty="0">
                <a:solidFill>
                  <a:srgbClr val="FF0000"/>
                </a:solidFill>
              </a:rPr>
              <a:t>chiến lược lại đề xuất </a:t>
            </a:r>
            <a:r>
              <a:rPr lang="en-US" sz="1600" dirty="0" err="1">
                <a:solidFill>
                  <a:srgbClr val="FF0000"/>
                </a:solidFill>
              </a:rPr>
              <a:t>mua</a:t>
            </a:r>
            <a:endParaRPr lang="en-US" sz="1600" dirty="0">
              <a:solidFill>
                <a:srgbClr val="FF0000"/>
              </a:solidFill>
            </a:endParaRPr>
          </a:p>
          <a:p>
            <a:pPr marL="101600" algn="just">
              <a:lnSpc>
                <a:spcPct val="115000"/>
              </a:lnSpc>
              <a:spcBef>
                <a:spcPts val="1600"/>
              </a:spcBef>
              <a:buClr>
                <a:schemeClr val="dk1"/>
              </a:buClr>
              <a:buSzPts val="2000"/>
            </a:pPr>
            <a:r>
              <a:rPr lang="en-US" sz="1600" b="1" dirty="0">
                <a:solidFill>
                  <a:schemeClr val="dk1"/>
                </a:solidFill>
                <a:ea typeface="Maven Pro"/>
                <a:cs typeface="Maven Pro"/>
                <a:sym typeface="Maven Pro"/>
              </a:rPr>
              <a:t> </a:t>
            </a:r>
            <a:endParaRPr lang="en-US" sz="1600" b="1" dirty="0">
              <a:solidFill>
                <a:schemeClr val="dk1"/>
              </a:solidFill>
              <a:ea typeface="Maven Pro"/>
              <a:cs typeface="Maven Pro"/>
              <a:sym typeface="Maven Pro"/>
            </a:endParaRPr>
          </a:p>
          <a:p>
            <a:pPr marL="444500" lvl="0" indent="-342900" algn="just">
              <a:lnSpc>
                <a:spcPct val="115000"/>
              </a:lnSpc>
              <a:spcBef>
                <a:spcPts val="1600"/>
              </a:spcBef>
              <a:buClr>
                <a:schemeClr val="dk1"/>
              </a:buClr>
              <a:buSzPts val="2000"/>
              <a:buFont typeface="+mj-lt"/>
              <a:buAutoNum type="arabicPeriod" startAt="2"/>
            </a:pPr>
            <a:endParaRPr lang="vi-VN" sz="1600" b="1" dirty="0">
              <a:solidFill>
                <a:schemeClr val="dk1"/>
              </a:solidFill>
              <a:ea typeface="Maven Pro"/>
              <a:cs typeface="Maven Pro"/>
              <a:sym typeface="Maven Pro"/>
            </a:endParaRPr>
          </a:p>
          <a:p>
            <a:pPr marL="101600" lvl="0" algn="just">
              <a:lnSpc>
                <a:spcPct val="115000"/>
              </a:lnSpc>
              <a:spcBef>
                <a:spcPts val="1600"/>
              </a:spcBef>
              <a:buClr>
                <a:schemeClr val="dk1"/>
              </a:buClr>
              <a:buSzPts val="2000"/>
            </a:pPr>
            <a:endParaRPr lang="vi-VN" sz="1600" dirty="0"/>
          </a:p>
          <a:p>
            <a:pPr marL="101600" algn="just">
              <a:lnSpc>
                <a:spcPct val="115000"/>
              </a:lnSpc>
              <a:spcBef>
                <a:spcPts val="1600"/>
              </a:spcBef>
              <a:buClr>
                <a:schemeClr val="dk1"/>
              </a:buClr>
              <a:buSzPts val="2000"/>
            </a:pPr>
            <a:endParaRPr lang="vi-VN" sz="1600" dirty="0"/>
          </a:p>
          <a:p>
            <a:pPr marL="101600" lvl="0" algn="just">
              <a:lnSpc>
                <a:spcPct val="115000"/>
              </a:lnSpc>
              <a:spcBef>
                <a:spcPts val="1600"/>
              </a:spcBef>
              <a:buClr>
                <a:schemeClr val="dk1"/>
              </a:buClr>
              <a:buSzPts val="2000"/>
            </a:pPr>
            <a:endParaRPr sz="1600" b="1" dirty="0">
              <a:solidFill>
                <a:schemeClr val="dk1"/>
              </a:solidFill>
              <a:latin typeface="+mn-lt"/>
              <a:ea typeface="Maven Pro"/>
              <a:cs typeface="Maven Pro"/>
              <a:sym typeface="Maven Pr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a:solidFill>
                  <a:schemeClr val="lt1"/>
                </a:solidFill>
              </a:rPr>
              <a:t>1. </a:t>
            </a:r>
            <a:r>
              <a:rPr lang="en-US" sz="2400" dirty="0" err="1">
                <a:solidFill>
                  <a:schemeClr val="lt1"/>
                </a:solidFill>
              </a:rPr>
              <a:t>Xây</a:t>
            </a:r>
            <a:r>
              <a:rPr lang="en-US" sz="2400" dirty="0">
                <a:solidFill>
                  <a:schemeClr val="lt1"/>
                </a:solidFill>
              </a:rPr>
              <a:t> </a:t>
            </a:r>
            <a:r>
              <a:rPr lang="en-US" sz="2400" dirty="0" err="1">
                <a:solidFill>
                  <a:schemeClr val="lt1"/>
                </a:solidFill>
              </a:rPr>
              <a:t>dựng</a:t>
            </a:r>
            <a:r>
              <a:rPr lang="en-US" sz="2400" dirty="0">
                <a:solidFill>
                  <a:schemeClr val="lt1"/>
                </a:solidFill>
              </a:rPr>
              <a:t> </a:t>
            </a:r>
            <a:r>
              <a:rPr lang="en-US" sz="2400" dirty="0" err="1">
                <a:solidFill>
                  <a:schemeClr val="lt1"/>
                </a:solidFill>
              </a:rPr>
              <a:t>chiến</a:t>
            </a:r>
            <a:r>
              <a:rPr lang="en-US" sz="2400" dirty="0">
                <a:solidFill>
                  <a:schemeClr val="lt1"/>
                </a:solidFill>
              </a:rPr>
              <a:t> </a:t>
            </a:r>
            <a:r>
              <a:rPr lang="en-US" sz="2400" dirty="0" err="1">
                <a:solidFill>
                  <a:schemeClr val="lt1"/>
                </a:solidFill>
              </a:rPr>
              <a:t>lược</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indent="-342900" algn="just">
              <a:lnSpc>
                <a:spcPct val="115000"/>
              </a:lnSpc>
              <a:spcBef>
                <a:spcPts val="1600"/>
              </a:spcBef>
              <a:buClr>
                <a:schemeClr val="dk1"/>
              </a:buClr>
              <a:buSzPts val="2000"/>
              <a:buFont typeface="+mj-lt"/>
              <a:buAutoNum type="arabicPeriod" startAt="2"/>
            </a:pPr>
            <a:r>
              <a:rPr lang="vi-VN" sz="1600" b="1" dirty="0"/>
              <a:t>Chiến lược giao dịch theo chỉ số biến động</a:t>
            </a:r>
            <a:r>
              <a:rPr lang="en-US" sz="1600" b="1" dirty="0"/>
              <a:t> (</a:t>
            </a:r>
            <a:r>
              <a:rPr lang="en-US" sz="1600" b="1" dirty="0">
                <a:solidFill>
                  <a:schemeClr val="dk1"/>
                </a:solidFill>
                <a:ea typeface="Maven Pro"/>
                <a:cs typeface="Maven Pro"/>
                <a:sym typeface="Maven Pro"/>
              </a:rPr>
              <a:t>Chiến </a:t>
            </a:r>
            <a:r>
              <a:rPr lang="en-US" sz="1600" b="1" dirty="0" err="1">
                <a:solidFill>
                  <a:schemeClr val="dk1"/>
                </a:solidFill>
                <a:ea typeface="Maven Pro"/>
                <a:cs typeface="Maven Pro"/>
                <a:sym typeface="Maven Pro"/>
              </a:rPr>
              <a:t>lược</a:t>
            </a:r>
            <a:r>
              <a:rPr lang="en-US" sz="1600" b="1" dirty="0">
                <a:solidFill>
                  <a:schemeClr val="dk1"/>
                </a:solidFill>
                <a:ea typeface="Maven Pro"/>
                <a:cs typeface="Maven Pro"/>
                <a:sym typeface="Maven Pro"/>
              </a:rPr>
              <a:t> SPY500 – VIX) (</a:t>
            </a:r>
            <a:r>
              <a:rPr lang="en-US" sz="1600" b="1" dirty="0" err="1">
                <a:solidFill>
                  <a:schemeClr val="dk1"/>
                </a:solidFill>
                <a:ea typeface="Maven Pro"/>
                <a:cs typeface="Maven Pro"/>
                <a:sym typeface="Maven Pro"/>
              </a:rPr>
              <a:t>tt</a:t>
            </a:r>
            <a:r>
              <a:rPr lang="en-US" sz="1600" b="1" dirty="0">
                <a:solidFill>
                  <a:schemeClr val="dk1"/>
                </a:solidFill>
                <a:ea typeface="Maven Pro"/>
                <a:cs typeface="Maven Pro"/>
                <a:sym typeface="Maven Pro"/>
              </a:rPr>
              <a:t>)</a:t>
            </a:r>
            <a:endParaRPr lang="en-US" sz="1600" b="1" dirty="0">
              <a:solidFill>
                <a:schemeClr val="dk1"/>
              </a:solidFill>
              <a:ea typeface="Maven Pro"/>
              <a:cs typeface="Maven Pro"/>
              <a:sym typeface="Maven Pro"/>
            </a:endParaRPr>
          </a:p>
          <a:p>
            <a:pPr marL="285750" indent="-285750" algn="just">
              <a:buFontTx/>
              <a:buChar char="-"/>
            </a:pPr>
            <a:r>
              <a:rPr lang="vi-VN" sz="1600" b="1" dirty="0"/>
              <a:t>Mua và Nắm Giữ SPY</a:t>
            </a:r>
            <a:r>
              <a:rPr lang="vi-VN" sz="1600" dirty="0"/>
              <a:t>: Chiến lược này dự định mua và nắm giữ SPY, một quỹ đầu tư ETF theo dõi chỉ số S&amp;P 500, trong những điều kiện nhất định của thị trường.</a:t>
            </a:r>
            <a:endParaRPr lang="en-US" sz="1600" dirty="0"/>
          </a:p>
          <a:p>
            <a:pPr marL="285750" indent="-285750" algn="just">
              <a:buFontTx/>
              <a:buChar char="-"/>
            </a:pPr>
            <a:r>
              <a:rPr lang="vi-VN" sz="1600" b="1" dirty="0"/>
              <a:t>Bán Khi Biến Động Cao (VIX Cao)</a:t>
            </a:r>
            <a:r>
              <a:rPr lang="vi-VN" sz="1600" dirty="0"/>
              <a:t>: Khi chỉ số biến động VIX vượt qua một ngưỡng nhất định (</a:t>
            </a:r>
            <a:r>
              <a:rPr lang="vi-VN" sz="1600" b="1" dirty="0">
                <a:solidFill>
                  <a:srgbClr val="FF0000"/>
                </a:solidFill>
              </a:rPr>
              <a:t>trong trường hợp này là 30</a:t>
            </a:r>
            <a:r>
              <a:rPr lang="vi-VN" sz="1600" dirty="0"/>
              <a:t>), điều này coi như một dấu hiệu của sự biến động cao trong thị trường. Chiến lược này đề xuất việc bán SPY và giữ tiền mặt trong những thời kỳ như vậy. Điều này dựa trên quan điểm rằng khi thị trường biến động mạnh, việc giữ tiền mặt có thể là an toàn hơn so với việc giữ các tài sản có giá biến động lớn.</a:t>
            </a:r>
            <a:endParaRPr lang="en-US" sz="1600" dirty="0"/>
          </a:p>
          <a:p>
            <a:pPr marL="285750" indent="-285750" algn="just">
              <a:buFontTx/>
              <a:buChar char="-"/>
            </a:pPr>
            <a:r>
              <a:rPr lang="vi-VN" sz="1600" b="1" dirty="0"/>
              <a:t>Mua Khi Thị Trường Ổn Định (</a:t>
            </a:r>
            <a:r>
              <a:rPr lang="vi-VN" sz="1600" b="1" dirty="0">
                <a:solidFill>
                  <a:srgbClr val="FF0000"/>
                </a:solidFill>
              </a:rPr>
              <a:t>VIX Thấp</a:t>
            </a:r>
            <a:r>
              <a:rPr lang="vi-VN" sz="1600" b="1" dirty="0"/>
              <a:t>)</a:t>
            </a:r>
            <a:r>
              <a:rPr lang="vi-VN" sz="1600" dirty="0"/>
              <a:t>: Ngược lại, khi chỉ số VIX thấp, điều này cho thấy thị trường đang ổn định hơn, chiến lược này đề xuất </a:t>
            </a:r>
            <a:r>
              <a:rPr lang="vi-VN" sz="1600" dirty="0">
                <a:solidFill>
                  <a:srgbClr val="FF0000"/>
                </a:solidFill>
              </a:rPr>
              <a:t>mua SP</a:t>
            </a:r>
            <a:r>
              <a:rPr lang="vi-VN" sz="1600" dirty="0"/>
              <a:t>Y. Quan điểm ở đây là trong môi trường ít biến động, đầu tư vào thị trường chứng khoán (qua SPY) có thể mang lại lợi nhuận tốt hơn so với việc giữ tiền mặt.</a:t>
            </a:r>
            <a:endParaRPr lang="vi-VN" sz="1600" dirty="0"/>
          </a:p>
          <a:p>
            <a:pPr marL="444500" lvl="0" indent="-342900" algn="just">
              <a:lnSpc>
                <a:spcPct val="115000"/>
              </a:lnSpc>
              <a:spcBef>
                <a:spcPts val="1600"/>
              </a:spcBef>
              <a:buClr>
                <a:schemeClr val="dk1"/>
              </a:buClr>
              <a:buSzPts val="2000"/>
              <a:buFont typeface="+mj-lt"/>
              <a:buAutoNum type="arabicPeriod" startAt="2"/>
            </a:pPr>
            <a:endParaRPr lang="vi-VN" sz="1600" b="1" dirty="0">
              <a:solidFill>
                <a:schemeClr val="dk1"/>
              </a:solidFill>
              <a:ea typeface="Maven Pro"/>
              <a:cs typeface="Maven Pro"/>
              <a:sym typeface="Maven Pro"/>
            </a:endParaRPr>
          </a:p>
          <a:p>
            <a:pPr marL="101600" lvl="0" algn="just">
              <a:lnSpc>
                <a:spcPct val="115000"/>
              </a:lnSpc>
              <a:spcBef>
                <a:spcPts val="1600"/>
              </a:spcBef>
              <a:buClr>
                <a:schemeClr val="dk1"/>
              </a:buClr>
              <a:buSzPts val="2000"/>
            </a:pPr>
            <a:endParaRPr lang="vi-VN" sz="1600" dirty="0"/>
          </a:p>
          <a:p>
            <a:pPr marL="101600" algn="just">
              <a:lnSpc>
                <a:spcPct val="115000"/>
              </a:lnSpc>
              <a:spcBef>
                <a:spcPts val="1600"/>
              </a:spcBef>
              <a:buClr>
                <a:schemeClr val="dk1"/>
              </a:buClr>
              <a:buSzPts val="2000"/>
            </a:pPr>
            <a:endParaRPr lang="vi-VN" sz="1600" dirty="0"/>
          </a:p>
          <a:p>
            <a:pPr marL="101600" lvl="0" algn="just">
              <a:lnSpc>
                <a:spcPct val="115000"/>
              </a:lnSpc>
              <a:spcBef>
                <a:spcPts val="1600"/>
              </a:spcBef>
              <a:buClr>
                <a:schemeClr val="dk1"/>
              </a:buClr>
              <a:buSzPts val="2000"/>
            </a:pPr>
            <a:endParaRPr sz="1600" b="1" dirty="0">
              <a:solidFill>
                <a:schemeClr val="dk1"/>
              </a:solidFill>
              <a:latin typeface="+mn-lt"/>
              <a:ea typeface="Maven Pro"/>
              <a:cs typeface="Maven Pro"/>
              <a:sym typeface="Maven Pr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a:solidFill>
                  <a:schemeClr val="lt1"/>
                </a:solidFill>
              </a:rPr>
              <a:t>1. </a:t>
            </a:r>
            <a:r>
              <a:rPr lang="en-US" sz="2400" b="1" dirty="0" err="1">
                <a:solidFill>
                  <a:schemeClr val="lt1"/>
                </a:solidFill>
              </a:rPr>
              <a:t>Xây</a:t>
            </a:r>
            <a:r>
              <a:rPr lang="en-US" sz="2400" b="1" dirty="0">
                <a:solidFill>
                  <a:schemeClr val="lt1"/>
                </a:solidFill>
              </a:rPr>
              <a:t> </a:t>
            </a:r>
            <a:r>
              <a:rPr lang="en-US" sz="2400" b="1" dirty="0" err="1">
                <a:solidFill>
                  <a:schemeClr val="lt1"/>
                </a:solidFill>
              </a:rPr>
              <a:t>dựng</a:t>
            </a:r>
            <a:r>
              <a:rPr lang="en-US" sz="2400" b="1" dirty="0">
                <a:solidFill>
                  <a:schemeClr val="lt1"/>
                </a:solidFill>
              </a:rPr>
              <a:t> </a:t>
            </a:r>
            <a:r>
              <a:rPr lang="en-US" sz="2400" b="1" dirty="0" err="1">
                <a:solidFill>
                  <a:schemeClr val="lt1"/>
                </a:solidFill>
              </a:rPr>
              <a:t>chiến</a:t>
            </a:r>
            <a:r>
              <a:rPr lang="en-US" sz="2400" b="1" dirty="0">
                <a:solidFill>
                  <a:schemeClr val="lt1"/>
                </a:solidFill>
              </a:rPr>
              <a:t> </a:t>
            </a:r>
            <a:r>
              <a:rPr lang="en-US" sz="2400" b="1" dirty="0" err="1">
                <a:solidFill>
                  <a:schemeClr val="lt1"/>
                </a:solidFill>
              </a:rPr>
              <a:t>lược</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indent="-342900" algn="just">
              <a:lnSpc>
                <a:spcPct val="115000"/>
              </a:lnSpc>
              <a:spcBef>
                <a:spcPts val="1600"/>
              </a:spcBef>
              <a:buClr>
                <a:schemeClr val="dk1"/>
              </a:buClr>
              <a:buSzPts val="2000"/>
              <a:buFont typeface="+mj-lt"/>
              <a:buAutoNum type="arabicPeriod" startAt="2"/>
            </a:pPr>
            <a:r>
              <a:rPr lang="vi-VN" sz="1600" b="1" dirty="0"/>
              <a:t>Chiến lược giao dịch theo chỉ số biến động</a:t>
            </a:r>
            <a:r>
              <a:rPr lang="en-US" sz="1600" b="1" dirty="0"/>
              <a:t> (</a:t>
            </a:r>
            <a:r>
              <a:rPr lang="en-US" sz="1600" b="1" dirty="0">
                <a:solidFill>
                  <a:schemeClr val="dk1"/>
                </a:solidFill>
                <a:ea typeface="Maven Pro"/>
                <a:cs typeface="Maven Pro"/>
                <a:sym typeface="Maven Pro"/>
              </a:rPr>
              <a:t>Chiến </a:t>
            </a:r>
            <a:r>
              <a:rPr lang="en-US" sz="1600" b="1" dirty="0" err="1">
                <a:solidFill>
                  <a:schemeClr val="dk1"/>
                </a:solidFill>
                <a:ea typeface="Maven Pro"/>
                <a:cs typeface="Maven Pro"/>
                <a:sym typeface="Maven Pro"/>
              </a:rPr>
              <a:t>lược</a:t>
            </a:r>
            <a:r>
              <a:rPr lang="en-US" sz="1600" b="1" dirty="0">
                <a:solidFill>
                  <a:schemeClr val="dk1"/>
                </a:solidFill>
                <a:ea typeface="Maven Pro"/>
                <a:cs typeface="Maven Pro"/>
                <a:sym typeface="Maven Pro"/>
              </a:rPr>
              <a:t> SPY500 – VIX) (</a:t>
            </a:r>
            <a:r>
              <a:rPr lang="en-US" sz="1600" b="1" dirty="0" err="1">
                <a:solidFill>
                  <a:schemeClr val="dk1"/>
                </a:solidFill>
                <a:ea typeface="Maven Pro"/>
                <a:cs typeface="Maven Pro"/>
                <a:sym typeface="Maven Pro"/>
              </a:rPr>
              <a:t>tt</a:t>
            </a:r>
            <a:r>
              <a:rPr lang="en-US" sz="1600" b="1" dirty="0">
                <a:solidFill>
                  <a:schemeClr val="dk1"/>
                </a:solidFill>
                <a:ea typeface="Maven Pro"/>
                <a:cs typeface="Maven Pro"/>
                <a:sym typeface="Maven Pro"/>
              </a:rPr>
              <a:t>)</a:t>
            </a:r>
            <a:endParaRPr lang="en-US" sz="1600" b="1" dirty="0">
              <a:solidFill>
                <a:schemeClr val="dk1"/>
              </a:solidFill>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tx1"/>
                </a:solidFill>
                <a:ea typeface="Maven Pro"/>
                <a:cs typeface="Maven Pro"/>
                <a:sym typeface="Maven Pro"/>
              </a:rPr>
              <a:t>Code </a:t>
            </a:r>
            <a:r>
              <a:rPr lang="en-US" sz="1600" b="1" dirty="0" err="1">
                <a:solidFill>
                  <a:schemeClr val="tx1"/>
                </a:solidFill>
                <a:ea typeface="Maven Pro"/>
                <a:cs typeface="Maven Pro"/>
                <a:sym typeface="Maven Pro"/>
              </a:rPr>
              <a:t>chiến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a:t>
            </a:r>
            <a:endParaRPr lang="en-US" sz="1600" b="1" dirty="0">
              <a:solidFill>
                <a:schemeClr val="tx1"/>
              </a:solidFill>
              <a:ea typeface="Maven Pro"/>
              <a:cs typeface="Maven Pro"/>
              <a:sym typeface="Maven Pro"/>
            </a:endParaRPr>
          </a:p>
          <a:p>
            <a:pPr marL="387350" lvl="0" indent="-285750">
              <a:lnSpc>
                <a:spcPct val="115000"/>
              </a:lnSpc>
              <a:spcBef>
                <a:spcPts val="1600"/>
              </a:spcBef>
              <a:buClr>
                <a:schemeClr val="dk1"/>
              </a:buClr>
              <a:buSzPts val="2000"/>
              <a:buFontTx/>
              <a:buChar char="-"/>
            </a:pPr>
            <a:r>
              <a:rPr lang="en-US" sz="1600" dirty="0">
                <a:solidFill>
                  <a:srgbClr val="FF0000"/>
                </a:solidFill>
                <a:ea typeface="Maven Pro"/>
                <a:cs typeface="Maven Pro"/>
                <a:sym typeface="Maven Pro"/>
              </a:rPr>
              <a:t>Load data </a:t>
            </a:r>
            <a:r>
              <a:rPr lang="en-US" sz="1600" dirty="0" err="1">
                <a:solidFill>
                  <a:srgbClr val="FF0000"/>
                </a:solidFill>
                <a:ea typeface="Maven Pro"/>
                <a:cs typeface="Maven Pro"/>
                <a:sym typeface="Maven Pro"/>
              </a:rPr>
              <a:t>của</a:t>
            </a:r>
            <a:r>
              <a:rPr lang="en-US" sz="1600" dirty="0">
                <a:solidFill>
                  <a:srgbClr val="FF0000"/>
                </a:solidFill>
                <a:ea typeface="Maven Pro"/>
                <a:cs typeface="Maven Pro"/>
                <a:sym typeface="Maven Pro"/>
              </a:rPr>
              <a:t> 1 </a:t>
            </a:r>
            <a:r>
              <a:rPr lang="en-US" sz="1600" dirty="0" err="1">
                <a:solidFill>
                  <a:srgbClr val="FF0000"/>
                </a:solidFill>
                <a:ea typeface="Maven Pro"/>
                <a:cs typeface="Maven Pro"/>
                <a:sym typeface="Maven Pro"/>
              </a:rPr>
              <a:t>ngày</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mới</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nhất</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hiện</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tại</a:t>
            </a:r>
            <a:r>
              <a:rPr lang="en-US" sz="1600" dirty="0">
                <a:solidFill>
                  <a:srgbClr val="FF0000"/>
                </a:solidFill>
                <a:ea typeface="Maven Pro"/>
                <a:cs typeface="Maven Pro"/>
                <a:sym typeface="Maven Pro"/>
              </a:rPr>
              <a:t>)</a:t>
            </a:r>
            <a:endParaRPr lang="en-US" sz="1600" dirty="0">
              <a:solidFill>
                <a:srgbClr val="FF0000"/>
              </a:solidFill>
              <a:ea typeface="Maven Pro"/>
              <a:cs typeface="Maven Pro"/>
              <a:sym typeface="Maven Pro"/>
            </a:endParaRPr>
          </a:p>
          <a:p>
            <a:pPr marL="387350" lvl="0" indent="-285750">
              <a:lnSpc>
                <a:spcPct val="115000"/>
              </a:lnSpc>
              <a:spcBef>
                <a:spcPts val="1600"/>
              </a:spcBef>
              <a:buClr>
                <a:schemeClr val="dk1"/>
              </a:buClr>
              <a:buSzPts val="2000"/>
              <a:buFontTx/>
              <a:buChar char="-"/>
            </a:pPr>
            <a:r>
              <a:rPr lang="en-US" sz="1600" dirty="0" err="1">
                <a:solidFill>
                  <a:schemeClr val="tx1"/>
                </a:solidFill>
                <a:ea typeface="Maven Pro"/>
                <a:cs typeface="Maven Pro"/>
                <a:sym typeface="Maven Pro"/>
              </a:rPr>
              <a:t>Kiểm</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tra</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xem</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ngưỡng</a:t>
            </a:r>
            <a:r>
              <a:rPr lang="en-US" sz="1600" dirty="0">
                <a:solidFill>
                  <a:schemeClr val="tx1"/>
                </a:solidFill>
                <a:ea typeface="Maven Pro"/>
                <a:cs typeface="Maven Pro"/>
                <a:sym typeface="Maven Pro"/>
              </a:rPr>
              <a:t> VIX: </a:t>
            </a:r>
            <a:r>
              <a:rPr lang="en-US" sz="1600" dirty="0" err="1">
                <a:solidFill>
                  <a:schemeClr val="tx1"/>
                </a:solidFill>
                <a:ea typeface="Maven Pro"/>
                <a:cs typeface="Maven Pro"/>
                <a:sym typeface="Maven Pro"/>
              </a:rPr>
              <a:t>nếu</a:t>
            </a:r>
            <a:r>
              <a:rPr lang="en-US" sz="1600" dirty="0">
                <a:solidFill>
                  <a:schemeClr val="tx1"/>
                </a:solidFill>
                <a:ea typeface="Maven Pro"/>
                <a:cs typeface="Maven Pro"/>
                <a:sym typeface="Maven Pro"/>
              </a:rPr>
              <a:t> VIX </a:t>
            </a:r>
            <a:r>
              <a:rPr lang="en-US" sz="1600" dirty="0" err="1">
                <a:solidFill>
                  <a:schemeClr val="tx1"/>
                </a:solidFill>
                <a:ea typeface="Maven Pro"/>
                <a:cs typeface="Maven Pro"/>
                <a:sym typeface="Maven Pro"/>
              </a:rPr>
              <a:t>nhỏ</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hơn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ngưỡng</a:t>
            </a:r>
            <a:r>
              <a:rPr lang="en-US" sz="1600" dirty="0">
                <a:solidFill>
                  <a:schemeClr val="tx1"/>
                </a:solidFill>
                <a:ea typeface="Maven Pro"/>
                <a:cs typeface="Maven Pro"/>
                <a:sym typeface="Maven Pro"/>
              </a:rPr>
              <a:t> (</a:t>
            </a:r>
            <a:r>
              <a:rPr lang="en-US" sz="1600" dirty="0" err="1">
                <a:solidFill>
                  <a:srgbClr val="FF0000"/>
                </a:solidFill>
                <a:ea typeface="Maven Pro"/>
                <a:cs typeface="Maven Pro"/>
                <a:sym typeface="Maven Pro"/>
              </a:rPr>
              <a:t>ví</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dụ</a:t>
            </a:r>
            <a:r>
              <a:rPr lang="en-US" sz="1600" dirty="0">
                <a:solidFill>
                  <a:srgbClr val="FF0000"/>
                </a:solidFill>
                <a:ea typeface="Maven Pro"/>
                <a:cs typeface="Maven Pro"/>
                <a:sym typeface="Maven Pro"/>
              </a:rPr>
              <a:t> </a:t>
            </a:r>
            <a:r>
              <a:rPr lang="en-US" sz="1600" dirty="0" err="1">
                <a:solidFill>
                  <a:srgbClr val="FF0000"/>
                </a:solidFill>
                <a:ea typeface="Maven Pro"/>
                <a:cs typeface="Maven Pro"/>
                <a:sym typeface="Maven Pro"/>
              </a:rPr>
              <a:t>như</a:t>
            </a:r>
            <a:r>
              <a:rPr lang="en-US" sz="1600" dirty="0">
                <a:solidFill>
                  <a:srgbClr val="FF0000"/>
                </a:solidFill>
                <a:ea typeface="Maven Pro"/>
                <a:cs typeface="Maven Pro"/>
                <a:sym typeface="Maven Pro"/>
              </a:rPr>
              <a:t> 30</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thì</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mua</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ngược</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lại</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nếu</a:t>
            </a:r>
            <a:r>
              <a:rPr lang="en-US" sz="1600" dirty="0">
                <a:solidFill>
                  <a:schemeClr val="tx1"/>
                </a:solidFill>
                <a:ea typeface="Maven Pro"/>
                <a:cs typeface="Maven Pro"/>
                <a:sym typeface="Maven Pro"/>
              </a:rPr>
              <a:t> VIX </a:t>
            </a:r>
            <a:r>
              <a:rPr lang="en-US" sz="1600" dirty="0" err="1">
                <a:solidFill>
                  <a:schemeClr val="tx1"/>
                </a:solidFill>
                <a:ea typeface="Maven Pro"/>
                <a:cs typeface="Maven Pro"/>
                <a:sym typeface="Maven Pro"/>
              </a:rPr>
              <a:t>lớn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hơn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ngưỡng</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thì</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bán</a:t>
            </a:r>
            <a:endParaRPr lang="en-US" sz="1600" dirty="0">
              <a:solidFill>
                <a:schemeClr val="tx1"/>
              </a:solidFill>
              <a:ea typeface="Maven Pro"/>
              <a:cs typeface="Maven Pro"/>
              <a:sym typeface="Maven Pro"/>
            </a:endParaRPr>
          </a:p>
          <a:p>
            <a:pPr marL="444500" lvl="0" indent="-342900" algn="just">
              <a:lnSpc>
                <a:spcPct val="115000"/>
              </a:lnSpc>
              <a:spcBef>
                <a:spcPts val="1600"/>
              </a:spcBef>
              <a:buClr>
                <a:schemeClr val="dk1"/>
              </a:buClr>
              <a:buSzPts val="2000"/>
              <a:buFont typeface="+mj-lt"/>
              <a:buAutoNum type="arabicPeriod" startAt="2"/>
            </a:pPr>
            <a:endParaRPr lang="vi-VN" sz="1600" b="1" dirty="0">
              <a:solidFill>
                <a:schemeClr val="dk1"/>
              </a:solidFill>
              <a:ea typeface="Maven Pro"/>
              <a:cs typeface="Maven Pro"/>
              <a:sym typeface="Maven Pro"/>
            </a:endParaRPr>
          </a:p>
          <a:p>
            <a:pPr marL="101600" lvl="0" algn="just">
              <a:lnSpc>
                <a:spcPct val="115000"/>
              </a:lnSpc>
              <a:spcBef>
                <a:spcPts val="1600"/>
              </a:spcBef>
              <a:buClr>
                <a:schemeClr val="dk1"/>
              </a:buClr>
              <a:buSzPts val="2000"/>
            </a:pPr>
            <a:endParaRPr lang="vi-VN" sz="1600" dirty="0"/>
          </a:p>
          <a:p>
            <a:pPr marL="101600" algn="just">
              <a:lnSpc>
                <a:spcPct val="115000"/>
              </a:lnSpc>
              <a:spcBef>
                <a:spcPts val="1600"/>
              </a:spcBef>
              <a:buClr>
                <a:schemeClr val="dk1"/>
              </a:buClr>
              <a:buSzPts val="2000"/>
            </a:pPr>
            <a:endParaRPr lang="vi-VN" sz="1600" dirty="0"/>
          </a:p>
          <a:p>
            <a:pPr marL="101600" lvl="0" algn="just">
              <a:lnSpc>
                <a:spcPct val="115000"/>
              </a:lnSpc>
              <a:spcBef>
                <a:spcPts val="1600"/>
              </a:spcBef>
              <a:buClr>
                <a:schemeClr val="dk1"/>
              </a:buClr>
              <a:buSzPts val="2000"/>
            </a:pPr>
            <a:endParaRPr sz="1600" b="1" dirty="0">
              <a:solidFill>
                <a:schemeClr val="dk1"/>
              </a:solidFill>
              <a:latin typeface="+mn-lt"/>
              <a:ea typeface="Maven Pro"/>
              <a:cs typeface="Maven Pro"/>
              <a:sym typeface="Maven Pr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a:solidFill>
                  <a:schemeClr val="lt1"/>
                </a:solidFill>
              </a:rPr>
              <a:t>1. </a:t>
            </a:r>
            <a:r>
              <a:rPr lang="en-US" sz="2400" b="1" dirty="0" err="1">
                <a:solidFill>
                  <a:schemeClr val="lt1"/>
                </a:solidFill>
              </a:rPr>
              <a:t>Xây</a:t>
            </a:r>
            <a:r>
              <a:rPr lang="en-US" sz="2400" b="1" dirty="0">
                <a:solidFill>
                  <a:schemeClr val="lt1"/>
                </a:solidFill>
              </a:rPr>
              <a:t> </a:t>
            </a:r>
            <a:r>
              <a:rPr lang="en-US" sz="2400" b="1" dirty="0" err="1">
                <a:solidFill>
                  <a:schemeClr val="lt1"/>
                </a:solidFill>
              </a:rPr>
              <a:t>dựng</a:t>
            </a:r>
            <a:r>
              <a:rPr lang="en-US" sz="2400" b="1" dirty="0">
                <a:solidFill>
                  <a:schemeClr val="lt1"/>
                </a:solidFill>
              </a:rPr>
              <a:t> </a:t>
            </a:r>
            <a:r>
              <a:rPr lang="en-US" sz="2400" b="1" dirty="0" err="1">
                <a:solidFill>
                  <a:schemeClr val="lt1"/>
                </a:solidFill>
              </a:rPr>
              <a:t>chiến</a:t>
            </a:r>
            <a:r>
              <a:rPr lang="en-US" sz="2400" b="1" dirty="0">
                <a:solidFill>
                  <a:schemeClr val="lt1"/>
                </a:solidFill>
              </a:rPr>
              <a:t> </a:t>
            </a:r>
            <a:r>
              <a:rPr lang="en-US" sz="2400" b="1" dirty="0" err="1">
                <a:solidFill>
                  <a:schemeClr val="lt1"/>
                </a:solidFill>
              </a:rPr>
              <a:t>lược</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indent="-342900" algn="just">
              <a:lnSpc>
                <a:spcPct val="115000"/>
              </a:lnSpc>
              <a:spcBef>
                <a:spcPts val="1600"/>
              </a:spcBef>
              <a:buClr>
                <a:schemeClr val="dk1"/>
              </a:buClr>
              <a:buSzPts val="2000"/>
              <a:buFont typeface="+mj-lt"/>
              <a:buAutoNum type="arabicPeriod" startAt="3"/>
            </a:pPr>
            <a:r>
              <a:rPr lang="vi-VN" sz="1600" b="1" dirty="0"/>
              <a:t>Chiến lược giao dịch </a:t>
            </a:r>
            <a:r>
              <a:rPr lang="en-US" sz="1600" b="1" dirty="0"/>
              <a:t>MA, ATR</a:t>
            </a:r>
            <a:endParaRPr lang="en-US" sz="1600" dirty="0">
              <a:solidFill>
                <a:schemeClr val="tx1"/>
              </a:solidFill>
              <a:ea typeface="Maven Pro"/>
              <a:cs typeface="Maven Pro"/>
              <a:sym typeface="Maven Pro"/>
            </a:endParaRPr>
          </a:p>
          <a:p>
            <a:pPr lvl="1"/>
            <a:r>
              <a:rPr lang="en-US" dirty="0"/>
              <a:t># </a:t>
            </a:r>
            <a:r>
              <a:rPr lang="en-US" dirty="0" err="1"/>
              <a:t>Tính</a:t>
            </a:r>
            <a:r>
              <a:rPr lang="en-US" dirty="0"/>
              <a:t> MA </a:t>
            </a:r>
            <a:r>
              <a:rPr lang="en-US" dirty="0" err="1"/>
              <a:t>và</a:t>
            </a:r>
            <a:r>
              <a:rPr lang="en-US" dirty="0"/>
              <a:t> ATR</a:t>
            </a:r>
            <a:endParaRPr lang="en-US" dirty="0"/>
          </a:p>
          <a:p>
            <a:pPr lvl="1"/>
            <a:r>
              <a:rPr lang="en-US" dirty="0" err="1"/>
              <a:t>ma_</a:t>
            </a:r>
            <a:r>
              <a:rPr lang="en-US" dirty="0" err="1">
                <a:solidFill>
                  <a:srgbClr val="FF0000"/>
                </a:solidFill>
              </a:rPr>
              <a:t>fast</a:t>
            </a:r>
            <a:r>
              <a:rPr lang="en-US" dirty="0" err="1"/>
              <a:t>_period</a:t>
            </a:r>
            <a:r>
              <a:rPr lang="en-US" dirty="0"/>
              <a:t> = 50</a:t>
            </a:r>
            <a:endParaRPr lang="en-US" dirty="0"/>
          </a:p>
          <a:p>
            <a:pPr lvl="1"/>
            <a:r>
              <a:rPr lang="en-US" dirty="0" err="1"/>
              <a:t>ma_</a:t>
            </a:r>
            <a:r>
              <a:rPr lang="en-US" dirty="0" err="1">
                <a:solidFill>
                  <a:srgbClr val="FF0000"/>
                </a:solidFill>
              </a:rPr>
              <a:t>slow</a:t>
            </a:r>
            <a:r>
              <a:rPr lang="en-US" dirty="0" err="1"/>
              <a:t>_period</a:t>
            </a:r>
            <a:r>
              <a:rPr lang="en-US" dirty="0"/>
              <a:t> = 200</a:t>
            </a:r>
            <a:endParaRPr lang="en-US" dirty="0"/>
          </a:p>
          <a:p>
            <a:pPr lvl="1"/>
            <a:r>
              <a:rPr lang="en-US" dirty="0" err="1">
                <a:solidFill>
                  <a:srgbClr val="FF0000"/>
                </a:solidFill>
              </a:rPr>
              <a:t>atr</a:t>
            </a:r>
            <a:r>
              <a:rPr lang="en-US" dirty="0" err="1"/>
              <a:t>_period</a:t>
            </a:r>
            <a:r>
              <a:rPr lang="en-US" dirty="0"/>
              <a:t> = 14</a:t>
            </a:r>
            <a:endParaRPr lang="en-US" dirty="0"/>
          </a:p>
          <a:p>
            <a:pPr lvl="1"/>
            <a:r>
              <a:rPr lang="en-US" dirty="0" err="1"/>
              <a:t>atr_threshold</a:t>
            </a:r>
            <a:r>
              <a:rPr lang="en-US" dirty="0"/>
              <a:t> = 1000 # 1000 dong so </a:t>
            </a:r>
            <a:r>
              <a:rPr lang="en-US" dirty="0" err="1"/>
              <a:t>voi</a:t>
            </a:r>
            <a:r>
              <a:rPr lang="en-US" dirty="0"/>
              <a:t> </a:t>
            </a:r>
            <a:r>
              <a:rPr lang="en-US" dirty="0" err="1"/>
              <a:t>gia</a:t>
            </a:r>
            <a:r>
              <a:rPr lang="en-US" dirty="0"/>
              <a:t> </a:t>
            </a:r>
            <a:r>
              <a:rPr lang="en-US" dirty="0" err="1"/>
              <a:t>thuc</a:t>
            </a:r>
            <a:r>
              <a:rPr lang="en-US" dirty="0"/>
              <a:t> </a:t>
            </a:r>
            <a:r>
              <a:rPr lang="en-US" dirty="0" err="1"/>
              <a:t>te</a:t>
            </a:r>
            <a:r>
              <a:rPr lang="en-US" dirty="0"/>
              <a:t> 85 100</a:t>
            </a:r>
            <a:endParaRPr lang="en-US" dirty="0"/>
          </a:p>
          <a:p>
            <a:pPr lvl="1"/>
            <a:endParaRPr lang="en-US" dirty="0"/>
          </a:p>
          <a:p>
            <a:pPr lvl="1"/>
            <a:r>
              <a:rPr lang="en-US" dirty="0"/>
              <a:t># </a:t>
            </a:r>
            <a:r>
              <a:rPr lang="en-US" dirty="0" err="1"/>
              <a:t>Xác</a:t>
            </a:r>
            <a:r>
              <a:rPr lang="en-US" dirty="0"/>
              <a:t> </a:t>
            </a:r>
            <a:r>
              <a:rPr lang="en-US" dirty="0" err="1"/>
              <a:t>định</a:t>
            </a:r>
            <a:r>
              <a:rPr lang="en-US" dirty="0"/>
              <a:t> </a:t>
            </a:r>
            <a:r>
              <a:rPr lang="en-US" dirty="0" err="1"/>
              <a:t>tín</a:t>
            </a:r>
            <a:r>
              <a:rPr lang="en-US" dirty="0"/>
              <a:t> </a:t>
            </a:r>
            <a:r>
              <a:rPr lang="en-US" dirty="0" err="1"/>
              <a:t>hiệu</a:t>
            </a:r>
            <a:r>
              <a:rPr lang="en-US" dirty="0"/>
              <a:t> </a:t>
            </a:r>
            <a:r>
              <a:rPr lang="en-US" dirty="0" err="1"/>
              <a:t>mua</a:t>
            </a:r>
            <a:endParaRPr lang="en-US" dirty="0"/>
          </a:p>
          <a:p>
            <a:pPr lvl="1"/>
            <a:r>
              <a:rPr lang="en-US" dirty="0"/>
              <a:t>data['Signal'] = </a:t>
            </a:r>
            <a:r>
              <a:rPr lang="en-US" dirty="0" err="1"/>
              <a:t>np.where</a:t>
            </a:r>
            <a:r>
              <a:rPr lang="en-US" dirty="0"/>
              <a:t>((data['</a:t>
            </a:r>
            <a:r>
              <a:rPr lang="en-US" dirty="0" err="1">
                <a:solidFill>
                  <a:srgbClr val="FF0000"/>
                </a:solidFill>
              </a:rPr>
              <a:t>MA_Fast</a:t>
            </a:r>
            <a:r>
              <a:rPr lang="en-US" dirty="0"/>
              <a:t>'] &gt; data['</a:t>
            </a:r>
            <a:r>
              <a:rPr lang="en-US" dirty="0" err="1">
                <a:solidFill>
                  <a:srgbClr val="FF0000"/>
                </a:solidFill>
              </a:rPr>
              <a:t>MA_Slow</a:t>
            </a:r>
            <a:r>
              <a:rPr lang="en-US" dirty="0"/>
              <a:t>']) &amp; (data['ATR'] &lt;= </a:t>
            </a:r>
            <a:r>
              <a:rPr lang="en-US" dirty="0" err="1"/>
              <a:t>atr_threshold</a:t>
            </a:r>
            <a:r>
              <a:rPr lang="en-US" dirty="0"/>
              <a:t>), </a:t>
            </a:r>
            <a:r>
              <a:rPr lang="en-US" dirty="0">
                <a:solidFill>
                  <a:srgbClr val="FF0000"/>
                </a:solidFill>
              </a:rPr>
              <a:t>1</a:t>
            </a:r>
            <a:r>
              <a:rPr lang="en-US" dirty="0"/>
              <a:t>, 0)</a:t>
            </a:r>
            <a:endParaRPr lang="en-US" dirty="0"/>
          </a:p>
          <a:p>
            <a:pPr marL="101600" lvl="0" algn="just">
              <a:lnSpc>
                <a:spcPct val="115000"/>
              </a:lnSpc>
              <a:spcBef>
                <a:spcPts val="1600"/>
              </a:spcBef>
              <a:buClr>
                <a:schemeClr val="dk1"/>
              </a:buClr>
              <a:buSzPts val="2000"/>
            </a:pPr>
            <a:endParaRPr lang="vi-VN" sz="1600" b="1" dirty="0">
              <a:solidFill>
                <a:schemeClr val="dk1"/>
              </a:solidFill>
              <a:ea typeface="Maven Pro"/>
              <a:cs typeface="Maven Pro"/>
              <a:sym typeface="Maven Pro"/>
            </a:endParaRPr>
          </a:p>
          <a:p>
            <a:pPr marL="101600" lvl="0" algn="just">
              <a:lnSpc>
                <a:spcPct val="115000"/>
              </a:lnSpc>
              <a:spcBef>
                <a:spcPts val="1600"/>
              </a:spcBef>
              <a:buClr>
                <a:schemeClr val="dk1"/>
              </a:buClr>
              <a:buSzPts val="2000"/>
            </a:pPr>
            <a:endParaRPr lang="vi-VN" sz="1600" dirty="0"/>
          </a:p>
          <a:p>
            <a:pPr marL="101600" algn="just">
              <a:lnSpc>
                <a:spcPct val="115000"/>
              </a:lnSpc>
              <a:spcBef>
                <a:spcPts val="1600"/>
              </a:spcBef>
              <a:buClr>
                <a:schemeClr val="dk1"/>
              </a:buClr>
              <a:buSzPts val="2000"/>
            </a:pPr>
            <a:endParaRPr lang="vi-VN" sz="1600" dirty="0"/>
          </a:p>
          <a:p>
            <a:pPr marL="101600" lvl="0" algn="just">
              <a:lnSpc>
                <a:spcPct val="115000"/>
              </a:lnSpc>
              <a:spcBef>
                <a:spcPts val="1600"/>
              </a:spcBef>
              <a:buClr>
                <a:schemeClr val="dk1"/>
              </a:buClr>
              <a:buSzPts val="2000"/>
            </a:pPr>
            <a:endParaRPr sz="1600" b="1" dirty="0">
              <a:solidFill>
                <a:schemeClr val="dk1"/>
              </a:solidFill>
              <a:latin typeface="+mn-lt"/>
              <a:ea typeface="Maven Pro"/>
              <a:cs typeface="Maven Pro"/>
              <a:sym typeface="Maven Pr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a:solidFill>
                  <a:schemeClr val="lt1"/>
                </a:solidFill>
              </a:rPr>
              <a:t>1. </a:t>
            </a:r>
            <a:r>
              <a:rPr lang="en-US" sz="2400" b="1" dirty="0" err="1">
                <a:solidFill>
                  <a:schemeClr val="lt1"/>
                </a:solidFill>
              </a:rPr>
              <a:t>Xây</a:t>
            </a:r>
            <a:r>
              <a:rPr lang="en-US" sz="2400" b="1" dirty="0">
                <a:solidFill>
                  <a:schemeClr val="lt1"/>
                </a:solidFill>
              </a:rPr>
              <a:t> </a:t>
            </a:r>
            <a:r>
              <a:rPr lang="en-US" sz="2400" b="1" dirty="0" err="1">
                <a:solidFill>
                  <a:schemeClr val="lt1"/>
                </a:solidFill>
              </a:rPr>
              <a:t>dựng</a:t>
            </a:r>
            <a:r>
              <a:rPr lang="en-US" sz="2400" b="1" dirty="0">
                <a:solidFill>
                  <a:schemeClr val="lt1"/>
                </a:solidFill>
              </a:rPr>
              <a:t> </a:t>
            </a:r>
            <a:r>
              <a:rPr lang="en-US" sz="2400" b="1" dirty="0" err="1">
                <a:solidFill>
                  <a:schemeClr val="lt1"/>
                </a:solidFill>
              </a:rPr>
              <a:t>chiến</a:t>
            </a:r>
            <a:r>
              <a:rPr lang="en-US" sz="2400" b="1" dirty="0">
                <a:solidFill>
                  <a:schemeClr val="lt1"/>
                </a:solidFill>
              </a:rPr>
              <a:t> </a:t>
            </a:r>
            <a:r>
              <a:rPr lang="en-US" sz="2400" b="1" dirty="0" err="1">
                <a:solidFill>
                  <a:schemeClr val="lt1"/>
                </a:solidFill>
              </a:rPr>
              <a:t>lược</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indent="-342900" algn="just">
              <a:lnSpc>
                <a:spcPct val="115000"/>
              </a:lnSpc>
              <a:spcBef>
                <a:spcPts val="1600"/>
              </a:spcBef>
              <a:buClr>
                <a:schemeClr val="dk1"/>
              </a:buClr>
              <a:buSzPts val="2000"/>
              <a:buFont typeface="+mj-lt"/>
              <a:buAutoNum type="arabicPeriod" startAt="4"/>
            </a:pPr>
            <a:r>
              <a:rPr lang="vi-VN" sz="1600" b="1" dirty="0"/>
              <a:t>Chiến lược giao dịch </a:t>
            </a:r>
            <a:r>
              <a:rPr lang="en-US" sz="1600" b="1" dirty="0" err="1"/>
              <a:t>đường</a:t>
            </a:r>
            <a:r>
              <a:rPr lang="en-US" sz="1600" b="1" dirty="0"/>
              <a:t> Bollinger Bands </a:t>
            </a:r>
            <a:r>
              <a:rPr lang="en-US" sz="1600" b="1" dirty="0" err="1"/>
              <a:t>và</a:t>
            </a:r>
            <a:r>
              <a:rPr lang="en-US" sz="1600" b="1" dirty="0"/>
              <a:t> RSI</a:t>
            </a:r>
            <a:endParaRPr lang="en-US" sz="1600" dirty="0">
              <a:solidFill>
                <a:schemeClr val="tx1"/>
              </a:solidFill>
              <a:ea typeface="Maven Pro"/>
              <a:cs typeface="Maven Pro"/>
              <a:sym typeface="Maven Pro"/>
            </a:endParaRPr>
          </a:p>
          <a:p>
            <a:r>
              <a:rPr lang="en-US" sz="1200" dirty="0"/>
              <a:t># </a:t>
            </a:r>
            <a:r>
              <a:rPr lang="en-US" sz="1200" dirty="0" err="1"/>
              <a:t>Tính</a:t>
            </a:r>
            <a:r>
              <a:rPr lang="en-US" sz="1200" dirty="0"/>
              <a:t> </a:t>
            </a:r>
            <a:r>
              <a:rPr lang="en-US" sz="1200" dirty="0" err="1"/>
              <a:t>toán</a:t>
            </a:r>
            <a:r>
              <a:rPr lang="en-US" sz="1200" dirty="0"/>
              <a:t> SMA </a:t>
            </a:r>
            <a:r>
              <a:rPr lang="en-US" sz="1200" dirty="0" err="1"/>
              <a:t>và</a:t>
            </a:r>
            <a:r>
              <a:rPr lang="en-US" sz="1200" dirty="0"/>
              <a:t> </a:t>
            </a:r>
            <a:r>
              <a:rPr lang="en-US" sz="1200" dirty="0" err="1"/>
              <a:t>độ</a:t>
            </a:r>
            <a:r>
              <a:rPr lang="en-US" sz="1200" dirty="0"/>
              <a:t> </a:t>
            </a:r>
            <a:r>
              <a:rPr lang="en-US" sz="1200" dirty="0" err="1"/>
              <a:t>lệch</a:t>
            </a:r>
            <a:r>
              <a:rPr lang="en-US" sz="1200" dirty="0"/>
              <a:t> </a:t>
            </a:r>
            <a:r>
              <a:rPr lang="en-US" sz="1200" dirty="0" err="1"/>
              <a:t>chuẩn</a:t>
            </a:r>
            <a:r>
              <a:rPr lang="en-US" sz="1200" dirty="0"/>
              <a:t> </a:t>
            </a:r>
            <a:r>
              <a:rPr lang="en-US" sz="1200" dirty="0" err="1"/>
              <a:t>cho</a:t>
            </a:r>
            <a:r>
              <a:rPr lang="en-US" sz="1200" dirty="0"/>
              <a:t> </a:t>
            </a:r>
            <a:r>
              <a:rPr lang="en-US" sz="1200" dirty="0" err="1"/>
              <a:t>giá</a:t>
            </a:r>
            <a:r>
              <a:rPr lang="en-US" sz="1200" dirty="0"/>
              <a:t> </a:t>
            </a:r>
            <a:r>
              <a:rPr lang="en-US" sz="1200" dirty="0" err="1"/>
              <a:t>đóng</a:t>
            </a:r>
            <a:r>
              <a:rPr lang="en-US" sz="1200" dirty="0"/>
              <a:t> </a:t>
            </a:r>
            <a:r>
              <a:rPr lang="en-US" sz="1200" dirty="0" err="1"/>
              <a:t>cửa</a:t>
            </a:r>
            <a:endParaRPr lang="en-US" sz="1200" dirty="0"/>
          </a:p>
          <a:p>
            <a:r>
              <a:rPr lang="en-US" sz="1200" dirty="0"/>
              <a:t>window = 20</a:t>
            </a:r>
            <a:endParaRPr lang="en-US" sz="1200" dirty="0"/>
          </a:p>
          <a:p>
            <a:r>
              <a:rPr lang="en-US" sz="1200" dirty="0"/>
              <a:t>data['SMA'] = data['Close'].rolling(window=window).mean()</a:t>
            </a:r>
            <a:endParaRPr lang="en-US" sz="1200" dirty="0"/>
          </a:p>
          <a:p>
            <a:r>
              <a:rPr lang="en-US" sz="1200" dirty="0"/>
              <a:t>data['STD'] = data['Close'].rolling(window=window).</a:t>
            </a:r>
            <a:r>
              <a:rPr lang="en-US" sz="1200" dirty="0" err="1"/>
              <a:t>std</a:t>
            </a:r>
            <a:r>
              <a:rPr lang="en-US" sz="1200" dirty="0"/>
              <a:t>()</a:t>
            </a:r>
            <a:endParaRPr lang="en-US" sz="1200" dirty="0"/>
          </a:p>
          <a:p>
            <a:br>
              <a:rPr lang="en-US" sz="1200" dirty="0"/>
            </a:br>
            <a:r>
              <a:rPr lang="en-US" sz="1200" dirty="0"/>
              <a:t># </a:t>
            </a:r>
            <a:r>
              <a:rPr lang="en-US" sz="1200" dirty="0" err="1"/>
              <a:t>Tính</a:t>
            </a:r>
            <a:r>
              <a:rPr lang="en-US" sz="1200" dirty="0"/>
              <a:t> </a:t>
            </a:r>
            <a:r>
              <a:rPr lang="en-US" sz="1200" dirty="0" err="1"/>
              <a:t>toán</a:t>
            </a:r>
            <a:r>
              <a:rPr lang="en-US" sz="1200" dirty="0"/>
              <a:t> Bollinger Bands</a:t>
            </a:r>
            <a:endParaRPr lang="en-US" sz="1200" dirty="0"/>
          </a:p>
          <a:p>
            <a:r>
              <a:rPr lang="en-US" sz="1200" dirty="0"/>
              <a:t>data['</a:t>
            </a:r>
            <a:r>
              <a:rPr lang="en-US" sz="1200" dirty="0" err="1"/>
              <a:t>Upper_Band</a:t>
            </a:r>
            <a:r>
              <a:rPr lang="en-US" sz="1200" dirty="0"/>
              <a:t>'] = data['SMA'] + (data['STD'] * 2)</a:t>
            </a:r>
            <a:endParaRPr lang="en-US" sz="1200" dirty="0"/>
          </a:p>
          <a:p>
            <a:r>
              <a:rPr lang="en-US" sz="1200" dirty="0"/>
              <a:t>data['</a:t>
            </a:r>
            <a:r>
              <a:rPr lang="en-US" sz="1200" dirty="0" err="1"/>
              <a:t>Lower_Band</a:t>
            </a:r>
            <a:r>
              <a:rPr lang="en-US" sz="1200" dirty="0"/>
              <a:t>'] = data['SMA'] - (data['STD'] * 2)</a:t>
            </a:r>
            <a:endParaRPr lang="en-US" sz="1200" dirty="0"/>
          </a:p>
          <a:p>
            <a:br>
              <a:rPr lang="en-US" sz="1200" dirty="0"/>
            </a:br>
            <a:r>
              <a:rPr lang="en-US" sz="1200" dirty="0"/>
              <a:t># </a:t>
            </a:r>
            <a:r>
              <a:rPr lang="en-US" sz="1200" dirty="0" err="1"/>
              <a:t>Thiết</a:t>
            </a:r>
            <a:r>
              <a:rPr lang="en-US" sz="1200" dirty="0"/>
              <a:t> </a:t>
            </a:r>
            <a:r>
              <a:rPr lang="en-US" sz="1200" dirty="0" err="1"/>
              <a:t>lập</a:t>
            </a:r>
            <a:r>
              <a:rPr lang="en-US" sz="1200" dirty="0"/>
              <a:t> </a:t>
            </a:r>
            <a:r>
              <a:rPr lang="en-US" sz="1200" dirty="0" err="1"/>
              <a:t>cửa</a:t>
            </a:r>
            <a:r>
              <a:rPr lang="en-US" sz="1200" dirty="0"/>
              <a:t> </a:t>
            </a:r>
            <a:r>
              <a:rPr lang="en-US" sz="1200" dirty="0" err="1"/>
              <a:t>sổ</a:t>
            </a:r>
            <a:r>
              <a:rPr lang="en-US" sz="1200" dirty="0"/>
              <a:t> </a:t>
            </a:r>
            <a:r>
              <a:rPr lang="en-US" sz="1200" dirty="0" err="1"/>
              <a:t>thời</a:t>
            </a:r>
            <a:r>
              <a:rPr lang="en-US" sz="1200" dirty="0"/>
              <a:t> </a:t>
            </a:r>
            <a:r>
              <a:rPr lang="en-US" sz="1200" dirty="0" err="1"/>
              <a:t>gian</a:t>
            </a:r>
            <a:r>
              <a:rPr lang="en-US" sz="1200" dirty="0"/>
              <a:t> </a:t>
            </a:r>
            <a:r>
              <a:rPr lang="en-US" sz="1200" dirty="0" err="1"/>
              <a:t>và</a:t>
            </a:r>
            <a:r>
              <a:rPr lang="en-US" sz="1200" dirty="0"/>
              <a:t> </a:t>
            </a:r>
            <a:r>
              <a:rPr lang="en-US" sz="1200" dirty="0" err="1"/>
              <a:t>tính</a:t>
            </a:r>
            <a:r>
              <a:rPr lang="en-US" sz="1200" dirty="0"/>
              <a:t> RSI</a:t>
            </a:r>
            <a:endParaRPr lang="en-US" sz="1200" dirty="0"/>
          </a:p>
          <a:p>
            <a:r>
              <a:rPr lang="en-US" sz="1200" dirty="0" err="1"/>
              <a:t>windowRSI</a:t>
            </a:r>
            <a:r>
              <a:rPr lang="en-US" sz="1200" dirty="0"/>
              <a:t> = 14</a:t>
            </a:r>
            <a:endParaRPr lang="en-US" sz="1200" dirty="0"/>
          </a:p>
          <a:p>
            <a:r>
              <a:rPr lang="en-US" sz="1200" dirty="0" err="1"/>
              <a:t>def</a:t>
            </a:r>
            <a:r>
              <a:rPr lang="en-US" sz="1200" dirty="0"/>
              <a:t> </a:t>
            </a:r>
            <a:r>
              <a:rPr lang="en-US" sz="1200" dirty="0" err="1"/>
              <a:t>compute_rsi</a:t>
            </a:r>
            <a:r>
              <a:rPr lang="en-US" sz="1200" dirty="0"/>
              <a:t>(data, window=</a:t>
            </a:r>
            <a:r>
              <a:rPr lang="en-US" sz="1200" dirty="0" err="1"/>
              <a:t>windowRSI</a:t>
            </a:r>
            <a:r>
              <a:rPr lang="en-US" sz="1200" dirty="0"/>
              <a:t>):</a:t>
            </a:r>
            <a:endParaRPr lang="en-US" sz="1200" dirty="0"/>
          </a:p>
          <a:p>
            <a:r>
              <a:rPr lang="en-US" sz="1200" dirty="0"/>
              <a:t>    delta = </a:t>
            </a:r>
            <a:r>
              <a:rPr lang="en-US" sz="1200" dirty="0" err="1"/>
              <a:t>data.diff</a:t>
            </a:r>
            <a:r>
              <a:rPr lang="en-US" sz="1200" dirty="0"/>
              <a:t>()</a:t>
            </a:r>
            <a:endParaRPr lang="en-US" sz="1200" dirty="0"/>
          </a:p>
          <a:p>
            <a:r>
              <a:rPr lang="en-US" sz="1200" dirty="0"/>
              <a:t>    up, down = </a:t>
            </a:r>
            <a:r>
              <a:rPr lang="en-US" sz="1200" dirty="0" err="1"/>
              <a:t>delta.copy</a:t>
            </a:r>
            <a:r>
              <a:rPr lang="en-US" sz="1200" dirty="0"/>
              <a:t>(), </a:t>
            </a:r>
            <a:r>
              <a:rPr lang="en-US" sz="1200" dirty="0" err="1"/>
              <a:t>delta.copy</a:t>
            </a:r>
            <a:r>
              <a:rPr lang="en-US" sz="1200" dirty="0"/>
              <a:t>()</a:t>
            </a:r>
            <a:endParaRPr lang="en-US" sz="1200" dirty="0"/>
          </a:p>
          <a:p>
            <a:r>
              <a:rPr lang="en-US" sz="1200" dirty="0"/>
              <a:t>    up[up &lt; 0] = 0</a:t>
            </a:r>
            <a:endParaRPr lang="en-US" sz="1200" dirty="0"/>
          </a:p>
          <a:p>
            <a:r>
              <a:rPr lang="en-US" sz="1200" dirty="0"/>
              <a:t>    down[down &gt; 0] = 0</a:t>
            </a:r>
            <a:endParaRPr lang="en-US" sz="1200" dirty="0"/>
          </a:p>
          <a:p>
            <a:r>
              <a:rPr lang="en-US" sz="1200" dirty="0"/>
              <a:t>    gain = </a:t>
            </a:r>
            <a:r>
              <a:rPr lang="en-US" sz="1200" dirty="0" err="1"/>
              <a:t>up.rolling</a:t>
            </a:r>
            <a:r>
              <a:rPr lang="en-US" sz="1200" dirty="0"/>
              <a:t>(window=window).mean()</a:t>
            </a:r>
            <a:endParaRPr lang="en-US" sz="1200" dirty="0"/>
          </a:p>
          <a:p>
            <a:r>
              <a:rPr lang="en-US" sz="1200" dirty="0"/>
              <a:t>    loss = </a:t>
            </a:r>
            <a:r>
              <a:rPr lang="en-US" sz="1200" dirty="0" err="1"/>
              <a:t>down.abs</a:t>
            </a:r>
            <a:r>
              <a:rPr lang="en-US" sz="1200" dirty="0"/>
              <a:t>().rolling(window=window).mean()</a:t>
            </a:r>
            <a:endParaRPr lang="en-US" sz="1200" dirty="0"/>
          </a:p>
          <a:p>
            <a:r>
              <a:rPr lang="en-US" sz="1200" dirty="0"/>
              <a:t>    RS = gain / loss</a:t>
            </a:r>
            <a:endParaRPr lang="en-US" sz="1200" dirty="0"/>
          </a:p>
          <a:p>
            <a:r>
              <a:rPr lang="en-US" sz="1200" dirty="0"/>
              <a:t>    return 100 - (100 / (1 + RS))</a:t>
            </a:r>
            <a:endParaRPr lang="en-US" sz="1200" dirty="0"/>
          </a:p>
          <a:p>
            <a:br>
              <a:rPr lang="en-US" sz="1200" dirty="0"/>
            </a:br>
            <a:r>
              <a:rPr lang="en-US" sz="1200" dirty="0"/>
              <a:t>data['RSI'] = </a:t>
            </a:r>
            <a:r>
              <a:rPr lang="en-US" sz="1200" dirty="0" err="1"/>
              <a:t>compute_rsi</a:t>
            </a:r>
            <a:r>
              <a:rPr lang="en-US" sz="1200" dirty="0"/>
              <a:t>(data['Close'])</a:t>
            </a:r>
            <a:endParaRPr lang="en-US" sz="1200" dirty="0"/>
          </a:p>
          <a:p>
            <a:br>
              <a:rPr lang="en-US" sz="1200" dirty="0"/>
            </a:br>
            <a:r>
              <a:rPr lang="en-US" sz="1200" dirty="0"/>
              <a:t># </a:t>
            </a:r>
            <a:r>
              <a:rPr lang="en-US" sz="1200" dirty="0" err="1"/>
              <a:t>Tạo</a:t>
            </a:r>
            <a:r>
              <a:rPr lang="en-US" sz="1200" dirty="0"/>
              <a:t> </a:t>
            </a:r>
            <a:r>
              <a:rPr lang="en-US" sz="1200" dirty="0" err="1"/>
              <a:t>cột</a:t>
            </a:r>
            <a:r>
              <a:rPr lang="en-US" sz="1200" dirty="0"/>
              <a:t> </a:t>
            </a:r>
            <a:r>
              <a:rPr lang="en-US" sz="1200" dirty="0" err="1"/>
              <a:t>tín</a:t>
            </a:r>
            <a:r>
              <a:rPr lang="en-US" sz="1200" dirty="0"/>
              <a:t> </a:t>
            </a:r>
            <a:r>
              <a:rPr lang="en-US" sz="1200" dirty="0" err="1"/>
              <a:t>hiệu</a:t>
            </a:r>
            <a:r>
              <a:rPr lang="en-US" sz="1200" dirty="0"/>
              <a:t> </a:t>
            </a:r>
            <a:r>
              <a:rPr lang="en-US" sz="1200" dirty="0" err="1"/>
              <a:t>mua</a:t>
            </a:r>
            <a:r>
              <a:rPr lang="en-US" sz="1200" dirty="0"/>
              <a:t> </a:t>
            </a:r>
            <a:r>
              <a:rPr lang="en-US" sz="1200" dirty="0" err="1"/>
              <a:t>và</a:t>
            </a:r>
            <a:r>
              <a:rPr lang="en-US" sz="1200" dirty="0"/>
              <a:t> </a:t>
            </a:r>
            <a:r>
              <a:rPr lang="en-US" sz="1200" dirty="0" err="1"/>
              <a:t>bán</a:t>
            </a:r>
            <a:endParaRPr lang="en-US" sz="1200" dirty="0"/>
          </a:p>
          <a:p>
            <a:r>
              <a:rPr lang="en-US" sz="1200" dirty="0"/>
              <a:t>data[</a:t>
            </a:r>
            <a:r>
              <a:rPr lang="en-US" sz="1200" b="1" dirty="0"/>
              <a:t>'</a:t>
            </a:r>
            <a:r>
              <a:rPr lang="en-US" sz="1200" b="1" dirty="0" err="1"/>
              <a:t>Buy_Signal</a:t>
            </a:r>
            <a:r>
              <a:rPr lang="en-US" sz="1200" dirty="0"/>
              <a:t>'] = ((data[</a:t>
            </a:r>
            <a:r>
              <a:rPr lang="en-US" sz="1200" b="1" dirty="0"/>
              <a:t>'Close</a:t>
            </a:r>
            <a:r>
              <a:rPr lang="en-US" sz="1200" dirty="0"/>
              <a:t>'] &lt;= data[</a:t>
            </a:r>
            <a:r>
              <a:rPr lang="en-US" sz="1200" b="1" dirty="0"/>
              <a:t>'</a:t>
            </a:r>
            <a:r>
              <a:rPr lang="en-US" sz="1200" b="1" dirty="0" err="1"/>
              <a:t>Lower_Band</a:t>
            </a:r>
            <a:r>
              <a:rPr lang="en-US" sz="1200" b="1" dirty="0"/>
              <a:t>'</a:t>
            </a:r>
            <a:r>
              <a:rPr lang="en-US" sz="1200" dirty="0"/>
              <a:t>]) &amp; (data[</a:t>
            </a:r>
            <a:r>
              <a:rPr lang="en-US" sz="1200" b="1" dirty="0"/>
              <a:t>'RSI</a:t>
            </a:r>
            <a:r>
              <a:rPr lang="en-US" sz="1200" dirty="0"/>
              <a:t>'] &lt; </a:t>
            </a:r>
            <a:r>
              <a:rPr lang="en-US" sz="1200" b="1" dirty="0"/>
              <a:t>30</a:t>
            </a:r>
            <a:r>
              <a:rPr lang="en-US" sz="1200" dirty="0"/>
              <a:t>))</a:t>
            </a:r>
            <a:endParaRPr lang="en-US" sz="1200" dirty="0"/>
          </a:p>
          <a:p>
            <a:r>
              <a:rPr lang="en-US" sz="1200" dirty="0"/>
              <a:t>data[</a:t>
            </a:r>
            <a:r>
              <a:rPr lang="en-US" sz="1200" b="1" dirty="0"/>
              <a:t>'</a:t>
            </a:r>
            <a:r>
              <a:rPr lang="en-US" sz="1200" b="1" dirty="0" err="1"/>
              <a:t>Sell_Signal</a:t>
            </a:r>
            <a:r>
              <a:rPr lang="en-US" sz="1200" dirty="0"/>
              <a:t>'] = ((data[</a:t>
            </a:r>
            <a:r>
              <a:rPr lang="en-US" sz="1200" b="1" dirty="0"/>
              <a:t>'Close</a:t>
            </a:r>
            <a:r>
              <a:rPr lang="en-US" sz="1200" dirty="0"/>
              <a:t>'] &gt;= data[</a:t>
            </a:r>
            <a:r>
              <a:rPr lang="en-US" sz="1200" b="1" dirty="0"/>
              <a:t>'</a:t>
            </a:r>
            <a:r>
              <a:rPr lang="en-US" sz="1200" b="1" dirty="0" err="1"/>
              <a:t>Upper_Band</a:t>
            </a:r>
            <a:r>
              <a:rPr lang="en-US" sz="1200" dirty="0"/>
              <a:t>']) &amp; (data[</a:t>
            </a:r>
            <a:r>
              <a:rPr lang="en-US" sz="1200" b="1" dirty="0"/>
              <a:t>'RSI</a:t>
            </a:r>
            <a:r>
              <a:rPr lang="en-US" sz="1200" dirty="0"/>
              <a:t>'] &gt; </a:t>
            </a:r>
            <a:r>
              <a:rPr lang="en-US" sz="1200" b="1" dirty="0"/>
              <a:t>70</a:t>
            </a:r>
            <a:r>
              <a:rPr lang="en-US" sz="1200" dirty="0"/>
              <a:t>))</a:t>
            </a:r>
            <a:endParaRPr lang="en-US" sz="1200" dirty="0"/>
          </a:p>
          <a:p>
            <a:pPr marL="101600" lvl="0" algn="just">
              <a:lnSpc>
                <a:spcPct val="115000"/>
              </a:lnSpc>
              <a:spcBef>
                <a:spcPts val="1600"/>
              </a:spcBef>
              <a:buClr>
                <a:schemeClr val="dk1"/>
              </a:buClr>
              <a:buSzPts val="2000"/>
            </a:pPr>
            <a:endParaRPr lang="vi-VN" sz="1200" b="1" dirty="0">
              <a:solidFill>
                <a:schemeClr val="dk1"/>
              </a:solidFill>
              <a:ea typeface="Maven Pro"/>
              <a:cs typeface="Maven Pro"/>
              <a:sym typeface="Maven Pro"/>
            </a:endParaRPr>
          </a:p>
          <a:p>
            <a:pPr marL="101600" lvl="0" algn="just">
              <a:lnSpc>
                <a:spcPct val="115000"/>
              </a:lnSpc>
              <a:spcBef>
                <a:spcPts val="1600"/>
              </a:spcBef>
              <a:buClr>
                <a:schemeClr val="dk1"/>
              </a:buClr>
              <a:buSzPts val="2000"/>
            </a:pPr>
            <a:endParaRPr lang="vi-VN" sz="1600" dirty="0"/>
          </a:p>
          <a:p>
            <a:pPr marL="101600" algn="just">
              <a:lnSpc>
                <a:spcPct val="115000"/>
              </a:lnSpc>
              <a:spcBef>
                <a:spcPts val="1600"/>
              </a:spcBef>
              <a:buClr>
                <a:schemeClr val="dk1"/>
              </a:buClr>
              <a:buSzPts val="2000"/>
            </a:pPr>
            <a:endParaRPr lang="vi-VN" sz="1600" dirty="0"/>
          </a:p>
          <a:p>
            <a:pPr marL="101600" lvl="0" algn="just">
              <a:lnSpc>
                <a:spcPct val="115000"/>
              </a:lnSpc>
              <a:spcBef>
                <a:spcPts val="1600"/>
              </a:spcBef>
              <a:buClr>
                <a:schemeClr val="dk1"/>
              </a:buClr>
              <a:buSzPts val="2000"/>
            </a:pPr>
            <a:endParaRPr sz="1600" b="1" dirty="0">
              <a:solidFill>
                <a:schemeClr val="dk1"/>
              </a:solidFill>
              <a:latin typeface="+mn-lt"/>
              <a:ea typeface="Maven Pro"/>
              <a:cs typeface="Maven Pro"/>
              <a:sym typeface="Maven Pr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a:solidFill>
                  <a:schemeClr val="lt1"/>
                </a:solidFill>
              </a:rPr>
              <a:t>1. </a:t>
            </a:r>
            <a:r>
              <a:rPr lang="en-US" sz="2400" dirty="0" err="1">
                <a:solidFill>
                  <a:schemeClr val="lt1"/>
                </a:solidFill>
              </a:rPr>
              <a:t>Xây</a:t>
            </a:r>
            <a:r>
              <a:rPr lang="en-US" sz="2400" dirty="0">
                <a:solidFill>
                  <a:schemeClr val="lt1"/>
                </a:solidFill>
              </a:rPr>
              <a:t> </a:t>
            </a:r>
            <a:r>
              <a:rPr lang="en-US" sz="2400" dirty="0" err="1">
                <a:solidFill>
                  <a:schemeClr val="lt1"/>
                </a:solidFill>
              </a:rPr>
              <a:t>dựng</a:t>
            </a:r>
            <a:r>
              <a:rPr lang="en-US" sz="2400" dirty="0">
                <a:solidFill>
                  <a:schemeClr val="lt1"/>
                </a:solidFill>
              </a:rPr>
              <a:t> </a:t>
            </a:r>
            <a:r>
              <a:rPr lang="en-US" sz="2400" dirty="0" err="1">
                <a:solidFill>
                  <a:schemeClr val="lt1"/>
                </a:solidFill>
              </a:rPr>
              <a:t>chiến</a:t>
            </a:r>
            <a:r>
              <a:rPr lang="en-US" sz="2400" dirty="0">
                <a:solidFill>
                  <a:schemeClr val="lt1"/>
                </a:solidFill>
              </a:rPr>
              <a:t> </a:t>
            </a:r>
            <a:r>
              <a:rPr lang="en-US" sz="2400" dirty="0" err="1">
                <a:solidFill>
                  <a:schemeClr val="lt1"/>
                </a:solidFill>
              </a:rPr>
              <a:t>lược</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indent="-342900" algn="just">
              <a:lnSpc>
                <a:spcPct val="115000"/>
              </a:lnSpc>
              <a:spcBef>
                <a:spcPts val="1600"/>
              </a:spcBef>
              <a:buClr>
                <a:schemeClr val="dk1"/>
              </a:buClr>
              <a:buSzPts val="2000"/>
              <a:buFont typeface="+mj-lt"/>
              <a:buAutoNum type="arabicPeriod" startAt="5"/>
            </a:pPr>
            <a:r>
              <a:rPr lang="vi-VN" sz="1600" b="1" dirty="0"/>
              <a:t>Chiến lược giao dịch </a:t>
            </a:r>
            <a:r>
              <a:rPr lang="en-US" sz="1600" b="1" dirty="0" err="1"/>
              <a:t>đường</a:t>
            </a:r>
            <a:r>
              <a:rPr lang="en-US" sz="1600" b="1" dirty="0"/>
              <a:t> MACD </a:t>
            </a:r>
            <a:r>
              <a:rPr lang="en-US" sz="1600" b="1" dirty="0" err="1"/>
              <a:t>và</a:t>
            </a:r>
            <a:r>
              <a:rPr lang="en-US" sz="1600" b="1" dirty="0"/>
              <a:t> SMA</a:t>
            </a:r>
            <a:endParaRPr lang="en-US" sz="1600" dirty="0">
              <a:solidFill>
                <a:schemeClr val="tx1"/>
              </a:solidFill>
              <a:ea typeface="Maven Pro"/>
              <a:cs typeface="Maven Pro"/>
              <a:sym typeface="Maven Pro"/>
            </a:endParaRPr>
          </a:p>
          <a:p>
            <a:r>
              <a:rPr lang="en-US" dirty="0"/>
              <a:t># </a:t>
            </a:r>
            <a:r>
              <a:rPr lang="en-US" dirty="0" err="1"/>
              <a:t>Thiết</a:t>
            </a:r>
            <a:r>
              <a:rPr lang="en-US" dirty="0"/>
              <a:t> </a:t>
            </a:r>
            <a:r>
              <a:rPr lang="en-US" dirty="0" err="1"/>
              <a:t>lập</a:t>
            </a:r>
            <a:r>
              <a:rPr lang="en-US" dirty="0"/>
              <a:t> </a:t>
            </a:r>
            <a:r>
              <a:rPr lang="en-US" dirty="0" err="1"/>
              <a:t>cửa</a:t>
            </a:r>
            <a:r>
              <a:rPr lang="en-US" dirty="0"/>
              <a:t> </a:t>
            </a:r>
            <a:r>
              <a:rPr lang="en-US" dirty="0" err="1"/>
              <a:t>sổ</a:t>
            </a:r>
            <a:r>
              <a:rPr lang="en-US" dirty="0"/>
              <a:t> </a:t>
            </a:r>
            <a:r>
              <a:rPr lang="en-US" dirty="0" err="1"/>
              <a:t>thời</a:t>
            </a:r>
            <a:r>
              <a:rPr lang="en-US" dirty="0"/>
              <a:t> </a:t>
            </a:r>
            <a:r>
              <a:rPr lang="en-US" dirty="0" err="1"/>
              <a:t>gian</a:t>
            </a:r>
            <a:r>
              <a:rPr lang="en-US" dirty="0"/>
              <a:t> </a:t>
            </a:r>
            <a:r>
              <a:rPr lang="en-US" dirty="0" err="1"/>
              <a:t>cho</a:t>
            </a:r>
            <a:r>
              <a:rPr lang="en-US" dirty="0"/>
              <a:t> SMA </a:t>
            </a:r>
            <a:r>
              <a:rPr lang="en-US" dirty="0" err="1"/>
              <a:t>và</a:t>
            </a:r>
            <a:r>
              <a:rPr lang="en-US" dirty="0"/>
              <a:t> </a:t>
            </a:r>
            <a:r>
              <a:rPr lang="en-US" dirty="0" err="1"/>
              <a:t>độ</a:t>
            </a:r>
            <a:r>
              <a:rPr lang="en-US" dirty="0"/>
              <a:t> </a:t>
            </a:r>
            <a:r>
              <a:rPr lang="en-US" dirty="0" err="1"/>
              <a:t>lệch</a:t>
            </a:r>
            <a:r>
              <a:rPr lang="en-US" dirty="0"/>
              <a:t> </a:t>
            </a:r>
            <a:r>
              <a:rPr lang="en-US" dirty="0" err="1"/>
              <a:t>chuẩn</a:t>
            </a:r>
            <a:endParaRPr lang="en-US" dirty="0"/>
          </a:p>
          <a:p>
            <a:r>
              <a:rPr lang="en-US" dirty="0"/>
              <a:t>window = 20</a:t>
            </a:r>
            <a:endParaRPr lang="en-US" dirty="0"/>
          </a:p>
          <a:p>
            <a:br>
              <a:rPr lang="en-US" dirty="0"/>
            </a:br>
            <a:r>
              <a:rPr lang="en-US" dirty="0"/>
              <a:t># </a:t>
            </a:r>
            <a:r>
              <a:rPr lang="en-US" dirty="0" err="1"/>
              <a:t>Tính</a:t>
            </a:r>
            <a:r>
              <a:rPr lang="en-US" dirty="0"/>
              <a:t> </a:t>
            </a:r>
            <a:r>
              <a:rPr lang="en-US" dirty="0" err="1"/>
              <a:t>toán</a:t>
            </a:r>
            <a:r>
              <a:rPr lang="en-US" dirty="0"/>
              <a:t> SMA </a:t>
            </a:r>
            <a:r>
              <a:rPr lang="en-US" dirty="0" err="1"/>
              <a:t>cho</a:t>
            </a:r>
            <a:r>
              <a:rPr lang="en-US" dirty="0"/>
              <a:t> </a:t>
            </a:r>
            <a:r>
              <a:rPr lang="en-US" dirty="0" err="1"/>
              <a:t>giá</a:t>
            </a:r>
            <a:r>
              <a:rPr lang="en-US" dirty="0"/>
              <a:t> </a:t>
            </a:r>
            <a:r>
              <a:rPr lang="en-US" dirty="0" err="1"/>
              <a:t>đóng</a:t>
            </a:r>
            <a:r>
              <a:rPr lang="en-US" dirty="0"/>
              <a:t> </a:t>
            </a:r>
            <a:r>
              <a:rPr lang="en-US" dirty="0" err="1"/>
              <a:t>cửa</a:t>
            </a:r>
            <a:endParaRPr lang="en-US" dirty="0"/>
          </a:p>
          <a:p>
            <a:r>
              <a:rPr lang="en-US" dirty="0"/>
              <a:t>data['SMA'] = data['Close'].rolling(window=window).mean()</a:t>
            </a:r>
            <a:endParaRPr lang="en-US" dirty="0"/>
          </a:p>
          <a:p>
            <a:br>
              <a:rPr lang="en-US" dirty="0"/>
            </a:br>
            <a:r>
              <a:rPr lang="en-US" dirty="0"/>
              <a:t># </a:t>
            </a:r>
            <a:r>
              <a:rPr lang="en-US" dirty="0" err="1"/>
              <a:t>Tính</a:t>
            </a:r>
            <a:r>
              <a:rPr lang="en-US" dirty="0"/>
              <a:t> </a:t>
            </a:r>
            <a:r>
              <a:rPr lang="en-US" dirty="0" err="1"/>
              <a:t>toán</a:t>
            </a:r>
            <a:r>
              <a:rPr lang="en-US" dirty="0"/>
              <a:t> MACD</a:t>
            </a:r>
            <a:endParaRPr lang="en-US" dirty="0"/>
          </a:p>
          <a:p>
            <a:r>
              <a:rPr lang="en-US" dirty="0"/>
              <a:t># EMA </a:t>
            </a:r>
            <a:r>
              <a:rPr lang="en-US" dirty="0" err="1"/>
              <a:t>ngắn</a:t>
            </a:r>
            <a:r>
              <a:rPr lang="en-US" dirty="0"/>
              <a:t> </a:t>
            </a:r>
            <a:r>
              <a:rPr lang="en-US" dirty="0" err="1"/>
              <a:t>hạn</a:t>
            </a:r>
            <a:endParaRPr lang="en-US" dirty="0"/>
          </a:p>
          <a:p>
            <a:r>
              <a:rPr lang="en-US" dirty="0"/>
              <a:t>data['</a:t>
            </a:r>
            <a:r>
              <a:rPr lang="en-US" dirty="0" err="1"/>
              <a:t>short_ema</a:t>
            </a:r>
            <a:r>
              <a:rPr lang="en-US" dirty="0"/>
              <a:t>'] = data['Close'].</a:t>
            </a:r>
            <a:r>
              <a:rPr lang="en-US" dirty="0" err="1">
                <a:solidFill>
                  <a:srgbClr val="FF0000"/>
                </a:solidFill>
              </a:rPr>
              <a:t>ewm</a:t>
            </a:r>
            <a:r>
              <a:rPr lang="en-US" dirty="0">
                <a:solidFill>
                  <a:srgbClr val="FF0000"/>
                </a:solidFill>
              </a:rPr>
              <a:t>(span=12</a:t>
            </a:r>
            <a:r>
              <a:rPr lang="en-US" dirty="0"/>
              <a:t>, adjust=False).mean() # Co the </a:t>
            </a:r>
            <a:r>
              <a:rPr lang="en-US" dirty="0" err="1"/>
              <a:t>su</a:t>
            </a:r>
            <a:r>
              <a:rPr lang="en-US" dirty="0"/>
              <a:t> dung 5</a:t>
            </a:r>
            <a:endParaRPr lang="en-US" dirty="0"/>
          </a:p>
          <a:p>
            <a:r>
              <a:rPr lang="en-US" dirty="0"/>
              <a:t># EMA </a:t>
            </a:r>
            <a:r>
              <a:rPr lang="en-US" dirty="0" err="1"/>
              <a:t>dài</a:t>
            </a:r>
            <a:r>
              <a:rPr lang="en-US" dirty="0"/>
              <a:t> </a:t>
            </a:r>
            <a:r>
              <a:rPr lang="en-US" dirty="0" err="1"/>
              <a:t>hạn</a:t>
            </a:r>
            <a:endParaRPr lang="en-US" dirty="0"/>
          </a:p>
          <a:p>
            <a:r>
              <a:rPr lang="en-US" dirty="0"/>
              <a:t>data['</a:t>
            </a:r>
            <a:r>
              <a:rPr lang="en-US" dirty="0" err="1"/>
              <a:t>long_ema</a:t>
            </a:r>
            <a:r>
              <a:rPr lang="en-US" dirty="0"/>
              <a:t>']  = data['Close'].</a:t>
            </a:r>
            <a:r>
              <a:rPr lang="en-US" dirty="0" err="1">
                <a:solidFill>
                  <a:srgbClr val="FF0000"/>
                </a:solidFill>
              </a:rPr>
              <a:t>ewm</a:t>
            </a:r>
            <a:r>
              <a:rPr lang="en-US" dirty="0">
                <a:solidFill>
                  <a:srgbClr val="FF0000"/>
                </a:solidFill>
              </a:rPr>
              <a:t>(span=26</a:t>
            </a:r>
            <a:r>
              <a:rPr lang="en-US" dirty="0"/>
              <a:t>, adjust=False).mean() # Co the </a:t>
            </a:r>
            <a:r>
              <a:rPr lang="en-US" dirty="0" err="1"/>
              <a:t>su</a:t>
            </a:r>
            <a:r>
              <a:rPr lang="en-US"/>
              <a:t> dung 10</a:t>
            </a:r>
            <a:endParaRPr lang="en-US" dirty="0"/>
          </a:p>
          <a:p>
            <a:r>
              <a:rPr lang="en-US" dirty="0"/>
              <a:t># </a:t>
            </a:r>
            <a:r>
              <a:rPr lang="en-US" dirty="0" err="1"/>
              <a:t>Tính</a:t>
            </a:r>
            <a:r>
              <a:rPr lang="en-US" dirty="0"/>
              <a:t> MACD</a:t>
            </a:r>
            <a:endParaRPr lang="en-US" dirty="0"/>
          </a:p>
          <a:p>
            <a:r>
              <a:rPr lang="en-US" dirty="0"/>
              <a:t>data['MACD'] = data['</a:t>
            </a:r>
            <a:r>
              <a:rPr lang="en-US" dirty="0" err="1"/>
              <a:t>short_ema</a:t>
            </a:r>
            <a:r>
              <a:rPr lang="en-US" dirty="0"/>
              <a:t>']  - data['</a:t>
            </a:r>
            <a:r>
              <a:rPr lang="en-US" dirty="0" err="1"/>
              <a:t>long_ema</a:t>
            </a:r>
            <a:r>
              <a:rPr lang="en-US" dirty="0"/>
              <a:t>']</a:t>
            </a:r>
            <a:endParaRPr lang="en-US" dirty="0"/>
          </a:p>
          <a:p>
            <a:r>
              <a:rPr lang="en-US" dirty="0"/>
              <a:t># </a:t>
            </a:r>
            <a:r>
              <a:rPr lang="en-US" dirty="0" err="1"/>
              <a:t>Tính</a:t>
            </a:r>
            <a:r>
              <a:rPr lang="en-US" dirty="0"/>
              <a:t> Signal Line</a:t>
            </a:r>
            <a:endParaRPr lang="en-US" dirty="0"/>
          </a:p>
          <a:p>
            <a:r>
              <a:rPr lang="en-US" dirty="0"/>
              <a:t>data['</a:t>
            </a:r>
            <a:r>
              <a:rPr lang="en-US" dirty="0" err="1"/>
              <a:t>Signal_Line</a:t>
            </a:r>
            <a:r>
              <a:rPr lang="en-US" dirty="0"/>
              <a:t>'] = data['MACD'].</a:t>
            </a:r>
            <a:r>
              <a:rPr lang="en-US" dirty="0" err="1"/>
              <a:t>ewm</a:t>
            </a:r>
            <a:r>
              <a:rPr lang="en-US" dirty="0"/>
              <a:t>(span=9, adjust=False).mean()</a:t>
            </a:r>
            <a:endParaRPr lang="en-US" dirty="0"/>
          </a:p>
          <a:p>
            <a:br>
              <a:rPr lang="en-US" dirty="0"/>
            </a:br>
            <a:r>
              <a:rPr lang="en-US" dirty="0"/>
              <a:t># </a:t>
            </a:r>
            <a:r>
              <a:rPr lang="en-US" dirty="0" err="1"/>
              <a:t>Tạo</a:t>
            </a:r>
            <a:r>
              <a:rPr lang="en-US" dirty="0"/>
              <a:t> </a:t>
            </a:r>
            <a:r>
              <a:rPr lang="en-US" dirty="0" err="1"/>
              <a:t>cột</a:t>
            </a:r>
            <a:r>
              <a:rPr lang="en-US" dirty="0"/>
              <a:t> </a:t>
            </a:r>
            <a:r>
              <a:rPr lang="en-US" dirty="0" err="1"/>
              <a:t>tín</a:t>
            </a:r>
            <a:r>
              <a:rPr lang="en-US" dirty="0"/>
              <a:t> </a:t>
            </a:r>
            <a:r>
              <a:rPr lang="en-US" dirty="0" err="1"/>
              <a:t>hiệu</a:t>
            </a:r>
            <a:r>
              <a:rPr lang="en-US" dirty="0"/>
              <a:t> </a:t>
            </a:r>
            <a:r>
              <a:rPr lang="en-US" dirty="0" err="1"/>
              <a:t>mua</a:t>
            </a:r>
            <a:r>
              <a:rPr lang="en-US" dirty="0"/>
              <a:t>/</a:t>
            </a:r>
            <a:r>
              <a:rPr lang="en-US" dirty="0" err="1"/>
              <a:t>bán</a:t>
            </a:r>
            <a:endParaRPr lang="en-US" dirty="0"/>
          </a:p>
          <a:p>
            <a:r>
              <a:rPr lang="en-US" dirty="0"/>
              <a:t>data['</a:t>
            </a:r>
            <a:r>
              <a:rPr lang="en-US" dirty="0" err="1"/>
              <a:t>Buy_Signal</a:t>
            </a:r>
            <a:r>
              <a:rPr lang="en-US" dirty="0"/>
              <a:t>'] = (data['MACD'] &gt; data['</a:t>
            </a:r>
            <a:r>
              <a:rPr lang="en-US" dirty="0" err="1"/>
              <a:t>Signal_Line</a:t>
            </a:r>
            <a:r>
              <a:rPr lang="en-US" dirty="0"/>
              <a:t>']) &amp; (data['Close'] &gt; data['SMA'])</a:t>
            </a:r>
            <a:endParaRPr lang="en-US" dirty="0"/>
          </a:p>
          <a:p>
            <a:r>
              <a:rPr lang="en-US" dirty="0"/>
              <a:t>data['</a:t>
            </a:r>
            <a:r>
              <a:rPr lang="en-US" dirty="0" err="1"/>
              <a:t>Sell_Signal</a:t>
            </a:r>
            <a:r>
              <a:rPr lang="en-US" dirty="0"/>
              <a:t>'] = (data['MACD'] &lt; data['</a:t>
            </a:r>
            <a:r>
              <a:rPr lang="en-US" dirty="0" err="1"/>
              <a:t>Signal_Line</a:t>
            </a:r>
            <a:r>
              <a:rPr lang="en-US" dirty="0"/>
              <a:t>']) &amp; (data['Close'] &lt; data['SMA'])</a:t>
            </a:r>
            <a:endParaRPr lang="en-US" dirty="0"/>
          </a:p>
          <a:p>
            <a:br>
              <a:rPr lang="en-US" dirty="0"/>
            </a:br>
            <a:endParaRPr lang="en-US" dirty="0"/>
          </a:p>
          <a:p>
            <a:pPr marL="101600" lvl="0" algn="just">
              <a:lnSpc>
                <a:spcPct val="115000"/>
              </a:lnSpc>
              <a:spcBef>
                <a:spcPts val="1600"/>
              </a:spcBef>
              <a:buClr>
                <a:schemeClr val="dk1"/>
              </a:buClr>
              <a:buSzPts val="2000"/>
            </a:pPr>
            <a:endParaRPr lang="vi-VN" sz="1600" b="1" dirty="0">
              <a:solidFill>
                <a:schemeClr val="dk1"/>
              </a:solidFill>
              <a:ea typeface="Maven Pro"/>
              <a:cs typeface="Maven Pro"/>
              <a:sym typeface="Maven Pro"/>
            </a:endParaRPr>
          </a:p>
          <a:p>
            <a:pPr marL="101600" lvl="0" algn="just">
              <a:lnSpc>
                <a:spcPct val="115000"/>
              </a:lnSpc>
              <a:spcBef>
                <a:spcPts val="1600"/>
              </a:spcBef>
              <a:buClr>
                <a:schemeClr val="dk1"/>
              </a:buClr>
              <a:buSzPts val="2000"/>
            </a:pPr>
            <a:endParaRPr lang="vi-VN" sz="1600" dirty="0"/>
          </a:p>
          <a:p>
            <a:pPr marL="101600" algn="just">
              <a:lnSpc>
                <a:spcPct val="115000"/>
              </a:lnSpc>
              <a:spcBef>
                <a:spcPts val="1600"/>
              </a:spcBef>
              <a:buClr>
                <a:schemeClr val="dk1"/>
              </a:buClr>
              <a:buSzPts val="2000"/>
            </a:pPr>
            <a:endParaRPr lang="vi-VN" sz="1600" dirty="0"/>
          </a:p>
          <a:p>
            <a:pPr marL="101600" lvl="0" algn="just">
              <a:lnSpc>
                <a:spcPct val="115000"/>
              </a:lnSpc>
              <a:spcBef>
                <a:spcPts val="1600"/>
              </a:spcBef>
              <a:buClr>
                <a:schemeClr val="dk1"/>
              </a:buClr>
              <a:buSzPts val="2000"/>
            </a:pPr>
            <a:endParaRPr sz="1600" b="1" dirty="0">
              <a:solidFill>
                <a:schemeClr val="dk1"/>
              </a:solidFill>
              <a:latin typeface="+mn-lt"/>
              <a:ea typeface="Maven Pro"/>
              <a:cs typeface="Maven Pro"/>
              <a:sym typeface="Maven Pr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a:solidFill>
                  <a:schemeClr val="lt1"/>
                </a:solidFill>
              </a:rPr>
              <a:t>1. </a:t>
            </a:r>
            <a:r>
              <a:rPr lang="en-US" sz="2400" dirty="0" err="1">
                <a:solidFill>
                  <a:schemeClr val="lt1"/>
                </a:solidFill>
              </a:rPr>
              <a:t>Xây</a:t>
            </a:r>
            <a:r>
              <a:rPr lang="en-US" sz="2400" dirty="0">
                <a:solidFill>
                  <a:schemeClr val="lt1"/>
                </a:solidFill>
              </a:rPr>
              <a:t> </a:t>
            </a:r>
            <a:r>
              <a:rPr lang="en-US" sz="2400" dirty="0" err="1">
                <a:solidFill>
                  <a:schemeClr val="lt1"/>
                </a:solidFill>
              </a:rPr>
              <a:t>dựng</a:t>
            </a:r>
            <a:r>
              <a:rPr lang="en-US" sz="2400" dirty="0">
                <a:solidFill>
                  <a:schemeClr val="lt1"/>
                </a:solidFill>
              </a:rPr>
              <a:t> </a:t>
            </a:r>
            <a:r>
              <a:rPr lang="en-US" sz="2400" dirty="0" err="1">
                <a:solidFill>
                  <a:schemeClr val="lt1"/>
                </a:solidFill>
              </a:rPr>
              <a:t>chiến</a:t>
            </a:r>
            <a:r>
              <a:rPr lang="en-US" sz="2400" dirty="0">
                <a:solidFill>
                  <a:schemeClr val="lt1"/>
                </a:solidFill>
              </a:rPr>
              <a:t> </a:t>
            </a:r>
            <a:r>
              <a:rPr lang="en-US" sz="2400" dirty="0" err="1">
                <a:solidFill>
                  <a:schemeClr val="lt1"/>
                </a:solidFill>
              </a:rPr>
              <a:t>lược</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indent="-342900" algn="just">
              <a:lnSpc>
                <a:spcPct val="115000"/>
              </a:lnSpc>
              <a:spcBef>
                <a:spcPts val="1600"/>
              </a:spcBef>
              <a:buClr>
                <a:schemeClr val="dk1"/>
              </a:buClr>
              <a:buSzPts val="2000"/>
              <a:buFont typeface="+mj-lt"/>
              <a:buAutoNum type="arabicPeriod" startAt="6"/>
            </a:pPr>
            <a:r>
              <a:rPr lang="vi-VN" sz="1600" b="1" dirty="0"/>
              <a:t>Chiến lược </a:t>
            </a:r>
            <a:r>
              <a:rPr lang="en-US" sz="1600" b="1" dirty="0"/>
              <a:t>ML (Linear Regression), Momentum, RSI</a:t>
            </a:r>
            <a:endParaRPr lang="en-US" sz="1600" dirty="0">
              <a:solidFill>
                <a:schemeClr val="tx1"/>
              </a:solidFill>
              <a:ea typeface="Maven Pro"/>
              <a:cs typeface="Maven Pro"/>
              <a:sym typeface="Maven Pro"/>
            </a:endParaRPr>
          </a:p>
          <a:p>
            <a:br>
              <a:rPr lang="en-US" dirty="0"/>
            </a:br>
            <a:endParaRPr lang="en-US" dirty="0"/>
          </a:p>
          <a:p>
            <a:pPr marL="101600" lvl="0" algn="just">
              <a:lnSpc>
                <a:spcPct val="115000"/>
              </a:lnSpc>
              <a:spcBef>
                <a:spcPts val="1600"/>
              </a:spcBef>
              <a:buClr>
                <a:schemeClr val="dk1"/>
              </a:buClr>
              <a:buSzPts val="2000"/>
            </a:pPr>
            <a:endParaRPr lang="vi-VN" sz="1600" b="1" dirty="0">
              <a:solidFill>
                <a:schemeClr val="dk1"/>
              </a:solidFill>
              <a:ea typeface="Maven Pro"/>
              <a:cs typeface="Maven Pro"/>
              <a:sym typeface="Maven Pro"/>
            </a:endParaRPr>
          </a:p>
          <a:p>
            <a:pPr marL="101600" lvl="0" algn="just">
              <a:lnSpc>
                <a:spcPct val="115000"/>
              </a:lnSpc>
              <a:spcBef>
                <a:spcPts val="1600"/>
              </a:spcBef>
              <a:buClr>
                <a:schemeClr val="dk1"/>
              </a:buClr>
              <a:buSzPts val="2000"/>
            </a:pPr>
            <a:endParaRPr lang="vi-VN" sz="1600" dirty="0"/>
          </a:p>
          <a:p>
            <a:pPr marL="101600" algn="just">
              <a:lnSpc>
                <a:spcPct val="115000"/>
              </a:lnSpc>
              <a:spcBef>
                <a:spcPts val="1600"/>
              </a:spcBef>
              <a:buClr>
                <a:schemeClr val="dk1"/>
              </a:buClr>
              <a:buSzPts val="2000"/>
            </a:pPr>
            <a:endParaRPr lang="vi-VN" sz="1600" dirty="0"/>
          </a:p>
          <a:p>
            <a:pPr marL="101600" lvl="0" algn="just">
              <a:lnSpc>
                <a:spcPct val="115000"/>
              </a:lnSpc>
              <a:spcBef>
                <a:spcPts val="1600"/>
              </a:spcBef>
              <a:buClr>
                <a:schemeClr val="dk1"/>
              </a:buClr>
              <a:buSzPts val="2000"/>
            </a:pPr>
            <a:endParaRPr sz="1600" b="1" dirty="0">
              <a:solidFill>
                <a:schemeClr val="dk1"/>
              </a:solidFill>
              <a:latin typeface="+mn-lt"/>
              <a:ea typeface="Maven Pro"/>
              <a:cs typeface="Maven Pro"/>
              <a:sym typeface="Maven Pro"/>
            </a:endParaRPr>
          </a:p>
        </p:txBody>
      </p:sp>
      <p:pic>
        <p:nvPicPr>
          <p:cNvPr id="1026" name="Picture 2" descr="No alt text provided for this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049" y="1262285"/>
            <a:ext cx="4994587" cy="25181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a:solidFill>
                  <a:schemeClr val="lt1"/>
                </a:solidFill>
              </a:rPr>
              <a:t>2. </a:t>
            </a:r>
            <a:r>
              <a:rPr lang="en-US" sz="2400" dirty="0" err="1">
                <a:solidFill>
                  <a:schemeClr val="lt1"/>
                </a:solidFill>
              </a:rPr>
              <a:t>Lập</a:t>
            </a:r>
            <a:r>
              <a:rPr lang="en-US" sz="2400" dirty="0">
                <a:solidFill>
                  <a:schemeClr val="lt1"/>
                </a:solidFill>
              </a:rPr>
              <a:t> </a:t>
            </a:r>
            <a:r>
              <a:rPr lang="en-US" sz="2400" dirty="0" err="1">
                <a:solidFill>
                  <a:schemeClr val="lt1"/>
                </a:solidFill>
              </a:rPr>
              <a:t>trình</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gn="just">
              <a:lnSpc>
                <a:spcPct val="115000"/>
              </a:lnSpc>
              <a:spcBef>
                <a:spcPts val="1600"/>
              </a:spcBef>
              <a:buClr>
                <a:schemeClr val="dk1"/>
              </a:buClr>
              <a:buSzPts val="2000"/>
            </a:pPr>
            <a:r>
              <a:rPr lang="en-US" sz="1600" b="1" dirty="0"/>
              <a:t>Code</a:t>
            </a:r>
            <a:endParaRPr sz="1600" b="1" dirty="0">
              <a:solidFill>
                <a:schemeClr val="dk1"/>
              </a:solidFill>
              <a:latin typeface="+mn-lt"/>
              <a:ea typeface="Maven Pro"/>
              <a:cs typeface="Maven Pro"/>
              <a:sym typeface="Maven Pro"/>
            </a:endParaRPr>
          </a:p>
        </p:txBody>
      </p:sp>
      <p:pic>
        <p:nvPicPr>
          <p:cNvPr id="4" name="Picture 3"/>
          <p:cNvPicPr>
            <a:picLocks noChangeAspect="1"/>
          </p:cNvPicPr>
          <p:nvPr/>
        </p:nvPicPr>
        <p:blipFill>
          <a:blip r:embed="rId2"/>
          <a:stretch>
            <a:fillRect/>
          </a:stretch>
        </p:blipFill>
        <p:spPr>
          <a:xfrm>
            <a:off x="637309" y="1192902"/>
            <a:ext cx="6816291" cy="51716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a:solidFill>
                  <a:schemeClr val="lt1"/>
                </a:solidFill>
              </a:rPr>
              <a:t>3. </a:t>
            </a:r>
            <a:r>
              <a:rPr lang="en-US" sz="2400" dirty="0" err="1">
                <a:solidFill>
                  <a:schemeClr val="lt1"/>
                </a:solidFill>
              </a:rPr>
              <a:t>Backtesting</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gn="just">
              <a:lnSpc>
                <a:spcPct val="115000"/>
              </a:lnSpc>
              <a:spcBef>
                <a:spcPts val="1600"/>
              </a:spcBef>
              <a:buClr>
                <a:schemeClr val="dk1"/>
              </a:buClr>
              <a:buSzPts val="2000"/>
            </a:pPr>
            <a:r>
              <a:rPr lang="en-US" sz="1600" b="1" dirty="0" err="1"/>
              <a:t>Xem</a:t>
            </a:r>
            <a:r>
              <a:rPr lang="en-US" sz="1600" b="1" dirty="0"/>
              <a:t> </a:t>
            </a:r>
            <a:r>
              <a:rPr lang="en-US" sz="1600" b="1" dirty="0" err="1"/>
              <a:t>lại</a:t>
            </a:r>
            <a:r>
              <a:rPr lang="en-US" sz="1600" b="1" dirty="0"/>
              <a:t> code </a:t>
            </a:r>
            <a:r>
              <a:rPr lang="en-US" sz="1600" b="1" dirty="0" err="1"/>
              <a:t>các</a:t>
            </a:r>
            <a:r>
              <a:rPr lang="en-US" sz="1600" b="1" dirty="0"/>
              <a:t> </a:t>
            </a:r>
            <a:r>
              <a:rPr lang="en-US" sz="1600" b="1" dirty="0" err="1"/>
              <a:t>bài</a:t>
            </a:r>
            <a:r>
              <a:rPr lang="en-US" sz="1600" b="1" dirty="0"/>
              <a:t> </a:t>
            </a:r>
            <a:r>
              <a:rPr lang="en-US" sz="1600" b="1" dirty="0" err="1"/>
              <a:t>trước</a:t>
            </a:r>
            <a:endParaRPr sz="1600" b="1" dirty="0">
              <a:solidFill>
                <a:schemeClr val="dk1"/>
              </a:solidFill>
              <a:latin typeface="+mn-lt"/>
              <a:ea typeface="Maven Pro"/>
              <a:cs typeface="Maven Pro"/>
              <a:sym typeface="Maven Pr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a:solidFill>
                  <a:schemeClr val="lt1"/>
                </a:solidFill>
              </a:rPr>
              <a:t>4. </a:t>
            </a:r>
            <a:r>
              <a:rPr lang="en-US" sz="2400" dirty="0" err="1">
                <a:solidFill>
                  <a:schemeClr val="lt1"/>
                </a:solidFill>
              </a:rPr>
              <a:t>Tự</a:t>
            </a:r>
            <a:r>
              <a:rPr lang="en-US" sz="2400" dirty="0">
                <a:solidFill>
                  <a:schemeClr val="lt1"/>
                </a:solidFill>
              </a:rPr>
              <a:t> </a:t>
            </a:r>
            <a:r>
              <a:rPr lang="en-US" sz="2400" dirty="0" err="1">
                <a:solidFill>
                  <a:schemeClr val="lt1"/>
                </a:solidFill>
              </a:rPr>
              <a:t>động</a:t>
            </a:r>
            <a:r>
              <a:rPr lang="en-US" sz="2400" dirty="0">
                <a:solidFill>
                  <a:schemeClr val="lt1"/>
                </a:solidFill>
              </a:rPr>
              <a:t> </a:t>
            </a:r>
            <a:r>
              <a:rPr lang="en-US" sz="2400" dirty="0" err="1">
                <a:solidFill>
                  <a:schemeClr val="lt1"/>
                </a:solidFill>
              </a:rPr>
              <a:t>hóa</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gn="just">
              <a:lnSpc>
                <a:spcPct val="115000"/>
              </a:lnSpc>
              <a:spcBef>
                <a:spcPts val="1600"/>
              </a:spcBef>
              <a:buClr>
                <a:schemeClr val="dk1"/>
              </a:buClr>
              <a:buSzPts val="2000"/>
            </a:pPr>
            <a:r>
              <a:rPr lang="en-US" sz="1600" b="1" dirty="0" err="1"/>
              <a:t>Xem</a:t>
            </a:r>
            <a:r>
              <a:rPr lang="en-US" sz="1600" b="1" dirty="0"/>
              <a:t> </a:t>
            </a:r>
            <a:r>
              <a:rPr lang="en-US" sz="1600" b="1" dirty="0" err="1"/>
              <a:t>lại</a:t>
            </a:r>
            <a:r>
              <a:rPr lang="en-US" sz="1600" b="1" dirty="0"/>
              <a:t> code </a:t>
            </a:r>
            <a:r>
              <a:rPr lang="en-US" sz="1600" b="1" dirty="0" err="1"/>
              <a:t>các</a:t>
            </a:r>
            <a:r>
              <a:rPr lang="en-US" sz="1600" b="1" dirty="0"/>
              <a:t> </a:t>
            </a:r>
            <a:r>
              <a:rPr lang="en-US" sz="1600" b="1" dirty="0" err="1"/>
              <a:t>bài</a:t>
            </a:r>
            <a:r>
              <a:rPr lang="en-US" sz="1600" b="1" dirty="0"/>
              <a:t> </a:t>
            </a:r>
            <a:r>
              <a:rPr lang="en-US" sz="1600" b="1" dirty="0" err="1"/>
              <a:t>trước</a:t>
            </a:r>
            <a:endParaRPr sz="1600" b="1" dirty="0">
              <a:solidFill>
                <a:schemeClr val="dk1"/>
              </a:solidFill>
              <a:latin typeface="+mn-lt"/>
              <a:ea typeface="Maven Pro"/>
              <a:cs typeface="Maven Pro"/>
              <a:sym typeface="Maven Pr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a:solidFill>
                  <a:schemeClr val="lt1"/>
                </a:solidFill>
              </a:rPr>
              <a:t>5. Order Good</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gn="just">
              <a:lnSpc>
                <a:spcPct val="115000"/>
              </a:lnSpc>
              <a:spcBef>
                <a:spcPts val="1600"/>
              </a:spcBef>
              <a:buClr>
                <a:schemeClr val="dk1"/>
              </a:buClr>
              <a:buSzPts val="2000"/>
            </a:pPr>
            <a:r>
              <a:rPr lang="vi-VN" sz="1600" dirty="0">
                <a:solidFill>
                  <a:srgbClr val="FF0000"/>
                </a:solidFill>
              </a:rPr>
              <a:t>OG</a:t>
            </a:r>
            <a:r>
              <a:rPr lang="vi-VN" sz="1600" dirty="0"/>
              <a:t> (Order Good): Đây là một điểm kiểm tra hoặc một tín hiệu trong hệ thống giao dịch để xác định cơ hội giao dịch tốt, hay một điểm vào lệnh tối ưu. Nó có thể dựa trên một phân tích kỹ thuật, tin tức cơ bản hoặc một kết hợp của cả hai, và chỉ ra rằng một lệnh mua hoặc bán có thể được thực hiện dựa trên các điều kiện đã được xác định trước.</a:t>
            </a:r>
            <a:endParaRPr lang="en-US" sz="1600" dirty="0"/>
          </a:p>
          <a:p>
            <a:pPr marL="444500" lvl="0" indent="-342900" algn="just">
              <a:lnSpc>
                <a:spcPct val="115000"/>
              </a:lnSpc>
              <a:spcBef>
                <a:spcPts val="1600"/>
              </a:spcBef>
              <a:buClr>
                <a:schemeClr val="dk1"/>
              </a:buClr>
              <a:buSzPts val="2000"/>
              <a:buAutoNum type="arabicPeriod"/>
            </a:pPr>
            <a:r>
              <a:rPr lang="en-US" sz="1600" b="1" dirty="0" err="1">
                <a:solidFill>
                  <a:schemeClr val="dk1"/>
                </a:solidFill>
                <a:latin typeface="+mn-lt"/>
                <a:ea typeface="Maven Pro"/>
                <a:cs typeface="Maven Pro"/>
                <a:sym typeface="Maven Pro"/>
              </a:rPr>
              <a:t>GetData</a:t>
            </a:r>
            <a:endParaRPr lang="en-US" sz="1600" b="1" dirty="0">
              <a:solidFill>
                <a:schemeClr val="dk1"/>
              </a:solidFill>
              <a:latin typeface="+mn-lt"/>
              <a:ea typeface="Maven Pro"/>
              <a:cs typeface="Maven Pro"/>
              <a:sym typeface="Maven Pro"/>
            </a:endParaRPr>
          </a:p>
          <a:p>
            <a:pPr marL="387350" lvl="0" indent="-285750" algn="just">
              <a:lnSpc>
                <a:spcPct val="115000"/>
              </a:lnSpc>
              <a:spcBef>
                <a:spcPts val="1600"/>
              </a:spcBef>
              <a:buClr>
                <a:schemeClr val="dk1"/>
              </a:buClr>
              <a:buSzPts val="2000"/>
              <a:buFontTx/>
              <a:buChar char="-"/>
            </a:pPr>
            <a:r>
              <a:rPr lang="en-US" sz="1600" b="1" dirty="0" err="1">
                <a:solidFill>
                  <a:schemeClr val="dk1"/>
                </a:solidFill>
                <a:latin typeface="+mn-lt"/>
                <a:ea typeface="Maven Pro"/>
                <a:cs typeface="Maven Pro"/>
                <a:sym typeface="Maven Pro"/>
              </a:rPr>
              <a:t>Sử</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dụng</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các</a:t>
            </a:r>
            <a:r>
              <a:rPr lang="en-US" sz="1600" b="1" dirty="0">
                <a:solidFill>
                  <a:schemeClr val="dk1"/>
                </a:solidFill>
                <a:latin typeface="+mn-lt"/>
                <a:ea typeface="Maven Pro"/>
                <a:cs typeface="Maven Pro"/>
                <a:sym typeface="Maven Pro"/>
              </a:rPr>
              <a:t> module </a:t>
            </a:r>
            <a:r>
              <a:rPr lang="en-US" sz="1600" b="1" dirty="0" err="1">
                <a:solidFill>
                  <a:schemeClr val="dk1"/>
                </a:solidFill>
                <a:latin typeface="+mn-lt"/>
                <a:ea typeface="Maven Pro"/>
                <a:cs typeface="Maven Pro"/>
                <a:sym typeface="Maven Pro"/>
              </a:rPr>
              <a:t>trong</a:t>
            </a:r>
            <a:r>
              <a:rPr lang="en-US" sz="1600" b="1" dirty="0">
                <a:solidFill>
                  <a:schemeClr val="dk1"/>
                </a:solidFill>
                <a:latin typeface="+mn-lt"/>
                <a:ea typeface="Maven Pro"/>
                <a:cs typeface="Maven Pro"/>
                <a:sym typeface="Maven Pro"/>
              </a:rPr>
              <a:t> Common</a:t>
            </a:r>
            <a:endParaRPr lang="en-US" sz="1600" b="1" dirty="0">
              <a:solidFill>
                <a:schemeClr val="dk1"/>
              </a:solidFill>
              <a:latin typeface="+mn-lt"/>
              <a:ea typeface="Maven Pro"/>
              <a:cs typeface="Maven Pro"/>
              <a:sym typeface="Maven Pro"/>
            </a:endParaRPr>
          </a:p>
          <a:p>
            <a:pPr marL="387350" lvl="0" indent="-285750" algn="just">
              <a:lnSpc>
                <a:spcPct val="115000"/>
              </a:lnSpc>
              <a:spcBef>
                <a:spcPts val="1600"/>
              </a:spcBef>
              <a:buClr>
                <a:schemeClr val="dk1"/>
              </a:buClr>
              <a:buSzPts val="2000"/>
              <a:buFontTx/>
              <a:buChar char="-"/>
            </a:pPr>
            <a:r>
              <a:rPr lang="en-US" sz="1600" b="1" dirty="0" err="1">
                <a:solidFill>
                  <a:schemeClr val="dk1"/>
                </a:solidFill>
                <a:latin typeface="+mn-lt"/>
                <a:ea typeface="Maven Pro"/>
                <a:cs typeface="Maven Pro"/>
                <a:sym typeface="Maven Pro"/>
              </a:rPr>
              <a:t>Bao</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gồm</a:t>
            </a:r>
            <a:r>
              <a:rPr lang="en-US" sz="1600" b="1" dirty="0">
                <a:solidFill>
                  <a:schemeClr val="dk1"/>
                </a:solidFill>
                <a:latin typeface="+mn-lt"/>
                <a:ea typeface="Maven Pro"/>
                <a:cs typeface="Maven Pro"/>
                <a:sym typeface="Maven Pro"/>
              </a:rPr>
              <a:t> MT5, </a:t>
            </a:r>
            <a:r>
              <a:rPr lang="en-US" sz="1600" b="1" dirty="0" err="1">
                <a:solidFill>
                  <a:schemeClr val="dk1"/>
                </a:solidFill>
                <a:latin typeface="+mn-lt"/>
                <a:ea typeface="Maven Pro"/>
                <a:cs typeface="Maven Pro"/>
                <a:sym typeface="Maven Pro"/>
              </a:rPr>
              <a:t>Binance</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yfinance</a:t>
            </a:r>
            <a:r>
              <a:rPr lang="en-US" sz="1600" b="1" dirty="0">
                <a:solidFill>
                  <a:schemeClr val="dk1"/>
                </a:solidFill>
                <a:latin typeface="+mn-lt"/>
                <a:ea typeface="Maven Pro"/>
                <a:cs typeface="Maven Pro"/>
                <a:sym typeface="Maven Pro"/>
              </a:rPr>
              <a:t>, SSI</a:t>
            </a:r>
            <a:endParaRPr lang="en-US" sz="1600" b="1" dirty="0">
              <a:solidFill>
                <a:schemeClr val="dk1"/>
              </a:solidFill>
              <a:latin typeface="+mn-lt"/>
              <a:ea typeface="Maven Pro"/>
              <a:cs typeface="Maven Pro"/>
              <a:sym typeface="Maven Pro"/>
            </a:endParaRPr>
          </a:p>
          <a:p>
            <a:pPr marL="444500" lvl="0" indent="-342900" algn="just">
              <a:lnSpc>
                <a:spcPct val="115000"/>
              </a:lnSpc>
              <a:spcBef>
                <a:spcPts val="1600"/>
              </a:spcBef>
              <a:buClr>
                <a:schemeClr val="dk1"/>
              </a:buClr>
              <a:buSzPts val="2000"/>
              <a:buFont typeface="+mj-lt"/>
              <a:buAutoNum type="arabicPeriod" startAt="2"/>
            </a:pPr>
            <a:r>
              <a:rPr lang="en-US" sz="1600" b="1" dirty="0" err="1">
                <a:solidFill>
                  <a:schemeClr val="dk1"/>
                </a:solidFill>
                <a:latin typeface="+mn-lt"/>
                <a:ea typeface="Maven Pro"/>
                <a:cs typeface="Maven Pro"/>
                <a:sym typeface="Maven Pro"/>
              </a:rPr>
              <a:t>Xác</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định</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tín</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hiệu</a:t>
            </a:r>
            <a:endParaRPr lang="en-US" sz="1600" b="1" dirty="0">
              <a:solidFill>
                <a:schemeClr val="dk1"/>
              </a:solidFill>
              <a:latin typeface="+mn-lt"/>
              <a:ea typeface="Maven Pro"/>
              <a:cs typeface="Maven Pro"/>
              <a:sym typeface="Maven Pro"/>
            </a:endParaRPr>
          </a:p>
          <a:p>
            <a:pPr marL="444500" lvl="0" indent="-342900" algn="just">
              <a:lnSpc>
                <a:spcPct val="115000"/>
              </a:lnSpc>
              <a:spcBef>
                <a:spcPts val="1600"/>
              </a:spcBef>
              <a:buClr>
                <a:schemeClr val="dk1"/>
              </a:buClr>
              <a:buSzPts val="2000"/>
              <a:buAutoNum type="arabicPeriod" startAt="2"/>
            </a:pPr>
            <a:r>
              <a:rPr lang="en-US" sz="1600" b="1" dirty="0" err="1">
                <a:solidFill>
                  <a:schemeClr val="dk1"/>
                </a:solidFill>
                <a:latin typeface="+mn-lt"/>
                <a:ea typeface="Maven Pro"/>
                <a:cs typeface="Maven Pro"/>
                <a:sym typeface="Maven Pro"/>
              </a:rPr>
              <a:t>Bắn</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tín</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hiệu</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lên</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bộ</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nhớ</a:t>
            </a:r>
            <a:endParaRPr sz="1600" b="1" dirty="0">
              <a:solidFill>
                <a:schemeClr val="dk1"/>
              </a:solidFill>
              <a:latin typeface="+mn-lt"/>
              <a:ea typeface="Maven Pro"/>
              <a:cs typeface="Maven Pro"/>
              <a:sym typeface="Maven Pr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a:solidFill>
                  <a:schemeClr val="lt1"/>
                </a:solidFill>
              </a:rPr>
              <a:t>6. Order Follower</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gn="just">
              <a:lnSpc>
                <a:spcPct val="115000"/>
              </a:lnSpc>
              <a:spcBef>
                <a:spcPts val="1600"/>
              </a:spcBef>
              <a:buClr>
                <a:schemeClr val="dk1"/>
              </a:buClr>
              <a:buSzPts val="2000"/>
            </a:pPr>
            <a:r>
              <a:rPr lang="vi-VN" sz="1600" b="1" dirty="0"/>
              <a:t>OF (Order Follower)</a:t>
            </a:r>
            <a:r>
              <a:rPr lang="vi-VN" sz="1600" dirty="0"/>
              <a:t>: Khi một lệnh giao dịch đã được đặt (dựa trên "Order Good"), "Order Follower" </a:t>
            </a:r>
            <a:r>
              <a:rPr lang="vi-VN" sz="1600" b="1" dirty="0"/>
              <a:t>là quá trình theo dõi lệnh đó</a:t>
            </a:r>
            <a:r>
              <a:rPr lang="vi-VN" sz="1600" dirty="0"/>
              <a:t>. Điều này bao gồm việc quản lý lệnh, như đặt các lệnh dừng lỗ (stop-loss), chốt lời (take-profit), hoặc thậm chí là hủy lệnh nếu điều kiện thị trường thay đổi hoặc lệnh không được kích hoạt trong một khoảng thời gian nhất định.</a:t>
            </a:r>
            <a:endParaRPr lang="en-US" sz="1600" dirty="0"/>
          </a:p>
          <a:p>
            <a:pPr marL="444500" lvl="0" indent="-342900" algn="just">
              <a:lnSpc>
                <a:spcPct val="115000"/>
              </a:lnSpc>
              <a:spcBef>
                <a:spcPts val="1600"/>
              </a:spcBef>
              <a:buClr>
                <a:schemeClr val="dk1"/>
              </a:buClr>
              <a:buSzPts val="2000"/>
              <a:buAutoNum type="arabicPeriod"/>
            </a:pPr>
            <a:r>
              <a:rPr lang="en-US" sz="1600" b="1" dirty="0" err="1">
                <a:solidFill>
                  <a:schemeClr val="dk1"/>
                </a:solidFill>
                <a:latin typeface="+mn-lt"/>
                <a:ea typeface="Maven Pro"/>
                <a:cs typeface="Maven Pro"/>
                <a:sym typeface="Maven Pro"/>
              </a:rPr>
              <a:t>Đọc</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bộ</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nhớ</a:t>
            </a:r>
            <a:endParaRPr lang="en-US" sz="1600" b="1" dirty="0">
              <a:solidFill>
                <a:schemeClr val="dk1"/>
              </a:solidFill>
              <a:latin typeface="+mn-lt"/>
              <a:ea typeface="Maven Pro"/>
              <a:cs typeface="Maven Pro"/>
              <a:sym typeface="Maven Pro"/>
            </a:endParaRPr>
          </a:p>
          <a:p>
            <a:pPr marL="444500" lvl="0" indent="-342900" algn="just">
              <a:lnSpc>
                <a:spcPct val="115000"/>
              </a:lnSpc>
              <a:spcBef>
                <a:spcPts val="1600"/>
              </a:spcBef>
              <a:buClr>
                <a:schemeClr val="dk1"/>
              </a:buClr>
              <a:buSzPts val="2000"/>
              <a:buAutoNum type="arabicPeriod"/>
            </a:pPr>
            <a:r>
              <a:rPr lang="en-US" sz="1600" b="1" dirty="0" err="1">
                <a:solidFill>
                  <a:schemeClr val="dk1"/>
                </a:solidFill>
                <a:latin typeface="+mn-lt"/>
                <a:ea typeface="Maven Pro"/>
                <a:cs typeface="Maven Pro"/>
                <a:sym typeface="Maven Pro"/>
              </a:rPr>
              <a:t>Vào</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lệnh</a:t>
            </a:r>
            <a:r>
              <a:rPr lang="en-US" sz="1600" b="1" dirty="0">
                <a:solidFill>
                  <a:schemeClr val="dk1"/>
                </a:solidFill>
                <a:latin typeface="+mn-lt"/>
                <a:ea typeface="Maven Pro"/>
                <a:cs typeface="Maven Pro"/>
                <a:sym typeface="Maven Pro"/>
              </a:rPr>
              <a:t> (</a:t>
            </a:r>
            <a:r>
              <a:rPr lang="en-US" sz="1600" b="1" dirty="0" err="1">
                <a:solidFill>
                  <a:schemeClr val="dk1"/>
                </a:solidFill>
                <a:latin typeface="+mn-lt"/>
                <a:ea typeface="Maven Pro"/>
                <a:cs typeface="Maven Pro"/>
                <a:sym typeface="Maven Pro"/>
              </a:rPr>
              <a:t>OrderSend</a:t>
            </a:r>
            <a:r>
              <a:rPr lang="en-US" sz="1600" b="1" dirty="0">
                <a:solidFill>
                  <a:schemeClr val="dk1"/>
                </a:solidFill>
                <a:latin typeface="+mn-lt"/>
                <a:ea typeface="Maven Pro"/>
                <a:cs typeface="Maven Pro"/>
                <a:sym typeface="Maven Pro"/>
              </a:rPr>
              <a:t>)</a:t>
            </a:r>
            <a:endParaRPr lang="en-US" sz="1600" b="1" dirty="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endParaRPr sz="1600" b="1" dirty="0">
              <a:solidFill>
                <a:schemeClr val="dk1"/>
              </a:solidFill>
              <a:latin typeface="+mn-lt"/>
              <a:ea typeface="Maven Pro"/>
              <a:cs typeface="Maven Pro"/>
              <a:sym typeface="Maven Pr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35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8747</Words>
  <Application>WPS Slides</Application>
  <PresentationFormat>On-screen Show (4:3)</PresentationFormat>
  <Paragraphs>244</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Calibri</vt:lpstr>
      <vt:lpstr>Maven Pro</vt:lpstr>
      <vt:lpstr>Arial (body)</vt:lpstr>
      <vt:lpstr>Open Sans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Đặng Trí Thanh</cp:lastModifiedBy>
  <cp:revision>57</cp:revision>
  <dcterms:created xsi:type="dcterms:W3CDTF">2021-10-18T16:01:00Z</dcterms:created>
  <dcterms:modified xsi:type="dcterms:W3CDTF">2025-04-10T13:42:18Z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37D7968731CC47AB88DF60D6C2D281B2_12</vt:lpwstr>
  </property>
  <property fmtid="{D5CDD505-2E9C-101B-9397-08002B2CF9AE}" pid="3" name="KSOProductBuildVer">
    <vt:lpwstr>1033-12.2.0.20782</vt:lpwstr>
  </property>
</Properties>
</file>