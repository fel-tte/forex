
<file path=[Content_Types].xml><?xml version="1.0" encoding="utf-8"?>
<Types xmlns="http://schemas.openxmlformats.org/package/2006/content-types">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3"/>
  </p:notesMasterIdLst>
  <p:sldIdLst>
    <p:sldId id="256" r:id="rId2"/>
    <p:sldId id="257" r:id="rId3"/>
    <p:sldId id="314" r:id="rId4"/>
    <p:sldId id="316" r:id="rId5"/>
    <p:sldId id="317" r:id="rId6"/>
    <p:sldId id="318" r:id="rId7"/>
    <p:sldId id="319" r:id="rId8"/>
    <p:sldId id="320" r:id="rId9"/>
    <p:sldId id="321" r:id="rId10"/>
    <p:sldId id="322" r:id="rId11"/>
    <p:sldId id="323" r:id="rId12"/>
    <p:sldId id="324" r:id="rId13"/>
    <p:sldId id="325" r:id="rId14"/>
    <p:sldId id="315" r:id="rId15"/>
    <p:sldId id="258" r:id="rId16"/>
    <p:sldId id="299" r:id="rId17"/>
    <p:sldId id="301" r:id="rId18"/>
    <p:sldId id="303" r:id="rId19"/>
    <p:sldId id="304" r:id="rId20"/>
    <p:sldId id="305" r:id="rId21"/>
    <p:sldId id="306" r:id="rId22"/>
    <p:sldId id="307" r:id="rId23"/>
    <p:sldId id="309" r:id="rId24"/>
    <p:sldId id="310" r:id="rId25"/>
    <p:sldId id="311" r:id="rId26"/>
    <p:sldId id="326" r:id="rId27"/>
    <p:sldId id="327" r:id="rId28"/>
    <p:sldId id="312" r:id="rId29"/>
    <p:sldId id="313" r:id="rId30"/>
    <p:sldId id="328" r:id="rId31"/>
    <p:sldId id="298" r:id="rId32"/>
  </p:sldIdLst>
  <p:sldSz cx="9144000" cy="6858000" type="screen4x3"/>
  <p:notesSz cx="6858000" cy="9144000"/>
  <p:embeddedFontLst>
    <p:embeddedFont>
      <p:font typeface="Calibri" panose="020F0502020204030204" pitchFamily="34" charset="0"/>
      <p:regular r:id="rId34"/>
      <p:bold r:id="rId35"/>
      <p:italic r:id="rId36"/>
      <p:boldItalic r:id="rId37"/>
    </p:embeddedFont>
    <p:embeddedFont>
      <p:font typeface="Maven Pro" panose="020B0604020202020204" charset="0"/>
      <p:regular r:id="rId38"/>
      <p:bold r:id="rId38"/>
    </p:embeddedFont>
    <p:embeddedFont>
      <p:font typeface="Open Sans" panose="020B0604020202020204" charset="0"/>
      <p:regular r:id="rId38"/>
      <p:bold r:id="rId38"/>
      <p:italic r:id="rId38"/>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2" roundtripDataSignature="AMtx7miLuvLDgVYVs9hyvdZvGAnRWQ2r2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3" d="100"/>
          <a:sy n="83" d="100"/>
        </p:scale>
        <p:origin x="145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font" Target="fonts/font1.fntdata"/><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52"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56"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font" Target="NUL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vi-V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0ee0ad700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 name="Google Shape;86;g20ee0ad700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 name="Google Shape;91;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277532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087332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859547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934774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818209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412809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177971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402312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014435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683543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333154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771171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371599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893400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669437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185924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609984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165549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473882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324877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6677466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0309424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3149189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0924219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0738853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8390525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2030222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1" name="Google Shape;351;p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28"/>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2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9"/>
        <p:cNvGrpSpPr/>
        <p:nvPr/>
      </p:nvGrpSpPr>
      <p:grpSpPr>
        <a:xfrm>
          <a:off x="0" y="0"/>
          <a:ext cx="0" cy="0"/>
          <a:chOff x="0" y="0"/>
          <a:chExt cx="0" cy="0"/>
        </a:xfrm>
      </p:grpSpPr>
      <p:sp>
        <p:nvSpPr>
          <p:cNvPr id="20" name="Google Shape;20;p29"/>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29"/>
          <p:cNvSpPr txBox="1">
            <a:spLocks noGrp="1"/>
          </p:cNvSpPr>
          <p:nvPr>
            <p:ph type="body" idx="1"/>
          </p:nvPr>
        </p:nvSpPr>
        <p:spPr>
          <a:xfrm>
            <a:off x="6286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 name="Google Shape;22;p29"/>
          <p:cNvSpPr txBox="1">
            <a:spLocks noGrp="1"/>
          </p:cNvSpPr>
          <p:nvPr>
            <p:ph type="body" idx="2"/>
          </p:nvPr>
        </p:nvSpPr>
        <p:spPr>
          <a:xfrm>
            <a:off x="46291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3" name="Google Shape;23;p29"/>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29"/>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9"/>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6"/>
        <p:cNvGrpSpPr/>
        <p:nvPr/>
      </p:nvGrpSpPr>
      <p:grpSpPr>
        <a:xfrm>
          <a:off x="0" y="0"/>
          <a:ext cx="0" cy="0"/>
          <a:chOff x="0" y="0"/>
          <a:chExt cx="0" cy="0"/>
        </a:xfrm>
      </p:grpSpPr>
      <p:sp>
        <p:nvSpPr>
          <p:cNvPr id="27" name="Google Shape;27;p30"/>
          <p:cNvSpPr txBox="1">
            <a:spLocks noGrp="1"/>
          </p:cNvSpPr>
          <p:nvPr>
            <p:ph type="ctrTitle"/>
          </p:nvPr>
        </p:nvSpPr>
        <p:spPr>
          <a:xfrm>
            <a:off x="685800" y="1122363"/>
            <a:ext cx="77724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30"/>
          <p:cNvSpPr txBox="1">
            <a:spLocks noGrp="1"/>
          </p:cNvSpPr>
          <p:nvPr>
            <p:ph type="subTitle" idx="1"/>
          </p:nvPr>
        </p:nvSpPr>
        <p:spPr>
          <a:xfrm>
            <a:off x="1143000" y="3602038"/>
            <a:ext cx="6858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9" name="Google Shape;29;p30"/>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30"/>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30"/>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2"/>
        <p:cNvGrpSpPr/>
        <p:nvPr/>
      </p:nvGrpSpPr>
      <p:grpSpPr>
        <a:xfrm>
          <a:off x="0" y="0"/>
          <a:ext cx="0" cy="0"/>
          <a:chOff x="0" y="0"/>
          <a:chExt cx="0" cy="0"/>
        </a:xfrm>
      </p:grpSpPr>
      <p:sp>
        <p:nvSpPr>
          <p:cNvPr id="33" name="Google Shape;33;p31"/>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31"/>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 name="Google Shape;35;p31"/>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31"/>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31"/>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8"/>
        <p:cNvGrpSpPr/>
        <p:nvPr/>
      </p:nvGrpSpPr>
      <p:grpSpPr>
        <a:xfrm>
          <a:off x="0" y="0"/>
          <a:ext cx="0" cy="0"/>
          <a:chOff x="0" y="0"/>
          <a:chExt cx="0" cy="0"/>
        </a:xfrm>
      </p:grpSpPr>
      <p:sp>
        <p:nvSpPr>
          <p:cNvPr id="39" name="Google Shape;39;p32"/>
          <p:cNvSpPr txBox="1">
            <a:spLocks noGrp="1"/>
          </p:cNvSpPr>
          <p:nvPr>
            <p:ph type="title"/>
          </p:nvPr>
        </p:nvSpPr>
        <p:spPr>
          <a:xfrm>
            <a:off x="623888" y="1709739"/>
            <a:ext cx="78867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32"/>
          <p:cNvSpPr txBox="1">
            <a:spLocks noGrp="1"/>
          </p:cNvSpPr>
          <p:nvPr>
            <p:ph type="body" idx="1"/>
          </p:nvPr>
        </p:nvSpPr>
        <p:spPr>
          <a:xfrm>
            <a:off x="623888" y="4589464"/>
            <a:ext cx="78867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2400"/>
              <a:buNone/>
              <a:defRPr sz="2400">
                <a:solidFill>
                  <a:schemeClr val="dk1"/>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1" name="Google Shape;41;p32"/>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32"/>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3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33"/>
          <p:cNvSpPr txBox="1">
            <a:spLocks noGrp="1"/>
          </p:cNvSpPr>
          <p:nvPr>
            <p:ph type="title"/>
          </p:nvPr>
        </p:nvSpPr>
        <p:spPr>
          <a:xfrm>
            <a:off x="629841"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33"/>
          <p:cNvSpPr txBox="1">
            <a:spLocks noGrp="1"/>
          </p:cNvSpPr>
          <p:nvPr>
            <p:ph type="body" idx="1"/>
          </p:nvPr>
        </p:nvSpPr>
        <p:spPr>
          <a:xfrm>
            <a:off x="629842" y="1681163"/>
            <a:ext cx="386834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7" name="Google Shape;47;p33"/>
          <p:cNvSpPr txBox="1">
            <a:spLocks noGrp="1"/>
          </p:cNvSpPr>
          <p:nvPr>
            <p:ph type="body" idx="2"/>
          </p:nvPr>
        </p:nvSpPr>
        <p:spPr>
          <a:xfrm>
            <a:off x="629842" y="2505075"/>
            <a:ext cx="3868340"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33"/>
          <p:cNvSpPr txBox="1">
            <a:spLocks noGrp="1"/>
          </p:cNvSpPr>
          <p:nvPr>
            <p:ph type="body" idx="3"/>
          </p:nvPr>
        </p:nvSpPr>
        <p:spPr>
          <a:xfrm>
            <a:off x="4629150" y="1681163"/>
            <a:ext cx="38873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9" name="Google Shape;49;p33"/>
          <p:cNvSpPr txBox="1">
            <a:spLocks noGrp="1"/>
          </p:cNvSpPr>
          <p:nvPr>
            <p:ph type="body" idx="4"/>
          </p:nvPr>
        </p:nvSpPr>
        <p:spPr>
          <a:xfrm>
            <a:off x="4629150" y="2505075"/>
            <a:ext cx="3887391"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33"/>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33"/>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33"/>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34"/>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34"/>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34"/>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4"/>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35"/>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5"/>
          <p:cNvSpPr txBox="1">
            <a:spLocks noGrp="1"/>
          </p:cNvSpPr>
          <p:nvPr>
            <p:ph type="body" idx="1"/>
          </p:nvPr>
        </p:nvSpPr>
        <p:spPr>
          <a:xfrm>
            <a:off x="3887391" y="987426"/>
            <a:ext cx="462915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35"/>
          <p:cNvSpPr txBox="1">
            <a:spLocks noGrp="1"/>
          </p:cNvSpPr>
          <p:nvPr>
            <p:ph type="body" idx="2"/>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35"/>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35"/>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5"/>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36"/>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6"/>
          <p:cNvSpPr>
            <a:spLocks noGrp="1"/>
          </p:cNvSpPr>
          <p:nvPr>
            <p:ph type="pic" idx="2"/>
          </p:nvPr>
        </p:nvSpPr>
        <p:spPr>
          <a:xfrm>
            <a:off x="3887391" y="987426"/>
            <a:ext cx="4629150" cy="4873625"/>
          </a:xfrm>
          <a:prstGeom prst="rect">
            <a:avLst/>
          </a:prstGeom>
          <a:noFill/>
          <a:ln>
            <a:noFill/>
          </a:ln>
        </p:spPr>
      </p:sp>
      <p:sp>
        <p:nvSpPr>
          <p:cNvPr id="68" name="Google Shape;68;p36"/>
          <p:cNvSpPr txBox="1">
            <a:spLocks noGrp="1"/>
          </p:cNvSpPr>
          <p:nvPr>
            <p:ph type="body" idx="1"/>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36"/>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6"/>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36"/>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37"/>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37"/>
          <p:cNvSpPr txBox="1">
            <a:spLocks noGrp="1"/>
          </p:cNvSpPr>
          <p:nvPr>
            <p:ph type="body" idx="1"/>
          </p:nvPr>
        </p:nvSpPr>
        <p:spPr>
          <a:xfrm rot="5400000">
            <a:off x="2396331" y="57944"/>
            <a:ext cx="4351338" cy="78867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37"/>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37"/>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3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38"/>
          <p:cNvSpPr txBox="1">
            <a:spLocks noGrp="1"/>
          </p:cNvSpPr>
          <p:nvPr>
            <p:ph type="title"/>
          </p:nvPr>
        </p:nvSpPr>
        <p:spPr>
          <a:xfrm rot="5400000">
            <a:off x="4623594" y="2285207"/>
            <a:ext cx="5811838" cy="19716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38"/>
          <p:cNvSpPr txBox="1">
            <a:spLocks noGrp="1"/>
          </p:cNvSpPr>
          <p:nvPr>
            <p:ph type="body" idx="1"/>
          </p:nvPr>
        </p:nvSpPr>
        <p:spPr>
          <a:xfrm rot="5400000">
            <a:off x="623094" y="370681"/>
            <a:ext cx="5811838" cy="58007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38"/>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3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3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vi-V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7"/>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27"/>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27"/>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7"/>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vi-V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88" name="Google Shape;88;g20ee0ad7006_1_0" descr="Logo&#10;&#10;Description automatically generated with medium confidence"/>
          <p:cNvPicPr preferRelativeResize="0"/>
          <p:nvPr/>
        </p:nvPicPr>
        <p:blipFill rotWithShape="1">
          <a:blip r:embed="rId3">
            <a:alphaModFix/>
          </a:blip>
          <a:srcRect/>
          <a:stretch/>
        </p:blipFill>
        <p:spPr>
          <a:xfrm>
            <a:off x="0" y="0"/>
            <a:ext cx="9144000" cy="6858000"/>
          </a:xfrm>
          <a:prstGeom prst="rect">
            <a:avLst/>
          </a:prstGeom>
          <a:noFill/>
          <a:ln>
            <a:noFill/>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2"/>
        <p:cNvGrpSpPr/>
        <p:nvPr/>
      </p:nvGrpSpPr>
      <p:grpSpPr>
        <a:xfrm>
          <a:off x="0" y="0"/>
          <a:ext cx="0" cy="0"/>
          <a:chOff x="0" y="0"/>
          <a:chExt cx="0" cy="0"/>
        </a:xfrm>
      </p:grpSpPr>
      <p:sp>
        <p:nvSpPr>
          <p:cNvPr id="93" name="Google Shape;93;p2"/>
          <p:cNvSpPr txBox="1"/>
          <p:nvPr/>
        </p:nvSpPr>
        <p:spPr>
          <a:xfrm>
            <a:off x="1710635" y="1809406"/>
            <a:ext cx="6531666"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vi-VN" sz="2800" b="1" i="0" u="none" strike="noStrike" cap="none">
                <a:solidFill>
                  <a:srgbClr val="FF0000"/>
                </a:solidFill>
                <a:latin typeface="Arial"/>
                <a:ea typeface="Arial"/>
                <a:cs typeface="Arial"/>
                <a:sym typeface="Arial"/>
              </a:rPr>
              <a:t>Machine Learning For Investment</a:t>
            </a:r>
            <a:endParaRPr sz="2800" b="1" i="0" u="none" strike="noStrike" cap="none">
              <a:solidFill>
                <a:srgbClr val="FF0000"/>
              </a:solidFill>
              <a:latin typeface="Arial"/>
              <a:ea typeface="Arial"/>
              <a:cs typeface="Arial"/>
              <a:sym typeface="Arial"/>
            </a:endParaRPr>
          </a:p>
        </p:txBody>
      </p:sp>
      <p:sp>
        <p:nvSpPr>
          <p:cNvPr id="94" name="Google Shape;94;p2"/>
          <p:cNvSpPr txBox="1"/>
          <p:nvPr/>
        </p:nvSpPr>
        <p:spPr>
          <a:xfrm>
            <a:off x="2781301" y="3025123"/>
            <a:ext cx="6191400" cy="95406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vi-VN" sz="2800" b="1" i="1" u="none" strike="noStrike" cap="none" dirty="0">
                <a:solidFill>
                  <a:srgbClr val="FF0000"/>
                </a:solidFill>
                <a:latin typeface="Arial"/>
                <a:ea typeface="Arial"/>
                <a:cs typeface="Arial"/>
                <a:sym typeface="Arial"/>
              </a:rPr>
              <a:t>Chủ đề</a:t>
            </a:r>
            <a:r>
              <a:rPr lang="vi-VN" sz="2800" b="1" i="1" u="none" strike="noStrike" cap="none" dirty="0" smtClean="0">
                <a:solidFill>
                  <a:srgbClr val="FF0000"/>
                </a:solidFill>
                <a:latin typeface="Arial"/>
                <a:ea typeface="Arial"/>
                <a:cs typeface="Arial"/>
                <a:sym typeface="Arial"/>
              </a:rPr>
              <a:t>:</a:t>
            </a:r>
            <a:r>
              <a:rPr lang="en-US" sz="2800" b="1" i="1" u="none" strike="noStrike" cap="none" dirty="0" smtClean="0">
                <a:solidFill>
                  <a:srgbClr val="FF0000"/>
                </a:solidFill>
                <a:latin typeface="Arial"/>
                <a:ea typeface="Arial"/>
                <a:cs typeface="Arial"/>
                <a:sym typeface="Arial"/>
              </a:rPr>
              <a:t> </a:t>
            </a:r>
            <a:r>
              <a:rPr lang="en-US" sz="2800" b="1" i="1" dirty="0" err="1" smtClean="0">
                <a:solidFill>
                  <a:srgbClr val="FF0000"/>
                </a:solidFill>
              </a:rPr>
              <a:t>Vào</a:t>
            </a:r>
            <a:r>
              <a:rPr lang="en-US" sz="2800" b="1" i="1" dirty="0" smtClean="0">
                <a:solidFill>
                  <a:srgbClr val="FF0000"/>
                </a:solidFill>
              </a:rPr>
              <a:t> </a:t>
            </a:r>
            <a:r>
              <a:rPr lang="en-US" sz="2800" b="1" i="1" dirty="0" err="1" smtClean="0">
                <a:solidFill>
                  <a:srgbClr val="FF0000"/>
                </a:solidFill>
              </a:rPr>
              <a:t>lệnh</a:t>
            </a:r>
            <a:r>
              <a:rPr lang="en-US" sz="2800" b="1" i="1" dirty="0" smtClean="0">
                <a:solidFill>
                  <a:srgbClr val="FF0000"/>
                </a:solidFill>
              </a:rPr>
              <a:t> </a:t>
            </a:r>
            <a:r>
              <a:rPr lang="en-US" sz="2800" b="1" i="1" dirty="0" err="1" smtClean="0">
                <a:solidFill>
                  <a:srgbClr val="FF0000"/>
                </a:solidFill>
              </a:rPr>
              <a:t>giao</a:t>
            </a:r>
            <a:r>
              <a:rPr lang="en-US" sz="2800" b="1" i="1" dirty="0" smtClean="0">
                <a:solidFill>
                  <a:srgbClr val="FF0000"/>
                </a:solidFill>
              </a:rPr>
              <a:t> </a:t>
            </a:r>
            <a:r>
              <a:rPr lang="en-US" sz="2800" b="1" i="1" dirty="0" err="1" smtClean="0">
                <a:solidFill>
                  <a:srgbClr val="FF0000"/>
                </a:solidFill>
              </a:rPr>
              <a:t>dịch</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800"/>
              <a:buFont typeface="Arial"/>
              <a:buNone/>
            </a:pPr>
            <a:endParaRPr sz="2800" b="1" i="1" u="none" strike="noStrike" cap="none" dirty="0">
              <a:solidFill>
                <a:srgbClr val="FF0000"/>
              </a:solidFill>
              <a:latin typeface="Arial"/>
              <a:ea typeface="Arial"/>
              <a:cs typeface="Arial"/>
              <a:sym typeface="Arial"/>
            </a:endParaRPr>
          </a:p>
        </p:txBody>
      </p:sp>
      <p:sp>
        <p:nvSpPr>
          <p:cNvPr id="95" name="Google Shape;95;p2"/>
          <p:cNvSpPr txBox="1"/>
          <p:nvPr/>
        </p:nvSpPr>
        <p:spPr>
          <a:xfrm>
            <a:off x="5482536" y="4841005"/>
            <a:ext cx="3402846" cy="95406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0" i="1" u="none" strike="noStrike" cap="none" dirty="0" smtClean="0">
                <a:solidFill>
                  <a:schemeClr val="dk1"/>
                </a:solidFill>
                <a:latin typeface="Arial"/>
                <a:ea typeface="Arial"/>
                <a:cs typeface="Arial"/>
                <a:sym typeface="Arial"/>
              </a:rPr>
              <a:t>G</a:t>
            </a:r>
            <a:r>
              <a:rPr lang="vi-VN" sz="2800" b="0" i="1" u="none" strike="noStrike" cap="none" dirty="0" smtClean="0">
                <a:solidFill>
                  <a:schemeClr val="dk1"/>
                </a:solidFill>
                <a:latin typeface="Arial"/>
                <a:ea typeface="Arial"/>
                <a:cs typeface="Arial"/>
                <a:sym typeface="Arial"/>
              </a:rPr>
              <a:t>V.</a:t>
            </a:r>
            <a:r>
              <a:rPr lang="en-US" sz="2800" i="1" dirty="0" smtClean="0">
                <a:solidFill>
                  <a:schemeClr val="dk1"/>
                </a:solidFill>
              </a:rPr>
              <a:t>Đặng Trí Thanh</a:t>
            </a:r>
          </a:p>
          <a:p>
            <a:pPr marL="0" marR="0" lvl="0" indent="0" algn="l" rtl="0">
              <a:lnSpc>
                <a:spcPct val="100000"/>
              </a:lnSpc>
              <a:spcBef>
                <a:spcPts val="0"/>
              </a:spcBef>
              <a:spcAft>
                <a:spcPts val="0"/>
              </a:spcAft>
              <a:buClr>
                <a:srgbClr val="000000"/>
              </a:buClr>
              <a:buSzPts val="2800"/>
              <a:buFont typeface="Arial"/>
              <a:buNone/>
            </a:pPr>
            <a:r>
              <a:rPr lang="en-US" sz="2800" b="0" i="1" u="none" strike="noStrike" cap="none" dirty="0">
                <a:solidFill>
                  <a:schemeClr val="dk1"/>
                </a:solidFill>
                <a:latin typeface="Arial"/>
                <a:ea typeface="Arial"/>
                <a:cs typeface="Arial"/>
                <a:sym typeface="Arial"/>
              </a:rPr>
              <a:t> </a:t>
            </a:r>
            <a:r>
              <a:rPr lang="en-US" sz="2800" b="0" i="1" u="none" strike="noStrike" cap="none" dirty="0" smtClean="0">
                <a:solidFill>
                  <a:schemeClr val="dk1"/>
                </a:solidFill>
                <a:latin typeface="Arial"/>
                <a:ea typeface="Arial"/>
                <a:cs typeface="Arial"/>
                <a:sym typeface="Arial"/>
              </a:rPr>
              <a:t>     </a:t>
            </a:r>
            <a:r>
              <a:rPr lang="en-US" sz="2800" b="0" i="1" u="none" strike="noStrike" cap="none" dirty="0" err="1" smtClean="0">
                <a:solidFill>
                  <a:schemeClr val="dk1"/>
                </a:solidFill>
                <a:latin typeface="Arial"/>
                <a:ea typeface="Arial"/>
                <a:cs typeface="Arial"/>
                <a:sym typeface="Arial"/>
              </a:rPr>
              <a:t>Huỳnh</a:t>
            </a:r>
            <a:r>
              <a:rPr lang="en-US" sz="2800" b="0" i="1" u="none" strike="noStrike" cap="none" dirty="0" smtClean="0">
                <a:solidFill>
                  <a:schemeClr val="dk1"/>
                </a:solidFill>
                <a:latin typeface="Arial"/>
                <a:ea typeface="Arial"/>
                <a:cs typeface="Arial"/>
                <a:sym typeface="Arial"/>
              </a:rPr>
              <a:t> Văn Nam</a:t>
            </a:r>
            <a:endParaRPr sz="1400" b="0" i="0" u="none" strike="noStrike" cap="none" dirty="0">
              <a:solidFill>
                <a:srgbClr val="000000"/>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a:buNone/>
              <a:tabLst/>
              <a:defRPr/>
            </a:pPr>
            <a:r>
              <a:rPr kumimoji="0" lang="en-US" sz="2400" b="1" i="0" u="none" strike="noStrike" kern="0" cap="none" spc="0" normalizeH="0" baseline="0" noProof="0" dirty="0" err="1" smtClean="0">
                <a:ln>
                  <a:noFill/>
                </a:ln>
                <a:solidFill>
                  <a:srgbClr val="FFFFFF"/>
                </a:solidFill>
                <a:effectLst/>
                <a:uLnTx/>
                <a:uFillTx/>
                <a:latin typeface="Arial"/>
                <a:cs typeface="Arial"/>
                <a:sym typeface="Arial"/>
              </a:rPr>
              <a:t>Đặt</a:t>
            </a:r>
            <a:r>
              <a:rPr kumimoji="0" lang="en-US" sz="2400" b="1" i="0" u="none" strike="noStrike" kern="0" cap="none" spc="0" normalizeH="0" baseline="0" noProof="0" dirty="0" smtClean="0">
                <a:ln>
                  <a:noFill/>
                </a:ln>
                <a:solidFill>
                  <a:srgbClr val="FFFFFF"/>
                </a:solidFill>
                <a:effectLst/>
                <a:uLnTx/>
                <a:uFillTx/>
                <a:latin typeface="Arial"/>
                <a:cs typeface="Arial"/>
                <a:sym typeface="Arial"/>
              </a:rPr>
              <a:t> </a:t>
            </a:r>
            <a:r>
              <a:rPr kumimoji="0" lang="en-US" sz="2400" b="1" i="0" u="none" strike="noStrike" kern="0" cap="none" spc="0" normalizeH="0" baseline="0" noProof="0" dirty="0" err="1" smtClean="0">
                <a:ln>
                  <a:noFill/>
                </a:ln>
                <a:solidFill>
                  <a:srgbClr val="FFFFFF"/>
                </a:solidFill>
                <a:effectLst/>
                <a:uLnTx/>
                <a:uFillTx/>
                <a:latin typeface="Arial"/>
                <a:cs typeface="Arial"/>
                <a:sym typeface="Arial"/>
              </a:rPr>
              <a:t>câu</a:t>
            </a:r>
            <a:r>
              <a:rPr kumimoji="0" lang="en-US" sz="2400" b="1" i="0" u="none" strike="noStrike" kern="0" cap="none" spc="0" normalizeH="0" baseline="0" noProof="0" dirty="0" smtClean="0">
                <a:ln>
                  <a:noFill/>
                </a:ln>
                <a:solidFill>
                  <a:srgbClr val="FFFFFF"/>
                </a:solidFill>
                <a:effectLst/>
                <a:uLnTx/>
                <a:uFillTx/>
                <a:latin typeface="Arial"/>
                <a:cs typeface="Arial"/>
                <a:sym typeface="Arial"/>
              </a:rPr>
              <a:t> </a:t>
            </a:r>
            <a:r>
              <a:rPr kumimoji="0" lang="en-US" sz="2400" b="1" i="0" u="none" strike="noStrike" kern="0" cap="none" spc="0" normalizeH="0" baseline="0" noProof="0" dirty="0" err="1" smtClean="0">
                <a:ln>
                  <a:noFill/>
                </a:ln>
                <a:solidFill>
                  <a:srgbClr val="FFFFFF"/>
                </a:solidFill>
                <a:effectLst/>
                <a:uLnTx/>
                <a:uFillTx/>
                <a:latin typeface="Arial"/>
                <a:cs typeface="Arial"/>
                <a:sym typeface="Arial"/>
              </a:rPr>
              <a:t>hỏi</a:t>
            </a:r>
            <a:r>
              <a:rPr kumimoji="0" lang="en-US" sz="2400" b="1" i="0" u="none" strike="noStrike" kern="0" cap="none" spc="0" normalizeH="0" baseline="0" noProof="0" dirty="0" smtClean="0">
                <a:ln>
                  <a:noFill/>
                </a:ln>
                <a:solidFill>
                  <a:srgbClr val="FFFFFF"/>
                </a:solidFill>
                <a:effectLst/>
                <a:uLnTx/>
                <a:uFillTx/>
                <a:latin typeface="Arial"/>
                <a:cs typeface="Arial"/>
                <a:sym typeface="Arial"/>
              </a:rPr>
              <a:t> 1: </a:t>
            </a:r>
            <a:r>
              <a:rPr kumimoji="0" lang="en-US" sz="2400" b="1" i="0" u="none" strike="noStrike" kern="0" cap="none" spc="0" normalizeH="0" baseline="0" noProof="0" dirty="0" err="1" smtClean="0">
                <a:ln>
                  <a:noFill/>
                </a:ln>
                <a:solidFill>
                  <a:srgbClr val="FFFFFF"/>
                </a:solidFill>
                <a:effectLst/>
                <a:uLnTx/>
                <a:uFillTx/>
                <a:latin typeface="Arial"/>
                <a:cs typeface="Arial"/>
                <a:sym typeface="Arial"/>
              </a:rPr>
              <a:t>Trên</a:t>
            </a:r>
            <a:r>
              <a:rPr kumimoji="0" lang="en-US" sz="2400" b="1" i="0" u="none" strike="noStrike" kern="0" cap="none" spc="0" normalizeH="0" noProof="0" dirty="0" smtClean="0">
                <a:ln>
                  <a:noFill/>
                </a:ln>
                <a:solidFill>
                  <a:srgbClr val="FFFFFF"/>
                </a:solidFill>
                <a:effectLst/>
                <a:uLnTx/>
                <a:uFillTx/>
                <a:latin typeface="Arial"/>
                <a:cs typeface="Arial"/>
                <a:sym typeface="Arial"/>
              </a:rPr>
              <a:t> Crypto </a:t>
            </a:r>
            <a:r>
              <a:rPr kumimoji="0" lang="en-US" sz="2400" b="1" i="0" u="none" strike="noStrike" kern="0" cap="none" spc="0" normalizeH="0" noProof="0" dirty="0" err="1" smtClean="0">
                <a:ln>
                  <a:noFill/>
                </a:ln>
                <a:solidFill>
                  <a:srgbClr val="FFFFFF"/>
                </a:solidFill>
                <a:effectLst/>
                <a:uLnTx/>
                <a:uFillTx/>
                <a:latin typeface="Arial"/>
                <a:cs typeface="Arial"/>
                <a:sym typeface="Arial"/>
              </a:rPr>
              <a:t>Binance</a:t>
            </a:r>
            <a:endParaRPr kumimoji="0" sz="2400" b="1" i="0" u="none" strike="noStrike" kern="0" cap="none" spc="0" normalizeH="0" baseline="0" noProof="0" dirty="0">
              <a:ln>
                <a:noFill/>
              </a:ln>
              <a:solidFill>
                <a:srgbClr val="FFFFFF"/>
              </a:solidFill>
              <a:effectLst/>
              <a:uLnTx/>
              <a:uFillTx/>
              <a:latin typeface="Arial"/>
              <a:cs typeface="Arial"/>
              <a:sym typeface="Arial"/>
            </a:endParaRPr>
          </a:p>
        </p:txBody>
      </p:sp>
      <p:sp>
        <p:nvSpPr>
          <p:cNvPr id="101" name="Google Shape;101;p3"/>
          <p:cNvSpPr txBox="1"/>
          <p:nvPr/>
        </p:nvSpPr>
        <p:spPr>
          <a:xfrm>
            <a:off x="424875" y="692425"/>
            <a:ext cx="8285100" cy="3467400"/>
          </a:xfrm>
          <a:prstGeom prst="rect">
            <a:avLst/>
          </a:prstGeom>
          <a:noFill/>
          <a:ln>
            <a:noFill/>
          </a:ln>
        </p:spPr>
        <p:txBody>
          <a:bodyPr spcFirstLastPara="1" wrap="square" lIns="91425" tIns="91425" rIns="91425" bIns="91425" anchor="t" anchorCtr="0">
            <a:noAutofit/>
          </a:bodyPr>
          <a:lstStyle/>
          <a:p>
            <a:pPr marL="101600" marR="0" lvl="0" indent="0" algn="just" defTabSz="914400" rtl="0" eaLnBrk="1" fontAlgn="auto" latinLnBrk="0" hangingPunct="1">
              <a:lnSpc>
                <a:spcPct val="115000"/>
              </a:lnSpc>
              <a:spcBef>
                <a:spcPts val="1600"/>
              </a:spcBef>
              <a:spcAft>
                <a:spcPts val="0"/>
              </a:spcAft>
              <a:buClr>
                <a:srgbClr val="000000"/>
              </a:buClr>
              <a:buSzTx/>
              <a:buFont typeface="Arial"/>
              <a:buNone/>
              <a:tabLst/>
              <a:defRPr/>
            </a:pPr>
            <a:r>
              <a:rPr kumimoji="0" lang="en-US" sz="1800" b="1" i="0" u="none" strike="noStrike" kern="0" cap="none" spc="0" normalizeH="0" baseline="0" noProof="0" dirty="0" err="1" smtClean="0">
                <a:ln>
                  <a:noFill/>
                </a:ln>
                <a:solidFill>
                  <a:srgbClr val="000000"/>
                </a:solidFill>
                <a:effectLst/>
                <a:uLnTx/>
                <a:uFillTx/>
                <a:latin typeface="Arial"/>
                <a:cs typeface="Arial"/>
                <a:sym typeface="Arial"/>
              </a:rPr>
              <a:t>Chúng</a:t>
            </a:r>
            <a:r>
              <a:rPr kumimoji="0" lang="en-US" sz="1800" b="1" i="0" u="none" strike="noStrike" kern="0" cap="none" spc="0" normalizeH="0" baseline="0" noProof="0" dirty="0" smtClean="0">
                <a:ln>
                  <a:noFill/>
                </a:ln>
                <a:solidFill>
                  <a:srgbClr val="000000"/>
                </a:solidFill>
                <a:effectLst/>
                <a:uLnTx/>
                <a:uFillTx/>
                <a:latin typeface="Arial"/>
                <a:cs typeface="Arial"/>
                <a:sym typeface="Arial"/>
              </a:rPr>
              <a:t> ta </a:t>
            </a:r>
            <a:r>
              <a:rPr kumimoji="0" lang="en-US" sz="1800" b="1" i="0" u="none" strike="noStrike" kern="0" cap="none" spc="0" normalizeH="0" baseline="0" noProof="0" dirty="0" err="1" smtClean="0">
                <a:ln>
                  <a:noFill/>
                </a:ln>
                <a:solidFill>
                  <a:srgbClr val="000000"/>
                </a:solidFill>
                <a:effectLst/>
                <a:uLnTx/>
                <a:uFillTx/>
                <a:latin typeface="Arial"/>
                <a:cs typeface="Arial"/>
                <a:sym typeface="Arial"/>
              </a:rPr>
              <a:t>có</a:t>
            </a:r>
            <a:r>
              <a:rPr kumimoji="0" lang="en-US" sz="1800" b="1" i="0" u="none" strike="noStrike" kern="0" cap="none" spc="0" normalizeH="0" baseline="0" noProof="0" dirty="0" smtClean="0">
                <a:ln>
                  <a:noFill/>
                </a:ln>
                <a:solidFill>
                  <a:srgbClr val="000000"/>
                </a:solidFill>
                <a:effectLst/>
                <a:uLnTx/>
                <a:uFillTx/>
                <a:latin typeface="Arial"/>
                <a:cs typeface="Arial"/>
                <a:sym typeface="Arial"/>
              </a:rPr>
              <a:t> </a:t>
            </a:r>
            <a:r>
              <a:rPr kumimoji="0" lang="en-US" sz="1800" b="1" i="0" u="none" strike="noStrike" kern="0" cap="none" spc="0" normalizeH="0" baseline="0" noProof="0" dirty="0" err="1" smtClean="0">
                <a:ln>
                  <a:noFill/>
                </a:ln>
                <a:solidFill>
                  <a:srgbClr val="000000"/>
                </a:solidFill>
                <a:effectLst/>
                <a:uLnTx/>
                <a:uFillTx/>
                <a:latin typeface="Arial"/>
                <a:cs typeface="Arial"/>
                <a:sym typeface="Arial"/>
              </a:rPr>
              <a:t>chiến</a:t>
            </a:r>
            <a:r>
              <a:rPr kumimoji="0" lang="en-US" sz="1800" b="1" i="0" u="none" strike="noStrike" kern="0" cap="none" spc="0" normalizeH="0" baseline="0" noProof="0" dirty="0" smtClean="0">
                <a:ln>
                  <a:noFill/>
                </a:ln>
                <a:solidFill>
                  <a:srgbClr val="000000"/>
                </a:solidFill>
                <a:effectLst/>
                <a:uLnTx/>
                <a:uFillTx/>
                <a:latin typeface="Arial"/>
                <a:cs typeface="Arial"/>
                <a:sym typeface="Arial"/>
              </a:rPr>
              <a:t> </a:t>
            </a:r>
            <a:r>
              <a:rPr kumimoji="0" lang="en-US" sz="1800" b="1" i="0" u="none" strike="noStrike" kern="0" cap="none" spc="0" normalizeH="0" baseline="0" noProof="0" dirty="0" err="1" smtClean="0">
                <a:ln>
                  <a:noFill/>
                </a:ln>
                <a:solidFill>
                  <a:srgbClr val="000000"/>
                </a:solidFill>
                <a:effectLst/>
                <a:uLnTx/>
                <a:uFillTx/>
                <a:latin typeface="Arial"/>
                <a:cs typeface="Arial"/>
                <a:sym typeface="Arial"/>
              </a:rPr>
              <a:t>lược</a:t>
            </a:r>
            <a:r>
              <a:rPr kumimoji="0" lang="en-US" sz="1800" b="1" i="0" u="none" strike="noStrike" kern="0" cap="none" spc="0" normalizeH="0" baseline="0" noProof="0" dirty="0" smtClean="0">
                <a:ln>
                  <a:noFill/>
                </a:ln>
                <a:solidFill>
                  <a:srgbClr val="000000"/>
                </a:solidFill>
                <a:effectLst/>
                <a:uLnTx/>
                <a:uFillTx/>
                <a:latin typeface="Arial"/>
                <a:cs typeface="Arial"/>
                <a:sym typeface="Arial"/>
              </a:rPr>
              <a:t> </a:t>
            </a:r>
            <a:r>
              <a:rPr kumimoji="0" lang="en-US" sz="1800" b="1" i="0" u="none" strike="noStrike" kern="0" cap="none" spc="0" normalizeH="0" baseline="0" noProof="0" dirty="0" err="1" smtClean="0">
                <a:ln>
                  <a:noFill/>
                </a:ln>
                <a:solidFill>
                  <a:srgbClr val="000000"/>
                </a:solidFill>
                <a:effectLst/>
                <a:uLnTx/>
                <a:uFillTx/>
                <a:latin typeface="Arial"/>
                <a:cs typeface="Arial"/>
                <a:sym typeface="Arial"/>
              </a:rPr>
              <a:t>như</a:t>
            </a:r>
            <a:r>
              <a:rPr kumimoji="0" lang="en-US" sz="1800" b="1" i="0" u="none" strike="noStrike" kern="0" cap="none" spc="0" normalizeH="0" baseline="0" noProof="0" dirty="0" smtClean="0">
                <a:ln>
                  <a:noFill/>
                </a:ln>
                <a:solidFill>
                  <a:srgbClr val="000000"/>
                </a:solidFill>
                <a:effectLst/>
                <a:uLnTx/>
                <a:uFillTx/>
                <a:latin typeface="Arial"/>
                <a:cs typeface="Arial"/>
                <a:sym typeface="Arial"/>
              </a:rPr>
              <a:t> </a:t>
            </a:r>
            <a:r>
              <a:rPr kumimoji="0" lang="en-US" sz="1800" b="1" i="0" u="none" strike="noStrike" kern="0" cap="none" spc="0" normalizeH="0" baseline="0" noProof="0" dirty="0" err="1" smtClean="0">
                <a:ln>
                  <a:noFill/>
                </a:ln>
                <a:solidFill>
                  <a:srgbClr val="000000"/>
                </a:solidFill>
                <a:effectLst/>
                <a:uLnTx/>
                <a:uFillTx/>
                <a:latin typeface="Arial"/>
                <a:cs typeface="Arial"/>
                <a:sym typeface="Arial"/>
              </a:rPr>
              <a:t>sau</a:t>
            </a:r>
            <a:r>
              <a:rPr kumimoji="0" lang="en-US" sz="1800" b="1" i="0" u="none" strike="noStrike" kern="0" cap="none" spc="0" normalizeH="0" baseline="0" noProof="0" dirty="0">
                <a:ln>
                  <a:noFill/>
                </a:ln>
                <a:solidFill>
                  <a:srgbClr val="000000"/>
                </a:solidFill>
                <a:effectLst/>
                <a:uLnTx/>
                <a:uFillTx/>
                <a:latin typeface="Arial"/>
                <a:cs typeface="Arial"/>
                <a:sym typeface="Arial"/>
              </a:rPr>
              <a:t>:</a:t>
            </a:r>
            <a:endParaRPr kumimoji="0" lang="en-US" sz="1800" b="1" i="0" u="none" strike="noStrike" kern="0" cap="none" spc="0" normalizeH="0" baseline="0" noProof="0" dirty="0" smtClean="0">
              <a:ln>
                <a:noFill/>
              </a:ln>
              <a:solidFill>
                <a:srgbClr val="000000"/>
              </a:solidFill>
              <a:effectLst/>
              <a:uLnTx/>
              <a:uFillTx/>
              <a:latin typeface="Arial"/>
              <a:cs typeface="Arial"/>
              <a:sym typeface="Arial"/>
            </a:endParaRPr>
          </a:p>
          <a:p>
            <a:pPr marL="101600" marR="0" lvl="0" indent="0" algn="just" defTabSz="914400" rtl="0" eaLnBrk="1" fontAlgn="auto" latinLnBrk="0" hangingPunct="1">
              <a:lnSpc>
                <a:spcPct val="115000"/>
              </a:lnSpc>
              <a:spcBef>
                <a:spcPts val="1600"/>
              </a:spcBef>
              <a:spcAft>
                <a:spcPts val="0"/>
              </a:spcAft>
              <a:buClr>
                <a:srgbClr val="000000"/>
              </a:buClr>
              <a:buSzTx/>
              <a:buFont typeface="Arial"/>
              <a:buNone/>
              <a:tabLst/>
              <a:defRPr/>
            </a:pPr>
            <a:r>
              <a:rPr kumimoji="0" lang="en-US" sz="1800" b="1" i="0" u="none" strike="noStrike" kern="0" cap="none" spc="0" normalizeH="0" baseline="0" noProof="0" dirty="0" err="1" smtClean="0">
                <a:ln>
                  <a:noFill/>
                </a:ln>
                <a:solidFill>
                  <a:srgbClr val="000000"/>
                </a:solidFill>
                <a:effectLst/>
                <a:uLnTx/>
                <a:uFillTx/>
                <a:latin typeface="Arial"/>
                <a:ea typeface="Arial"/>
                <a:cs typeface="Arial"/>
                <a:sym typeface="Arial"/>
              </a:rPr>
              <a:t>Chiến</a:t>
            </a:r>
            <a:r>
              <a:rPr kumimoji="0" lang="en-US" sz="1800" b="1" i="0" u="none" strike="noStrike" kern="0" cap="none" spc="0" normalizeH="0" baseline="0" noProof="0" dirty="0" smtClean="0">
                <a:ln>
                  <a:noFill/>
                </a:ln>
                <a:solidFill>
                  <a:srgbClr val="000000"/>
                </a:solidFill>
                <a:effectLst/>
                <a:uLnTx/>
                <a:uFillTx/>
                <a:latin typeface="Arial"/>
                <a:ea typeface="Arial"/>
                <a:cs typeface="Arial"/>
                <a:sym typeface="Arial"/>
              </a:rPr>
              <a:t> </a:t>
            </a:r>
            <a:r>
              <a:rPr kumimoji="0" lang="en-US" sz="1800" b="1" i="0" u="none" strike="noStrike" kern="0" cap="none" spc="0" normalizeH="0" baseline="0" noProof="0" dirty="0" err="1" smtClean="0">
                <a:ln>
                  <a:noFill/>
                </a:ln>
                <a:solidFill>
                  <a:srgbClr val="000000"/>
                </a:solidFill>
                <a:effectLst/>
                <a:uLnTx/>
                <a:uFillTx/>
                <a:latin typeface="Arial"/>
                <a:ea typeface="Arial"/>
                <a:cs typeface="Arial"/>
                <a:sym typeface="Arial"/>
              </a:rPr>
              <a:t>lược</a:t>
            </a:r>
            <a:r>
              <a:rPr kumimoji="0" lang="en-US" sz="1800" b="1" i="0" u="none" strike="noStrike" kern="0" cap="none" spc="0" normalizeH="0" baseline="0" noProof="0" dirty="0" smtClean="0">
                <a:ln>
                  <a:noFill/>
                </a:ln>
                <a:solidFill>
                  <a:srgbClr val="000000"/>
                </a:solidFill>
                <a:effectLst/>
                <a:uLnTx/>
                <a:uFillTx/>
                <a:latin typeface="Arial"/>
                <a:ea typeface="Arial"/>
                <a:cs typeface="Arial"/>
                <a:sym typeface="Arial"/>
              </a:rPr>
              <a:t> </a:t>
            </a:r>
            <a:r>
              <a:rPr kumimoji="0" lang="en-US" sz="1800" b="1" i="0" u="none" strike="noStrike" kern="0" cap="none" spc="0" normalizeH="0" baseline="0" noProof="0" dirty="0" smtClean="0">
                <a:ln>
                  <a:noFill/>
                </a:ln>
                <a:solidFill>
                  <a:srgbClr val="FF0000"/>
                </a:solidFill>
                <a:effectLst/>
                <a:uLnTx/>
                <a:uFillTx/>
                <a:latin typeface="Arial"/>
                <a:ea typeface="Arial"/>
                <a:cs typeface="Arial"/>
                <a:sym typeface="Arial"/>
              </a:rPr>
              <a:t>ML, Momentum, RSI</a:t>
            </a:r>
            <a:r>
              <a:rPr kumimoji="0" lang="en-US" sz="1800" b="1" i="0" u="none" strike="noStrike" kern="0" cap="none" spc="0" normalizeH="0" baseline="0" noProof="0" dirty="0" smtClean="0">
                <a:ln>
                  <a:noFill/>
                </a:ln>
                <a:solidFill>
                  <a:srgbClr val="000000"/>
                </a:solidFill>
                <a:effectLst/>
                <a:uLnTx/>
                <a:uFillTx/>
                <a:latin typeface="Arial"/>
                <a:ea typeface="Arial"/>
                <a:cs typeface="Arial"/>
                <a:sym typeface="Arial"/>
              </a:rPr>
              <a:t> </a:t>
            </a:r>
            <a:r>
              <a:rPr kumimoji="0" lang="en-US" sz="1800" b="1" i="0" u="none" strike="noStrike" kern="0" cap="none" spc="0" normalizeH="0" baseline="0" noProof="0" dirty="0" err="1" smtClean="0">
                <a:ln>
                  <a:noFill/>
                </a:ln>
                <a:solidFill>
                  <a:srgbClr val="000000"/>
                </a:solidFill>
                <a:effectLst/>
                <a:uLnTx/>
                <a:uFillTx/>
                <a:latin typeface="Arial"/>
                <a:ea typeface="Arial"/>
                <a:cs typeface="Arial"/>
                <a:sym typeface="Arial"/>
              </a:rPr>
              <a:t>hoặc</a:t>
            </a:r>
            <a:r>
              <a:rPr kumimoji="0" lang="en-US" sz="1800" b="1" i="0" u="none" strike="noStrike" kern="0" cap="none" spc="0" normalizeH="0" baseline="0" noProof="0" dirty="0" smtClean="0">
                <a:ln>
                  <a:noFill/>
                </a:ln>
                <a:solidFill>
                  <a:srgbClr val="000000"/>
                </a:solidFill>
                <a:effectLst/>
                <a:uLnTx/>
                <a:uFillTx/>
                <a:latin typeface="Arial"/>
                <a:ea typeface="Arial"/>
                <a:cs typeface="Arial"/>
                <a:sym typeface="Arial"/>
              </a:rPr>
              <a:t> </a:t>
            </a:r>
            <a:r>
              <a:rPr kumimoji="0" lang="en-US" sz="1800" b="1" i="0" u="none" strike="noStrike" kern="0" cap="none" spc="0" normalizeH="0" baseline="0" noProof="0" dirty="0" err="1" smtClean="0">
                <a:ln>
                  <a:noFill/>
                </a:ln>
                <a:solidFill>
                  <a:srgbClr val="000000"/>
                </a:solidFill>
                <a:effectLst/>
                <a:uLnTx/>
                <a:uFillTx/>
                <a:latin typeface="Arial"/>
                <a:ea typeface="Arial"/>
                <a:cs typeface="Arial"/>
                <a:sym typeface="Arial"/>
              </a:rPr>
              <a:t>chiến</a:t>
            </a:r>
            <a:r>
              <a:rPr kumimoji="0" lang="en-US" sz="1800" b="1" i="0" u="none" strike="noStrike" kern="0" cap="none" spc="0" normalizeH="0" baseline="0" noProof="0" dirty="0" smtClean="0">
                <a:ln>
                  <a:noFill/>
                </a:ln>
                <a:solidFill>
                  <a:srgbClr val="000000"/>
                </a:solidFill>
                <a:effectLst/>
                <a:uLnTx/>
                <a:uFillTx/>
                <a:latin typeface="Arial"/>
                <a:ea typeface="Arial"/>
                <a:cs typeface="Arial"/>
                <a:sym typeface="Arial"/>
              </a:rPr>
              <a:t> </a:t>
            </a:r>
            <a:r>
              <a:rPr kumimoji="0" lang="en-US" sz="1800" b="1" i="0" u="none" strike="noStrike" kern="0" cap="none" spc="0" normalizeH="0" baseline="0" noProof="0" dirty="0" err="1" smtClean="0">
                <a:ln>
                  <a:noFill/>
                </a:ln>
                <a:solidFill>
                  <a:srgbClr val="000000"/>
                </a:solidFill>
                <a:effectLst/>
                <a:uLnTx/>
                <a:uFillTx/>
                <a:latin typeface="Arial"/>
                <a:ea typeface="Arial"/>
                <a:cs typeface="Arial"/>
                <a:sym typeface="Arial"/>
              </a:rPr>
              <a:t>lược</a:t>
            </a:r>
            <a:r>
              <a:rPr kumimoji="0" lang="en-US" sz="1800" b="1" i="0" u="none" strike="noStrike" kern="0" cap="none" spc="0" normalizeH="0" baseline="0" noProof="0" dirty="0" smtClean="0">
                <a:ln>
                  <a:noFill/>
                </a:ln>
                <a:solidFill>
                  <a:srgbClr val="000000"/>
                </a:solidFill>
                <a:effectLst/>
                <a:uLnTx/>
                <a:uFillTx/>
                <a:latin typeface="Arial"/>
                <a:ea typeface="Arial"/>
                <a:cs typeface="Arial"/>
                <a:sym typeface="Arial"/>
              </a:rPr>
              <a:t> </a:t>
            </a:r>
            <a:r>
              <a:rPr kumimoji="0" lang="en-US" sz="1800" b="1" i="0" u="none" strike="noStrike" kern="0" cap="none" spc="0" normalizeH="0" baseline="0" noProof="0" dirty="0" smtClean="0">
                <a:ln>
                  <a:noFill/>
                </a:ln>
                <a:solidFill>
                  <a:srgbClr val="FF0000"/>
                </a:solidFill>
                <a:effectLst/>
                <a:uLnTx/>
                <a:uFillTx/>
                <a:latin typeface="Arial"/>
                <a:ea typeface="Arial"/>
                <a:cs typeface="Arial"/>
                <a:sym typeface="Arial"/>
              </a:rPr>
              <a:t>MA, ATR</a:t>
            </a:r>
            <a:r>
              <a:rPr kumimoji="0" lang="en-US" sz="1800" b="1" i="0" u="none" strike="noStrike" kern="0" cap="none" spc="0" normalizeH="0" baseline="0" noProof="0" dirty="0" smtClean="0">
                <a:ln>
                  <a:noFill/>
                </a:ln>
                <a:solidFill>
                  <a:srgbClr val="000000"/>
                </a:solidFill>
                <a:effectLst/>
                <a:uLnTx/>
                <a:uFillTx/>
                <a:latin typeface="Arial"/>
                <a:ea typeface="Arial"/>
                <a:cs typeface="Arial"/>
                <a:sym typeface="Arial"/>
              </a:rPr>
              <a:t>…</a:t>
            </a:r>
          </a:p>
          <a:p>
            <a:pPr marL="101600" marR="0" lvl="0" indent="0" algn="just" defTabSz="914400" rtl="0" eaLnBrk="1" fontAlgn="auto" latinLnBrk="0" hangingPunct="1">
              <a:lnSpc>
                <a:spcPct val="115000"/>
              </a:lnSpc>
              <a:spcBef>
                <a:spcPts val="1600"/>
              </a:spcBef>
              <a:spcAft>
                <a:spcPts val="0"/>
              </a:spcAft>
              <a:buClr>
                <a:srgbClr val="000000"/>
              </a:buClr>
              <a:buSzTx/>
              <a:buFont typeface="Arial"/>
              <a:buNone/>
              <a:tabLst/>
              <a:defRPr/>
            </a:pPr>
            <a:r>
              <a:rPr kumimoji="0" lang="en-US" sz="1800" b="1" i="0" u="none" strike="noStrike" kern="0" cap="none" spc="0" normalizeH="0" baseline="0" noProof="0" dirty="0" err="1">
                <a:ln>
                  <a:noFill/>
                </a:ln>
                <a:solidFill>
                  <a:srgbClr val="000000"/>
                </a:solidFill>
                <a:effectLst/>
                <a:uLnTx/>
                <a:uFillTx/>
                <a:latin typeface="Arial"/>
                <a:cs typeface="Arial"/>
                <a:sym typeface="Arial"/>
              </a:rPr>
              <a:t>để</a:t>
            </a:r>
            <a:r>
              <a:rPr kumimoji="0" lang="en-US" sz="1800" b="1" i="0" u="none" strike="noStrike" kern="0" cap="none" spc="0" normalizeH="0" baseline="0" noProof="0" dirty="0">
                <a:ln>
                  <a:noFill/>
                </a:ln>
                <a:solidFill>
                  <a:srgbClr val="000000"/>
                </a:solidFill>
                <a:effectLst/>
                <a:uLnTx/>
                <a:uFillTx/>
                <a:latin typeface="Arial"/>
                <a:cs typeface="Arial"/>
                <a:sym typeface="Arial"/>
              </a:rPr>
              <a:t> </a:t>
            </a:r>
            <a:r>
              <a:rPr kumimoji="0" lang="en-US" sz="1800" b="1" i="0" u="none" strike="noStrike" kern="0" cap="none" spc="0" normalizeH="0" baseline="0" noProof="0" dirty="0" err="1">
                <a:ln>
                  <a:noFill/>
                </a:ln>
                <a:solidFill>
                  <a:srgbClr val="000000"/>
                </a:solidFill>
                <a:effectLst/>
                <a:uLnTx/>
                <a:uFillTx/>
                <a:latin typeface="Arial"/>
                <a:cs typeface="Arial"/>
                <a:sym typeface="Arial"/>
              </a:rPr>
              <a:t>làm</a:t>
            </a:r>
            <a:r>
              <a:rPr kumimoji="0" lang="en-US" sz="1800" b="1" i="0" u="none" strike="noStrike" kern="0" cap="none" spc="0" normalizeH="0" baseline="0" noProof="0" dirty="0">
                <a:ln>
                  <a:noFill/>
                </a:ln>
                <a:solidFill>
                  <a:srgbClr val="000000"/>
                </a:solidFill>
                <a:effectLst/>
                <a:uLnTx/>
                <a:uFillTx/>
                <a:latin typeface="Arial"/>
                <a:cs typeface="Arial"/>
                <a:sym typeface="Arial"/>
              </a:rPr>
              <a:t> </a:t>
            </a:r>
            <a:r>
              <a:rPr kumimoji="0" lang="en-US" sz="1800" b="1" i="0" u="none" strike="noStrike" kern="0" cap="none" spc="0" normalizeH="0" baseline="0" noProof="0" dirty="0" err="1">
                <a:ln>
                  <a:noFill/>
                </a:ln>
                <a:solidFill>
                  <a:srgbClr val="000000"/>
                </a:solidFill>
                <a:effectLst/>
                <a:uLnTx/>
                <a:uFillTx/>
                <a:latin typeface="Arial"/>
                <a:cs typeface="Arial"/>
                <a:sym typeface="Arial"/>
              </a:rPr>
              <a:t>sao</a:t>
            </a:r>
            <a:r>
              <a:rPr kumimoji="0" lang="en-US" sz="1800" b="1" i="0" u="none" strike="noStrike" kern="0" cap="none" spc="0" normalizeH="0" baseline="0" noProof="0" dirty="0">
                <a:ln>
                  <a:noFill/>
                </a:ln>
                <a:solidFill>
                  <a:srgbClr val="000000"/>
                </a:solidFill>
                <a:effectLst/>
                <a:uLnTx/>
                <a:uFillTx/>
                <a:latin typeface="Arial"/>
                <a:cs typeface="Arial"/>
                <a:sym typeface="Arial"/>
              </a:rPr>
              <a:t> </a:t>
            </a:r>
            <a:r>
              <a:rPr kumimoji="0" lang="en-US" sz="1800" b="1" i="0" u="none" strike="noStrike" kern="0" cap="none" spc="0" normalizeH="0" baseline="0" noProof="0" dirty="0" err="1">
                <a:ln>
                  <a:noFill/>
                </a:ln>
                <a:solidFill>
                  <a:srgbClr val="000000"/>
                </a:solidFill>
                <a:effectLst/>
                <a:uLnTx/>
                <a:uFillTx/>
                <a:latin typeface="Arial"/>
                <a:cs typeface="Arial"/>
                <a:sym typeface="Arial"/>
              </a:rPr>
              <a:t>thực</a:t>
            </a:r>
            <a:r>
              <a:rPr kumimoji="0" lang="en-US" sz="1800" b="1" i="0" u="none" strike="noStrike" kern="0" cap="none" spc="0" normalizeH="0" baseline="0" noProof="0" dirty="0">
                <a:ln>
                  <a:noFill/>
                </a:ln>
                <a:solidFill>
                  <a:srgbClr val="000000"/>
                </a:solidFill>
                <a:effectLst/>
                <a:uLnTx/>
                <a:uFillTx/>
                <a:latin typeface="Arial"/>
                <a:cs typeface="Arial"/>
                <a:sym typeface="Arial"/>
              </a:rPr>
              <a:t> </a:t>
            </a:r>
            <a:r>
              <a:rPr kumimoji="0" lang="en-US" sz="1800" b="1" i="0" u="none" strike="noStrike" kern="0" cap="none" spc="0" normalizeH="0" baseline="0" noProof="0" dirty="0" err="1">
                <a:ln>
                  <a:noFill/>
                </a:ln>
                <a:solidFill>
                  <a:srgbClr val="000000"/>
                </a:solidFill>
                <a:effectLst/>
                <a:uLnTx/>
                <a:uFillTx/>
                <a:latin typeface="Arial"/>
                <a:cs typeface="Arial"/>
                <a:sym typeface="Arial"/>
              </a:rPr>
              <a:t>thi</a:t>
            </a:r>
            <a:r>
              <a:rPr kumimoji="0" lang="en-US" sz="1800" b="1" i="0" u="none" strike="noStrike" kern="0" cap="none" spc="0" normalizeH="0" baseline="0" noProof="0" dirty="0">
                <a:ln>
                  <a:noFill/>
                </a:ln>
                <a:solidFill>
                  <a:srgbClr val="000000"/>
                </a:solidFill>
                <a:effectLst/>
                <a:uLnTx/>
                <a:uFillTx/>
                <a:latin typeface="Arial"/>
                <a:cs typeface="Arial"/>
                <a:sym typeface="Arial"/>
              </a:rPr>
              <a:t> </a:t>
            </a:r>
            <a:r>
              <a:rPr kumimoji="0" lang="en-US" sz="1800" b="1" i="0" u="none" strike="noStrike" kern="0" cap="none" spc="0" normalizeH="0" baseline="0" noProof="0" dirty="0" err="1">
                <a:ln>
                  <a:noFill/>
                </a:ln>
                <a:solidFill>
                  <a:srgbClr val="000000"/>
                </a:solidFill>
                <a:effectLst/>
                <a:uLnTx/>
                <a:uFillTx/>
                <a:latin typeface="Arial"/>
                <a:cs typeface="Arial"/>
                <a:sym typeface="Arial"/>
              </a:rPr>
              <a:t>chiến</a:t>
            </a:r>
            <a:r>
              <a:rPr kumimoji="0" lang="en-US" sz="1800" b="1" i="0" u="none" strike="noStrike" kern="0" cap="none" spc="0" normalizeH="0" baseline="0" noProof="0" dirty="0">
                <a:ln>
                  <a:noFill/>
                </a:ln>
                <a:solidFill>
                  <a:srgbClr val="000000"/>
                </a:solidFill>
                <a:effectLst/>
                <a:uLnTx/>
                <a:uFillTx/>
                <a:latin typeface="Arial"/>
                <a:cs typeface="Arial"/>
                <a:sym typeface="Arial"/>
              </a:rPr>
              <a:t> </a:t>
            </a:r>
            <a:r>
              <a:rPr kumimoji="0" lang="en-US" sz="1800" b="1" i="0" u="none" strike="noStrike" kern="0" cap="none" spc="0" normalizeH="0" baseline="0" noProof="0" dirty="0" err="1">
                <a:ln>
                  <a:noFill/>
                </a:ln>
                <a:solidFill>
                  <a:srgbClr val="000000"/>
                </a:solidFill>
                <a:effectLst/>
                <a:uLnTx/>
                <a:uFillTx/>
                <a:latin typeface="Arial"/>
                <a:cs typeface="Arial"/>
                <a:sym typeface="Arial"/>
              </a:rPr>
              <a:t>lược</a:t>
            </a:r>
            <a:r>
              <a:rPr kumimoji="0" lang="en-US" sz="1800" b="1" i="0" u="none" strike="noStrike" kern="0" cap="none" spc="0" normalizeH="0" baseline="0" noProof="0" dirty="0">
                <a:ln>
                  <a:noFill/>
                </a:ln>
                <a:solidFill>
                  <a:srgbClr val="000000"/>
                </a:solidFill>
                <a:effectLst/>
                <a:uLnTx/>
                <a:uFillTx/>
                <a:latin typeface="Arial"/>
                <a:cs typeface="Arial"/>
                <a:sym typeface="Arial"/>
              </a:rPr>
              <a:t> ML </a:t>
            </a:r>
            <a:r>
              <a:rPr kumimoji="0" lang="en-US" sz="1800" b="1" i="0" u="none" strike="noStrike" kern="0" cap="none" spc="0" normalizeH="0" baseline="0" noProof="0" dirty="0" err="1">
                <a:ln>
                  <a:noFill/>
                </a:ln>
                <a:solidFill>
                  <a:srgbClr val="000000"/>
                </a:solidFill>
                <a:effectLst/>
                <a:uLnTx/>
                <a:uFillTx/>
                <a:latin typeface="Arial"/>
                <a:cs typeface="Arial"/>
                <a:sym typeface="Arial"/>
              </a:rPr>
              <a:t>này</a:t>
            </a:r>
            <a:r>
              <a:rPr kumimoji="0" lang="en-US" sz="1800" b="1" i="0" u="none" strike="noStrike" kern="0" cap="none" spc="0" normalizeH="0" baseline="0" noProof="0" dirty="0">
                <a:ln>
                  <a:noFill/>
                </a:ln>
                <a:solidFill>
                  <a:srgbClr val="000000"/>
                </a:solidFill>
                <a:effectLst/>
                <a:uLnTx/>
                <a:uFillTx/>
                <a:latin typeface="Arial"/>
                <a:cs typeface="Arial"/>
                <a:sym typeface="Arial"/>
              </a:rPr>
              <a:t> </a:t>
            </a:r>
            <a:r>
              <a:rPr kumimoji="0" lang="en-US" sz="1800" b="1" i="0" u="none" strike="noStrike" kern="0" cap="none" spc="0" normalizeH="0" baseline="0" noProof="0" dirty="0" err="1">
                <a:ln>
                  <a:noFill/>
                </a:ln>
                <a:solidFill>
                  <a:srgbClr val="000000"/>
                </a:solidFill>
                <a:effectLst/>
                <a:uLnTx/>
                <a:uFillTx/>
                <a:latin typeface="Arial"/>
                <a:cs typeface="Arial"/>
                <a:sym typeface="Arial"/>
              </a:rPr>
              <a:t>tự</a:t>
            </a:r>
            <a:r>
              <a:rPr kumimoji="0" lang="en-US" sz="1800" b="1" i="0" u="none" strike="noStrike" kern="0" cap="none" spc="0" normalizeH="0" baseline="0" noProof="0" dirty="0">
                <a:ln>
                  <a:noFill/>
                </a:ln>
                <a:solidFill>
                  <a:srgbClr val="000000"/>
                </a:solidFill>
                <a:effectLst/>
                <a:uLnTx/>
                <a:uFillTx/>
                <a:latin typeface="Arial"/>
                <a:cs typeface="Arial"/>
                <a:sym typeface="Arial"/>
              </a:rPr>
              <a:t> </a:t>
            </a:r>
            <a:r>
              <a:rPr kumimoji="0" lang="en-US" sz="1800" b="1" i="0" u="none" strike="noStrike" kern="0" cap="none" spc="0" normalizeH="0" baseline="0" noProof="0" dirty="0" err="1">
                <a:ln>
                  <a:noFill/>
                </a:ln>
                <a:solidFill>
                  <a:srgbClr val="000000"/>
                </a:solidFill>
                <a:effectLst/>
                <a:uLnTx/>
                <a:uFillTx/>
                <a:latin typeface="Arial"/>
                <a:cs typeface="Arial"/>
                <a:sym typeface="Arial"/>
              </a:rPr>
              <a:t>động</a:t>
            </a:r>
            <a:r>
              <a:rPr kumimoji="0" lang="en-US" sz="1800" b="1" i="0" u="none" strike="noStrike" kern="0" cap="none" spc="0" normalizeH="0" baseline="0" noProof="0" dirty="0">
                <a:ln>
                  <a:noFill/>
                </a:ln>
                <a:solidFill>
                  <a:srgbClr val="000000"/>
                </a:solidFill>
                <a:effectLst/>
                <a:uLnTx/>
                <a:uFillTx/>
                <a:latin typeface="Arial"/>
                <a:cs typeface="Arial"/>
                <a:sym typeface="Arial"/>
              </a:rPr>
              <a:t>?</a:t>
            </a:r>
            <a:endParaRPr kumimoji="0" sz="1800" b="1" i="0" u="none" strike="noStrike" kern="0" cap="none" spc="0" normalizeH="0" baseline="0" noProof="0" dirty="0">
              <a:ln>
                <a:noFill/>
              </a:ln>
              <a:solidFill>
                <a:srgbClr val="000000"/>
              </a:solidFill>
              <a:effectLst/>
              <a:uLnTx/>
              <a:uFillTx/>
              <a:latin typeface="Arial"/>
              <a:ea typeface="Arial"/>
              <a:cs typeface="Arial"/>
              <a:sym typeface="Arial"/>
            </a:endParaRPr>
          </a:p>
          <a:p>
            <a:pPr marL="101600" marR="0" lvl="0" indent="0" algn="just" defTabSz="914400" rtl="0" eaLnBrk="1" fontAlgn="auto" latinLnBrk="0" hangingPunct="1">
              <a:lnSpc>
                <a:spcPct val="115000"/>
              </a:lnSpc>
              <a:spcBef>
                <a:spcPts val="1600"/>
              </a:spcBef>
              <a:spcAft>
                <a:spcPts val="0"/>
              </a:spcAft>
              <a:buClr>
                <a:srgbClr val="000000"/>
              </a:buClr>
              <a:buSzTx/>
              <a:buFont typeface="Arial"/>
              <a:buNone/>
              <a:tabLst/>
              <a:defRPr/>
            </a:pPr>
            <a:endParaRPr kumimoji="0" sz="1800" b="1"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5" name="Picture 4"/>
          <p:cNvPicPr>
            <a:picLocks noChangeAspect="1"/>
          </p:cNvPicPr>
          <p:nvPr/>
        </p:nvPicPr>
        <p:blipFill>
          <a:blip r:embed="rId3"/>
          <a:stretch>
            <a:fillRect/>
          </a:stretch>
        </p:blipFill>
        <p:spPr>
          <a:xfrm>
            <a:off x="574099" y="2352242"/>
            <a:ext cx="3499137" cy="1745619"/>
          </a:xfrm>
          <a:prstGeom prst="rect">
            <a:avLst/>
          </a:prstGeom>
        </p:spPr>
      </p:pic>
      <p:pic>
        <p:nvPicPr>
          <p:cNvPr id="6" name="Picture 5"/>
          <p:cNvPicPr>
            <a:picLocks noChangeAspect="1"/>
          </p:cNvPicPr>
          <p:nvPr/>
        </p:nvPicPr>
        <p:blipFill>
          <a:blip r:embed="rId3"/>
          <a:stretch>
            <a:fillRect/>
          </a:stretch>
        </p:blipFill>
        <p:spPr>
          <a:xfrm>
            <a:off x="4806093" y="2287997"/>
            <a:ext cx="3765254" cy="1874108"/>
          </a:xfrm>
          <a:prstGeom prst="rect">
            <a:avLst/>
          </a:prstGeom>
        </p:spPr>
      </p:pic>
      <p:pic>
        <p:nvPicPr>
          <p:cNvPr id="7" name="Picture 6"/>
          <p:cNvPicPr>
            <a:picLocks noChangeAspect="1"/>
          </p:cNvPicPr>
          <p:nvPr/>
        </p:nvPicPr>
        <p:blipFill>
          <a:blip r:embed="rId3"/>
          <a:stretch>
            <a:fillRect/>
          </a:stretch>
        </p:blipFill>
        <p:spPr>
          <a:xfrm>
            <a:off x="574099" y="4171373"/>
            <a:ext cx="3981450" cy="1914525"/>
          </a:xfrm>
          <a:prstGeom prst="rect">
            <a:avLst/>
          </a:prstGeom>
        </p:spPr>
      </p:pic>
      <p:pic>
        <p:nvPicPr>
          <p:cNvPr id="8" name="Picture 7"/>
          <p:cNvPicPr>
            <a:picLocks noChangeAspect="1"/>
          </p:cNvPicPr>
          <p:nvPr/>
        </p:nvPicPr>
        <p:blipFill>
          <a:blip r:embed="rId3"/>
          <a:stretch>
            <a:fillRect/>
          </a:stretch>
        </p:blipFill>
        <p:spPr>
          <a:xfrm>
            <a:off x="4806093" y="4287119"/>
            <a:ext cx="4337907" cy="2040156"/>
          </a:xfrm>
          <a:prstGeom prst="rect">
            <a:avLst/>
          </a:prstGeom>
        </p:spPr>
      </p:pic>
    </p:spTree>
    <p:extLst>
      <p:ext uri="{BB962C8B-B14F-4D97-AF65-F5344CB8AC3E}">
        <p14:creationId xmlns:p14="http://schemas.microsoft.com/office/powerpoint/2010/main" val="17218974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a:buNone/>
              <a:tabLst/>
              <a:defRPr/>
            </a:pPr>
            <a:r>
              <a:rPr kumimoji="0" lang="en-US" sz="2400" b="1" i="0" u="none" strike="noStrike" kern="0" cap="none" spc="0" normalizeH="0" baseline="0" noProof="0" dirty="0" err="1" smtClean="0">
                <a:ln>
                  <a:noFill/>
                </a:ln>
                <a:solidFill>
                  <a:srgbClr val="FFFFFF"/>
                </a:solidFill>
                <a:effectLst/>
                <a:uLnTx/>
                <a:uFillTx/>
                <a:latin typeface="Arial (body)"/>
                <a:sym typeface="Arial"/>
              </a:rPr>
              <a:t>Đặt</a:t>
            </a:r>
            <a:r>
              <a:rPr kumimoji="0" lang="en-US" sz="2400" b="1" i="0" u="none" strike="noStrike" kern="0" cap="none" spc="0" normalizeH="0" baseline="0" noProof="0" dirty="0" smtClean="0">
                <a:ln>
                  <a:noFill/>
                </a:ln>
                <a:solidFill>
                  <a:srgbClr val="FFFFFF"/>
                </a:solidFill>
                <a:effectLst/>
                <a:uLnTx/>
                <a:uFillTx/>
                <a:latin typeface="Arial (body)"/>
                <a:sym typeface="Arial"/>
              </a:rPr>
              <a:t> </a:t>
            </a:r>
            <a:r>
              <a:rPr kumimoji="0" lang="en-US" sz="2400" b="1" i="0" u="none" strike="noStrike" kern="0" cap="none" spc="0" normalizeH="0" baseline="0" noProof="0" dirty="0" err="1" smtClean="0">
                <a:ln>
                  <a:noFill/>
                </a:ln>
                <a:solidFill>
                  <a:srgbClr val="FFFFFF"/>
                </a:solidFill>
                <a:effectLst/>
                <a:uLnTx/>
                <a:uFillTx/>
                <a:latin typeface="Arial (body)"/>
                <a:sym typeface="Arial"/>
              </a:rPr>
              <a:t>câu</a:t>
            </a:r>
            <a:r>
              <a:rPr kumimoji="0" lang="en-US" sz="2400" b="1" i="0" u="none" strike="noStrike" kern="0" cap="none" spc="0" normalizeH="0" baseline="0" noProof="0" dirty="0" smtClean="0">
                <a:ln>
                  <a:noFill/>
                </a:ln>
                <a:solidFill>
                  <a:srgbClr val="FFFFFF"/>
                </a:solidFill>
                <a:effectLst/>
                <a:uLnTx/>
                <a:uFillTx/>
                <a:latin typeface="Arial (body)"/>
                <a:sym typeface="Arial"/>
              </a:rPr>
              <a:t> </a:t>
            </a:r>
            <a:r>
              <a:rPr kumimoji="0" lang="en-US" sz="2400" b="1" i="0" u="none" strike="noStrike" kern="0" cap="none" spc="0" normalizeH="0" baseline="0" noProof="0" dirty="0" err="1" smtClean="0">
                <a:ln>
                  <a:noFill/>
                </a:ln>
                <a:solidFill>
                  <a:srgbClr val="FFFFFF"/>
                </a:solidFill>
                <a:effectLst/>
                <a:uLnTx/>
                <a:uFillTx/>
                <a:latin typeface="Arial (body)"/>
                <a:sym typeface="Arial"/>
              </a:rPr>
              <a:t>hỏi</a:t>
            </a:r>
            <a:r>
              <a:rPr kumimoji="0" lang="en-US" sz="2400" b="1" i="0" u="none" strike="noStrike" kern="0" cap="none" spc="0" normalizeH="0" baseline="0" noProof="0" dirty="0" smtClean="0">
                <a:ln>
                  <a:noFill/>
                </a:ln>
                <a:solidFill>
                  <a:srgbClr val="FFFFFF"/>
                </a:solidFill>
                <a:effectLst/>
                <a:uLnTx/>
                <a:uFillTx/>
                <a:latin typeface="Arial (body)"/>
                <a:sym typeface="Arial"/>
              </a:rPr>
              <a:t> 2,</a:t>
            </a:r>
            <a:r>
              <a:rPr kumimoji="0" lang="en-US" sz="2400" b="1" i="0" u="none" strike="noStrike" kern="0" cap="none" spc="0" normalizeH="0" noProof="0" dirty="0" smtClean="0">
                <a:ln>
                  <a:noFill/>
                </a:ln>
                <a:solidFill>
                  <a:srgbClr val="FFFFFF"/>
                </a:solidFill>
                <a:effectLst/>
                <a:uLnTx/>
                <a:uFillTx/>
                <a:latin typeface="Arial (body)"/>
                <a:sym typeface="Arial"/>
              </a:rPr>
              <a:t> 3: </a:t>
            </a:r>
            <a:r>
              <a:rPr kumimoji="0" lang="en-US" sz="2400" b="1" i="0" u="none" strike="noStrike" kern="0" cap="none" spc="0" normalizeH="0" noProof="0" dirty="0" err="1" smtClean="0">
                <a:ln>
                  <a:noFill/>
                </a:ln>
                <a:solidFill>
                  <a:srgbClr val="FFFFFF"/>
                </a:solidFill>
                <a:effectLst/>
                <a:uLnTx/>
                <a:uFillTx/>
                <a:latin typeface="Arial (body)"/>
                <a:sym typeface="Arial"/>
              </a:rPr>
              <a:t>Trên</a:t>
            </a:r>
            <a:r>
              <a:rPr kumimoji="0" lang="en-US" sz="2400" b="1" i="0" u="none" strike="noStrike" kern="0" cap="none" spc="0" normalizeH="0" noProof="0" dirty="0" smtClean="0">
                <a:ln>
                  <a:noFill/>
                </a:ln>
                <a:solidFill>
                  <a:srgbClr val="FFFFFF"/>
                </a:solidFill>
                <a:effectLst/>
                <a:uLnTx/>
                <a:uFillTx/>
                <a:latin typeface="Arial (body)"/>
                <a:sym typeface="Arial"/>
              </a:rPr>
              <a:t> </a:t>
            </a:r>
            <a:r>
              <a:rPr kumimoji="0" lang="en-US" sz="2400" b="1" i="0" u="none" strike="noStrike" kern="0" cap="none" spc="0" normalizeH="0" noProof="0" dirty="0" err="1" smtClean="0">
                <a:ln>
                  <a:noFill/>
                </a:ln>
                <a:solidFill>
                  <a:srgbClr val="FFFFFF"/>
                </a:solidFill>
                <a:effectLst/>
                <a:uLnTx/>
                <a:uFillTx/>
                <a:latin typeface="Arial (body)"/>
                <a:sym typeface="Arial"/>
              </a:rPr>
              <a:t>Chứng</a:t>
            </a:r>
            <a:r>
              <a:rPr kumimoji="0" lang="en-US" sz="2400" b="1" i="0" u="none" strike="noStrike" kern="0" cap="none" spc="0" normalizeH="0" noProof="0" dirty="0" smtClean="0">
                <a:ln>
                  <a:noFill/>
                </a:ln>
                <a:solidFill>
                  <a:srgbClr val="FFFFFF"/>
                </a:solidFill>
                <a:effectLst/>
                <a:uLnTx/>
                <a:uFillTx/>
                <a:latin typeface="Arial (body)"/>
                <a:sym typeface="Arial"/>
              </a:rPr>
              <a:t> </a:t>
            </a:r>
            <a:r>
              <a:rPr kumimoji="0" lang="en-US" sz="2400" b="1" i="0" u="none" strike="noStrike" kern="0" cap="none" spc="0" normalizeH="0" noProof="0" dirty="0" err="1" smtClean="0">
                <a:ln>
                  <a:noFill/>
                </a:ln>
                <a:solidFill>
                  <a:srgbClr val="FFFFFF"/>
                </a:solidFill>
                <a:effectLst/>
                <a:uLnTx/>
                <a:uFillTx/>
                <a:latin typeface="Arial (body)"/>
                <a:sym typeface="Arial"/>
              </a:rPr>
              <a:t>khoán</a:t>
            </a:r>
            <a:r>
              <a:rPr lang="en-US" sz="2400" b="1" dirty="0">
                <a:solidFill>
                  <a:srgbClr val="FFFFFF"/>
                </a:solidFill>
                <a:latin typeface="Arial (body)"/>
              </a:rPr>
              <a:t> </a:t>
            </a:r>
            <a:r>
              <a:rPr lang="en-US" sz="2400" b="1" dirty="0" err="1" smtClean="0">
                <a:solidFill>
                  <a:srgbClr val="FFFFFF"/>
                </a:solidFill>
                <a:latin typeface="Arial (body)"/>
              </a:rPr>
              <a:t>và</a:t>
            </a:r>
            <a:r>
              <a:rPr lang="en-US" sz="2400" b="1" dirty="0" smtClean="0">
                <a:solidFill>
                  <a:srgbClr val="FFFFFF"/>
                </a:solidFill>
                <a:latin typeface="Arial (body)"/>
              </a:rPr>
              <a:t> Forex</a:t>
            </a:r>
            <a:endParaRPr kumimoji="0" sz="2400" b="1" i="0" u="none" strike="noStrike" kern="0" cap="none" spc="0" normalizeH="0" baseline="0" noProof="0" dirty="0">
              <a:ln>
                <a:noFill/>
              </a:ln>
              <a:solidFill>
                <a:srgbClr val="FFFFFF"/>
              </a:solidFill>
              <a:effectLst/>
              <a:uLnTx/>
              <a:uFillTx/>
              <a:latin typeface="Arial (body)"/>
              <a:sym typeface="Arial"/>
            </a:endParaRPr>
          </a:p>
        </p:txBody>
      </p:sp>
      <p:sp>
        <p:nvSpPr>
          <p:cNvPr id="101" name="Google Shape;101;p3"/>
          <p:cNvSpPr txBox="1"/>
          <p:nvPr/>
        </p:nvSpPr>
        <p:spPr>
          <a:xfrm>
            <a:off x="341744" y="773540"/>
            <a:ext cx="8469745" cy="5243801"/>
          </a:xfrm>
          <a:prstGeom prst="rect">
            <a:avLst/>
          </a:prstGeom>
          <a:noFill/>
          <a:ln>
            <a:noFill/>
          </a:ln>
        </p:spPr>
        <p:txBody>
          <a:bodyPr spcFirstLastPara="1" wrap="square" lIns="91425" tIns="91425" rIns="91425" bIns="91425" anchor="t" anchorCtr="0">
            <a:noAutofit/>
          </a:bodyPr>
          <a:lstStyle/>
          <a:p>
            <a:pPr marL="0" marR="0" lvl="0" indent="0" algn="just" defTabSz="914400" rtl="0" eaLnBrk="1" fontAlgn="base" latinLnBrk="0" hangingPunct="1">
              <a:lnSpc>
                <a:spcPct val="100000"/>
              </a:lnSpc>
              <a:spcBef>
                <a:spcPts val="0"/>
              </a:spcBef>
              <a:spcAft>
                <a:spcPts val="0"/>
              </a:spcAft>
              <a:buClr>
                <a:srgbClr val="000000"/>
              </a:buClr>
              <a:buSzTx/>
              <a:buFont typeface="Arial"/>
              <a:buNone/>
              <a:tabLst/>
              <a:defRPr/>
            </a:pPr>
            <a:endParaRPr kumimoji="0" lang="vi-VN" sz="2400" b="1" i="0" u="none" strike="noStrike" kern="0" cap="none" spc="0" normalizeH="0" baseline="0" noProof="0" dirty="0">
              <a:ln>
                <a:noFill/>
              </a:ln>
              <a:solidFill>
                <a:srgbClr val="2B2F33"/>
              </a:solidFill>
              <a:effectLst/>
              <a:uLnTx/>
              <a:uFillTx/>
              <a:latin typeface="Open Sans" panose="020B0606030504020204" pitchFamily="34" charset="0"/>
              <a:cs typeface="Arial"/>
              <a:sym typeface="Arial"/>
            </a:endParaRPr>
          </a:p>
        </p:txBody>
      </p:sp>
      <p:sp>
        <p:nvSpPr>
          <p:cNvPr id="4" name="Google Shape;101;p3"/>
          <p:cNvSpPr txBox="1"/>
          <p:nvPr/>
        </p:nvSpPr>
        <p:spPr>
          <a:xfrm>
            <a:off x="424875" y="692425"/>
            <a:ext cx="8285100" cy="3467400"/>
          </a:xfrm>
          <a:prstGeom prst="rect">
            <a:avLst/>
          </a:prstGeom>
          <a:noFill/>
          <a:ln>
            <a:noFill/>
          </a:ln>
        </p:spPr>
        <p:txBody>
          <a:bodyPr spcFirstLastPara="1" wrap="square" lIns="91425" tIns="91425" rIns="91425" bIns="91425" anchor="t" anchorCtr="0">
            <a:noAutofit/>
          </a:bodyPr>
          <a:lstStyle/>
          <a:p>
            <a:pPr marL="101600" marR="0" lvl="0" indent="0" algn="just" defTabSz="914400" rtl="0" eaLnBrk="1" fontAlgn="auto" latinLnBrk="0" hangingPunct="1">
              <a:lnSpc>
                <a:spcPct val="115000"/>
              </a:lnSpc>
              <a:spcBef>
                <a:spcPts val="1600"/>
              </a:spcBef>
              <a:spcAft>
                <a:spcPts val="0"/>
              </a:spcAft>
              <a:buClr>
                <a:srgbClr val="000000"/>
              </a:buClr>
              <a:buSzTx/>
              <a:buFont typeface="Arial"/>
              <a:buNone/>
              <a:tabLst/>
              <a:defRPr/>
            </a:pPr>
            <a:r>
              <a:rPr kumimoji="0" lang="en-US" sz="1800" b="1" i="0" u="none" strike="noStrike" kern="0" cap="none" spc="0" normalizeH="0" baseline="0" noProof="0" dirty="0" err="1" smtClean="0">
                <a:ln>
                  <a:noFill/>
                </a:ln>
                <a:solidFill>
                  <a:srgbClr val="000000"/>
                </a:solidFill>
                <a:effectLst/>
                <a:uLnTx/>
                <a:uFillTx/>
                <a:latin typeface="Arial"/>
                <a:cs typeface="Arial"/>
                <a:sym typeface="Arial"/>
              </a:rPr>
              <a:t>Chúng</a:t>
            </a:r>
            <a:r>
              <a:rPr kumimoji="0" lang="en-US" sz="1800" b="1" i="0" u="none" strike="noStrike" kern="0" cap="none" spc="0" normalizeH="0" baseline="0" noProof="0" dirty="0" smtClean="0">
                <a:ln>
                  <a:noFill/>
                </a:ln>
                <a:solidFill>
                  <a:srgbClr val="000000"/>
                </a:solidFill>
                <a:effectLst/>
                <a:uLnTx/>
                <a:uFillTx/>
                <a:latin typeface="Arial"/>
                <a:cs typeface="Arial"/>
                <a:sym typeface="Arial"/>
              </a:rPr>
              <a:t> ta </a:t>
            </a:r>
            <a:r>
              <a:rPr kumimoji="0" lang="en-US" sz="1800" b="1" i="0" u="none" strike="noStrike" kern="0" cap="none" spc="0" normalizeH="0" baseline="0" noProof="0" dirty="0" err="1" smtClean="0">
                <a:ln>
                  <a:noFill/>
                </a:ln>
                <a:solidFill>
                  <a:srgbClr val="000000"/>
                </a:solidFill>
                <a:effectLst/>
                <a:uLnTx/>
                <a:uFillTx/>
                <a:latin typeface="Arial"/>
                <a:cs typeface="Arial"/>
                <a:sym typeface="Arial"/>
              </a:rPr>
              <a:t>có</a:t>
            </a:r>
            <a:r>
              <a:rPr kumimoji="0" lang="en-US" sz="1800" b="1" i="0" u="none" strike="noStrike" kern="0" cap="none" spc="0" normalizeH="0" baseline="0" noProof="0" dirty="0" smtClean="0">
                <a:ln>
                  <a:noFill/>
                </a:ln>
                <a:solidFill>
                  <a:srgbClr val="000000"/>
                </a:solidFill>
                <a:effectLst/>
                <a:uLnTx/>
                <a:uFillTx/>
                <a:latin typeface="Arial"/>
                <a:cs typeface="Arial"/>
                <a:sym typeface="Arial"/>
              </a:rPr>
              <a:t> </a:t>
            </a:r>
            <a:r>
              <a:rPr kumimoji="0" lang="en-US" sz="1800" b="1" i="0" u="none" strike="noStrike" kern="0" cap="none" spc="0" normalizeH="0" baseline="0" noProof="0" dirty="0" err="1" smtClean="0">
                <a:ln>
                  <a:noFill/>
                </a:ln>
                <a:solidFill>
                  <a:srgbClr val="000000"/>
                </a:solidFill>
                <a:effectLst/>
                <a:uLnTx/>
                <a:uFillTx/>
                <a:latin typeface="Arial"/>
                <a:cs typeface="Arial"/>
                <a:sym typeface="Arial"/>
              </a:rPr>
              <a:t>chiến</a:t>
            </a:r>
            <a:r>
              <a:rPr kumimoji="0" lang="en-US" sz="1800" b="1" i="0" u="none" strike="noStrike" kern="0" cap="none" spc="0" normalizeH="0" baseline="0" noProof="0" dirty="0" smtClean="0">
                <a:ln>
                  <a:noFill/>
                </a:ln>
                <a:solidFill>
                  <a:srgbClr val="000000"/>
                </a:solidFill>
                <a:effectLst/>
                <a:uLnTx/>
                <a:uFillTx/>
                <a:latin typeface="Arial"/>
                <a:cs typeface="Arial"/>
                <a:sym typeface="Arial"/>
              </a:rPr>
              <a:t> </a:t>
            </a:r>
            <a:r>
              <a:rPr kumimoji="0" lang="en-US" sz="1800" b="1" i="0" u="none" strike="noStrike" kern="0" cap="none" spc="0" normalizeH="0" baseline="0" noProof="0" dirty="0" err="1" smtClean="0">
                <a:ln>
                  <a:noFill/>
                </a:ln>
                <a:solidFill>
                  <a:srgbClr val="000000"/>
                </a:solidFill>
                <a:effectLst/>
                <a:uLnTx/>
                <a:uFillTx/>
                <a:latin typeface="Arial"/>
                <a:cs typeface="Arial"/>
                <a:sym typeface="Arial"/>
              </a:rPr>
              <a:t>lược</a:t>
            </a:r>
            <a:r>
              <a:rPr kumimoji="0" lang="en-US" sz="1800" b="1" i="0" u="none" strike="noStrike" kern="0" cap="none" spc="0" normalizeH="0" baseline="0" noProof="0" dirty="0" smtClean="0">
                <a:ln>
                  <a:noFill/>
                </a:ln>
                <a:solidFill>
                  <a:srgbClr val="000000"/>
                </a:solidFill>
                <a:effectLst/>
                <a:uLnTx/>
                <a:uFillTx/>
                <a:latin typeface="Arial"/>
                <a:cs typeface="Arial"/>
                <a:sym typeface="Arial"/>
              </a:rPr>
              <a:t> </a:t>
            </a:r>
            <a:r>
              <a:rPr kumimoji="0" lang="en-US" sz="1800" b="1" i="0" u="none" strike="noStrike" kern="0" cap="none" spc="0" normalizeH="0" baseline="0" noProof="0" dirty="0" err="1" smtClean="0">
                <a:ln>
                  <a:noFill/>
                </a:ln>
                <a:solidFill>
                  <a:srgbClr val="000000"/>
                </a:solidFill>
                <a:effectLst/>
                <a:uLnTx/>
                <a:uFillTx/>
                <a:latin typeface="Arial"/>
                <a:cs typeface="Arial"/>
                <a:sym typeface="Arial"/>
              </a:rPr>
              <a:t>như</a:t>
            </a:r>
            <a:r>
              <a:rPr kumimoji="0" lang="en-US" sz="1800" b="1" i="0" u="none" strike="noStrike" kern="0" cap="none" spc="0" normalizeH="0" baseline="0" noProof="0" dirty="0" smtClean="0">
                <a:ln>
                  <a:noFill/>
                </a:ln>
                <a:solidFill>
                  <a:srgbClr val="000000"/>
                </a:solidFill>
                <a:effectLst/>
                <a:uLnTx/>
                <a:uFillTx/>
                <a:latin typeface="Arial"/>
                <a:cs typeface="Arial"/>
                <a:sym typeface="Arial"/>
              </a:rPr>
              <a:t> </a:t>
            </a:r>
            <a:r>
              <a:rPr kumimoji="0" lang="en-US" sz="1800" b="1" i="0" u="none" strike="noStrike" kern="0" cap="none" spc="0" normalizeH="0" baseline="0" noProof="0" dirty="0" err="1" smtClean="0">
                <a:ln>
                  <a:noFill/>
                </a:ln>
                <a:solidFill>
                  <a:srgbClr val="000000"/>
                </a:solidFill>
                <a:effectLst/>
                <a:uLnTx/>
                <a:uFillTx/>
                <a:latin typeface="Arial"/>
                <a:cs typeface="Arial"/>
                <a:sym typeface="Arial"/>
              </a:rPr>
              <a:t>sau</a:t>
            </a:r>
            <a:r>
              <a:rPr kumimoji="0" lang="en-US" sz="1800" b="1" i="0" u="none" strike="noStrike" kern="0" cap="none" spc="0" normalizeH="0" baseline="0" noProof="0" dirty="0">
                <a:ln>
                  <a:noFill/>
                </a:ln>
                <a:solidFill>
                  <a:srgbClr val="000000"/>
                </a:solidFill>
                <a:effectLst/>
                <a:uLnTx/>
                <a:uFillTx/>
                <a:latin typeface="Arial"/>
                <a:cs typeface="Arial"/>
                <a:sym typeface="Arial"/>
              </a:rPr>
              <a:t>:</a:t>
            </a:r>
            <a:endParaRPr kumimoji="0" lang="en-US" sz="1800" b="1" i="0" u="none" strike="noStrike" kern="0" cap="none" spc="0" normalizeH="0" baseline="0" noProof="0" dirty="0" smtClean="0">
              <a:ln>
                <a:noFill/>
              </a:ln>
              <a:solidFill>
                <a:srgbClr val="000000"/>
              </a:solidFill>
              <a:effectLst/>
              <a:uLnTx/>
              <a:uFillTx/>
              <a:latin typeface="Arial"/>
              <a:cs typeface="Arial"/>
              <a:sym typeface="Arial"/>
            </a:endParaRPr>
          </a:p>
          <a:p>
            <a:pPr marL="101600" marR="0" lvl="0" indent="0" algn="just" defTabSz="914400" rtl="0" eaLnBrk="1" fontAlgn="auto" latinLnBrk="0" hangingPunct="1">
              <a:lnSpc>
                <a:spcPct val="115000"/>
              </a:lnSpc>
              <a:spcBef>
                <a:spcPts val="1600"/>
              </a:spcBef>
              <a:spcAft>
                <a:spcPts val="0"/>
              </a:spcAft>
              <a:buClr>
                <a:srgbClr val="000000"/>
              </a:buClr>
              <a:buSzTx/>
              <a:buFont typeface="Arial"/>
              <a:buNone/>
              <a:tabLst/>
              <a:defRPr/>
            </a:pPr>
            <a:r>
              <a:rPr kumimoji="0" lang="en-US" sz="1800" b="1" i="0" u="none" strike="noStrike" kern="0" cap="none" spc="0" normalizeH="0" baseline="0" noProof="0" dirty="0" err="1" smtClean="0">
                <a:ln>
                  <a:noFill/>
                </a:ln>
                <a:solidFill>
                  <a:srgbClr val="000000"/>
                </a:solidFill>
                <a:effectLst/>
                <a:uLnTx/>
                <a:uFillTx/>
                <a:latin typeface="Arial"/>
                <a:ea typeface="Arial"/>
                <a:cs typeface="Arial"/>
                <a:sym typeface="Arial"/>
              </a:rPr>
              <a:t>Chiến</a:t>
            </a:r>
            <a:r>
              <a:rPr kumimoji="0" lang="en-US" sz="1800" b="1" i="0" u="none" strike="noStrike" kern="0" cap="none" spc="0" normalizeH="0" baseline="0" noProof="0" dirty="0" smtClean="0">
                <a:ln>
                  <a:noFill/>
                </a:ln>
                <a:solidFill>
                  <a:srgbClr val="000000"/>
                </a:solidFill>
                <a:effectLst/>
                <a:uLnTx/>
                <a:uFillTx/>
                <a:latin typeface="Arial"/>
                <a:ea typeface="Arial"/>
                <a:cs typeface="Arial"/>
                <a:sym typeface="Arial"/>
              </a:rPr>
              <a:t> </a:t>
            </a:r>
            <a:r>
              <a:rPr kumimoji="0" lang="en-US" sz="1800" b="1" i="0" u="none" strike="noStrike" kern="0" cap="none" spc="0" normalizeH="0" baseline="0" noProof="0" dirty="0" err="1" smtClean="0">
                <a:ln>
                  <a:noFill/>
                </a:ln>
                <a:solidFill>
                  <a:srgbClr val="000000"/>
                </a:solidFill>
                <a:effectLst/>
                <a:uLnTx/>
                <a:uFillTx/>
                <a:latin typeface="Arial"/>
                <a:ea typeface="Arial"/>
                <a:cs typeface="Arial"/>
                <a:sym typeface="Arial"/>
              </a:rPr>
              <a:t>lược</a:t>
            </a:r>
            <a:r>
              <a:rPr kumimoji="0" lang="en-US" sz="1800" b="1" i="0" u="none" strike="noStrike" kern="0" cap="none" spc="0" normalizeH="0" baseline="0" noProof="0" dirty="0" smtClean="0">
                <a:ln>
                  <a:noFill/>
                </a:ln>
                <a:solidFill>
                  <a:srgbClr val="000000"/>
                </a:solidFill>
                <a:effectLst/>
                <a:uLnTx/>
                <a:uFillTx/>
                <a:latin typeface="Arial"/>
                <a:ea typeface="Arial"/>
                <a:cs typeface="Arial"/>
                <a:sym typeface="Arial"/>
              </a:rPr>
              <a:t> </a:t>
            </a:r>
            <a:r>
              <a:rPr kumimoji="0" lang="en-US" sz="1800" b="1" i="0" u="none" strike="noStrike" kern="0" cap="none" spc="0" normalizeH="0" baseline="0" noProof="0" dirty="0" smtClean="0">
                <a:ln>
                  <a:noFill/>
                </a:ln>
                <a:solidFill>
                  <a:srgbClr val="FF0000"/>
                </a:solidFill>
                <a:effectLst/>
                <a:uLnTx/>
                <a:uFillTx/>
                <a:latin typeface="Arial"/>
                <a:ea typeface="Arial"/>
                <a:cs typeface="Arial"/>
                <a:sym typeface="Arial"/>
              </a:rPr>
              <a:t>ML, Momentum, RSI</a:t>
            </a:r>
            <a:r>
              <a:rPr kumimoji="0" lang="en-US" sz="1800" b="1" i="0" u="none" strike="noStrike" kern="0" cap="none" spc="0" normalizeH="0" baseline="0" noProof="0" dirty="0" smtClean="0">
                <a:ln>
                  <a:noFill/>
                </a:ln>
                <a:solidFill>
                  <a:srgbClr val="000000"/>
                </a:solidFill>
                <a:effectLst/>
                <a:uLnTx/>
                <a:uFillTx/>
                <a:latin typeface="Arial"/>
                <a:ea typeface="Arial"/>
                <a:cs typeface="Arial"/>
                <a:sym typeface="Arial"/>
              </a:rPr>
              <a:t> </a:t>
            </a:r>
            <a:r>
              <a:rPr kumimoji="0" lang="en-US" sz="1800" b="1" i="0" u="none" strike="noStrike" kern="0" cap="none" spc="0" normalizeH="0" baseline="0" noProof="0" dirty="0" err="1" smtClean="0">
                <a:ln>
                  <a:noFill/>
                </a:ln>
                <a:solidFill>
                  <a:srgbClr val="000000"/>
                </a:solidFill>
                <a:effectLst/>
                <a:uLnTx/>
                <a:uFillTx/>
                <a:latin typeface="Arial"/>
                <a:ea typeface="Arial"/>
                <a:cs typeface="Arial"/>
                <a:sym typeface="Arial"/>
              </a:rPr>
              <a:t>hoặc</a:t>
            </a:r>
            <a:r>
              <a:rPr kumimoji="0" lang="en-US" sz="1800" b="1" i="0" u="none" strike="noStrike" kern="0" cap="none" spc="0" normalizeH="0" baseline="0" noProof="0" dirty="0" smtClean="0">
                <a:ln>
                  <a:noFill/>
                </a:ln>
                <a:solidFill>
                  <a:srgbClr val="000000"/>
                </a:solidFill>
                <a:effectLst/>
                <a:uLnTx/>
                <a:uFillTx/>
                <a:latin typeface="Arial"/>
                <a:ea typeface="Arial"/>
                <a:cs typeface="Arial"/>
                <a:sym typeface="Arial"/>
              </a:rPr>
              <a:t> </a:t>
            </a:r>
            <a:r>
              <a:rPr kumimoji="0" lang="en-US" sz="1800" b="1" i="0" u="none" strike="noStrike" kern="0" cap="none" spc="0" normalizeH="0" baseline="0" noProof="0" dirty="0" err="1" smtClean="0">
                <a:ln>
                  <a:noFill/>
                </a:ln>
                <a:solidFill>
                  <a:srgbClr val="000000"/>
                </a:solidFill>
                <a:effectLst/>
                <a:uLnTx/>
                <a:uFillTx/>
                <a:latin typeface="Arial"/>
                <a:ea typeface="Arial"/>
                <a:cs typeface="Arial"/>
                <a:sym typeface="Arial"/>
              </a:rPr>
              <a:t>chiến</a:t>
            </a:r>
            <a:r>
              <a:rPr kumimoji="0" lang="en-US" sz="1800" b="1" i="0" u="none" strike="noStrike" kern="0" cap="none" spc="0" normalizeH="0" baseline="0" noProof="0" dirty="0" smtClean="0">
                <a:ln>
                  <a:noFill/>
                </a:ln>
                <a:solidFill>
                  <a:srgbClr val="000000"/>
                </a:solidFill>
                <a:effectLst/>
                <a:uLnTx/>
                <a:uFillTx/>
                <a:latin typeface="Arial"/>
                <a:ea typeface="Arial"/>
                <a:cs typeface="Arial"/>
                <a:sym typeface="Arial"/>
              </a:rPr>
              <a:t> </a:t>
            </a:r>
            <a:r>
              <a:rPr kumimoji="0" lang="en-US" sz="1800" b="1" i="0" u="none" strike="noStrike" kern="0" cap="none" spc="0" normalizeH="0" baseline="0" noProof="0" dirty="0" err="1" smtClean="0">
                <a:ln>
                  <a:noFill/>
                </a:ln>
                <a:solidFill>
                  <a:srgbClr val="000000"/>
                </a:solidFill>
                <a:effectLst/>
                <a:uLnTx/>
                <a:uFillTx/>
                <a:latin typeface="Arial"/>
                <a:ea typeface="Arial"/>
                <a:cs typeface="Arial"/>
                <a:sym typeface="Arial"/>
              </a:rPr>
              <a:t>lược</a:t>
            </a:r>
            <a:r>
              <a:rPr kumimoji="0" lang="en-US" sz="1800" b="1" i="0" u="none" strike="noStrike" kern="0" cap="none" spc="0" normalizeH="0" baseline="0" noProof="0" dirty="0" smtClean="0">
                <a:ln>
                  <a:noFill/>
                </a:ln>
                <a:solidFill>
                  <a:srgbClr val="000000"/>
                </a:solidFill>
                <a:effectLst/>
                <a:uLnTx/>
                <a:uFillTx/>
                <a:latin typeface="Arial"/>
                <a:ea typeface="Arial"/>
                <a:cs typeface="Arial"/>
                <a:sym typeface="Arial"/>
              </a:rPr>
              <a:t> </a:t>
            </a:r>
            <a:r>
              <a:rPr kumimoji="0" lang="en-US" sz="1800" b="1" i="0" u="none" strike="noStrike" kern="0" cap="none" spc="0" normalizeH="0" baseline="0" noProof="0" dirty="0" smtClean="0">
                <a:ln>
                  <a:noFill/>
                </a:ln>
                <a:solidFill>
                  <a:srgbClr val="FF0000"/>
                </a:solidFill>
                <a:effectLst/>
                <a:uLnTx/>
                <a:uFillTx/>
                <a:latin typeface="Arial"/>
                <a:ea typeface="Arial"/>
                <a:cs typeface="Arial"/>
                <a:sym typeface="Arial"/>
              </a:rPr>
              <a:t>Bollinger Bands, RSI</a:t>
            </a:r>
            <a:r>
              <a:rPr kumimoji="0" lang="en-US" sz="1800" b="1" i="0" u="none" strike="noStrike" kern="0" cap="none" spc="0" normalizeH="0" baseline="0" noProof="0" dirty="0" smtClean="0">
                <a:ln>
                  <a:noFill/>
                </a:ln>
                <a:solidFill>
                  <a:srgbClr val="000000"/>
                </a:solidFill>
                <a:effectLst/>
                <a:uLnTx/>
                <a:uFillTx/>
                <a:latin typeface="Arial"/>
                <a:ea typeface="Arial"/>
                <a:cs typeface="Arial"/>
                <a:sym typeface="Arial"/>
              </a:rPr>
              <a:t>…</a:t>
            </a:r>
          </a:p>
          <a:p>
            <a:pPr marL="101600" marR="0" lvl="0" indent="0" algn="just" defTabSz="914400" rtl="0" eaLnBrk="1" fontAlgn="auto" latinLnBrk="0" hangingPunct="1">
              <a:lnSpc>
                <a:spcPct val="115000"/>
              </a:lnSpc>
              <a:spcBef>
                <a:spcPts val="1600"/>
              </a:spcBef>
              <a:spcAft>
                <a:spcPts val="0"/>
              </a:spcAft>
              <a:buClr>
                <a:srgbClr val="000000"/>
              </a:buClr>
              <a:buSzTx/>
              <a:buFont typeface="Arial"/>
              <a:buNone/>
              <a:tabLst/>
              <a:defRPr/>
            </a:pPr>
            <a:r>
              <a:rPr kumimoji="0" lang="en-US" sz="1800" b="1" i="0" u="none" strike="noStrike" kern="0" cap="none" spc="0" normalizeH="0" baseline="0" noProof="0" dirty="0" err="1">
                <a:ln>
                  <a:noFill/>
                </a:ln>
                <a:solidFill>
                  <a:srgbClr val="000000"/>
                </a:solidFill>
                <a:effectLst/>
                <a:uLnTx/>
                <a:uFillTx/>
                <a:latin typeface="Arial"/>
                <a:cs typeface="Arial"/>
                <a:sym typeface="Arial"/>
              </a:rPr>
              <a:t>để</a:t>
            </a:r>
            <a:r>
              <a:rPr kumimoji="0" lang="en-US" sz="1800" b="1" i="0" u="none" strike="noStrike" kern="0" cap="none" spc="0" normalizeH="0" baseline="0" noProof="0" dirty="0">
                <a:ln>
                  <a:noFill/>
                </a:ln>
                <a:solidFill>
                  <a:srgbClr val="000000"/>
                </a:solidFill>
                <a:effectLst/>
                <a:uLnTx/>
                <a:uFillTx/>
                <a:latin typeface="Arial"/>
                <a:cs typeface="Arial"/>
                <a:sym typeface="Arial"/>
              </a:rPr>
              <a:t> </a:t>
            </a:r>
            <a:r>
              <a:rPr kumimoji="0" lang="en-US" sz="1800" b="1" i="0" u="none" strike="noStrike" kern="0" cap="none" spc="0" normalizeH="0" baseline="0" noProof="0" dirty="0" err="1">
                <a:ln>
                  <a:noFill/>
                </a:ln>
                <a:solidFill>
                  <a:srgbClr val="000000"/>
                </a:solidFill>
                <a:effectLst/>
                <a:uLnTx/>
                <a:uFillTx/>
                <a:latin typeface="Arial"/>
                <a:cs typeface="Arial"/>
                <a:sym typeface="Arial"/>
              </a:rPr>
              <a:t>làm</a:t>
            </a:r>
            <a:r>
              <a:rPr kumimoji="0" lang="en-US" sz="1800" b="1" i="0" u="none" strike="noStrike" kern="0" cap="none" spc="0" normalizeH="0" baseline="0" noProof="0" dirty="0">
                <a:ln>
                  <a:noFill/>
                </a:ln>
                <a:solidFill>
                  <a:srgbClr val="000000"/>
                </a:solidFill>
                <a:effectLst/>
                <a:uLnTx/>
                <a:uFillTx/>
                <a:latin typeface="Arial"/>
                <a:cs typeface="Arial"/>
                <a:sym typeface="Arial"/>
              </a:rPr>
              <a:t> </a:t>
            </a:r>
            <a:r>
              <a:rPr kumimoji="0" lang="en-US" sz="1800" b="1" i="0" u="none" strike="noStrike" kern="0" cap="none" spc="0" normalizeH="0" baseline="0" noProof="0" dirty="0" err="1">
                <a:ln>
                  <a:noFill/>
                </a:ln>
                <a:solidFill>
                  <a:srgbClr val="000000"/>
                </a:solidFill>
                <a:effectLst/>
                <a:uLnTx/>
                <a:uFillTx/>
                <a:latin typeface="Arial"/>
                <a:cs typeface="Arial"/>
                <a:sym typeface="Arial"/>
              </a:rPr>
              <a:t>sao</a:t>
            </a:r>
            <a:r>
              <a:rPr kumimoji="0" lang="en-US" sz="1800" b="1" i="0" u="none" strike="noStrike" kern="0" cap="none" spc="0" normalizeH="0" baseline="0" noProof="0" dirty="0">
                <a:ln>
                  <a:noFill/>
                </a:ln>
                <a:solidFill>
                  <a:srgbClr val="000000"/>
                </a:solidFill>
                <a:effectLst/>
                <a:uLnTx/>
                <a:uFillTx/>
                <a:latin typeface="Arial"/>
                <a:cs typeface="Arial"/>
                <a:sym typeface="Arial"/>
              </a:rPr>
              <a:t> </a:t>
            </a:r>
            <a:r>
              <a:rPr kumimoji="0" lang="en-US" sz="1800" b="1" i="0" u="none" strike="noStrike" kern="0" cap="none" spc="0" normalizeH="0" baseline="0" noProof="0" dirty="0" err="1">
                <a:ln>
                  <a:noFill/>
                </a:ln>
                <a:solidFill>
                  <a:srgbClr val="000000"/>
                </a:solidFill>
                <a:effectLst/>
                <a:uLnTx/>
                <a:uFillTx/>
                <a:latin typeface="Arial"/>
                <a:cs typeface="Arial"/>
                <a:sym typeface="Arial"/>
              </a:rPr>
              <a:t>thực</a:t>
            </a:r>
            <a:r>
              <a:rPr kumimoji="0" lang="en-US" sz="1800" b="1" i="0" u="none" strike="noStrike" kern="0" cap="none" spc="0" normalizeH="0" baseline="0" noProof="0" dirty="0">
                <a:ln>
                  <a:noFill/>
                </a:ln>
                <a:solidFill>
                  <a:srgbClr val="000000"/>
                </a:solidFill>
                <a:effectLst/>
                <a:uLnTx/>
                <a:uFillTx/>
                <a:latin typeface="Arial"/>
                <a:cs typeface="Arial"/>
                <a:sym typeface="Arial"/>
              </a:rPr>
              <a:t> </a:t>
            </a:r>
            <a:r>
              <a:rPr kumimoji="0" lang="en-US" sz="1800" b="1" i="0" u="none" strike="noStrike" kern="0" cap="none" spc="0" normalizeH="0" baseline="0" noProof="0" dirty="0" err="1">
                <a:ln>
                  <a:noFill/>
                </a:ln>
                <a:solidFill>
                  <a:srgbClr val="000000"/>
                </a:solidFill>
                <a:effectLst/>
                <a:uLnTx/>
                <a:uFillTx/>
                <a:latin typeface="Arial"/>
                <a:cs typeface="Arial"/>
                <a:sym typeface="Arial"/>
              </a:rPr>
              <a:t>thi</a:t>
            </a:r>
            <a:r>
              <a:rPr kumimoji="0" lang="en-US" sz="1800" b="1" i="0" u="none" strike="noStrike" kern="0" cap="none" spc="0" normalizeH="0" baseline="0" noProof="0" dirty="0">
                <a:ln>
                  <a:noFill/>
                </a:ln>
                <a:solidFill>
                  <a:srgbClr val="000000"/>
                </a:solidFill>
                <a:effectLst/>
                <a:uLnTx/>
                <a:uFillTx/>
                <a:latin typeface="Arial"/>
                <a:cs typeface="Arial"/>
                <a:sym typeface="Arial"/>
              </a:rPr>
              <a:t> </a:t>
            </a:r>
            <a:r>
              <a:rPr kumimoji="0" lang="en-US" sz="1800" b="1" i="0" u="none" strike="noStrike" kern="0" cap="none" spc="0" normalizeH="0" baseline="0" noProof="0" dirty="0" err="1">
                <a:ln>
                  <a:noFill/>
                </a:ln>
                <a:solidFill>
                  <a:srgbClr val="000000"/>
                </a:solidFill>
                <a:effectLst/>
                <a:uLnTx/>
                <a:uFillTx/>
                <a:latin typeface="Arial"/>
                <a:cs typeface="Arial"/>
                <a:sym typeface="Arial"/>
              </a:rPr>
              <a:t>chiến</a:t>
            </a:r>
            <a:r>
              <a:rPr kumimoji="0" lang="en-US" sz="1800" b="1" i="0" u="none" strike="noStrike" kern="0" cap="none" spc="0" normalizeH="0" baseline="0" noProof="0" dirty="0">
                <a:ln>
                  <a:noFill/>
                </a:ln>
                <a:solidFill>
                  <a:srgbClr val="000000"/>
                </a:solidFill>
                <a:effectLst/>
                <a:uLnTx/>
                <a:uFillTx/>
                <a:latin typeface="Arial"/>
                <a:cs typeface="Arial"/>
                <a:sym typeface="Arial"/>
              </a:rPr>
              <a:t> </a:t>
            </a:r>
            <a:r>
              <a:rPr kumimoji="0" lang="en-US" sz="1800" b="1" i="0" u="none" strike="noStrike" kern="0" cap="none" spc="0" normalizeH="0" baseline="0" noProof="0" dirty="0" err="1">
                <a:ln>
                  <a:noFill/>
                </a:ln>
                <a:solidFill>
                  <a:srgbClr val="000000"/>
                </a:solidFill>
                <a:effectLst/>
                <a:uLnTx/>
                <a:uFillTx/>
                <a:latin typeface="Arial"/>
                <a:cs typeface="Arial"/>
                <a:sym typeface="Arial"/>
              </a:rPr>
              <a:t>lược</a:t>
            </a:r>
            <a:r>
              <a:rPr kumimoji="0" lang="en-US" sz="1800" b="1" i="0" u="none" strike="noStrike" kern="0" cap="none" spc="0" normalizeH="0" baseline="0" noProof="0" dirty="0">
                <a:ln>
                  <a:noFill/>
                </a:ln>
                <a:solidFill>
                  <a:srgbClr val="000000"/>
                </a:solidFill>
                <a:effectLst/>
                <a:uLnTx/>
                <a:uFillTx/>
                <a:latin typeface="Arial"/>
                <a:cs typeface="Arial"/>
                <a:sym typeface="Arial"/>
              </a:rPr>
              <a:t> ML </a:t>
            </a:r>
            <a:r>
              <a:rPr kumimoji="0" lang="en-US" sz="1800" b="1" i="0" u="none" strike="noStrike" kern="0" cap="none" spc="0" normalizeH="0" baseline="0" noProof="0" dirty="0" err="1">
                <a:ln>
                  <a:noFill/>
                </a:ln>
                <a:solidFill>
                  <a:srgbClr val="000000"/>
                </a:solidFill>
                <a:effectLst/>
                <a:uLnTx/>
                <a:uFillTx/>
                <a:latin typeface="Arial"/>
                <a:cs typeface="Arial"/>
                <a:sym typeface="Arial"/>
              </a:rPr>
              <a:t>này</a:t>
            </a:r>
            <a:r>
              <a:rPr kumimoji="0" lang="en-US" sz="1800" b="1" i="0" u="none" strike="noStrike" kern="0" cap="none" spc="0" normalizeH="0" baseline="0" noProof="0" dirty="0">
                <a:ln>
                  <a:noFill/>
                </a:ln>
                <a:solidFill>
                  <a:srgbClr val="000000"/>
                </a:solidFill>
                <a:effectLst/>
                <a:uLnTx/>
                <a:uFillTx/>
                <a:latin typeface="Arial"/>
                <a:cs typeface="Arial"/>
                <a:sym typeface="Arial"/>
              </a:rPr>
              <a:t> </a:t>
            </a:r>
            <a:r>
              <a:rPr kumimoji="0" lang="en-US" sz="1800" b="1" i="0" u="none" strike="noStrike" kern="0" cap="none" spc="0" normalizeH="0" baseline="0" noProof="0" dirty="0" err="1">
                <a:ln>
                  <a:noFill/>
                </a:ln>
                <a:solidFill>
                  <a:srgbClr val="000000"/>
                </a:solidFill>
                <a:effectLst/>
                <a:uLnTx/>
                <a:uFillTx/>
                <a:latin typeface="Arial"/>
                <a:cs typeface="Arial"/>
                <a:sym typeface="Arial"/>
              </a:rPr>
              <a:t>tự</a:t>
            </a:r>
            <a:r>
              <a:rPr kumimoji="0" lang="en-US" sz="1800" b="1" i="0" u="none" strike="noStrike" kern="0" cap="none" spc="0" normalizeH="0" baseline="0" noProof="0" dirty="0">
                <a:ln>
                  <a:noFill/>
                </a:ln>
                <a:solidFill>
                  <a:srgbClr val="000000"/>
                </a:solidFill>
                <a:effectLst/>
                <a:uLnTx/>
                <a:uFillTx/>
                <a:latin typeface="Arial"/>
                <a:cs typeface="Arial"/>
                <a:sym typeface="Arial"/>
              </a:rPr>
              <a:t> </a:t>
            </a:r>
            <a:r>
              <a:rPr kumimoji="0" lang="en-US" sz="1800" b="1" i="0" u="none" strike="noStrike" kern="0" cap="none" spc="0" normalizeH="0" baseline="0" noProof="0" dirty="0" err="1">
                <a:ln>
                  <a:noFill/>
                </a:ln>
                <a:solidFill>
                  <a:srgbClr val="000000"/>
                </a:solidFill>
                <a:effectLst/>
                <a:uLnTx/>
                <a:uFillTx/>
                <a:latin typeface="Arial"/>
                <a:cs typeface="Arial"/>
                <a:sym typeface="Arial"/>
              </a:rPr>
              <a:t>động</a:t>
            </a:r>
            <a:r>
              <a:rPr kumimoji="0" lang="en-US" sz="1800" b="1" i="0" u="none" strike="noStrike" kern="0" cap="none" spc="0" normalizeH="0" baseline="0" noProof="0" dirty="0">
                <a:ln>
                  <a:noFill/>
                </a:ln>
                <a:solidFill>
                  <a:srgbClr val="000000"/>
                </a:solidFill>
                <a:effectLst/>
                <a:uLnTx/>
                <a:uFillTx/>
                <a:latin typeface="Arial"/>
                <a:cs typeface="Arial"/>
                <a:sym typeface="Arial"/>
              </a:rPr>
              <a:t>?</a:t>
            </a:r>
            <a:endParaRPr kumimoji="0" sz="1800" b="1" i="0" u="none" strike="noStrike" kern="0" cap="none" spc="0" normalizeH="0" baseline="0" noProof="0" dirty="0">
              <a:ln>
                <a:noFill/>
              </a:ln>
              <a:solidFill>
                <a:srgbClr val="000000"/>
              </a:solidFill>
              <a:effectLst/>
              <a:uLnTx/>
              <a:uFillTx/>
              <a:latin typeface="Arial"/>
              <a:ea typeface="Arial"/>
              <a:cs typeface="Arial"/>
              <a:sym typeface="Arial"/>
            </a:endParaRPr>
          </a:p>
          <a:p>
            <a:pPr marL="101600" marR="0" lvl="0" indent="0" algn="just" defTabSz="914400" rtl="0" eaLnBrk="1" fontAlgn="auto" latinLnBrk="0" hangingPunct="1">
              <a:lnSpc>
                <a:spcPct val="115000"/>
              </a:lnSpc>
              <a:spcBef>
                <a:spcPts val="1600"/>
              </a:spcBef>
              <a:spcAft>
                <a:spcPts val="0"/>
              </a:spcAft>
              <a:buClr>
                <a:srgbClr val="000000"/>
              </a:buClr>
              <a:buSzTx/>
              <a:buFont typeface="Arial"/>
              <a:buNone/>
              <a:tabLst/>
              <a:defRPr/>
            </a:pPr>
            <a:endParaRPr kumimoji="0" sz="1800" b="1"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2" name="Picture 1"/>
          <p:cNvPicPr>
            <a:picLocks noChangeAspect="1"/>
          </p:cNvPicPr>
          <p:nvPr/>
        </p:nvPicPr>
        <p:blipFill>
          <a:blip r:embed="rId3"/>
          <a:stretch>
            <a:fillRect/>
          </a:stretch>
        </p:blipFill>
        <p:spPr>
          <a:xfrm>
            <a:off x="689986" y="2482406"/>
            <a:ext cx="3438669" cy="1697916"/>
          </a:xfrm>
          <a:prstGeom prst="rect">
            <a:avLst/>
          </a:prstGeom>
        </p:spPr>
      </p:pic>
      <p:pic>
        <p:nvPicPr>
          <p:cNvPr id="5" name="Picture 4"/>
          <p:cNvPicPr>
            <a:picLocks noChangeAspect="1"/>
          </p:cNvPicPr>
          <p:nvPr/>
        </p:nvPicPr>
        <p:blipFill>
          <a:blip r:embed="rId3"/>
          <a:stretch>
            <a:fillRect/>
          </a:stretch>
        </p:blipFill>
        <p:spPr>
          <a:xfrm>
            <a:off x="4878280" y="2421181"/>
            <a:ext cx="3831695" cy="1895959"/>
          </a:xfrm>
          <a:prstGeom prst="rect">
            <a:avLst/>
          </a:prstGeom>
        </p:spPr>
      </p:pic>
    </p:spTree>
    <p:extLst>
      <p:ext uri="{BB962C8B-B14F-4D97-AF65-F5344CB8AC3E}">
        <p14:creationId xmlns:p14="http://schemas.microsoft.com/office/powerpoint/2010/main" val="7347381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a:buNone/>
              <a:tabLst/>
              <a:defRPr/>
            </a:pPr>
            <a:r>
              <a:rPr kumimoji="0" lang="en-US" sz="2400" b="1" i="0" u="none" strike="noStrike" kern="0" cap="none" spc="0" normalizeH="0" baseline="0" noProof="0" dirty="0" err="1" smtClean="0">
                <a:ln>
                  <a:noFill/>
                </a:ln>
                <a:solidFill>
                  <a:srgbClr val="FFFFFF"/>
                </a:solidFill>
                <a:effectLst/>
                <a:uLnTx/>
                <a:uFillTx/>
                <a:latin typeface="Arial (body)"/>
                <a:sym typeface="Arial"/>
              </a:rPr>
              <a:t>Các</a:t>
            </a:r>
            <a:r>
              <a:rPr kumimoji="0" lang="en-US" sz="2400" b="1" i="0" u="none" strike="noStrike" kern="0" cap="none" spc="0" normalizeH="0" noProof="0" dirty="0" smtClean="0">
                <a:ln>
                  <a:noFill/>
                </a:ln>
                <a:solidFill>
                  <a:srgbClr val="FFFFFF"/>
                </a:solidFill>
                <a:effectLst/>
                <a:uLnTx/>
                <a:uFillTx/>
                <a:latin typeface="Arial (body)"/>
                <a:sym typeface="Arial"/>
              </a:rPr>
              <a:t> </a:t>
            </a:r>
            <a:r>
              <a:rPr kumimoji="0" lang="en-US" sz="2400" b="1" i="0" u="none" strike="noStrike" kern="0" cap="none" spc="0" normalizeH="0" noProof="0" dirty="0" err="1" smtClean="0">
                <a:ln>
                  <a:noFill/>
                </a:ln>
                <a:solidFill>
                  <a:srgbClr val="FFFFFF"/>
                </a:solidFill>
                <a:effectLst/>
                <a:uLnTx/>
                <a:uFillTx/>
                <a:latin typeface="Arial (body)"/>
                <a:sym typeface="Arial"/>
              </a:rPr>
              <a:t>chiến</a:t>
            </a:r>
            <a:r>
              <a:rPr kumimoji="0" lang="en-US" sz="2400" b="1" i="0" u="none" strike="noStrike" kern="0" cap="none" spc="0" normalizeH="0" noProof="0" dirty="0" smtClean="0">
                <a:ln>
                  <a:noFill/>
                </a:ln>
                <a:solidFill>
                  <a:srgbClr val="FFFFFF"/>
                </a:solidFill>
                <a:effectLst/>
                <a:uLnTx/>
                <a:uFillTx/>
                <a:latin typeface="Arial (body)"/>
                <a:sym typeface="Arial"/>
              </a:rPr>
              <a:t> </a:t>
            </a:r>
            <a:r>
              <a:rPr kumimoji="0" lang="en-US" sz="2400" b="1" i="0" u="none" strike="noStrike" kern="0" cap="none" spc="0" normalizeH="0" noProof="0" dirty="0" err="1" smtClean="0">
                <a:ln>
                  <a:noFill/>
                </a:ln>
                <a:solidFill>
                  <a:srgbClr val="FFFFFF"/>
                </a:solidFill>
                <a:effectLst/>
                <a:uLnTx/>
                <a:uFillTx/>
                <a:latin typeface="Arial (body)"/>
                <a:sym typeface="Arial"/>
              </a:rPr>
              <a:t>lược</a:t>
            </a:r>
            <a:r>
              <a:rPr kumimoji="0" lang="en-US" sz="2400" b="1" i="0" u="none" strike="noStrike" kern="0" cap="none" spc="0" normalizeH="0" noProof="0" dirty="0" smtClean="0">
                <a:ln>
                  <a:noFill/>
                </a:ln>
                <a:solidFill>
                  <a:srgbClr val="FFFFFF"/>
                </a:solidFill>
                <a:effectLst/>
                <a:uLnTx/>
                <a:uFillTx/>
                <a:latin typeface="Arial (body)"/>
                <a:sym typeface="Arial"/>
              </a:rPr>
              <a:t> </a:t>
            </a:r>
            <a:r>
              <a:rPr kumimoji="0" lang="en-US" sz="2400" b="1" i="0" u="none" strike="noStrike" kern="0" cap="none" spc="0" normalizeH="0" noProof="0" dirty="0" err="1" smtClean="0">
                <a:ln>
                  <a:noFill/>
                </a:ln>
                <a:solidFill>
                  <a:srgbClr val="FFFFFF"/>
                </a:solidFill>
                <a:effectLst/>
                <a:uLnTx/>
                <a:uFillTx/>
                <a:latin typeface="Arial (body)"/>
                <a:sym typeface="Arial"/>
              </a:rPr>
              <a:t>trong</a:t>
            </a:r>
            <a:r>
              <a:rPr kumimoji="0" lang="en-US" sz="2400" b="1" i="0" u="none" strike="noStrike" kern="0" cap="none" spc="0" normalizeH="0" noProof="0" dirty="0" smtClean="0">
                <a:ln>
                  <a:noFill/>
                </a:ln>
                <a:solidFill>
                  <a:srgbClr val="FFFFFF"/>
                </a:solidFill>
                <a:effectLst/>
                <a:uLnTx/>
                <a:uFillTx/>
                <a:latin typeface="Arial (body)"/>
                <a:sym typeface="Arial"/>
              </a:rPr>
              <a:t> </a:t>
            </a:r>
            <a:r>
              <a:rPr kumimoji="0" lang="en-US" sz="2400" b="1" i="0" u="none" strike="noStrike" kern="0" cap="none" spc="0" normalizeH="0" noProof="0" dirty="0" err="1" smtClean="0">
                <a:ln>
                  <a:noFill/>
                </a:ln>
                <a:solidFill>
                  <a:srgbClr val="FFFFFF"/>
                </a:solidFill>
                <a:effectLst/>
                <a:uLnTx/>
                <a:uFillTx/>
                <a:latin typeface="Arial (body)"/>
                <a:sym typeface="Arial"/>
              </a:rPr>
              <a:t>phần</a:t>
            </a:r>
            <a:r>
              <a:rPr kumimoji="0" lang="en-US" sz="2400" b="1" i="0" u="none" strike="noStrike" kern="0" cap="none" spc="0" normalizeH="0" noProof="0" dirty="0" smtClean="0">
                <a:ln>
                  <a:noFill/>
                </a:ln>
                <a:solidFill>
                  <a:srgbClr val="FFFFFF"/>
                </a:solidFill>
                <a:effectLst/>
                <a:uLnTx/>
                <a:uFillTx/>
                <a:latin typeface="Arial (body)"/>
                <a:sym typeface="Arial"/>
              </a:rPr>
              <a:t> </a:t>
            </a:r>
            <a:r>
              <a:rPr kumimoji="0" lang="en-US" sz="2400" b="1" i="0" u="none" strike="noStrike" kern="0" cap="none" spc="0" normalizeH="0" noProof="0" dirty="0" err="1" smtClean="0">
                <a:ln>
                  <a:noFill/>
                </a:ln>
                <a:solidFill>
                  <a:srgbClr val="FFFFFF"/>
                </a:solidFill>
                <a:effectLst/>
                <a:uLnTx/>
                <a:uFillTx/>
                <a:latin typeface="Arial (body)"/>
                <a:sym typeface="Arial"/>
              </a:rPr>
              <a:t>đặt</a:t>
            </a:r>
            <a:r>
              <a:rPr kumimoji="0" lang="en-US" sz="2400" b="1" i="0" u="none" strike="noStrike" kern="0" cap="none" spc="0" normalizeH="0" noProof="0" dirty="0" smtClean="0">
                <a:ln>
                  <a:noFill/>
                </a:ln>
                <a:solidFill>
                  <a:srgbClr val="FFFFFF"/>
                </a:solidFill>
                <a:effectLst/>
                <a:uLnTx/>
                <a:uFillTx/>
                <a:latin typeface="Arial (body)"/>
                <a:sym typeface="Arial"/>
              </a:rPr>
              <a:t> </a:t>
            </a:r>
            <a:r>
              <a:rPr kumimoji="0" lang="en-US" sz="2400" b="1" i="0" u="none" strike="noStrike" kern="0" cap="none" spc="0" normalizeH="0" noProof="0" dirty="0" err="1" smtClean="0">
                <a:ln>
                  <a:noFill/>
                </a:ln>
                <a:solidFill>
                  <a:srgbClr val="FFFFFF"/>
                </a:solidFill>
                <a:effectLst/>
                <a:uLnTx/>
                <a:uFillTx/>
                <a:latin typeface="Arial (body)"/>
                <a:sym typeface="Arial"/>
              </a:rPr>
              <a:t>câu</a:t>
            </a:r>
            <a:r>
              <a:rPr kumimoji="0" lang="en-US" sz="2400" b="1" i="0" u="none" strike="noStrike" kern="0" cap="none" spc="0" normalizeH="0" noProof="0" dirty="0" smtClean="0">
                <a:ln>
                  <a:noFill/>
                </a:ln>
                <a:solidFill>
                  <a:srgbClr val="FFFFFF"/>
                </a:solidFill>
                <a:effectLst/>
                <a:uLnTx/>
                <a:uFillTx/>
                <a:latin typeface="Arial (body)"/>
                <a:sym typeface="Arial"/>
              </a:rPr>
              <a:t> </a:t>
            </a:r>
            <a:r>
              <a:rPr kumimoji="0" lang="en-US" sz="2400" b="1" i="0" u="none" strike="noStrike" kern="0" cap="none" spc="0" normalizeH="0" noProof="0" dirty="0" err="1" smtClean="0">
                <a:ln>
                  <a:noFill/>
                </a:ln>
                <a:solidFill>
                  <a:srgbClr val="FFFFFF"/>
                </a:solidFill>
                <a:effectLst/>
                <a:uLnTx/>
                <a:uFillTx/>
                <a:latin typeface="Arial (body)"/>
                <a:sym typeface="Arial"/>
              </a:rPr>
              <a:t>hỏi</a:t>
            </a:r>
            <a:endParaRPr kumimoji="0" sz="2400" b="1" i="0" u="none" strike="noStrike" kern="0" cap="none" spc="0" normalizeH="0" baseline="0" noProof="0" dirty="0">
              <a:ln>
                <a:noFill/>
              </a:ln>
              <a:solidFill>
                <a:srgbClr val="FFFFFF"/>
              </a:solidFill>
              <a:effectLst/>
              <a:uLnTx/>
              <a:uFillTx/>
              <a:latin typeface="Arial (body)"/>
              <a:sym typeface="Arial"/>
            </a:endParaRPr>
          </a:p>
        </p:txBody>
      </p:sp>
      <p:sp>
        <p:nvSpPr>
          <p:cNvPr id="101" name="Google Shape;101;p3"/>
          <p:cNvSpPr txBox="1"/>
          <p:nvPr/>
        </p:nvSpPr>
        <p:spPr>
          <a:xfrm>
            <a:off x="341744" y="773540"/>
            <a:ext cx="8469745" cy="5243801"/>
          </a:xfrm>
          <a:prstGeom prst="rect">
            <a:avLst/>
          </a:prstGeom>
          <a:noFill/>
          <a:ln>
            <a:noFill/>
          </a:ln>
        </p:spPr>
        <p:txBody>
          <a:bodyPr spcFirstLastPara="1" wrap="square" lIns="91425" tIns="91425" rIns="91425" bIns="91425" anchor="t" anchorCtr="0">
            <a:noAutofit/>
          </a:bodyPr>
          <a:lstStyle/>
          <a:p>
            <a:pPr marL="0" marR="0" lvl="0" indent="0" algn="just" defTabSz="914400" rtl="0" eaLnBrk="1" fontAlgn="base" latinLnBrk="0" hangingPunct="1">
              <a:lnSpc>
                <a:spcPct val="100000"/>
              </a:lnSpc>
              <a:spcBef>
                <a:spcPts val="0"/>
              </a:spcBef>
              <a:spcAft>
                <a:spcPts val="0"/>
              </a:spcAft>
              <a:buClr>
                <a:srgbClr val="000000"/>
              </a:buClr>
              <a:buSzTx/>
              <a:buFont typeface="Arial"/>
              <a:buNone/>
              <a:tabLst/>
              <a:defRPr/>
            </a:pPr>
            <a:endParaRPr kumimoji="0" lang="vi-VN" sz="2400" b="1" i="0" u="none" strike="noStrike" kern="0" cap="none" spc="0" normalizeH="0" baseline="0" noProof="0" dirty="0">
              <a:ln>
                <a:noFill/>
              </a:ln>
              <a:solidFill>
                <a:srgbClr val="2B2F33"/>
              </a:solidFill>
              <a:effectLst/>
              <a:uLnTx/>
              <a:uFillTx/>
              <a:latin typeface="Open Sans" panose="020B0606030504020204" pitchFamily="34" charset="0"/>
              <a:cs typeface="Arial"/>
              <a:sym typeface="Arial"/>
            </a:endParaRPr>
          </a:p>
        </p:txBody>
      </p:sp>
      <p:sp>
        <p:nvSpPr>
          <p:cNvPr id="4" name="Google Shape;101;p3"/>
          <p:cNvSpPr txBox="1"/>
          <p:nvPr/>
        </p:nvSpPr>
        <p:spPr>
          <a:xfrm>
            <a:off x="424875" y="692425"/>
            <a:ext cx="8285100" cy="3467400"/>
          </a:xfrm>
          <a:prstGeom prst="rect">
            <a:avLst/>
          </a:prstGeom>
          <a:noFill/>
          <a:ln>
            <a:noFill/>
          </a:ln>
        </p:spPr>
        <p:txBody>
          <a:bodyPr spcFirstLastPara="1" wrap="square" lIns="91425" tIns="91425" rIns="91425" bIns="91425" anchor="t" anchorCtr="0">
            <a:noAutofit/>
          </a:bodyPr>
          <a:lstStyle/>
          <a:p>
            <a:pPr marL="444500" marR="0" lvl="0" indent="-342900" algn="just" defTabSz="914400" rtl="0" eaLnBrk="1" fontAlgn="auto" latinLnBrk="0" hangingPunct="1">
              <a:lnSpc>
                <a:spcPct val="115000"/>
              </a:lnSpc>
              <a:spcBef>
                <a:spcPts val="1600"/>
              </a:spcBef>
              <a:spcAft>
                <a:spcPts val="0"/>
              </a:spcAft>
              <a:buClr>
                <a:srgbClr val="000000"/>
              </a:buClr>
              <a:buSzTx/>
              <a:buFont typeface="Arial"/>
              <a:buAutoNum type="arabicPeriod"/>
              <a:tabLst/>
              <a:defRPr/>
            </a:pPr>
            <a:r>
              <a:rPr lang="en-US" sz="1800" b="1" dirty="0" err="1" smtClean="0"/>
              <a:t>Chiến</a:t>
            </a:r>
            <a:r>
              <a:rPr lang="en-US" sz="1800" b="1" dirty="0" smtClean="0"/>
              <a:t> </a:t>
            </a:r>
            <a:r>
              <a:rPr lang="en-US" sz="1800" b="1" dirty="0" err="1" smtClean="0"/>
              <a:t>lược</a:t>
            </a:r>
            <a:r>
              <a:rPr lang="en-US" sz="1800" b="1" dirty="0" smtClean="0"/>
              <a:t> ML, Momentum, RSI (</a:t>
            </a:r>
            <a:r>
              <a:rPr lang="en-US" sz="1800" b="1" dirty="0" err="1" smtClean="0"/>
              <a:t>học</a:t>
            </a:r>
            <a:r>
              <a:rPr lang="en-US" sz="1800" b="1" dirty="0" smtClean="0"/>
              <a:t> </a:t>
            </a:r>
            <a:r>
              <a:rPr lang="en-US" sz="1800" b="1" dirty="0" err="1" smtClean="0"/>
              <a:t>sau</a:t>
            </a:r>
            <a:r>
              <a:rPr lang="en-US" sz="1800" b="1" dirty="0" smtClean="0"/>
              <a:t> </a:t>
            </a:r>
            <a:r>
              <a:rPr lang="en-US" sz="1800" b="1" dirty="0" err="1" smtClean="0"/>
              <a:t>khi</a:t>
            </a:r>
            <a:r>
              <a:rPr lang="en-US" sz="1800" b="1" dirty="0" smtClean="0"/>
              <a:t> </a:t>
            </a:r>
            <a:r>
              <a:rPr lang="en-US" sz="1800" b="1" dirty="0" err="1" smtClean="0"/>
              <a:t>học</a:t>
            </a:r>
            <a:r>
              <a:rPr lang="en-US" sz="1800" b="1" dirty="0" smtClean="0"/>
              <a:t> ML </a:t>
            </a:r>
            <a:r>
              <a:rPr lang="en-US" sz="1800" b="1" dirty="0" err="1" smtClean="0"/>
              <a:t>mô</a:t>
            </a:r>
            <a:r>
              <a:rPr lang="en-US" sz="1800" b="1" dirty="0" smtClean="0"/>
              <a:t> </a:t>
            </a:r>
            <a:r>
              <a:rPr lang="en-US" sz="1800" b="1" dirty="0" err="1" smtClean="0"/>
              <a:t>hình</a:t>
            </a:r>
            <a:r>
              <a:rPr lang="en-US" sz="1800" b="1" dirty="0" smtClean="0"/>
              <a:t>)</a:t>
            </a:r>
          </a:p>
          <a:p>
            <a:pPr marL="444500" marR="0" lvl="0" indent="-342900" algn="just" defTabSz="914400" rtl="0" eaLnBrk="1" fontAlgn="auto" latinLnBrk="0" hangingPunct="1">
              <a:lnSpc>
                <a:spcPct val="115000"/>
              </a:lnSpc>
              <a:spcBef>
                <a:spcPts val="1600"/>
              </a:spcBef>
              <a:spcAft>
                <a:spcPts val="0"/>
              </a:spcAft>
              <a:buClr>
                <a:srgbClr val="000000"/>
              </a:buClr>
              <a:buSzTx/>
              <a:buFont typeface="Arial"/>
              <a:buAutoNum type="arabicPeriod"/>
              <a:tabLst/>
              <a:defRPr/>
            </a:pPr>
            <a:r>
              <a:rPr lang="en-US" sz="1800" b="1" dirty="0" err="1" smtClean="0"/>
              <a:t>Chiến</a:t>
            </a:r>
            <a:r>
              <a:rPr lang="en-US" sz="1800" b="1" dirty="0" smtClean="0"/>
              <a:t> </a:t>
            </a:r>
            <a:r>
              <a:rPr lang="en-US" sz="1800" b="1" dirty="0" err="1" smtClean="0"/>
              <a:t>lược</a:t>
            </a:r>
            <a:r>
              <a:rPr lang="en-US" sz="1800" b="1" dirty="0" smtClean="0"/>
              <a:t> MA, ATR</a:t>
            </a:r>
          </a:p>
          <a:p>
            <a:pPr marL="444500" marR="0" lvl="0" indent="-342900" algn="just" defTabSz="914400" rtl="0" eaLnBrk="1" fontAlgn="auto" latinLnBrk="0" hangingPunct="1">
              <a:lnSpc>
                <a:spcPct val="115000"/>
              </a:lnSpc>
              <a:spcBef>
                <a:spcPts val="1600"/>
              </a:spcBef>
              <a:spcAft>
                <a:spcPts val="0"/>
              </a:spcAft>
              <a:buClr>
                <a:srgbClr val="000000"/>
              </a:buClr>
              <a:buSzTx/>
              <a:buFont typeface="Arial"/>
              <a:buAutoNum type="arabicPeriod"/>
              <a:tabLst/>
              <a:defRPr/>
            </a:pPr>
            <a:r>
              <a:rPr kumimoji="0" lang="en-US" sz="1800" b="1" i="0" u="none" strike="noStrike" kern="0" cap="none" spc="0" normalizeH="0" baseline="0" noProof="0" dirty="0" err="1" smtClean="0">
                <a:ln>
                  <a:noFill/>
                </a:ln>
                <a:solidFill>
                  <a:srgbClr val="000000"/>
                </a:solidFill>
                <a:effectLst/>
                <a:uLnTx/>
                <a:uFillTx/>
                <a:latin typeface="Arial"/>
                <a:cs typeface="Arial"/>
                <a:sym typeface="Arial"/>
              </a:rPr>
              <a:t>Chiến</a:t>
            </a:r>
            <a:r>
              <a:rPr kumimoji="0" lang="en-US" sz="1800" b="1" i="0" u="none" strike="noStrike" kern="0" cap="none" spc="0" normalizeH="0" noProof="0" dirty="0" smtClean="0">
                <a:ln>
                  <a:noFill/>
                </a:ln>
                <a:solidFill>
                  <a:srgbClr val="000000"/>
                </a:solidFill>
                <a:effectLst/>
                <a:uLnTx/>
                <a:uFillTx/>
                <a:latin typeface="Arial"/>
                <a:cs typeface="Arial"/>
                <a:sym typeface="Arial"/>
              </a:rPr>
              <a:t> </a:t>
            </a:r>
            <a:r>
              <a:rPr kumimoji="0" lang="en-US" sz="1800" b="1" i="0" u="none" strike="noStrike" kern="0" cap="none" spc="0" normalizeH="0" noProof="0" dirty="0" err="1" smtClean="0">
                <a:ln>
                  <a:noFill/>
                </a:ln>
                <a:solidFill>
                  <a:srgbClr val="000000"/>
                </a:solidFill>
                <a:effectLst/>
                <a:uLnTx/>
                <a:uFillTx/>
                <a:latin typeface="Arial"/>
                <a:cs typeface="Arial"/>
                <a:sym typeface="Arial"/>
              </a:rPr>
              <a:t>lược</a:t>
            </a:r>
            <a:r>
              <a:rPr kumimoji="0" lang="en-US" sz="1800" b="1" i="0" u="none" strike="noStrike" kern="0" cap="none" spc="0" normalizeH="0" noProof="0" dirty="0" smtClean="0">
                <a:ln>
                  <a:noFill/>
                </a:ln>
                <a:solidFill>
                  <a:srgbClr val="000000"/>
                </a:solidFill>
                <a:effectLst/>
                <a:uLnTx/>
                <a:uFillTx/>
                <a:latin typeface="Arial"/>
                <a:cs typeface="Arial"/>
                <a:sym typeface="Arial"/>
              </a:rPr>
              <a:t> Bollinger Bands, RSI</a:t>
            </a:r>
          </a:p>
          <a:p>
            <a:pPr marL="444500" marR="0" lvl="0" indent="-342900" algn="just" defTabSz="914400" rtl="0" eaLnBrk="1" fontAlgn="auto" latinLnBrk="0" hangingPunct="1">
              <a:lnSpc>
                <a:spcPct val="115000"/>
              </a:lnSpc>
              <a:spcBef>
                <a:spcPts val="1600"/>
              </a:spcBef>
              <a:spcAft>
                <a:spcPts val="0"/>
              </a:spcAft>
              <a:buClr>
                <a:srgbClr val="000000"/>
              </a:buClr>
              <a:buSzTx/>
              <a:buFont typeface="Arial"/>
              <a:buAutoNum type="arabicPeriod"/>
              <a:tabLst/>
              <a:defRPr/>
            </a:pPr>
            <a:r>
              <a:rPr lang="en-US" sz="1800" b="1" baseline="0" dirty="0" err="1" smtClean="0"/>
              <a:t>Chiến</a:t>
            </a:r>
            <a:r>
              <a:rPr lang="en-US" sz="1800" b="1" dirty="0" smtClean="0"/>
              <a:t> </a:t>
            </a:r>
            <a:r>
              <a:rPr lang="en-US" sz="1800" b="1" dirty="0" err="1" smtClean="0"/>
              <a:t>lược</a:t>
            </a:r>
            <a:r>
              <a:rPr lang="en-US" sz="1800" b="1" dirty="0" smtClean="0"/>
              <a:t> </a:t>
            </a:r>
            <a:r>
              <a:rPr kumimoji="0" lang="en-US" sz="1800" b="1" i="0" u="none" strike="noStrike" kern="0" cap="none" spc="0" normalizeH="0" baseline="0" noProof="0" dirty="0" err="1" smtClean="0">
                <a:ln>
                  <a:noFill/>
                </a:ln>
                <a:solidFill>
                  <a:srgbClr val="000000"/>
                </a:solidFill>
                <a:effectLst/>
                <a:uLnTx/>
                <a:uFillTx/>
                <a:latin typeface="Arial"/>
                <a:cs typeface="Arial"/>
                <a:sym typeface="Arial"/>
              </a:rPr>
              <a:t>Doji</a:t>
            </a:r>
            <a:r>
              <a:rPr kumimoji="0" lang="en-US" sz="1800" b="1" i="0" u="none" strike="noStrike" kern="0" cap="none" spc="0" normalizeH="0" noProof="0" dirty="0" smtClean="0">
                <a:ln>
                  <a:noFill/>
                </a:ln>
                <a:solidFill>
                  <a:srgbClr val="000000"/>
                </a:solidFill>
                <a:effectLst/>
                <a:uLnTx/>
                <a:uFillTx/>
                <a:latin typeface="Arial"/>
                <a:cs typeface="Arial"/>
                <a:sym typeface="Arial"/>
              </a:rPr>
              <a:t> </a:t>
            </a:r>
            <a:r>
              <a:rPr kumimoji="0" lang="en-US" sz="1800" b="1" i="0" u="none" strike="noStrike" kern="0" cap="none" spc="0" normalizeH="0" noProof="0" dirty="0" err="1" smtClean="0">
                <a:ln>
                  <a:noFill/>
                </a:ln>
                <a:solidFill>
                  <a:srgbClr val="000000"/>
                </a:solidFill>
                <a:effectLst/>
                <a:uLnTx/>
                <a:uFillTx/>
                <a:latin typeface="Arial"/>
                <a:cs typeface="Arial"/>
                <a:sym typeface="Arial"/>
              </a:rPr>
              <a:t>chân</a:t>
            </a:r>
            <a:r>
              <a:rPr kumimoji="0" lang="en-US" sz="1800" b="1" i="0" u="none" strike="noStrike" kern="0" cap="none" spc="0" normalizeH="0" noProof="0" dirty="0" smtClean="0">
                <a:ln>
                  <a:noFill/>
                </a:ln>
                <a:solidFill>
                  <a:srgbClr val="000000"/>
                </a:solidFill>
                <a:effectLst/>
                <a:uLnTx/>
                <a:uFillTx/>
                <a:latin typeface="Arial"/>
                <a:cs typeface="Arial"/>
                <a:sym typeface="Arial"/>
              </a:rPr>
              <a:t> </a:t>
            </a:r>
            <a:r>
              <a:rPr kumimoji="0" lang="en-US" sz="1800" b="1" i="0" u="none" strike="noStrike" kern="0" cap="none" spc="0" normalizeH="0" noProof="0" dirty="0" err="1" smtClean="0">
                <a:ln>
                  <a:noFill/>
                </a:ln>
                <a:solidFill>
                  <a:srgbClr val="000000"/>
                </a:solidFill>
                <a:effectLst/>
                <a:uLnTx/>
                <a:uFillTx/>
                <a:latin typeface="Arial"/>
                <a:cs typeface="Arial"/>
                <a:sym typeface="Arial"/>
              </a:rPr>
              <a:t>dài</a:t>
            </a:r>
            <a:endParaRPr kumimoji="0" lang="en-US" sz="1800" b="1" i="0" u="none" strike="noStrike" kern="0" cap="none" spc="0" normalizeH="0" noProof="0" dirty="0" smtClean="0">
              <a:ln>
                <a:noFill/>
              </a:ln>
              <a:solidFill>
                <a:srgbClr val="000000"/>
              </a:solidFill>
              <a:effectLst/>
              <a:uLnTx/>
              <a:uFillTx/>
              <a:latin typeface="Arial"/>
              <a:cs typeface="Arial"/>
              <a:sym typeface="Arial"/>
            </a:endParaRPr>
          </a:p>
          <a:p>
            <a:pPr marL="444500" marR="0" lvl="0" indent="-342900" algn="just" defTabSz="914400" rtl="0" eaLnBrk="1" fontAlgn="auto" latinLnBrk="0" hangingPunct="1">
              <a:lnSpc>
                <a:spcPct val="115000"/>
              </a:lnSpc>
              <a:spcBef>
                <a:spcPts val="1600"/>
              </a:spcBef>
              <a:spcAft>
                <a:spcPts val="0"/>
              </a:spcAft>
              <a:buClr>
                <a:srgbClr val="000000"/>
              </a:buClr>
              <a:buSzTx/>
              <a:buFont typeface="Arial"/>
              <a:buAutoNum type="arabicPeriod"/>
              <a:tabLst/>
              <a:defRPr/>
            </a:pPr>
            <a:r>
              <a:rPr lang="en-US" sz="1800" b="1" baseline="0" dirty="0" err="1" smtClean="0">
                <a:ea typeface="Arial"/>
              </a:rPr>
              <a:t>Chiến</a:t>
            </a:r>
            <a:r>
              <a:rPr lang="en-US" sz="1800" b="1" dirty="0" smtClean="0">
                <a:ea typeface="Arial"/>
              </a:rPr>
              <a:t> </a:t>
            </a:r>
            <a:r>
              <a:rPr lang="en-US" sz="1800" b="1" dirty="0" err="1" smtClean="0">
                <a:ea typeface="Arial"/>
              </a:rPr>
              <a:t>lược</a:t>
            </a:r>
            <a:r>
              <a:rPr lang="en-US" sz="1800" b="1" dirty="0" smtClean="0">
                <a:ea typeface="Arial"/>
              </a:rPr>
              <a:t> SPY 500, VIX </a:t>
            </a:r>
            <a:endParaRPr kumimoji="0" sz="1800" b="1" i="0" u="none" strike="noStrike" kern="0" cap="none" spc="0" normalizeH="0" baseline="0" noProof="0" dirty="0">
              <a:ln>
                <a:noFill/>
              </a:ln>
              <a:solidFill>
                <a:srgbClr val="000000"/>
              </a:solidFill>
              <a:effectLst/>
              <a:uLnTx/>
              <a:uFillTx/>
              <a:latin typeface="Arial"/>
              <a:ea typeface="Arial"/>
              <a:cs typeface="Arial"/>
              <a:sym typeface="Arial"/>
            </a:endParaRPr>
          </a:p>
          <a:p>
            <a:pPr marL="101600" marR="0" lvl="0" indent="0" algn="just" defTabSz="914400" rtl="0" eaLnBrk="1" fontAlgn="auto" latinLnBrk="0" hangingPunct="1">
              <a:lnSpc>
                <a:spcPct val="115000"/>
              </a:lnSpc>
              <a:spcBef>
                <a:spcPts val="1600"/>
              </a:spcBef>
              <a:spcAft>
                <a:spcPts val="0"/>
              </a:spcAft>
              <a:buClr>
                <a:srgbClr val="000000"/>
              </a:buClr>
              <a:buSzTx/>
              <a:buFont typeface="Arial"/>
              <a:buNone/>
              <a:tabLst/>
              <a:defRPr/>
            </a:pPr>
            <a:endParaRPr kumimoji="0" sz="1800" b="1" i="0" u="none" strike="noStrike" kern="0" cap="none" spc="0" normalizeH="0" baseline="0" noProof="0" dirty="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6704068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lvl="0">
              <a:buSzPts val="2000"/>
              <a:defRPr/>
            </a:pPr>
            <a:r>
              <a:rPr lang="vi-VN" sz="2400" b="1" dirty="0">
                <a:solidFill>
                  <a:srgbClr val="FFFFFF"/>
                </a:solidFill>
                <a:latin typeface="Arial (body)"/>
              </a:rPr>
              <a:t>Các chiến lược trong phần đặt câu hỏi</a:t>
            </a:r>
          </a:p>
        </p:txBody>
      </p:sp>
      <p:sp>
        <p:nvSpPr>
          <p:cNvPr id="101" name="Google Shape;101;p3"/>
          <p:cNvSpPr txBox="1"/>
          <p:nvPr/>
        </p:nvSpPr>
        <p:spPr>
          <a:xfrm>
            <a:off x="341744" y="773540"/>
            <a:ext cx="8469745" cy="5243801"/>
          </a:xfrm>
          <a:prstGeom prst="rect">
            <a:avLst/>
          </a:prstGeom>
          <a:noFill/>
          <a:ln>
            <a:noFill/>
          </a:ln>
        </p:spPr>
        <p:txBody>
          <a:bodyPr spcFirstLastPara="1" wrap="square" lIns="91425" tIns="91425" rIns="91425" bIns="91425" anchor="t" anchorCtr="0">
            <a:noAutofit/>
          </a:bodyPr>
          <a:lstStyle/>
          <a:p>
            <a:pPr marL="0" marR="0" lvl="0" indent="0" algn="just" defTabSz="914400" rtl="0" eaLnBrk="1" fontAlgn="base" latinLnBrk="0" hangingPunct="1">
              <a:lnSpc>
                <a:spcPct val="100000"/>
              </a:lnSpc>
              <a:spcBef>
                <a:spcPts val="0"/>
              </a:spcBef>
              <a:spcAft>
                <a:spcPts val="0"/>
              </a:spcAft>
              <a:buClr>
                <a:srgbClr val="000000"/>
              </a:buClr>
              <a:buSzTx/>
              <a:buFont typeface="Arial"/>
              <a:buNone/>
              <a:tabLst/>
              <a:defRPr/>
            </a:pPr>
            <a:endParaRPr kumimoji="0" lang="vi-VN" sz="2400" b="1" i="0" u="none" strike="noStrike" kern="0" cap="none" spc="0" normalizeH="0" baseline="0" noProof="0" dirty="0">
              <a:ln>
                <a:noFill/>
              </a:ln>
              <a:solidFill>
                <a:srgbClr val="2B2F33"/>
              </a:solidFill>
              <a:effectLst/>
              <a:uLnTx/>
              <a:uFillTx/>
              <a:latin typeface="Open Sans" panose="020B0606030504020204" pitchFamily="34" charset="0"/>
              <a:cs typeface="Arial"/>
              <a:sym typeface="Arial"/>
            </a:endParaRPr>
          </a:p>
        </p:txBody>
      </p:sp>
      <p:sp>
        <p:nvSpPr>
          <p:cNvPr id="4" name="Google Shape;101;p3"/>
          <p:cNvSpPr txBox="1"/>
          <p:nvPr/>
        </p:nvSpPr>
        <p:spPr>
          <a:xfrm>
            <a:off x="424875" y="692425"/>
            <a:ext cx="8285100" cy="3467400"/>
          </a:xfrm>
          <a:prstGeom prst="rect">
            <a:avLst/>
          </a:prstGeom>
          <a:noFill/>
          <a:ln>
            <a:noFill/>
          </a:ln>
        </p:spPr>
        <p:txBody>
          <a:bodyPr spcFirstLastPara="1" wrap="square" lIns="91425" tIns="91425" rIns="91425" bIns="91425" anchor="t" anchorCtr="0">
            <a:noAutofit/>
          </a:bodyPr>
          <a:lstStyle/>
          <a:p>
            <a:pPr marL="101600" marR="0" lvl="0" algn="just" defTabSz="914400" rtl="0" eaLnBrk="1" fontAlgn="auto" latinLnBrk="0" hangingPunct="1">
              <a:lnSpc>
                <a:spcPct val="115000"/>
              </a:lnSpc>
              <a:spcBef>
                <a:spcPts val="1600"/>
              </a:spcBef>
              <a:spcAft>
                <a:spcPts val="0"/>
              </a:spcAft>
              <a:buClr>
                <a:srgbClr val="000000"/>
              </a:buClr>
              <a:buSzTx/>
              <a:tabLst/>
              <a:defRPr/>
            </a:pPr>
            <a:r>
              <a:rPr lang="en-US" sz="1800" b="1" dirty="0" err="1" smtClean="0"/>
              <a:t>Chiến</a:t>
            </a:r>
            <a:r>
              <a:rPr lang="en-US" sz="1800" b="1" dirty="0" smtClean="0"/>
              <a:t> </a:t>
            </a:r>
            <a:r>
              <a:rPr lang="en-US" sz="1800" b="1" dirty="0" err="1" smtClean="0"/>
              <a:t>lược</a:t>
            </a:r>
            <a:r>
              <a:rPr lang="en-US" sz="1800" b="1" dirty="0" smtClean="0"/>
              <a:t> MA, ATR:</a:t>
            </a:r>
          </a:p>
          <a:p>
            <a:pPr algn="just"/>
            <a:r>
              <a:rPr lang="vi-VN" b="1" dirty="0" smtClean="0"/>
              <a:t>Tín </a:t>
            </a:r>
            <a:r>
              <a:rPr lang="vi-VN" b="1" dirty="0"/>
              <a:t>Hiệu Mua (Buy Signal):</a:t>
            </a:r>
            <a:r>
              <a:rPr lang="vi-VN" dirty="0"/>
              <a:t> Một tín hiệu mua được xác định khi </a:t>
            </a:r>
            <a:r>
              <a:rPr lang="vi-VN" b="1" dirty="0"/>
              <a:t>MA nhanh (MA_Fast) </a:t>
            </a:r>
            <a:r>
              <a:rPr lang="vi-VN" dirty="0"/>
              <a:t>cao hơn hoặc bằng </a:t>
            </a:r>
            <a:r>
              <a:rPr lang="vi-VN" b="1" dirty="0"/>
              <a:t>MA chậm (MA_Slow), </a:t>
            </a:r>
            <a:r>
              <a:rPr lang="vi-VN" dirty="0"/>
              <a:t>và ATR hiện tại nhỏ hơn hoặc bằng ngưỡng ATR đã đặt. </a:t>
            </a:r>
          </a:p>
          <a:p>
            <a:pPr algn="just"/>
            <a:r>
              <a:rPr lang="vi-VN" b="1" dirty="0"/>
              <a:t>Tín Hiệu Bán (Sell Signal):</a:t>
            </a:r>
            <a:r>
              <a:rPr lang="vi-VN" dirty="0"/>
              <a:t> Một tín hiệu bán được xác định khi </a:t>
            </a:r>
            <a:r>
              <a:rPr lang="vi-VN" b="1" dirty="0"/>
              <a:t>MA nhanh thấp hơn MA chậm</a:t>
            </a:r>
            <a:r>
              <a:rPr lang="vi-VN" dirty="0"/>
              <a:t>, và </a:t>
            </a:r>
            <a:r>
              <a:rPr lang="vi-VN" b="1" dirty="0"/>
              <a:t>ATR hiện tại cũng nhỏ hơn hoặc bằng ngưỡng ATR đã đặt</a:t>
            </a:r>
            <a:r>
              <a:rPr lang="vi-VN" b="1" dirty="0" smtClean="0"/>
              <a:t>.</a:t>
            </a:r>
            <a:endParaRPr lang="en-US" b="1" dirty="0" smtClean="0"/>
          </a:p>
          <a:p>
            <a:pPr algn="just"/>
            <a:endParaRPr lang="en-US" dirty="0"/>
          </a:p>
          <a:p>
            <a:pPr algn="just"/>
            <a:r>
              <a:rPr lang="vi-VN" b="1" dirty="0"/>
              <a:t>Moving Average (MA) </a:t>
            </a:r>
            <a:r>
              <a:rPr lang="vi-VN" dirty="0"/>
              <a:t>là một trong những công cụ phân tích kỹ thuật phổ biến nhất, dùng để làm mịn dữ liệu giá trong một khoảng thời gian cụ thể để xác định xu hướng thị trường. Mục đích của MA là giảm bớt "tiếng ồn" ngẫu nhiên và làm nổi bật xu hướng giá rõ ràng hơn</a:t>
            </a:r>
            <a:r>
              <a:rPr lang="vi-VN" dirty="0" smtClean="0"/>
              <a:t>.</a:t>
            </a:r>
            <a:endParaRPr lang="en-US" dirty="0" smtClean="0"/>
          </a:p>
          <a:p>
            <a:pPr algn="just"/>
            <a:r>
              <a:rPr lang="en-US" dirty="0" err="1"/>
              <a:t>Tính</a:t>
            </a:r>
            <a:r>
              <a:rPr lang="en-US" dirty="0"/>
              <a:t> </a:t>
            </a:r>
            <a:r>
              <a:rPr lang="en-US" dirty="0" err="1"/>
              <a:t>toán</a:t>
            </a:r>
            <a:r>
              <a:rPr lang="en-US" dirty="0"/>
              <a:t> </a:t>
            </a:r>
            <a:r>
              <a:rPr lang="en-US" dirty="0" err="1"/>
              <a:t>bằng</a:t>
            </a:r>
            <a:r>
              <a:rPr lang="en-US" dirty="0"/>
              <a:t> </a:t>
            </a:r>
            <a:r>
              <a:rPr lang="en-US" dirty="0" err="1"/>
              <a:t>cách</a:t>
            </a:r>
            <a:r>
              <a:rPr lang="en-US" dirty="0"/>
              <a:t> </a:t>
            </a:r>
            <a:r>
              <a:rPr lang="en-US" dirty="0" err="1"/>
              <a:t>lấy</a:t>
            </a:r>
            <a:r>
              <a:rPr lang="en-US" dirty="0"/>
              <a:t> </a:t>
            </a:r>
            <a:r>
              <a:rPr lang="en-US" dirty="0" err="1"/>
              <a:t>trung</a:t>
            </a:r>
            <a:r>
              <a:rPr lang="en-US" dirty="0"/>
              <a:t> </a:t>
            </a:r>
            <a:r>
              <a:rPr lang="en-US" dirty="0" err="1"/>
              <a:t>bình</a:t>
            </a:r>
            <a:r>
              <a:rPr lang="en-US" dirty="0"/>
              <a:t> </a:t>
            </a:r>
            <a:r>
              <a:rPr lang="en-US" dirty="0" err="1"/>
              <a:t>cộng</a:t>
            </a:r>
            <a:r>
              <a:rPr lang="en-US" dirty="0"/>
              <a:t> </a:t>
            </a:r>
            <a:r>
              <a:rPr lang="en-US" dirty="0" err="1"/>
              <a:t>của</a:t>
            </a:r>
            <a:r>
              <a:rPr lang="en-US" dirty="0"/>
              <a:t> </a:t>
            </a:r>
            <a:r>
              <a:rPr lang="en-US" dirty="0" err="1"/>
              <a:t>một</a:t>
            </a:r>
            <a:r>
              <a:rPr lang="en-US" dirty="0"/>
              <a:t> </a:t>
            </a:r>
            <a:r>
              <a:rPr lang="en-US" dirty="0" err="1"/>
              <a:t>tập</a:t>
            </a:r>
            <a:r>
              <a:rPr lang="en-US" dirty="0"/>
              <a:t> </a:t>
            </a:r>
            <a:r>
              <a:rPr lang="en-US" dirty="0" err="1"/>
              <a:t>hợp</a:t>
            </a:r>
            <a:r>
              <a:rPr lang="en-US" dirty="0"/>
              <a:t> </a:t>
            </a:r>
            <a:r>
              <a:rPr lang="en-US" dirty="0" err="1"/>
              <a:t>các</a:t>
            </a:r>
            <a:r>
              <a:rPr lang="en-US" dirty="0"/>
              <a:t> </a:t>
            </a:r>
            <a:r>
              <a:rPr lang="en-US" dirty="0" err="1"/>
              <a:t>giá</a:t>
            </a:r>
            <a:r>
              <a:rPr lang="en-US" dirty="0"/>
              <a:t> </a:t>
            </a:r>
            <a:r>
              <a:rPr lang="en-US" dirty="0" err="1"/>
              <a:t>trong</a:t>
            </a:r>
            <a:r>
              <a:rPr lang="en-US" dirty="0"/>
              <a:t> </a:t>
            </a:r>
            <a:r>
              <a:rPr lang="en-US" dirty="0" err="1"/>
              <a:t>một</a:t>
            </a:r>
            <a:r>
              <a:rPr lang="en-US" dirty="0"/>
              <a:t> </a:t>
            </a:r>
            <a:r>
              <a:rPr lang="en-US" dirty="0" err="1"/>
              <a:t>khoảng</a:t>
            </a:r>
            <a:r>
              <a:rPr lang="en-US" dirty="0"/>
              <a:t> </a:t>
            </a:r>
            <a:r>
              <a:rPr lang="en-US" dirty="0" err="1"/>
              <a:t>thời</a:t>
            </a:r>
            <a:r>
              <a:rPr lang="en-US" dirty="0"/>
              <a:t> </a:t>
            </a:r>
            <a:r>
              <a:rPr lang="en-US" dirty="0" err="1"/>
              <a:t>gian</a:t>
            </a:r>
            <a:r>
              <a:rPr lang="en-US" dirty="0"/>
              <a:t> </a:t>
            </a:r>
            <a:r>
              <a:rPr lang="en-US" dirty="0" err="1"/>
              <a:t>nhất</a:t>
            </a:r>
            <a:r>
              <a:rPr lang="en-US" dirty="0"/>
              <a:t> </a:t>
            </a:r>
            <a:r>
              <a:rPr lang="en-US" dirty="0" err="1"/>
              <a:t>định</a:t>
            </a:r>
            <a:r>
              <a:rPr lang="en-US" dirty="0"/>
              <a:t>. </a:t>
            </a:r>
            <a:r>
              <a:rPr lang="en-US" dirty="0" err="1"/>
              <a:t>Ví</a:t>
            </a:r>
            <a:r>
              <a:rPr lang="en-US" dirty="0"/>
              <a:t> </a:t>
            </a:r>
            <a:r>
              <a:rPr lang="en-US" dirty="0" err="1"/>
              <a:t>dụ</a:t>
            </a:r>
            <a:r>
              <a:rPr lang="en-US" dirty="0"/>
              <a:t>: </a:t>
            </a:r>
            <a:r>
              <a:rPr lang="en-US" b="1" dirty="0" smtClean="0"/>
              <a:t>MA </a:t>
            </a:r>
            <a:r>
              <a:rPr lang="en-US" b="1" dirty="0"/>
              <a:t>50 </a:t>
            </a:r>
            <a:r>
              <a:rPr lang="en-US" b="1" dirty="0" err="1"/>
              <a:t>ngày</a:t>
            </a:r>
            <a:r>
              <a:rPr lang="en-US" b="1" dirty="0"/>
              <a:t> </a:t>
            </a:r>
            <a:r>
              <a:rPr lang="en-US" b="1" dirty="0" err="1"/>
              <a:t>sẽ</a:t>
            </a:r>
            <a:r>
              <a:rPr lang="en-US" b="1" dirty="0"/>
              <a:t> </a:t>
            </a:r>
            <a:r>
              <a:rPr lang="en-US" b="1" dirty="0" err="1"/>
              <a:t>là</a:t>
            </a:r>
            <a:r>
              <a:rPr lang="en-US" b="1" dirty="0"/>
              <a:t> </a:t>
            </a:r>
            <a:r>
              <a:rPr lang="en-US" b="1" dirty="0" err="1"/>
              <a:t>trung</a:t>
            </a:r>
            <a:r>
              <a:rPr lang="en-US" b="1" dirty="0"/>
              <a:t> </a:t>
            </a:r>
            <a:r>
              <a:rPr lang="en-US" b="1" dirty="0" err="1"/>
              <a:t>bình</a:t>
            </a:r>
            <a:r>
              <a:rPr lang="en-US" b="1" dirty="0"/>
              <a:t> </a:t>
            </a:r>
            <a:r>
              <a:rPr lang="en-US" b="1" dirty="0" err="1"/>
              <a:t>cộng</a:t>
            </a:r>
            <a:r>
              <a:rPr lang="en-US" b="1" dirty="0"/>
              <a:t> </a:t>
            </a:r>
            <a:r>
              <a:rPr lang="en-US" b="1" dirty="0" err="1"/>
              <a:t>của</a:t>
            </a:r>
            <a:r>
              <a:rPr lang="en-US" b="1" dirty="0"/>
              <a:t> </a:t>
            </a:r>
            <a:r>
              <a:rPr lang="en-US" b="1" dirty="0" err="1"/>
              <a:t>giá</a:t>
            </a:r>
            <a:r>
              <a:rPr lang="en-US" b="1" dirty="0"/>
              <a:t> </a:t>
            </a:r>
            <a:r>
              <a:rPr lang="en-US" b="1" dirty="0" err="1"/>
              <a:t>đóng</a:t>
            </a:r>
            <a:r>
              <a:rPr lang="en-US" b="1" dirty="0"/>
              <a:t> </a:t>
            </a:r>
            <a:r>
              <a:rPr lang="en-US" b="1" dirty="0" err="1"/>
              <a:t>cửa</a:t>
            </a:r>
            <a:r>
              <a:rPr lang="en-US" b="1" dirty="0"/>
              <a:t> </a:t>
            </a:r>
            <a:r>
              <a:rPr lang="en-US" b="1" dirty="0" err="1"/>
              <a:t>trong</a:t>
            </a:r>
            <a:r>
              <a:rPr lang="en-US" b="1" dirty="0"/>
              <a:t> 50 </a:t>
            </a:r>
            <a:r>
              <a:rPr lang="en-US" b="1" dirty="0" err="1"/>
              <a:t>ngày</a:t>
            </a:r>
            <a:r>
              <a:rPr lang="en-US" b="1" dirty="0"/>
              <a:t> qua</a:t>
            </a:r>
            <a:r>
              <a:rPr lang="en-US" b="1" dirty="0" smtClean="0"/>
              <a:t>.</a:t>
            </a:r>
          </a:p>
          <a:p>
            <a:pPr algn="just"/>
            <a:endParaRPr lang="en-US" dirty="0"/>
          </a:p>
          <a:p>
            <a:pPr algn="just"/>
            <a:r>
              <a:rPr lang="vi-VN" b="1" dirty="0"/>
              <a:t>Average True Range (ATR) </a:t>
            </a:r>
            <a:r>
              <a:rPr lang="vi-VN" dirty="0"/>
              <a:t>là một chỉ báo kỹ thuật được sử dụng để đo lường biến động thị trường. ATR không cung cấp thông tin về hướng của giá, mà thay vào đó nó đo lường mức độ biến động giá của một tài sản trong một khoảng thời gian nhất định</a:t>
            </a:r>
            <a:r>
              <a:rPr lang="vi-VN" dirty="0" smtClean="0"/>
              <a:t>.</a:t>
            </a:r>
            <a:endParaRPr lang="en-US" dirty="0" smtClean="0"/>
          </a:p>
          <a:p>
            <a:pPr algn="just"/>
            <a:r>
              <a:rPr lang="vi-VN" b="1" dirty="0"/>
              <a:t>ATR được tính dựa trên "true range" (TR), </a:t>
            </a:r>
            <a:r>
              <a:rPr lang="vi-VN" dirty="0"/>
              <a:t>mà là giá trị </a:t>
            </a:r>
            <a:r>
              <a:rPr lang="vi-VN" b="1" dirty="0"/>
              <a:t>lớn nhất </a:t>
            </a:r>
            <a:r>
              <a:rPr lang="vi-VN" dirty="0"/>
              <a:t>trong ba khoảng giá sau:</a:t>
            </a:r>
          </a:p>
          <a:p>
            <a:pPr algn="just"/>
            <a:r>
              <a:rPr lang="en-US" dirty="0" smtClean="0"/>
              <a:t>- </a:t>
            </a:r>
            <a:r>
              <a:rPr lang="vi-VN" dirty="0" smtClean="0"/>
              <a:t>Hiệu </a:t>
            </a:r>
            <a:r>
              <a:rPr lang="vi-VN" dirty="0"/>
              <a:t>số giữa giá cao nhất và thấp nhất của ngày hiện tại.</a:t>
            </a:r>
          </a:p>
          <a:p>
            <a:pPr algn="just"/>
            <a:r>
              <a:rPr lang="en-US" dirty="0" smtClean="0"/>
              <a:t>- </a:t>
            </a:r>
            <a:r>
              <a:rPr lang="vi-VN" dirty="0" smtClean="0"/>
              <a:t>Hiệu </a:t>
            </a:r>
            <a:r>
              <a:rPr lang="vi-VN" dirty="0"/>
              <a:t>số giữa giá cao nhất của ngày hiện tại và giá đóng cửa của ngày trước đó.</a:t>
            </a:r>
          </a:p>
          <a:p>
            <a:pPr algn="just"/>
            <a:r>
              <a:rPr lang="en-US" dirty="0" smtClean="0"/>
              <a:t>- </a:t>
            </a:r>
            <a:r>
              <a:rPr lang="vi-VN" dirty="0" smtClean="0"/>
              <a:t>Hiệu </a:t>
            </a:r>
            <a:r>
              <a:rPr lang="vi-VN" dirty="0"/>
              <a:t>số giữa giá thấp nhất của ngày hiện tại và giá đóng cửa của ngày trước đó.</a:t>
            </a:r>
          </a:p>
          <a:p>
            <a:pPr algn="just"/>
            <a:r>
              <a:rPr lang="vi-VN" dirty="0"/>
              <a:t>ATR là trung bình của true </a:t>
            </a:r>
            <a:r>
              <a:rPr lang="vi-VN" dirty="0" smtClean="0"/>
              <a:t>range</a:t>
            </a:r>
            <a:r>
              <a:rPr lang="en-US" dirty="0" smtClean="0"/>
              <a:t> (TR)</a:t>
            </a:r>
            <a:r>
              <a:rPr lang="vi-VN" dirty="0" smtClean="0"/>
              <a:t> </a:t>
            </a:r>
            <a:r>
              <a:rPr lang="vi-VN" dirty="0"/>
              <a:t>qua một </a:t>
            </a:r>
            <a:r>
              <a:rPr lang="vi-VN" b="1" dirty="0"/>
              <a:t>số lượng ngày </a:t>
            </a:r>
            <a:r>
              <a:rPr lang="vi-VN" dirty="0"/>
              <a:t>nhất định, thường là </a:t>
            </a:r>
            <a:r>
              <a:rPr lang="vi-VN" b="1" dirty="0"/>
              <a:t>14</a:t>
            </a:r>
            <a:r>
              <a:rPr lang="vi-VN" dirty="0"/>
              <a:t> ngày. Giá trị ATR cao hơn cho thấy biến động lớn hơn và ngược lại, giá trị ATR thấp cho thấy biến động thấp.</a:t>
            </a:r>
          </a:p>
          <a:p>
            <a:pPr algn="just"/>
            <a:r>
              <a:rPr lang="vi-VN" dirty="0" smtClean="0"/>
              <a:t> </a:t>
            </a:r>
            <a:endParaRPr lang="en-US" sz="1800" b="1" dirty="0" smtClean="0"/>
          </a:p>
        </p:txBody>
      </p:sp>
    </p:spTree>
    <p:extLst>
      <p:ext uri="{BB962C8B-B14F-4D97-AF65-F5344CB8AC3E}">
        <p14:creationId xmlns:p14="http://schemas.microsoft.com/office/powerpoint/2010/main" val="42406488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lvl="0">
              <a:buSzPts val="2000"/>
              <a:defRPr/>
            </a:pPr>
            <a:r>
              <a:rPr lang="vi-VN" sz="2400" b="1" dirty="0">
                <a:solidFill>
                  <a:srgbClr val="FFFFFF"/>
                </a:solidFill>
                <a:latin typeface="Arial (body)"/>
              </a:rPr>
              <a:t>Các chiến lược trong phần đặt câu hỏi</a:t>
            </a:r>
          </a:p>
        </p:txBody>
      </p:sp>
      <p:sp>
        <p:nvSpPr>
          <p:cNvPr id="101" name="Google Shape;101;p3"/>
          <p:cNvSpPr txBox="1"/>
          <p:nvPr/>
        </p:nvSpPr>
        <p:spPr>
          <a:xfrm>
            <a:off x="341744" y="773540"/>
            <a:ext cx="8469745" cy="5243801"/>
          </a:xfrm>
          <a:prstGeom prst="rect">
            <a:avLst/>
          </a:prstGeom>
          <a:noFill/>
          <a:ln>
            <a:noFill/>
          </a:ln>
        </p:spPr>
        <p:txBody>
          <a:bodyPr spcFirstLastPara="1" wrap="square" lIns="91425" tIns="91425" rIns="91425" bIns="91425" anchor="t" anchorCtr="0">
            <a:noAutofit/>
          </a:bodyPr>
          <a:lstStyle/>
          <a:p>
            <a:pPr marL="0" marR="0" lvl="0" indent="0" algn="just" defTabSz="914400" rtl="0" eaLnBrk="1" fontAlgn="base" latinLnBrk="0" hangingPunct="1">
              <a:lnSpc>
                <a:spcPct val="100000"/>
              </a:lnSpc>
              <a:spcBef>
                <a:spcPts val="0"/>
              </a:spcBef>
              <a:spcAft>
                <a:spcPts val="0"/>
              </a:spcAft>
              <a:buClr>
                <a:srgbClr val="000000"/>
              </a:buClr>
              <a:buSzTx/>
              <a:buFont typeface="Arial"/>
              <a:buNone/>
              <a:tabLst/>
              <a:defRPr/>
            </a:pPr>
            <a:endParaRPr kumimoji="0" lang="vi-VN" sz="2400" b="1" i="0" u="none" strike="noStrike" kern="0" cap="none" spc="0" normalizeH="0" baseline="0" noProof="0" dirty="0">
              <a:ln>
                <a:noFill/>
              </a:ln>
              <a:solidFill>
                <a:srgbClr val="2B2F33"/>
              </a:solidFill>
              <a:effectLst/>
              <a:uLnTx/>
              <a:uFillTx/>
              <a:latin typeface="Open Sans" panose="020B0606030504020204" pitchFamily="34" charset="0"/>
              <a:cs typeface="Arial"/>
              <a:sym typeface="Arial"/>
            </a:endParaRPr>
          </a:p>
        </p:txBody>
      </p:sp>
      <p:sp>
        <p:nvSpPr>
          <p:cNvPr id="4" name="Google Shape;101;p3"/>
          <p:cNvSpPr txBox="1"/>
          <p:nvPr/>
        </p:nvSpPr>
        <p:spPr>
          <a:xfrm>
            <a:off x="424875" y="692425"/>
            <a:ext cx="8285100" cy="3467400"/>
          </a:xfrm>
          <a:prstGeom prst="rect">
            <a:avLst/>
          </a:prstGeom>
          <a:noFill/>
          <a:ln>
            <a:noFill/>
          </a:ln>
        </p:spPr>
        <p:txBody>
          <a:bodyPr spcFirstLastPara="1" wrap="square" lIns="91425" tIns="91425" rIns="91425" bIns="91425" anchor="t" anchorCtr="0">
            <a:noAutofit/>
          </a:bodyPr>
          <a:lstStyle/>
          <a:p>
            <a:pPr marL="101600" marR="0" lvl="0" algn="just" defTabSz="914400" rtl="0" eaLnBrk="1" fontAlgn="auto" latinLnBrk="0" hangingPunct="1">
              <a:lnSpc>
                <a:spcPct val="115000"/>
              </a:lnSpc>
              <a:spcBef>
                <a:spcPts val="1600"/>
              </a:spcBef>
              <a:spcAft>
                <a:spcPts val="0"/>
              </a:spcAft>
              <a:buClr>
                <a:srgbClr val="000000"/>
              </a:buClr>
              <a:buSzTx/>
              <a:tabLst/>
              <a:defRPr/>
            </a:pPr>
            <a:r>
              <a:rPr lang="en-US" sz="1800" b="1" dirty="0" err="1" smtClean="0"/>
              <a:t>Chiến</a:t>
            </a:r>
            <a:r>
              <a:rPr lang="en-US" sz="1800" b="1" dirty="0" smtClean="0"/>
              <a:t> </a:t>
            </a:r>
            <a:r>
              <a:rPr lang="en-US" sz="1800" b="1" dirty="0" err="1" smtClean="0"/>
              <a:t>lược</a:t>
            </a:r>
            <a:r>
              <a:rPr lang="en-US" sz="1800" b="1" dirty="0" smtClean="0"/>
              <a:t> MA, ATR:</a:t>
            </a:r>
          </a:p>
        </p:txBody>
      </p:sp>
      <p:pic>
        <p:nvPicPr>
          <p:cNvPr id="2" name="Picture 1"/>
          <p:cNvPicPr>
            <a:picLocks noChangeAspect="1"/>
          </p:cNvPicPr>
          <p:nvPr/>
        </p:nvPicPr>
        <p:blipFill>
          <a:blip r:embed="rId3"/>
          <a:stretch>
            <a:fillRect/>
          </a:stretch>
        </p:blipFill>
        <p:spPr>
          <a:xfrm>
            <a:off x="510023" y="1274904"/>
            <a:ext cx="8467725" cy="1419225"/>
          </a:xfrm>
          <a:prstGeom prst="rect">
            <a:avLst/>
          </a:prstGeom>
        </p:spPr>
      </p:pic>
      <p:pic>
        <p:nvPicPr>
          <p:cNvPr id="3" name="Picture 2"/>
          <p:cNvPicPr>
            <a:picLocks noChangeAspect="1"/>
          </p:cNvPicPr>
          <p:nvPr/>
        </p:nvPicPr>
        <p:blipFill>
          <a:blip r:embed="rId3"/>
          <a:stretch>
            <a:fillRect/>
          </a:stretch>
        </p:blipFill>
        <p:spPr>
          <a:xfrm>
            <a:off x="2440771" y="2772787"/>
            <a:ext cx="5851677" cy="3535819"/>
          </a:xfrm>
          <a:prstGeom prst="rect">
            <a:avLst/>
          </a:prstGeom>
        </p:spPr>
      </p:pic>
    </p:spTree>
    <p:extLst>
      <p:ext uri="{BB962C8B-B14F-4D97-AF65-F5344CB8AC3E}">
        <p14:creationId xmlns:p14="http://schemas.microsoft.com/office/powerpoint/2010/main" val="27157256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lvl="0">
              <a:buSzPts val="2000"/>
              <a:defRPr/>
            </a:pPr>
            <a:r>
              <a:rPr lang="vi-VN" sz="2400" b="1" dirty="0">
                <a:solidFill>
                  <a:srgbClr val="FFFFFF"/>
                </a:solidFill>
                <a:latin typeface="Arial (body)"/>
              </a:rPr>
              <a:t>Các chiến lược trong phần đặt câu hỏi</a:t>
            </a:r>
          </a:p>
        </p:txBody>
      </p:sp>
      <p:sp>
        <p:nvSpPr>
          <p:cNvPr id="101" name="Google Shape;101;p3"/>
          <p:cNvSpPr txBox="1"/>
          <p:nvPr/>
        </p:nvSpPr>
        <p:spPr>
          <a:xfrm>
            <a:off x="341744" y="773540"/>
            <a:ext cx="8469745" cy="5243801"/>
          </a:xfrm>
          <a:prstGeom prst="rect">
            <a:avLst/>
          </a:prstGeom>
          <a:noFill/>
          <a:ln>
            <a:noFill/>
          </a:ln>
        </p:spPr>
        <p:txBody>
          <a:bodyPr spcFirstLastPara="1" wrap="square" lIns="91425" tIns="91425" rIns="91425" bIns="91425" anchor="t" anchorCtr="0">
            <a:noAutofit/>
          </a:bodyPr>
          <a:lstStyle/>
          <a:p>
            <a:pPr marL="0" marR="0" lvl="0" indent="0" algn="just" defTabSz="914400" rtl="0" eaLnBrk="1" fontAlgn="base" latinLnBrk="0" hangingPunct="1">
              <a:lnSpc>
                <a:spcPct val="100000"/>
              </a:lnSpc>
              <a:spcBef>
                <a:spcPts val="0"/>
              </a:spcBef>
              <a:spcAft>
                <a:spcPts val="0"/>
              </a:spcAft>
              <a:buClr>
                <a:srgbClr val="000000"/>
              </a:buClr>
              <a:buSzTx/>
              <a:buFont typeface="Arial"/>
              <a:buNone/>
              <a:tabLst/>
              <a:defRPr/>
            </a:pPr>
            <a:endParaRPr kumimoji="0" lang="vi-VN" sz="2400" b="1" i="0" u="none" strike="noStrike" kern="0" cap="none" spc="0" normalizeH="0" baseline="0" noProof="0" dirty="0">
              <a:ln>
                <a:noFill/>
              </a:ln>
              <a:solidFill>
                <a:srgbClr val="2B2F33"/>
              </a:solidFill>
              <a:effectLst/>
              <a:uLnTx/>
              <a:uFillTx/>
              <a:latin typeface="Open Sans" panose="020B0606030504020204" pitchFamily="34" charset="0"/>
              <a:cs typeface="Arial"/>
              <a:sym typeface="Arial"/>
            </a:endParaRPr>
          </a:p>
        </p:txBody>
      </p:sp>
      <p:sp>
        <p:nvSpPr>
          <p:cNvPr id="4" name="Google Shape;101;p3"/>
          <p:cNvSpPr txBox="1"/>
          <p:nvPr/>
        </p:nvSpPr>
        <p:spPr>
          <a:xfrm>
            <a:off x="424875" y="692425"/>
            <a:ext cx="8285100" cy="3467400"/>
          </a:xfrm>
          <a:prstGeom prst="rect">
            <a:avLst/>
          </a:prstGeom>
          <a:noFill/>
          <a:ln>
            <a:noFill/>
          </a:ln>
        </p:spPr>
        <p:txBody>
          <a:bodyPr spcFirstLastPara="1" wrap="square" lIns="91425" tIns="91425" rIns="91425" bIns="91425" anchor="t" anchorCtr="0">
            <a:noAutofit/>
          </a:bodyPr>
          <a:lstStyle/>
          <a:p>
            <a:pPr marL="101600" marR="0" lvl="0" algn="just" defTabSz="914400" rtl="0" eaLnBrk="1" fontAlgn="auto" latinLnBrk="0" hangingPunct="1">
              <a:lnSpc>
                <a:spcPct val="115000"/>
              </a:lnSpc>
              <a:spcBef>
                <a:spcPts val="1600"/>
              </a:spcBef>
              <a:spcAft>
                <a:spcPts val="0"/>
              </a:spcAft>
              <a:buClr>
                <a:srgbClr val="000000"/>
              </a:buClr>
              <a:buSzTx/>
              <a:tabLst/>
              <a:defRPr/>
            </a:pPr>
            <a:r>
              <a:rPr lang="en-US" sz="1800" b="1" dirty="0" err="1" smtClean="0"/>
              <a:t>Chiến</a:t>
            </a:r>
            <a:r>
              <a:rPr lang="en-US" sz="1800" b="1" dirty="0" smtClean="0"/>
              <a:t> </a:t>
            </a:r>
            <a:r>
              <a:rPr lang="en-US" sz="1800" b="1" dirty="0" err="1" smtClean="0"/>
              <a:t>lược</a:t>
            </a:r>
            <a:r>
              <a:rPr lang="en-US" sz="1800" b="1" dirty="0" smtClean="0"/>
              <a:t> Bollinger Bands </a:t>
            </a:r>
            <a:r>
              <a:rPr lang="en-US" sz="1800" b="1" dirty="0" err="1" smtClean="0"/>
              <a:t>và</a:t>
            </a:r>
            <a:r>
              <a:rPr lang="en-US" sz="1800" b="1" dirty="0" smtClean="0"/>
              <a:t> RSI:</a:t>
            </a:r>
          </a:p>
          <a:p>
            <a:pPr algn="just"/>
            <a:r>
              <a:rPr lang="vi-VN" b="1" dirty="0"/>
              <a:t>Tín Hiệu Mua (Buy Signal):</a:t>
            </a:r>
            <a:r>
              <a:rPr lang="vi-VN" dirty="0"/>
              <a:t> </a:t>
            </a:r>
            <a:r>
              <a:rPr lang="vi-VN" dirty="0" smtClean="0"/>
              <a:t>Một </a:t>
            </a:r>
            <a:r>
              <a:rPr lang="vi-VN" dirty="0"/>
              <a:t>cơ hội mua </a:t>
            </a:r>
            <a:r>
              <a:rPr lang="vi-VN" dirty="0" smtClean="0"/>
              <a:t>xuất </a:t>
            </a:r>
            <a:r>
              <a:rPr lang="vi-VN" dirty="0"/>
              <a:t>hiện khi giá cổ phiếu chạm vào hoặc tiệm cận Lower Bollinger Band, đồng thời RSI ở dưới 30.</a:t>
            </a:r>
          </a:p>
          <a:p>
            <a:pPr algn="just"/>
            <a:r>
              <a:rPr lang="vi-VN" b="1" dirty="0" smtClean="0"/>
              <a:t>Tín </a:t>
            </a:r>
            <a:r>
              <a:rPr lang="vi-VN" b="1" dirty="0"/>
              <a:t>Hiệu Bán (Sell Signal):</a:t>
            </a:r>
            <a:r>
              <a:rPr lang="vi-VN" dirty="0"/>
              <a:t> </a:t>
            </a:r>
            <a:r>
              <a:rPr lang="vi-VN" dirty="0" smtClean="0"/>
              <a:t>Một </a:t>
            </a:r>
            <a:r>
              <a:rPr lang="vi-VN" dirty="0"/>
              <a:t>cơ hội bán </a:t>
            </a:r>
            <a:r>
              <a:rPr lang="vi-VN" dirty="0" smtClean="0"/>
              <a:t>xuất </a:t>
            </a:r>
            <a:r>
              <a:rPr lang="vi-VN" dirty="0"/>
              <a:t>hiện khi giá chạm vào hoặc tiệm cận Upper Bollinger Band đồng thời RSI ở trên 70</a:t>
            </a:r>
            <a:r>
              <a:rPr lang="vi-VN" dirty="0" smtClean="0"/>
              <a:t>.</a:t>
            </a:r>
            <a:endParaRPr lang="en-US" dirty="0" smtClean="0"/>
          </a:p>
          <a:p>
            <a:pPr algn="just"/>
            <a:endParaRPr lang="en-US" sz="1310" dirty="0" smtClean="0"/>
          </a:p>
          <a:p>
            <a:pPr algn="just"/>
            <a:r>
              <a:rPr lang="vi-VN" sz="1310" b="1" dirty="0"/>
              <a:t>Bollinger Bands (BB)</a:t>
            </a:r>
          </a:p>
          <a:p>
            <a:pPr algn="just"/>
            <a:r>
              <a:rPr lang="vi-VN" sz="1310" dirty="0"/>
              <a:t>Bollinger Bands là một công cụ phân tích kỹ thuật được phát triển bởi John Bollinger vào đầu những năm 1980. Bollinger Bands bao gồm ba đường:</a:t>
            </a:r>
          </a:p>
          <a:p>
            <a:pPr algn="just"/>
            <a:r>
              <a:rPr lang="en-US" sz="1310" b="1" dirty="0" smtClean="0"/>
              <a:t>- </a:t>
            </a:r>
            <a:r>
              <a:rPr lang="vi-VN" sz="1310" b="1" dirty="0" smtClean="0"/>
              <a:t>Đường </a:t>
            </a:r>
            <a:r>
              <a:rPr lang="vi-VN" sz="1310" b="1" dirty="0"/>
              <a:t>giữa:</a:t>
            </a:r>
            <a:r>
              <a:rPr lang="vi-VN" sz="1310" dirty="0"/>
              <a:t> Đường Moving Average đơn giản </a:t>
            </a:r>
            <a:r>
              <a:rPr lang="vi-VN" sz="1310" dirty="0" smtClean="0"/>
              <a:t>(MA</a:t>
            </a:r>
            <a:r>
              <a:rPr lang="vi-VN" sz="1310" dirty="0"/>
              <a:t>) thường là </a:t>
            </a:r>
            <a:r>
              <a:rPr lang="vi-VN" sz="1310" dirty="0" smtClean="0"/>
              <a:t>MA </a:t>
            </a:r>
            <a:r>
              <a:rPr lang="vi-VN" sz="1310" dirty="0"/>
              <a:t>của 20 ngày.</a:t>
            </a:r>
          </a:p>
          <a:p>
            <a:pPr algn="just"/>
            <a:r>
              <a:rPr lang="en-US" sz="1310" b="1" dirty="0" smtClean="0"/>
              <a:t>- </a:t>
            </a:r>
            <a:r>
              <a:rPr lang="vi-VN" sz="1310" b="1" dirty="0" smtClean="0"/>
              <a:t>Upper </a:t>
            </a:r>
            <a:r>
              <a:rPr lang="vi-VN" sz="1310" b="1" dirty="0"/>
              <a:t>Bollinger Band:</a:t>
            </a:r>
            <a:r>
              <a:rPr lang="vi-VN" sz="1310" dirty="0"/>
              <a:t> Được tính toán bằng cách cộng độ lệch chuẩn (thường là 2) của giá với đường </a:t>
            </a:r>
            <a:r>
              <a:rPr lang="vi-VN" sz="1310" dirty="0" smtClean="0"/>
              <a:t>MA</a:t>
            </a:r>
            <a:r>
              <a:rPr lang="en-US" sz="1310" dirty="0"/>
              <a:t> </a:t>
            </a:r>
            <a:r>
              <a:rPr lang="en-US" sz="1310" dirty="0" smtClean="0"/>
              <a:t>(MA + 2 * </a:t>
            </a:r>
            <a:r>
              <a:rPr lang="en-US" sz="1310" dirty="0" err="1" smtClean="0"/>
              <a:t>std</a:t>
            </a:r>
            <a:r>
              <a:rPr lang="en-US" sz="1310" dirty="0" smtClean="0"/>
              <a:t>)</a:t>
            </a:r>
            <a:endParaRPr lang="vi-VN" sz="1310" dirty="0"/>
          </a:p>
          <a:p>
            <a:pPr algn="just"/>
            <a:r>
              <a:rPr lang="en-US" sz="1310" b="1" dirty="0" smtClean="0"/>
              <a:t>- </a:t>
            </a:r>
            <a:r>
              <a:rPr lang="vi-VN" sz="1310" b="1" dirty="0" smtClean="0"/>
              <a:t>Lower </a:t>
            </a:r>
            <a:r>
              <a:rPr lang="vi-VN" sz="1310" b="1" dirty="0"/>
              <a:t>Bollinger Band:</a:t>
            </a:r>
            <a:r>
              <a:rPr lang="vi-VN" sz="1310" dirty="0"/>
              <a:t> Được tính toán bằng cách trừ độ lệch chuẩn (thường là 2) của giá khỏi đường </a:t>
            </a:r>
            <a:r>
              <a:rPr lang="vi-VN" sz="1310" dirty="0" smtClean="0"/>
              <a:t>MA</a:t>
            </a:r>
            <a:r>
              <a:rPr lang="en-US" sz="1310" dirty="0" smtClean="0"/>
              <a:t> (MA – 2 * </a:t>
            </a:r>
            <a:r>
              <a:rPr lang="en-US" sz="1310" dirty="0" err="1" smtClean="0"/>
              <a:t>std</a:t>
            </a:r>
            <a:r>
              <a:rPr lang="en-US" sz="1310" dirty="0" smtClean="0"/>
              <a:t>)</a:t>
            </a:r>
            <a:endParaRPr lang="vi-VN" sz="1310" dirty="0"/>
          </a:p>
          <a:p>
            <a:pPr algn="just"/>
            <a:r>
              <a:rPr lang="vi-VN" sz="1310" dirty="0"/>
              <a:t>Bollinger Bands thể hiện mức độ biến động giá: càng rộng cho thấy biến động càng lớn và càng hẹp cho thấy biến động càng thấp. Khi giá tiếp cận hoặc vượt qua các band, nó có thể chỉ ra các điểm mua hoặc bán.</a:t>
            </a:r>
          </a:p>
          <a:p>
            <a:pPr algn="just"/>
            <a:endParaRPr lang="en-US" sz="1310" b="1" dirty="0" smtClean="0"/>
          </a:p>
          <a:p>
            <a:pPr algn="just"/>
            <a:r>
              <a:rPr lang="vi-VN" sz="1310" b="1" dirty="0" smtClean="0"/>
              <a:t>Relative </a:t>
            </a:r>
            <a:r>
              <a:rPr lang="vi-VN" sz="1310" b="1" dirty="0"/>
              <a:t>Strength Index (RSI)</a:t>
            </a:r>
          </a:p>
          <a:p>
            <a:pPr algn="just"/>
            <a:r>
              <a:rPr lang="vi-VN" sz="1310" dirty="0"/>
              <a:t>Relative Strength Index (RSI) là một chỉ báo động lượng được phát triển bởi J. Welles Wilder và thường được sử dụng để xác định tình trạng quá mua (overbought) hoặc quá bán (oversold) của tài sản. RSI được tính từ tỉ lệ của các biến động giá lên và giá xuống và được biểu diễn trong một phạm vi từ 0 đến 100.</a:t>
            </a:r>
          </a:p>
          <a:p>
            <a:pPr algn="just"/>
            <a:r>
              <a:rPr lang="vi-VN" sz="1310" dirty="0"/>
              <a:t>Một giá trị RSI dưới 30 thường được coi là cho thấy tài sản đang ở trong tình trạng quá bán, và đây có thể là một tín hiệu mua.</a:t>
            </a:r>
          </a:p>
          <a:p>
            <a:pPr algn="just"/>
            <a:r>
              <a:rPr lang="vi-VN" sz="1310" dirty="0"/>
              <a:t>Một giá trị RSI trên 70 thường được coi là cho thấy tài sản đang ở trong tình trạng quá mua, và đây có thể là một tín hiệu bán.</a:t>
            </a:r>
          </a:p>
          <a:p>
            <a:pPr algn="just"/>
            <a:endParaRPr lang="vi-VN" dirty="0"/>
          </a:p>
          <a:p>
            <a:pPr marL="101600" marR="0" lvl="0" algn="just" defTabSz="914400" rtl="0" eaLnBrk="1" fontAlgn="auto" latinLnBrk="0" hangingPunct="1">
              <a:lnSpc>
                <a:spcPct val="115000"/>
              </a:lnSpc>
              <a:spcBef>
                <a:spcPts val="1600"/>
              </a:spcBef>
              <a:spcAft>
                <a:spcPts val="0"/>
              </a:spcAft>
              <a:buClr>
                <a:srgbClr val="000000"/>
              </a:buClr>
              <a:buSzTx/>
              <a:tabLst/>
              <a:defRPr/>
            </a:pPr>
            <a:endParaRPr lang="en-US" sz="1800" b="1" dirty="0" smtClean="0"/>
          </a:p>
          <a:p>
            <a:pPr algn="just"/>
            <a:r>
              <a:rPr lang="vi-VN" dirty="0" smtClean="0"/>
              <a:t> </a:t>
            </a:r>
            <a:endParaRPr lang="en-US" sz="1800" b="1" dirty="0" smtClean="0"/>
          </a:p>
        </p:txBody>
      </p:sp>
    </p:spTree>
    <p:extLst>
      <p:ext uri="{BB962C8B-B14F-4D97-AF65-F5344CB8AC3E}">
        <p14:creationId xmlns:p14="http://schemas.microsoft.com/office/powerpoint/2010/main" val="4594676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lvl="0">
              <a:buSzPts val="2000"/>
              <a:defRPr/>
            </a:pPr>
            <a:r>
              <a:rPr lang="vi-VN" sz="2400" b="1" dirty="0">
                <a:solidFill>
                  <a:srgbClr val="FFFFFF"/>
                </a:solidFill>
                <a:latin typeface="Arial (body)"/>
              </a:rPr>
              <a:t>Các chiến lược trong phần đặt câu hỏi</a:t>
            </a:r>
          </a:p>
        </p:txBody>
      </p:sp>
      <p:sp>
        <p:nvSpPr>
          <p:cNvPr id="101" name="Google Shape;101;p3"/>
          <p:cNvSpPr txBox="1"/>
          <p:nvPr/>
        </p:nvSpPr>
        <p:spPr>
          <a:xfrm>
            <a:off x="341744" y="773540"/>
            <a:ext cx="8469745" cy="5243801"/>
          </a:xfrm>
          <a:prstGeom prst="rect">
            <a:avLst/>
          </a:prstGeom>
          <a:noFill/>
          <a:ln>
            <a:noFill/>
          </a:ln>
        </p:spPr>
        <p:txBody>
          <a:bodyPr spcFirstLastPara="1" wrap="square" lIns="91425" tIns="91425" rIns="91425" bIns="91425" anchor="t" anchorCtr="0">
            <a:noAutofit/>
          </a:bodyPr>
          <a:lstStyle/>
          <a:p>
            <a:pPr marL="0" marR="0" lvl="0" indent="0" algn="just" defTabSz="914400" rtl="0" eaLnBrk="1" fontAlgn="base" latinLnBrk="0" hangingPunct="1">
              <a:lnSpc>
                <a:spcPct val="100000"/>
              </a:lnSpc>
              <a:spcBef>
                <a:spcPts val="0"/>
              </a:spcBef>
              <a:spcAft>
                <a:spcPts val="0"/>
              </a:spcAft>
              <a:buClr>
                <a:srgbClr val="000000"/>
              </a:buClr>
              <a:buSzTx/>
              <a:buFont typeface="Arial"/>
              <a:buNone/>
              <a:tabLst/>
              <a:defRPr/>
            </a:pPr>
            <a:endParaRPr kumimoji="0" lang="vi-VN" sz="2400" b="1" i="0" u="none" strike="noStrike" kern="0" cap="none" spc="0" normalizeH="0" baseline="0" noProof="0" dirty="0">
              <a:ln>
                <a:noFill/>
              </a:ln>
              <a:solidFill>
                <a:srgbClr val="2B2F33"/>
              </a:solidFill>
              <a:effectLst/>
              <a:uLnTx/>
              <a:uFillTx/>
              <a:latin typeface="Open Sans" panose="020B0606030504020204" pitchFamily="34" charset="0"/>
              <a:cs typeface="Arial"/>
              <a:sym typeface="Arial"/>
            </a:endParaRPr>
          </a:p>
        </p:txBody>
      </p:sp>
      <p:sp>
        <p:nvSpPr>
          <p:cNvPr id="4" name="Google Shape;101;p3"/>
          <p:cNvSpPr txBox="1"/>
          <p:nvPr/>
        </p:nvSpPr>
        <p:spPr>
          <a:xfrm>
            <a:off x="424875" y="692425"/>
            <a:ext cx="8285100" cy="3467400"/>
          </a:xfrm>
          <a:prstGeom prst="rect">
            <a:avLst/>
          </a:prstGeom>
          <a:noFill/>
          <a:ln>
            <a:noFill/>
          </a:ln>
        </p:spPr>
        <p:txBody>
          <a:bodyPr spcFirstLastPara="1" wrap="square" lIns="91425" tIns="91425" rIns="91425" bIns="91425" anchor="t" anchorCtr="0">
            <a:noAutofit/>
          </a:bodyPr>
          <a:lstStyle/>
          <a:p>
            <a:pPr marL="101600" marR="0" lvl="0" algn="just" defTabSz="914400" rtl="0" eaLnBrk="1" fontAlgn="auto" latinLnBrk="0" hangingPunct="1">
              <a:lnSpc>
                <a:spcPct val="115000"/>
              </a:lnSpc>
              <a:spcBef>
                <a:spcPts val="1600"/>
              </a:spcBef>
              <a:spcAft>
                <a:spcPts val="0"/>
              </a:spcAft>
              <a:buClr>
                <a:srgbClr val="000000"/>
              </a:buClr>
              <a:buSzTx/>
              <a:tabLst/>
              <a:defRPr/>
            </a:pPr>
            <a:r>
              <a:rPr lang="en-US" sz="1800" b="1" dirty="0" err="1" smtClean="0"/>
              <a:t>Chiến</a:t>
            </a:r>
            <a:r>
              <a:rPr lang="en-US" sz="1800" b="1" dirty="0" smtClean="0"/>
              <a:t> </a:t>
            </a:r>
            <a:r>
              <a:rPr lang="en-US" sz="1800" b="1" dirty="0" err="1" smtClean="0"/>
              <a:t>lược</a:t>
            </a:r>
            <a:r>
              <a:rPr lang="en-US" sz="1800" b="1" dirty="0" smtClean="0"/>
              <a:t> Bollinger Bands </a:t>
            </a:r>
            <a:r>
              <a:rPr lang="en-US" sz="1800" b="1" dirty="0" err="1" smtClean="0"/>
              <a:t>và</a:t>
            </a:r>
            <a:r>
              <a:rPr lang="en-US" sz="1800" b="1" dirty="0" smtClean="0"/>
              <a:t> RSI:</a:t>
            </a:r>
          </a:p>
          <a:p>
            <a:pPr algn="just"/>
            <a:endParaRPr lang="vi-VN" dirty="0"/>
          </a:p>
          <a:p>
            <a:pPr marL="101600" marR="0" lvl="0" algn="just" defTabSz="914400" rtl="0" eaLnBrk="1" fontAlgn="auto" latinLnBrk="0" hangingPunct="1">
              <a:lnSpc>
                <a:spcPct val="115000"/>
              </a:lnSpc>
              <a:spcBef>
                <a:spcPts val="1600"/>
              </a:spcBef>
              <a:spcAft>
                <a:spcPts val="0"/>
              </a:spcAft>
              <a:buClr>
                <a:srgbClr val="000000"/>
              </a:buClr>
              <a:buSzTx/>
              <a:tabLst/>
              <a:defRPr/>
            </a:pPr>
            <a:endParaRPr lang="en-US" sz="1800" b="1" dirty="0" smtClean="0"/>
          </a:p>
          <a:p>
            <a:pPr algn="just"/>
            <a:r>
              <a:rPr lang="vi-VN" dirty="0" smtClean="0"/>
              <a:t> </a:t>
            </a:r>
            <a:endParaRPr lang="en-US" sz="1800" b="1" dirty="0" smtClean="0"/>
          </a:p>
        </p:txBody>
      </p:sp>
      <p:pic>
        <p:nvPicPr>
          <p:cNvPr id="2" name="Picture 1"/>
          <p:cNvPicPr>
            <a:picLocks noChangeAspect="1"/>
          </p:cNvPicPr>
          <p:nvPr/>
        </p:nvPicPr>
        <p:blipFill>
          <a:blip r:embed="rId3"/>
          <a:stretch>
            <a:fillRect/>
          </a:stretch>
        </p:blipFill>
        <p:spPr>
          <a:xfrm>
            <a:off x="613352" y="1289483"/>
            <a:ext cx="7677150" cy="1304925"/>
          </a:xfrm>
          <a:prstGeom prst="rect">
            <a:avLst/>
          </a:prstGeom>
        </p:spPr>
      </p:pic>
      <p:pic>
        <p:nvPicPr>
          <p:cNvPr id="3" name="Picture 2"/>
          <p:cNvPicPr>
            <a:picLocks noChangeAspect="1"/>
          </p:cNvPicPr>
          <p:nvPr/>
        </p:nvPicPr>
        <p:blipFill>
          <a:blip r:embed="rId3"/>
          <a:stretch>
            <a:fillRect/>
          </a:stretch>
        </p:blipFill>
        <p:spPr>
          <a:xfrm>
            <a:off x="2139885" y="2702801"/>
            <a:ext cx="7004115" cy="4023835"/>
          </a:xfrm>
          <a:prstGeom prst="rect">
            <a:avLst/>
          </a:prstGeom>
        </p:spPr>
      </p:pic>
    </p:spTree>
    <p:extLst>
      <p:ext uri="{BB962C8B-B14F-4D97-AF65-F5344CB8AC3E}">
        <p14:creationId xmlns:p14="http://schemas.microsoft.com/office/powerpoint/2010/main" val="20618608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lvl="0">
              <a:buSzPts val="2000"/>
              <a:defRPr/>
            </a:pPr>
            <a:r>
              <a:rPr lang="vi-VN" sz="2400" b="1" dirty="0">
                <a:solidFill>
                  <a:srgbClr val="FFFFFF"/>
                </a:solidFill>
                <a:latin typeface="Arial (body)"/>
              </a:rPr>
              <a:t>Các chiến lược trong phần đặt câu hỏi</a:t>
            </a:r>
          </a:p>
        </p:txBody>
      </p:sp>
      <p:sp>
        <p:nvSpPr>
          <p:cNvPr id="101" name="Google Shape;101;p3"/>
          <p:cNvSpPr txBox="1"/>
          <p:nvPr/>
        </p:nvSpPr>
        <p:spPr>
          <a:xfrm>
            <a:off x="341744" y="773540"/>
            <a:ext cx="8469745" cy="5243801"/>
          </a:xfrm>
          <a:prstGeom prst="rect">
            <a:avLst/>
          </a:prstGeom>
          <a:noFill/>
          <a:ln>
            <a:noFill/>
          </a:ln>
        </p:spPr>
        <p:txBody>
          <a:bodyPr spcFirstLastPara="1" wrap="square" lIns="91425" tIns="91425" rIns="91425" bIns="91425" anchor="t" anchorCtr="0">
            <a:noAutofit/>
          </a:bodyPr>
          <a:lstStyle/>
          <a:p>
            <a:pPr marL="0" marR="0" lvl="0" indent="0" algn="just" defTabSz="914400" rtl="0" eaLnBrk="1" fontAlgn="base" latinLnBrk="0" hangingPunct="1">
              <a:lnSpc>
                <a:spcPct val="100000"/>
              </a:lnSpc>
              <a:spcBef>
                <a:spcPts val="0"/>
              </a:spcBef>
              <a:spcAft>
                <a:spcPts val="0"/>
              </a:spcAft>
              <a:buClr>
                <a:srgbClr val="000000"/>
              </a:buClr>
              <a:buSzTx/>
              <a:buFont typeface="Arial"/>
              <a:buNone/>
              <a:tabLst/>
              <a:defRPr/>
            </a:pPr>
            <a:endParaRPr kumimoji="0" lang="vi-VN" sz="2400" b="1" i="0" u="none" strike="noStrike" kern="0" cap="none" spc="0" normalizeH="0" baseline="0" noProof="0" dirty="0">
              <a:ln>
                <a:noFill/>
              </a:ln>
              <a:solidFill>
                <a:srgbClr val="2B2F33"/>
              </a:solidFill>
              <a:effectLst/>
              <a:uLnTx/>
              <a:uFillTx/>
              <a:latin typeface="Open Sans" panose="020B0606030504020204" pitchFamily="34" charset="0"/>
              <a:cs typeface="Arial"/>
              <a:sym typeface="Arial"/>
            </a:endParaRPr>
          </a:p>
        </p:txBody>
      </p:sp>
      <p:sp>
        <p:nvSpPr>
          <p:cNvPr id="4" name="Google Shape;101;p3"/>
          <p:cNvSpPr txBox="1"/>
          <p:nvPr/>
        </p:nvSpPr>
        <p:spPr>
          <a:xfrm>
            <a:off x="424875" y="692425"/>
            <a:ext cx="8285100" cy="3467400"/>
          </a:xfrm>
          <a:prstGeom prst="rect">
            <a:avLst/>
          </a:prstGeom>
          <a:noFill/>
          <a:ln>
            <a:noFill/>
          </a:ln>
        </p:spPr>
        <p:txBody>
          <a:bodyPr spcFirstLastPara="1" wrap="square" lIns="91425" tIns="91425" rIns="91425" bIns="91425" anchor="t" anchorCtr="0">
            <a:noAutofit/>
          </a:bodyPr>
          <a:lstStyle/>
          <a:p>
            <a:pPr marL="101600" marR="0" lvl="0" algn="just" defTabSz="914400" rtl="0" eaLnBrk="1" fontAlgn="auto" latinLnBrk="0" hangingPunct="1">
              <a:lnSpc>
                <a:spcPct val="115000"/>
              </a:lnSpc>
              <a:spcBef>
                <a:spcPts val="1600"/>
              </a:spcBef>
              <a:spcAft>
                <a:spcPts val="0"/>
              </a:spcAft>
              <a:buClr>
                <a:srgbClr val="000000"/>
              </a:buClr>
              <a:buSzTx/>
              <a:tabLst/>
              <a:defRPr/>
            </a:pPr>
            <a:r>
              <a:rPr lang="en-US" sz="1800" b="1" dirty="0" err="1" smtClean="0"/>
              <a:t>Chiến</a:t>
            </a:r>
            <a:r>
              <a:rPr lang="en-US" sz="1800" b="1" dirty="0" smtClean="0"/>
              <a:t> </a:t>
            </a:r>
            <a:r>
              <a:rPr lang="en-US" sz="1800" b="1" dirty="0" err="1" smtClean="0"/>
              <a:t>lược</a:t>
            </a:r>
            <a:r>
              <a:rPr lang="en-US" sz="1800" b="1" dirty="0" smtClean="0"/>
              <a:t> </a:t>
            </a:r>
            <a:r>
              <a:rPr lang="en-US" sz="1800" b="1" dirty="0" err="1" smtClean="0"/>
              <a:t>Doji</a:t>
            </a:r>
            <a:r>
              <a:rPr lang="en-US" sz="1800" b="1" dirty="0" smtClean="0"/>
              <a:t> </a:t>
            </a:r>
            <a:r>
              <a:rPr lang="en-US" sz="1800" b="1" dirty="0" err="1" smtClean="0"/>
              <a:t>chân</a:t>
            </a:r>
            <a:r>
              <a:rPr lang="en-US" sz="1800" b="1" dirty="0" smtClean="0"/>
              <a:t> </a:t>
            </a:r>
            <a:r>
              <a:rPr lang="en-US" sz="1800" b="1" dirty="0" err="1" smtClean="0"/>
              <a:t>dài</a:t>
            </a:r>
            <a:r>
              <a:rPr lang="en-US" sz="1800" b="1" dirty="0" smtClean="0"/>
              <a:t>:</a:t>
            </a:r>
          </a:p>
          <a:p>
            <a:pPr algn="just"/>
            <a:r>
              <a:rPr lang="vi-VN" b="1" dirty="0"/>
              <a:t>Tín Hiệu Mua (Buy Signal):</a:t>
            </a:r>
            <a:r>
              <a:rPr lang="vi-VN" dirty="0"/>
              <a:t> </a:t>
            </a:r>
            <a:r>
              <a:rPr lang="vi-VN" dirty="0" smtClean="0"/>
              <a:t>Một </a:t>
            </a:r>
            <a:r>
              <a:rPr lang="vi-VN" dirty="0"/>
              <a:t>cơ hội mua </a:t>
            </a:r>
            <a:r>
              <a:rPr lang="vi-VN" dirty="0" smtClean="0"/>
              <a:t>xuất </a:t>
            </a:r>
            <a:r>
              <a:rPr lang="vi-VN" dirty="0"/>
              <a:t>hiện khi </a:t>
            </a:r>
            <a:r>
              <a:rPr lang="en-US" dirty="0" err="1" smtClean="0"/>
              <a:t>nến</a:t>
            </a:r>
            <a:r>
              <a:rPr lang="en-US" dirty="0" smtClean="0"/>
              <a:t> </a:t>
            </a:r>
            <a:r>
              <a:rPr lang="en-US" dirty="0" err="1" smtClean="0"/>
              <a:t>là</a:t>
            </a:r>
            <a:r>
              <a:rPr lang="en-US" dirty="0" smtClean="0"/>
              <a:t> </a:t>
            </a:r>
            <a:r>
              <a:rPr lang="en-US" dirty="0" err="1" smtClean="0"/>
              <a:t>nến</a:t>
            </a:r>
            <a:r>
              <a:rPr lang="en-US" dirty="0" smtClean="0"/>
              <a:t> </a:t>
            </a:r>
            <a:r>
              <a:rPr lang="en-US" dirty="0" err="1" smtClean="0"/>
              <a:t>Doji</a:t>
            </a:r>
            <a:r>
              <a:rPr lang="en-US" dirty="0" smtClean="0"/>
              <a:t> </a:t>
            </a:r>
            <a:r>
              <a:rPr lang="en-US" dirty="0" err="1" smtClean="0"/>
              <a:t>chân</a:t>
            </a:r>
            <a:r>
              <a:rPr lang="en-US" dirty="0" smtClean="0"/>
              <a:t> </a:t>
            </a:r>
            <a:r>
              <a:rPr lang="en-US" dirty="0" err="1" smtClean="0"/>
              <a:t>dài</a:t>
            </a:r>
            <a:r>
              <a:rPr lang="en-US" dirty="0" smtClean="0"/>
              <a:t> </a:t>
            </a:r>
            <a:r>
              <a:rPr lang="en-US" dirty="0" err="1" smtClean="0"/>
              <a:t>và</a:t>
            </a:r>
            <a:r>
              <a:rPr lang="en-US" dirty="0" smtClean="0"/>
              <a:t> </a:t>
            </a:r>
            <a:r>
              <a:rPr lang="en-US" dirty="0" err="1" smtClean="0"/>
              <a:t>nến</a:t>
            </a:r>
            <a:r>
              <a:rPr lang="en-US" dirty="0" smtClean="0"/>
              <a:t> </a:t>
            </a:r>
            <a:r>
              <a:rPr lang="en-US" dirty="0" err="1" smtClean="0"/>
              <a:t>sau</a:t>
            </a:r>
            <a:r>
              <a:rPr lang="en-US" dirty="0" smtClean="0"/>
              <a:t> (</a:t>
            </a:r>
            <a:r>
              <a:rPr lang="en-US" dirty="0" err="1" smtClean="0"/>
              <a:t>nến</a:t>
            </a:r>
            <a:r>
              <a:rPr lang="en-US" dirty="0" smtClean="0"/>
              <a:t> </a:t>
            </a:r>
            <a:r>
              <a:rPr lang="en-US" dirty="0" err="1" smtClean="0"/>
              <a:t>tiếp</a:t>
            </a:r>
            <a:r>
              <a:rPr lang="en-US" dirty="0" smtClean="0"/>
              <a:t> </a:t>
            </a:r>
            <a:r>
              <a:rPr lang="en-US" dirty="0" err="1" smtClean="0"/>
              <a:t>theo</a:t>
            </a:r>
            <a:r>
              <a:rPr lang="en-US" dirty="0" smtClean="0"/>
              <a:t> </a:t>
            </a:r>
            <a:r>
              <a:rPr lang="en-US" dirty="0" err="1" smtClean="0"/>
              <a:t>để</a:t>
            </a:r>
            <a:r>
              <a:rPr lang="en-US" dirty="0" smtClean="0"/>
              <a:t> </a:t>
            </a:r>
            <a:r>
              <a:rPr lang="en-US" dirty="0" err="1" smtClean="0"/>
              <a:t>xác</a:t>
            </a:r>
            <a:r>
              <a:rPr lang="en-US" dirty="0" smtClean="0"/>
              <a:t> </a:t>
            </a:r>
            <a:r>
              <a:rPr lang="en-US" dirty="0" err="1" smtClean="0"/>
              <a:t>nhận</a:t>
            </a:r>
            <a:r>
              <a:rPr lang="en-US" dirty="0" smtClean="0"/>
              <a:t> </a:t>
            </a:r>
            <a:r>
              <a:rPr lang="en-US" dirty="0" err="1" smtClean="0"/>
              <a:t>xu</a:t>
            </a:r>
            <a:r>
              <a:rPr lang="en-US" dirty="0" smtClean="0"/>
              <a:t> </a:t>
            </a:r>
            <a:r>
              <a:rPr lang="en-US" dirty="0" err="1" smtClean="0"/>
              <a:t>hướng</a:t>
            </a:r>
            <a:r>
              <a:rPr lang="en-US" dirty="0" smtClean="0"/>
              <a:t> </a:t>
            </a:r>
            <a:r>
              <a:rPr lang="en-US" dirty="0" err="1" smtClean="0"/>
              <a:t>là</a:t>
            </a:r>
            <a:r>
              <a:rPr lang="en-US" dirty="0" smtClean="0"/>
              <a:t> </a:t>
            </a:r>
            <a:r>
              <a:rPr lang="en-US" dirty="0" err="1" smtClean="0"/>
              <a:t>nến</a:t>
            </a:r>
            <a:r>
              <a:rPr lang="en-US" dirty="0" smtClean="0"/>
              <a:t> </a:t>
            </a:r>
            <a:r>
              <a:rPr lang="en-US" dirty="0" err="1" smtClean="0"/>
              <a:t>tăng</a:t>
            </a:r>
            <a:r>
              <a:rPr lang="en-US" dirty="0" smtClean="0"/>
              <a:t>)</a:t>
            </a:r>
            <a:r>
              <a:rPr lang="vi-VN" dirty="0" smtClean="0"/>
              <a:t>.</a:t>
            </a:r>
            <a:endParaRPr lang="vi-VN" dirty="0"/>
          </a:p>
          <a:p>
            <a:pPr algn="just"/>
            <a:r>
              <a:rPr lang="vi-VN" b="1" dirty="0" smtClean="0"/>
              <a:t>Tín </a:t>
            </a:r>
            <a:r>
              <a:rPr lang="vi-VN" b="1" dirty="0"/>
              <a:t>Hiệu Bán (Sell Signal):</a:t>
            </a:r>
            <a:r>
              <a:rPr lang="vi-VN" dirty="0"/>
              <a:t> </a:t>
            </a:r>
            <a:r>
              <a:rPr lang="vi-VN" dirty="0" smtClean="0"/>
              <a:t>Một </a:t>
            </a:r>
            <a:r>
              <a:rPr lang="vi-VN" dirty="0"/>
              <a:t>cơ hội bán </a:t>
            </a:r>
            <a:r>
              <a:rPr lang="vi-VN" dirty="0" smtClean="0"/>
              <a:t>xuất </a:t>
            </a:r>
            <a:r>
              <a:rPr lang="vi-VN" dirty="0"/>
              <a:t>hiện khi </a:t>
            </a:r>
            <a:r>
              <a:rPr lang="en-US" dirty="0" err="1"/>
              <a:t>nến</a:t>
            </a:r>
            <a:r>
              <a:rPr lang="en-US" dirty="0"/>
              <a:t> </a:t>
            </a:r>
            <a:r>
              <a:rPr lang="en-US" dirty="0" err="1"/>
              <a:t>là</a:t>
            </a:r>
            <a:r>
              <a:rPr lang="en-US" dirty="0"/>
              <a:t> </a:t>
            </a:r>
            <a:r>
              <a:rPr lang="en-US" dirty="0" err="1"/>
              <a:t>nến</a:t>
            </a:r>
            <a:r>
              <a:rPr lang="en-US" dirty="0"/>
              <a:t> </a:t>
            </a:r>
            <a:r>
              <a:rPr lang="en-US" dirty="0" err="1"/>
              <a:t>Doji</a:t>
            </a:r>
            <a:r>
              <a:rPr lang="en-US" dirty="0"/>
              <a:t> </a:t>
            </a:r>
            <a:r>
              <a:rPr lang="en-US" dirty="0" err="1"/>
              <a:t>chân</a:t>
            </a:r>
            <a:r>
              <a:rPr lang="en-US" dirty="0"/>
              <a:t> </a:t>
            </a:r>
            <a:r>
              <a:rPr lang="en-US" dirty="0" err="1"/>
              <a:t>dài</a:t>
            </a:r>
            <a:r>
              <a:rPr lang="en-US" dirty="0"/>
              <a:t> </a:t>
            </a:r>
            <a:r>
              <a:rPr lang="en-US" dirty="0" err="1"/>
              <a:t>và</a:t>
            </a:r>
            <a:r>
              <a:rPr lang="en-US" dirty="0"/>
              <a:t> </a:t>
            </a:r>
            <a:r>
              <a:rPr lang="en-US" dirty="0" err="1"/>
              <a:t>nến</a:t>
            </a:r>
            <a:r>
              <a:rPr lang="en-US" dirty="0"/>
              <a:t> </a:t>
            </a:r>
            <a:r>
              <a:rPr lang="en-US" dirty="0" err="1"/>
              <a:t>sau</a:t>
            </a:r>
            <a:r>
              <a:rPr lang="en-US" dirty="0"/>
              <a:t> (</a:t>
            </a:r>
            <a:r>
              <a:rPr lang="en-US" dirty="0" err="1"/>
              <a:t>nến</a:t>
            </a:r>
            <a:r>
              <a:rPr lang="en-US" dirty="0"/>
              <a:t> </a:t>
            </a:r>
            <a:r>
              <a:rPr lang="en-US" dirty="0" err="1"/>
              <a:t>tiếp</a:t>
            </a:r>
            <a:r>
              <a:rPr lang="en-US" dirty="0"/>
              <a:t> </a:t>
            </a:r>
            <a:r>
              <a:rPr lang="en-US" dirty="0" err="1"/>
              <a:t>theo</a:t>
            </a:r>
            <a:r>
              <a:rPr lang="en-US" dirty="0"/>
              <a:t> </a:t>
            </a:r>
            <a:r>
              <a:rPr lang="en-US" dirty="0" err="1" smtClean="0"/>
              <a:t>để</a:t>
            </a:r>
            <a:r>
              <a:rPr lang="en-US" dirty="0" smtClean="0"/>
              <a:t> </a:t>
            </a:r>
            <a:r>
              <a:rPr lang="en-US" dirty="0" err="1" smtClean="0"/>
              <a:t>xác</a:t>
            </a:r>
            <a:r>
              <a:rPr lang="en-US" dirty="0" smtClean="0"/>
              <a:t> </a:t>
            </a:r>
            <a:r>
              <a:rPr lang="en-US" dirty="0" err="1" smtClean="0"/>
              <a:t>nhận</a:t>
            </a:r>
            <a:r>
              <a:rPr lang="en-US" dirty="0" smtClean="0"/>
              <a:t> </a:t>
            </a:r>
            <a:r>
              <a:rPr lang="en-US" dirty="0" err="1" smtClean="0"/>
              <a:t>xu</a:t>
            </a:r>
            <a:r>
              <a:rPr lang="en-US" dirty="0" smtClean="0"/>
              <a:t> </a:t>
            </a:r>
            <a:r>
              <a:rPr lang="en-US" dirty="0" err="1" smtClean="0"/>
              <a:t>hướng</a:t>
            </a:r>
            <a:r>
              <a:rPr lang="en-US" dirty="0" smtClean="0"/>
              <a:t> </a:t>
            </a:r>
            <a:r>
              <a:rPr lang="en-US" dirty="0" err="1" smtClean="0"/>
              <a:t>là</a:t>
            </a:r>
            <a:r>
              <a:rPr lang="en-US" dirty="0" smtClean="0"/>
              <a:t> </a:t>
            </a:r>
            <a:r>
              <a:rPr lang="en-US" dirty="0" err="1"/>
              <a:t>nến</a:t>
            </a:r>
            <a:r>
              <a:rPr lang="en-US" dirty="0"/>
              <a:t> </a:t>
            </a:r>
            <a:r>
              <a:rPr lang="en-US" dirty="0" err="1" smtClean="0"/>
              <a:t>giảm</a:t>
            </a:r>
            <a:r>
              <a:rPr lang="en-US" dirty="0" smtClean="0"/>
              <a:t>)</a:t>
            </a:r>
            <a:r>
              <a:rPr lang="vi-VN" dirty="0"/>
              <a:t>.</a:t>
            </a:r>
            <a:endParaRPr lang="en-US" dirty="0" smtClean="0"/>
          </a:p>
          <a:p>
            <a:pPr algn="just"/>
            <a:endParaRPr lang="en-US" sz="1310" dirty="0" smtClean="0"/>
          </a:p>
          <a:p>
            <a:pPr algn="just"/>
            <a:endParaRPr lang="vi-VN" dirty="0"/>
          </a:p>
          <a:p>
            <a:pPr marL="101600" marR="0" lvl="0" algn="just" defTabSz="914400" rtl="0" eaLnBrk="1" fontAlgn="auto" latinLnBrk="0" hangingPunct="1">
              <a:lnSpc>
                <a:spcPct val="115000"/>
              </a:lnSpc>
              <a:spcBef>
                <a:spcPts val="1600"/>
              </a:spcBef>
              <a:spcAft>
                <a:spcPts val="0"/>
              </a:spcAft>
              <a:buClr>
                <a:srgbClr val="000000"/>
              </a:buClr>
              <a:buSzTx/>
              <a:tabLst/>
              <a:defRPr/>
            </a:pPr>
            <a:endParaRPr lang="en-US" sz="1800" b="1" dirty="0" smtClean="0"/>
          </a:p>
          <a:p>
            <a:pPr algn="just"/>
            <a:r>
              <a:rPr lang="vi-VN" dirty="0" smtClean="0"/>
              <a:t> </a:t>
            </a:r>
            <a:endParaRPr lang="en-US" sz="1800" b="1" dirty="0" smtClean="0"/>
          </a:p>
        </p:txBody>
      </p:sp>
    </p:spTree>
    <p:extLst>
      <p:ext uri="{BB962C8B-B14F-4D97-AF65-F5344CB8AC3E}">
        <p14:creationId xmlns:p14="http://schemas.microsoft.com/office/powerpoint/2010/main" val="27598187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lvl="0">
              <a:buSzPts val="2000"/>
              <a:defRPr/>
            </a:pPr>
            <a:r>
              <a:rPr lang="vi-VN" sz="2400" b="1" dirty="0">
                <a:solidFill>
                  <a:srgbClr val="FFFFFF"/>
                </a:solidFill>
                <a:latin typeface="Arial (body)"/>
              </a:rPr>
              <a:t>Các chiến lược trong phần đặt câu hỏi</a:t>
            </a:r>
          </a:p>
        </p:txBody>
      </p:sp>
      <p:sp>
        <p:nvSpPr>
          <p:cNvPr id="101" name="Google Shape;101;p3"/>
          <p:cNvSpPr txBox="1"/>
          <p:nvPr/>
        </p:nvSpPr>
        <p:spPr>
          <a:xfrm>
            <a:off x="341744" y="773540"/>
            <a:ext cx="8469745" cy="5243801"/>
          </a:xfrm>
          <a:prstGeom prst="rect">
            <a:avLst/>
          </a:prstGeom>
          <a:noFill/>
          <a:ln>
            <a:noFill/>
          </a:ln>
        </p:spPr>
        <p:txBody>
          <a:bodyPr spcFirstLastPara="1" wrap="square" lIns="91425" tIns="91425" rIns="91425" bIns="91425" anchor="t" anchorCtr="0">
            <a:noAutofit/>
          </a:bodyPr>
          <a:lstStyle/>
          <a:p>
            <a:pPr marL="0" marR="0" lvl="0" indent="0" algn="just" defTabSz="914400" rtl="0" eaLnBrk="1" fontAlgn="base" latinLnBrk="0" hangingPunct="1">
              <a:lnSpc>
                <a:spcPct val="100000"/>
              </a:lnSpc>
              <a:spcBef>
                <a:spcPts val="0"/>
              </a:spcBef>
              <a:spcAft>
                <a:spcPts val="0"/>
              </a:spcAft>
              <a:buClr>
                <a:srgbClr val="000000"/>
              </a:buClr>
              <a:buSzTx/>
              <a:buFont typeface="Arial"/>
              <a:buNone/>
              <a:tabLst/>
              <a:defRPr/>
            </a:pPr>
            <a:endParaRPr kumimoji="0" lang="vi-VN" sz="2400" b="1" i="0" u="none" strike="noStrike" kern="0" cap="none" spc="0" normalizeH="0" baseline="0" noProof="0" dirty="0">
              <a:ln>
                <a:noFill/>
              </a:ln>
              <a:solidFill>
                <a:srgbClr val="2B2F33"/>
              </a:solidFill>
              <a:effectLst/>
              <a:uLnTx/>
              <a:uFillTx/>
              <a:latin typeface="Open Sans" panose="020B0606030504020204" pitchFamily="34" charset="0"/>
              <a:cs typeface="Arial"/>
              <a:sym typeface="Arial"/>
            </a:endParaRPr>
          </a:p>
        </p:txBody>
      </p:sp>
      <p:sp>
        <p:nvSpPr>
          <p:cNvPr id="4" name="Google Shape;101;p3"/>
          <p:cNvSpPr txBox="1"/>
          <p:nvPr/>
        </p:nvSpPr>
        <p:spPr>
          <a:xfrm>
            <a:off x="424875" y="692425"/>
            <a:ext cx="8285100" cy="3467400"/>
          </a:xfrm>
          <a:prstGeom prst="rect">
            <a:avLst/>
          </a:prstGeom>
          <a:noFill/>
          <a:ln>
            <a:noFill/>
          </a:ln>
        </p:spPr>
        <p:txBody>
          <a:bodyPr spcFirstLastPara="1" wrap="square" lIns="91425" tIns="91425" rIns="91425" bIns="91425" anchor="t" anchorCtr="0">
            <a:noAutofit/>
          </a:bodyPr>
          <a:lstStyle/>
          <a:p>
            <a:pPr marL="101600" marR="0" lvl="0" algn="just" defTabSz="914400" rtl="0" eaLnBrk="1" fontAlgn="auto" latinLnBrk="0" hangingPunct="1">
              <a:lnSpc>
                <a:spcPct val="115000"/>
              </a:lnSpc>
              <a:spcBef>
                <a:spcPts val="1600"/>
              </a:spcBef>
              <a:spcAft>
                <a:spcPts val="0"/>
              </a:spcAft>
              <a:buClr>
                <a:srgbClr val="000000"/>
              </a:buClr>
              <a:buSzTx/>
              <a:tabLst/>
              <a:defRPr/>
            </a:pPr>
            <a:r>
              <a:rPr lang="en-US" sz="1800" b="1" dirty="0" err="1" smtClean="0"/>
              <a:t>Chiến</a:t>
            </a:r>
            <a:r>
              <a:rPr lang="en-US" sz="1800" b="1" dirty="0" smtClean="0"/>
              <a:t> </a:t>
            </a:r>
            <a:r>
              <a:rPr lang="en-US" sz="1800" b="1" dirty="0" err="1" smtClean="0"/>
              <a:t>lược</a:t>
            </a:r>
            <a:r>
              <a:rPr lang="en-US" sz="1800" b="1" dirty="0" smtClean="0"/>
              <a:t> </a:t>
            </a:r>
            <a:r>
              <a:rPr lang="en-US" sz="1800" b="1" dirty="0" err="1" smtClean="0"/>
              <a:t>Doji</a:t>
            </a:r>
            <a:r>
              <a:rPr lang="en-US" sz="1800" b="1" dirty="0" smtClean="0"/>
              <a:t> </a:t>
            </a:r>
            <a:r>
              <a:rPr lang="en-US" sz="1800" b="1" dirty="0" err="1" smtClean="0"/>
              <a:t>chân</a:t>
            </a:r>
            <a:r>
              <a:rPr lang="en-US" sz="1800" b="1" dirty="0" smtClean="0"/>
              <a:t> </a:t>
            </a:r>
            <a:r>
              <a:rPr lang="en-US" sz="1800" b="1" dirty="0" err="1" smtClean="0"/>
              <a:t>dài</a:t>
            </a:r>
            <a:r>
              <a:rPr lang="en-US" sz="1800" b="1" dirty="0" smtClean="0"/>
              <a:t>:</a:t>
            </a:r>
          </a:p>
          <a:p>
            <a:pPr algn="just"/>
            <a:endParaRPr lang="en-US" sz="1310" dirty="0" smtClean="0"/>
          </a:p>
          <a:p>
            <a:pPr algn="just"/>
            <a:endParaRPr lang="vi-VN" dirty="0"/>
          </a:p>
          <a:p>
            <a:pPr marL="101600" marR="0" lvl="0" algn="just" defTabSz="914400" rtl="0" eaLnBrk="1" fontAlgn="auto" latinLnBrk="0" hangingPunct="1">
              <a:lnSpc>
                <a:spcPct val="115000"/>
              </a:lnSpc>
              <a:spcBef>
                <a:spcPts val="1600"/>
              </a:spcBef>
              <a:spcAft>
                <a:spcPts val="0"/>
              </a:spcAft>
              <a:buClr>
                <a:srgbClr val="000000"/>
              </a:buClr>
              <a:buSzTx/>
              <a:tabLst/>
              <a:defRPr/>
            </a:pPr>
            <a:endParaRPr lang="en-US" sz="1800" b="1" dirty="0" smtClean="0"/>
          </a:p>
          <a:p>
            <a:pPr algn="just"/>
            <a:r>
              <a:rPr lang="vi-VN" dirty="0" smtClean="0"/>
              <a:t> </a:t>
            </a:r>
            <a:endParaRPr lang="en-US" sz="1800" b="1" dirty="0" smtClean="0"/>
          </a:p>
        </p:txBody>
      </p:sp>
      <p:pic>
        <p:nvPicPr>
          <p:cNvPr id="2" name="Picture 1"/>
          <p:cNvPicPr>
            <a:picLocks noChangeAspect="1"/>
          </p:cNvPicPr>
          <p:nvPr/>
        </p:nvPicPr>
        <p:blipFill>
          <a:blip r:embed="rId3"/>
          <a:stretch>
            <a:fillRect/>
          </a:stretch>
        </p:blipFill>
        <p:spPr>
          <a:xfrm>
            <a:off x="581977" y="1328811"/>
            <a:ext cx="6474605" cy="2444011"/>
          </a:xfrm>
          <a:prstGeom prst="rect">
            <a:avLst/>
          </a:prstGeom>
        </p:spPr>
      </p:pic>
      <p:pic>
        <p:nvPicPr>
          <p:cNvPr id="3" name="Picture 2"/>
          <p:cNvPicPr>
            <a:picLocks noChangeAspect="1"/>
          </p:cNvPicPr>
          <p:nvPr/>
        </p:nvPicPr>
        <p:blipFill>
          <a:blip r:embed="rId3"/>
          <a:stretch>
            <a:fillRect/>
          </a:stretch>
        </p:blipFill>
        <p:spPr>
          <a:xfrm>
            <a:off x="2341377" y="3859362"/>
            <a:ext cx="6802623" cy="2458443"/>
          </a:xfrm>
          <a:prstGeom prst="rect">
            <a:avLst/>
          </a:prstGeom>
        </p:spPr>
      </p:pic>
    </p:spTree>
    <p:extLst>
      <p:ext uri="{BB962C8B-B14F-4D97-AF65-F5344CB8AC3E}">
        <p14:creationId xmlns:p14="http://schemas.microsoft.com/office/powerpoint/2010/main" val="3348952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lvl="0">
              <a:buSzPts val="2000"/>
              <a:defRPr/>
            </a:pPr>
            <a:r>
              <a:rPr lang="vi-VN" sz="2400" b="1" dirty="0">
                <a:solidFill>
                  <a:srgbClr val="FFFFFF"/>
                </a:solidFill>
                <a:latin typeface="Arial (body)"/>
              </a:rPr>
              <a:t>Các chiến lược trong phần đặt câu hỏi</a:t>
            </a:r>
          </a:p>
        </p:txBody>
      </p:sp>
      <p:sp>
        <p:nvSpPr>
          <p:cNvPr id="101" name="Google Shape;101;p3"/>
          <p:cNvSpPr txBox="1"/>
          <p:nvPr/>
        </p:nvSpPr>
        <p:spPr>
          <a:xfrm>
            <a:off x="341744" y="773540"/>
            <a:ext cx="8469745" cy="5243801"/>
          </a:xfrm>
          <a:prstGeom prst="rect">
            <a:avLst/>
          </a:prstGeom>
          <a:noFill/>
          <a:ln>
            <a:noFill/>
          </a:ln>
        </p:spPr>
        <p:txBody>
          <a:bodyPr spcFirstLastPara="1" wrap="square" lIns="91425" tIns="91425" rIns="91425" bIns="91425" anchor="t" anchorCtr="0">
            <a:noAutofit/>
          </a:bodyPr>
          <a:lstStyle/>
          <a:p>
            <a:pPr marL="0" marR="0" lvl="0" indent="0" algn="just" defTabSz="914400" rtl="0" eaLnBrk="1" fontAlgn="base" latinLnBrk="0" hangingPunct="1">
              <a:lnSpc>
                <a:spcPct val="100000"/>
              </a:lnSpc>
              <a:spcBef>
                <a:spcPts val="0"/>
              </a:spcBef>
              <a:spcAft>
                <a:spcPts val="0"/>
              </a:spcAft>
              <a:buClr>
                <a:srgbClr val="000000"/>
              </a:buClr>
              <a:buSzTx/>
              <a:buFont typeface="Arial"/>
              <a:buNone/>
              <a:tabLst/>
              <a:defRPr/>
            </a:pPr>
            <a:endParaRPr kumimoji="0" lang="vi-VN" sz="2400" b="1" i="0" u="none" strike="noStrike" kern="0" cap="none" spc="0" normalizeH="0" baseline="0" noProof="0" dirty="0">
              <a:ln>
                <a:noFill/>
              </a:ln>
              <a:solidFill>
                <a:srgbClr val="2B2F33"/>
              </a:solidFill>
              <a:effectLst/>
              <a:uLnTx/>
              <a:uFillTx/>
              <a:latin typeface="Open Sans" panose="020B0606030504020204" pitchFamily="34" charset="0"/>
              <a:cs typeface="Arial"/>
              <a:sym typeface="Arial"/>
            </a:endParaRPr>
          </a:p>
        </p:txBody>
      </p:sp>
      <p:sp>
        <p:nvSpPr>
          <p:cNvPr id="4" name="Google Shape;101;p3"/>
          <p:cNvSpPr txBox="1"/>
          <p:nvPr/>
        </p:nvSpPr>
        <p:spPr>
          <a:xfrm>
            <a:off x="424875" y="692425"/>
            <a:ext cx="8285100" cy="3467400"/>
          </a:xfrm>
          <a:prstGeom prst="rect">
            <a:avLst/>
          </a:prstGeom>
          <a:noFill/>
          <a:ln>
            <a:noFill/>
          </a:ln>
        </p:spPr>
        <p:txBody>
          <a:bodyPr spcFirstLastPara="1" wrap="square" lIns="91425" tIns="91425" rIns="91425" bIns="91425" anchor="t" anchorCtr="0">
            <a:noAutofit/>
          </a:bodyPr>
          <a:lstStyle/>
          <a:p>
            <a:pPr marL="101600" marR="0" lvl="0" algn="just" defTabSz="914400" rtl="0" eaLnBrk="1" fontAlgn="auto" latinLnBrk="0" hangingPunct="1">
              <a:lnSpc>
                <a:spcPct val="115000"/>
              </a:lnSpc>
              <a:spcBef>
                <a:spcPts val="1600"/>
              </a:spcBef>
              <a:spcAft>
                <a:spcPts val="0"/>
              </a:spcAft>
              <a:buClr>
                <a:srgbClr val="000000"/>
              </a:buClr>
              <a:buSzTx/>
              <a:tabLst/>
              <a:defRPr/>
            </a:pPr>
            <a:r>
              <a:rPr lang="en-US" sz="1800" b="1" dirty="0" err="1" smtClean="0"/>
              <a:t>Chiến</a:t>
            </a:r>
            <a:r>
              <a:rPr lang="en-US" sz="1800" b="1" dirty="0" smtClean="0"/>
              <a:t> </a:t>
            </a:r>
            <a:r>
              <a:rPr lang="en-US" sz="1800" b="1" dirty="0" err="1" smtClean="0"/>
              <a:t>lược</a:t>
            </a:r>
            <a:r>
              <a:rPr lang="en-US" sz="1800" b="1" dirty="0" smtClean="0"/>
              <a:t> SPY 500, VIX:</a:t>
            </a:r>
          </a:p>
          <a:p>
            <a:pPr algn="just"/>
            <a:r>
              <a:rPr lang="vi-VN" b="1" dirty="0"/>
              <a:t>Tín Hiệu Mua (Buy Signal):</a:t>
            </a:r>
            <a:r>
              <a:rPr lang="vi-VN" dirty="0"/>
              <a:t> </a:t>
            </a:r>
            <a:r>
              <a:rPr lang="vi-VN" dirty="0" smtClean="0"/>
              <a:t>Một </a:t>
            </a:r>
            <a:r>
              <a:rPr lang="vi-VN" dirty="0"/>
              <a:t>cơ hội mua </a:t>
            </a:r>
            <a:r>
              <a:rPr lang="vi-VN" dirty="0" smtClean="0"/>
              <a:t>xuất </a:t>
            </a:r>
            <a:r>
              <a:rPr lang="vi-VN" dirty="0"/>
              <a:t>hiện </a:t>
            </a:r>
            <a:r>
              <a:rPr lang="en-US" dirty="0" err="1" smtClean="0"/>
              <a:t>khi</a:t>
            </a:r>
            <a:r>
              <a:rPr lang="en-US" dirty="0" smtClean="0"/>
              <a:t> VIX &gt; 15 (</a:t>
            </a:r>
            <a:r>
              <a:rPr lang="en-US" dirty="0" err="1" smtClean="0"/>
              <a:t>hoặc</a:t>
            </a:r>
            <a:r>
              <a:rPr lang="en-US" dirty="0" smtClean="0"/>
              <a:t> 1 </a:t>
            </a:r>
            <a:r>
              <a:rPr lang="en-US" dirty="0" err="1" smtClean="0"/>
              <a:t>ngưỡng</a:t>
            </a:r>
            <a:r>
              <a:rPr lang="en-US" dirty="0" smtClean="0"/>
              <a:t> </a:t>
            </a:r>
            <a:r>
              <a:rPr lang="en-US" dirty="0" err="1" smtClean="0"/>
              <a:t>nào</a:t>
            </a:r>
            <a:r>
              <a:rPr lang="en-US" dirty="0" smtClean="0"/>
              <a:t> </a:t>
            </a:r>
            <a:r>
              <a:rPr lang="en-US" dirty="0" err="1" smtClean="0"/>
              <a:t>đó</a:t>
            </a:r>
            <a:r>
              <a:rPr lang="en-US" dirty="0" smtClean="0"/>
              <a:t>)</a:t>
            </a:r>
            <a:endParaRPr lang="vi-VN" dirty="0"/>
          </a:p>
          <a:p>
            <a:pPr algn="just"/>
            <a:r>
              <a:rPr lang="vi-VN" b="1" dirty="0" smtClean="0"/>
              <a:t>Tín </a:t>
            </a:r>
            <a:r>
              <a:rPr lang="vi-VN" b="1" dirty="0"/>
              <a:t>Hiệu Bán (Sell Signal):</a:t>
            </a:r>
            <a:r>
              <a:rPr lang="vi-VN" dirty="0"/>
              <a:t> </a:t>
            </a:r>
            <a:r>
              <a:rPr lang="vi-VN" dirty="0" smtClean="0"/>
              <a:t>Một </a:t>
            </a:r>
            <a:r>
              <a:rPr lang="vi-VN" dirty="0"/>
              <a:t>cơ hội bán </a:t>
            </a:r>
            <a:r>
              <a:rPr lang="vi-VN" dirty="0" smtClean="0"/>
              <a:t>xuất </a:t>
            </a:r>
            <a:r>
              <a:rPr lang="vi-VN" dirty="0"/>
              <a:t>hiện </a:t>
            </a:r>
            <a:r>
              <a:rPr lang="vi-VN" dirty="0" smtClean="0"/>
              <a:t>khi</a:t>
            </a:r>
            <a:r>
              <a:rPr lang="en-US" dirty="0" smtClean="0"/>
              <a:t> VIX &lt; 10 (</a:t>
            </a:r>
            <a:r>
              <a:rPr lang="en-US" dirty="0" err="1" smtClean="0"/>
              <a:t>hoặc</a:t>
            </a:r>
            <a:r>
              <a:rPr lang="en-US" dirty="0" smtClean="0"/>
              <a:t> 1 </a:t>
            </a:r>
            <a:r>
              <a:rPr lang="en-US" dirty="0" err="1" smtClean="0"/>
              <a:t>ngưỡng</a:t>
            </a:r>
            <a:r>
              <a:rPr lang="en-US" dirty="0" smtClean="0"/>
              <a:t> </a:t>
            </a:r>
            <a:r>
              <a:rPr lang="en-US" dirty="0" err="1" smtClean="0"/>
              <a:t>nào</a:t>
            </a:r>
            <a:r>
              <a:rPr lang="en-US" dirty="0" smtClean="0"/>
              <a:t> </a:t>
            </a:r>
            <a:r>
              <a:rPr lang="en-US" dirty="0" err="1" smtClean="0"/>
              <a:t>đó</a:t>
            </a:r>
            <a:r>
              <a:rPr lang="en-US" dirty="0" smtClean="0"/>
              <a:t>)</a:t>
            </a:r>
          </a:p>
          <a:p>
            <a:pPr algn="just"/>
            <a:endParaRPr lang="en-US" sz="1310" dirty="0" smtClean="0"/>
          </a:p>
          <a:p>
            <a:pPr algn="just"/>
            <a:endParaRPr lang="vi-VN" dirty="0"/>
          </a:p>
          <a:p>
            <a:pPr marL="101600" marR="0" lvl="0" algn="just" defTabSz="914400" rtl="0" eaLnBrk="1" fontAlgn="auto" latinLnBrk="0" hangingPunct="1">
              <a:lnSpc>
                <a:spcPct val="115000"/>
              </a:lnSpc>
              <a:spcBef>
                <a:spcPts val="1600"/>
              </a:spcBef>
              <a:spcAft>
                <a:spcPts val="0"/>
              </a:spcAft>
              <a:buClr>
                <a:srgbClr val="000000"/>
              </a:buClr>
              <a:buSzTx/>
              <a:tabLst/>
              <a:defRPr/>
            </a:pPr>
            <a:endParaRPr lang="en-US" sz="1800" b="1" dirty="0" smtClean="0"/>
          </a:p>
          <a:p>
            <a:pPr algn="just"/>
            <a:r>
              <a:rPr lang="vi-VN" dirty="0" smtClean="0"/>
              <a:t> </a:t>
            </a:r>
            <a:endParaRPr lang="en-US" sz="1800" b="1" dirty="0" smtClean="0"/>
          </a:p>
        </p:txBody>
      </p:sp>
    </p:spTree>
    <p:extLst>
      <p:ext uri="{BB962C8B-B14F-4D97-AF65-F5344CB8AC3E}">
        <p14:creationId xmlns:p14="http://schemas.microsoft.com/office/powerpoint/2010/main" val="28530875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lvl="0">
              <a:buSzPts val="2000"/>
              <a:defRPr/>
            </a:pPr>
            <a:r>
              <a:rPr lang="vi-VN" sz="2400" b="1" dirty="0">
                <a:solidFill>
                  <a:srgbClr val="FFFFFF"/>
                </a:solidFill>
                <a:latin typeface="Arial (body)"/>
              </a:rPr>
              <a:t>Các chiến lược trong phần đặt câu hỏi</a:t>
            </a:r>
          </a:p>
        </p:txBody>
      </p:sp>
      <p:sp>
        <p:nvSpPr>
          <p:cNvPr id="101" name="Google Shape;101;p3"/>
          <p:cNvSpPr txBox="1"/>
          <p:nvPr/>
        </p:nvSpPr>
        <p:spPr>
          <a:xfrm>
            <a:off x="341744" y="773540"/>
            <a:ext cx="8469745" cy="5243801"/>
          </a:xfrm>
          <a:prstGeom prst="rect">
            <a:avLst/>
          </a:prstGeom>
          <a:noFill/>
          <a:ln>
            <a:noFill/>
          </a:ln>
        </p:spPr>
        <p:txBody>
          <a:bodyPr spcFirstLastPara="1" wrap="square" lIns="91425" tIns="91425" rIns="91425" bIns="91425" anchor="t" anchorCtr="0">
            <a:noAutofit/>
          </a:bodyPr>
          <a:lstStyle/>
          <a:p>
            <a:pPr marL="0" marR="0" lvl="0" indent="0" algn="just" defTabSz="914400" rtl="0" eaLnBrk="1" fontAlgn="base" latinLnBrk="0" hangingPunct="1">
              <a:lnSpc>
                <a:spcPct val="100000"/>
              </a:lnSpc>
              <a:spcBef>
                <a:spcPts val="0"/>
              </a:spcBef>
              <a:spcAft>
                <a:spcPts val="0"/>
              </a:spcAft>
              <a:buClr>
                <a:srgbClr val="000000"/>
              </a:buClr>
              <a:buSzTx/>
              <a:buFont typeface="Arial"/>
              <a:buNone/>
              <a:tabLst/>
              <a:defRPr/>
            </a:pPr>
            <a:endParaRPr kumimoji="0" lang="vi-VN" sz="2400" b="1" i="0" u="none" strike="noStrike" kern="0" cap="none" spc="0" normalizeH="0" baseline="0" noProof="0" dirty="0">
              <a:ln>
                <a:noFill/>
              </a:ln>
              <a:solidFill>
                <a:srgbClr val="2B2F33"/>
              </a:solidFill>
              <a:effectLst/>
              <a:uLnTx/>
              <a:uFillTx/>
              <a:latin typeface="Open Sans" panose="020B0606030504020204" pitchFamily="34" charset="0"/>
              <a:cs typeface="Arial"/>
              <a:sym typeface="Arial"/>
            </a:endParaRPr>
          </a:p>
        </p:txBody>
      </p:sp>
      <p:sp>
        <p:nvSpPr>
          <p:cNvPr id="4" name="Google Shape;101;p3"/>
          <p:cNvSpPr txBox="1"/>
          <p:nvPr/>
        </p:nvSpPr>
        <p:spPr>
          <a:xfrm>
            <a:off x="424875" y="692425"/>
            <a:ext cx="8285100" cy="3467400"/>
          </a:xfrm>
          <a:prstGeom prst="rect">
            <a:avLst/>
          </a:prstGeom>
          <a:noFill/>
          <a:ln>
            <a:noFill/>
          </a:ln>
        </p:spPr>
        <p:txBody>
          <a:bodyPr spcFirstLastPara="1" wrap="square" lIns="91425" tIns="91425" rIns="91425" bIns="91425" anchor="t" anchorCtr="0">
            <a:noAutofit/>
          </a:bodyPr>
          <a:lstStyle/>
          <a:p>
            <a:pPr marL="101600" marR="0" lvl="0" algn="just" defTabSz="914400" rtl="0" eaLnBrk="1" fontAlgn="auto" latinLnBrk="0" hangingPunct="1">
              <a:lnSpc>
                <a:spcPct val="115000"/>
              </a:lnSpc>
              <a:spcBef>
                <a:spcPts val="1600"/>
              </a:spcBef>
              <a:spcAft>
                <a:spcPts val="0"/>
              </a:spcAft>
              <a:buClr>
                <a:srgbClr val="000000"/>
              </a:buClr>
              <a:buSzTx/>
              <a:tabLst/>
              <a:defRPr/>
            </a:pPr>
            <a:r>
              <a:rPr lang="en-US" sz="1800" b="1" dirty="0" err="1" smtClean="0"/>
              <a:t>Chiến</a:t>
            </a:r>
            <a:r>
              <a:rPr lang="en-US" sz="1800" b="1" dirty="0" smtClean="0"/>
              <a:t> </a:t>
            </a:r>
            <a:r>
              <a:rPr lang="en-US" sz="1800" b="1" dirty="0" err="1" smtClean="0"/>
              <a:t>lược</a:t>
            </a:r>
            <a:r>
              <a:rPr lang="en-US" sz="1800" b="1" dirty="0" smtClean="0"/>
              <a:t> SPY 500, VIX:</a:t>
            </a:r>
          </a:p>
          <a:p>
            <a:pPr algn="just"/>
            <a:endParaRPr lang="en-US" sz="1310" dirty="0" smtClean="0"/>
          </a:p>
          <a:p>
            <a:pPr algn="just"/>
            <a:endParaRPr lang="vi-VN" dirty="0"/>
          </a:p>
          <a:p>
            <a:pPr marL="101600" marR="0" lvl="0" algn="just" defTabSz="914400" rtl="0" eaLnBrk="1" fontAlgn="auto" latinLnBrk="0" hangingPunct="1">
              <a:lnSpc>
                <a:spcPct val="115000"/>
              </a:lnSpc>
              <a:spcBef>
                <a:spcPts val="1600"/>
              </a:spcBef>
              <a:spcAft>
                <a:spcPts val="0"/>
              </a:spcAft>
              <a:buClr>
                <a:srgbClr val="000000"/>
              </a:buClr>
              <a:buSzTx/>
              <a:tabLst/>
              <a:defRPr/>
            </a:pPr>
            <a:endParaRPr lang="en-US" sz="1800" b="1" dirty="0" smtClean="0"/>
          </a:p>
          <a:p>
            <a:pPr algn="just"/>
            <a:r>
              <a:rPr lang="vi-VN" dirty="0" smtClean="0"/>
              <a:t> </a:t>
            </a:r>
            <a:endParaRPr lang="en-US" sz="1800" b="1" dirty="0" smtClean="0"/>
          </a:p>
        </p:txBody>
      </p:sp>
      <p:pic>
        <p:nvPicPr>
          <p:cNvPr id="7" name="Picture 6"/>
          <p:cNvPicPr>
            <a:picLocks noChangeAspect="1"/>
          </p:cNvPicPr>
          <p:nvPr/>
        </p:nvPicPr>
        <p:blipFill>
          <a:blip r:embed="rId3"/>
          <a:stretch>
            <a:fillRect/>
          </a:stretch>
        </p:blipFill>
        <p:spPr>
          <a:xfrm>
            <a:off x="648734" y="1337888"/>
            <a:ext cx="8144372" cy="2100462"/>
          </a:xfrm>
          <a:prstGeom prst="rect">
            <a:avLst/>
          </a:prstGeom>
        </p:spPr>
      </p:pic>
      <p:pic>
        <p:nvPicPr>
          <p:cNvPr id="8" name="Picture 7"/>
          <p:cNvPicPr>
            <a:picLocks noChangeAspect="1"/>
          </p:cNvPicPr>
          <p:nvPr/>
        </p:nvPicPr>
        <p:blipFill>
          <a:blip r:embed="rId3"/>
          <a:stretch>
            <a:fillRect/>
          </a:stretch>
        </p:blipFill>
        <p:spPr>
          <a:xfrm>
            <a:off x="2336801" y="3529649"/>
            <a:ext cx="6807200" cy="2601507"/>
          </a:xfrm>
          <a:prstGeom prst="rect">
            <a:avLst/>
          </a:prstGeom>
        </p:spPr>
      </p:pic>
    </p:spTree>
    <p:extLst>
      <p:ext uri="{BB962C8B-B14F-4D97-AF65-F5344CB8AC3E}">
        <p14:creationId xmlns:p14="http://schemas.microsoft.com/office/powerpoint/2010/main" val="10503273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a:buNone/>
              <a:tabLst/>
              <a:defRPr/>
            </a:pPr>
            <a:r>
              <a:rPr kumimoji="0" lang="vi-VN" sz="2400" b="1" i="0" u="none" strike="noStrike" kern="0" cap="none" spc="0" normalizeH="0" baseline="0" noProof="0" dirty="0">
                <a:ln>
                  <a:noFill/>
                </a:ln>
                <a:solidFill>
                  <a:srgbClr val="FFFFFF"/>
                </a:solidFill>
                <a:effectLst/>
                <a:uLnTx/>
                <a:uFillTx/>
                <a:latin typeface="Arial"/>
                <a:ea typeface="Arial"/>
                <a:cs typeface="Arial"/>
                <a:sym typeface="Arial"/>
              </a:rPr>
              <a:t>Nội dung chính</a:t>
            </a:r>
            <a:endParaRPr kumimoji="0" sz="2400" b="1"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01" name="Google Shape;101;p3"/>
          <p:cNvSpPr txBox="1"/>
          <p:nvPr/>
        </p:nvSpPr>
        <p:spPr>
          <a:xfrm>
            <a:off x="424875" y="692425"/>
            <a:ext cx="8285100" cy="3467400"/>
          </a:xfrm>
          <a:prstGeom prst="rect">
            <a:avLst/>
          </a:prstGeom>
          <a:noFill/>
          <a:ln>
            <a:noFill/>
          </a:ln>
        </p:spPr>
        <p:txBody>
          <a:bodyPr spcFirstLastPara="1" wrap="square" lIns="91425" tIns="91425" rIns="91425" bIns="91425" anchor="t" anchorCtr="0">
            <a:noAutofit/>
          </a:bodyPr>
          <a:lstStyle/>
          <a:p>
            <a:pPr marL="101600" marR="0" lvl="0" indent="0" algn="l" defTabSz="914400" rtl="0" eaLnBrk="1" fontAlgn="auto" latinLnBrk="0" hangingPunct="1">
              <a:lnSpc>
                <a:spcPct val="115000"/>
              </a:lnSpc>
              <a:spcBef>
                <a:spcPts val="1600"/>
              </a:spcBef>
              <a:spcAft>
                <a:spcPts val="0"/>
              </a:spcAft>
              <a:buClr>
                <a:srgbClr val="000000"/>
              </a:buClr>
              <a:buSzTx/>
              <a:buFont typeface="Arial"/>
              <a:buNone/>
              <a:tabLst/>
              <a:defRPr/>
            </a:pPr>
            <a:r>
              <a:rPr kumimoji="0" lang="vi-VN" sz="1800" b="1" i="0" u="none" strike="noStrike" kern="0" cap="none" spc="0" normalizeH="0" baseline="0" noProof="0" dirty="0">
                <a:ln>
                  <a:noFill/>
                </a:ln>
                <a:solidFill>
                  <a:srgbClr val="000000"/>
                </a:solidFill>
                <a:effectLst/>
                <a:uLnTx/>
                <a:uFillTx/>
                <a:latin typeface="Arial"/>
                <a:ea typeface="Arial"/>
                <a:cs typeface="Arial"/>
                <a:sym typeface="Arial"/>
              </a:rPr>
              <a:t>Thực hành tại lớp</a:t>
            </a:r>
            <a:endParaRPr kumimoji="0" sz="1800" b="1" i="0" u="none" strike="noStrike" kern="0" cap="none" spc="0" normalizeH="0" baseline="0" noProof="0" dirty="0">
              <a:ln>
                <a:noFill/>
              </a:ln>
              <a:solidFill>
                <a:srgbClr val="000000"/>
              </a:solidFill>
              <a:effectLst/>
              <a:uLnTx/>
              <a:uFillTx/>
              <a:latin typeface="Arial"/>
              <a:ea typeface="Arial"/>
              <a:cs typeface="Arial"/>
              <a:sym typeface="Arial"/>
            </a:endParaRPr>
          </a:p>
          <a:p>
            <a:pPr marL="457200" marR="0" lvl="0" indent="-355600" algn="just" defTabSz="914400" rtl="0" eaLnBrk="1" fontAlgn="auto" latinLnBrk="0" hangingPunct="1">
              <a:lnSpc>
                <a:spcPct val="115000"/>
              </a:lnSpc>
              <a:spcBef>
                <a:spcPts val="1600"/>
              </a:spcBef>
              <a:spcAft>
                <a:spcPts val="0"/>
              </a:spcAft>
              <a:buClr>
                <a:srgbClr val="000000"/>
              </a:buClr>
              <a:buSzPts val="2000"/>
              <a:buFont typeface="Maven Pro"/>
              <a:buAutoNum type="arabicPeriod"/>
              <a:tabLst/>
              <a:defRPr/>
            </a:pPr>
            <a:r>
              <a:rPr kumimoji="0" lang="vi-VN" sz="1800" b="1" i="0" u="none" strike="noStrike" kern="0" cap="none" spc="0" normalizeH="0" baseline="0" noProof="0" dirty="0" smtClean="0">
                <a:ln>
                  <a:noFill/>
                </a:ln>
                <a:solidFill>
                  <a:srgbClr val="000000"/>
                </a:solidFill>
                <a:effectLst/>
                <a:uLnTx/>
                <a:uFillTx/>
                <a:latin typeface="Arial"/>
                <a:ea typeface="Arial"/>
                <a:cs typeface="Arial"/>
                <a:sym typeface="Arial"/>
              </a:rPr>
              <a:t>API</a:t>
            </a:r>
            <a:endParaRPr kumimoji="0" sz="1800" b="1" i="0" u="none" strike="noStrike" kern="0" cap="none" spc="0" normalizeH="0" baseline="0" noProof="0" dirty="0">
              <a:ln>
                <a:noFill/>
              </a:ln>
              <a:solidFill>
                <a:srgbClr val="000000"/>
              </a:solidFill>
              <a:effectLst/>
              <a:uLnTx/>
              <a:uFillTx/>
              <a:latin typeface="Arial"/>
              <a:ea typeface="Arial"/>
              <a:cs typeface="Arial"/>
              <a:sym typeface="Arial"/>
            </a:endParaRPr>
          </a:p>
          <a:p>
            <a:pPr marL="457200" marR="0" lvl="0" indent="-355600" algn="just" defTabSz="914400" rtl="0" eaLnBrk="1" fontAlgn="auto" latinLnBrk="0" hangingPunct="1">
              <a:lnSpc>
                <a:spcPct val="115000"/>
              </a:lnSpc>
              <a:spcBef>
                <a:spcPts val="1600"/>
              </a:spcBef>
              <a:spcAft>
                <a:spcPts val="0"/>
              </a:spcAft>
              <a:buClr>
                <a:srgbClr val="000000"/>
              </a:buClr>
              <a:buSzPts val="2000"/>
              <a:buFont typeface="Maven Pro"/>
              <a:buAutoNum type="arabicPeriod"/>
              <a:tabLst/>
              <a:defRPr/>
            </a:pPr>
            <a:r>
              <a:rPr kumimoji="0" lang="vi-VN" sz="1800" b="1" i="0" u="none" strike="noStrike" kern="0" cap="none" spc="0" normalizeH="0" baseline="0" noProof="0" dirty="0">
                <a:ln>
                  <a:noFill/>
                </a:ln>
                <a:solidFill>
                  <a:srgbClr val="000000"/>
                </a:solidFill>
                <a:effectLst/>
                <a:uLnTx/>
                <a:uFillTx/>
                <a:latin typeface="Arial"/>
                <a:ea typeface="Arial"/>
                <a:cs typeface="Arial"/>
                <a:sym typeface="Arial"/>
              </a:rPr>
              <a:t>Tạo key, get data</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457200" marR="0" lvl="0" indent="-355600" algn="just" defTabSz="914400" rtl="0" eaLnBrk="1" fontAlgn="auto" latinLnBrk="0" hangingPunct="1">
              <a:lnSpc>
                <a:spcPct val="115000"/>
              </a:lnSpc>
              <a:spcBef>
                <a:spcPts val="1600"/>
              </a:spcBef>
              <a:spcAft>
                <a:spcPts val="0"/>
              </a:spcAft>
              <a:buClr>
                <a:srgbClr val="000000"/>
              </a:buClr>
              <a:buSzPts val="2000"/>
              <a:buFont typeface="Maven Pro"/>
              <a:buAutoNum type="arabicPeriod"/>
              <a:tabLst/>
              <a:defRPr/>
            </a:pPr>
            <a:r>
              <a:rPr kumimoji="0" lang="vi-VN" sz="1800" b="1" i="0" u="none" strike="noStrike" kern="0" cap="none" spc="0" normalizeH="0" baseline="0" noProof="0" dirty="0">
                <a:ln>
                  <a:noFill/>
                </a:ln>
                <a:solidFill>
                  <a:srgbClr val="000000"/>
                </a:solidFill>
                <a:effectLst/>
                <a:uLnTx/>
                <a:uFillTx/>
                <a:latin typeface="Arial"/>
                <a:ea typeface="Arial"/>
                <a:cs typeface="Arial"/>
                <a:sym typeface="Arial"/>
              </a:rPr>
              <a:t>Get dat &amp; Clean &amp; chuẩn hóa </a:t>
            </a:r>
            <a:r>
              <a:rPr kumimoji="0" lang="vi-VN" sz="1800" b="1" i="0" u="none" strike="noStrike" kern="0" cap="none" spc="0" normalizeH="0" baseline="0" noProof="0" dirty="0" smtClean="0">
                <a:ln>
                  <a:noFill/>
                </a:ln>
                <a:solidFill>
                  <a:srgbClr val="000000"/>
                </a:solidFill>
                <a:effectLst/>
                <a:uLnTx/>
                <a:uFillTx/>
                <a:latin typeface="Arial"/>
                <a:ea typeface="Arial"/>
                <a:cs typeface="Arial"/>
                <a:sym typeface="Arial"/>
              </a:rPr>
              <a:t>data</a:t>
            </a:r>
            <a:endParaRPr kumimoji="0" lang="en-US" sz="1800" b="1" i="0" u="none" strike="noStrike" kern="0" cap="none" spc="0" normalizeH="0" baseline="0" noProof="0" dirty="0" smtClean="0">
              <a:ln>
                <a:noFill/>
              </a:ln>
              <a:solidFill>
                <a:srgbClr val="000000"/>
              </a:solidFill>
              <a:effectLst/>
              <a:uLnTx/>
              <a:uFillTx/>
              <a:latin typeface="Arial"/>
              <a:ea typeface="Arial"/>
              <a:cs typeface="Arial"/>
              <a:sym typeface="Arial"/>
            </a:endParaRPr>
          </a:p>
          <a:p>
            <a:pPr marL="457200" marR="0" lvl="0" indent="-355600" algn="just" defTabSz="914400" rtl="0" eaLnBrk="1" fontAlgn="auto" latinLnBrk="0" hangingPunct="1">
              <a:lnSpc>
                <a:spcPct val="115000"/>
              </a:lnSpc>
              <a:spcBef>
                <a:spcPts val="1600"/>
              </a:spcBef>
              <a:spcAft>
                <a:spcPts val="0"/>
              </a:spcAft>
              <a:buClr>
                <a:srgbClr val="000000"/>
              </a:buClr>
              <a:buSzPts val="2000"/>
              <a:buFont typeface="Maven Pro"/>
              <a:buAutoNum type="arabicPeriod"/>
              <a:tabLst/>
              <a:defRPr/>
            </a:pPr>
            <a:r>
              <a:rPr kumimoji="0" lang="en-US" sz="1800" b="1" i="0" u="none" strike="noStrike" kern="0" cap="none" spc="0" normalizeH="0" baseline="0" noProof="0" dirty="0" err="1" smtClean="0">
                <a:ln>
                  <a:noFill/>
                </a:ln>
                <a:solidFill>
                  <a:srgbClr val="000000"/>
                </a:solidFill>
                <a:effectLst/>
                <a:uLnTx/>
                <a:uFillTx/>
                <a:latin typeface="Arial"/>
                <a:cs typeface="Arial"/>
                <a:sym typeface="Arial"/>
              </a:rPr>
              <a:t>Chiến</a:t>
            </a:r>
            <a:r>
              <a:rPr kumimoji="0" lang="en-US" sz="1800" b="1" i="0" u="none" strike="noStrike" kern="0" cap="none" spc="0" normalizeH="0" baseline="0" noProof="0" dirty="0" smtClean="0">
                <a:ln>
                  <a:noFill/>
                </a:ln>
                <a:solidFill>
                  <a:srgbClr val="000000"/>
                </a:solidFill>
                <a:effectLst/>
                <a:uLnTx/>
                <a:uFillTx/>
                <a:latin typeface="Arial"/>
                <a:cs typeface="Arial"/>
                <a:sym typeface="Arial"/>
              </a:rPr>
              <a:t> </a:t>
            </a:r>
            <a:r>
              <a:rPr kumimoji="0" lang="en-US" sz="1800" b="1" i="0" u="none" strike="noStrike" kern="0" cap="none" spc="0" normalizeH="0" baseline="0" noProof="0" dirty="0" err="1" smtClean="0">
                <a:ln>
                  <a:noFill/>
                </a:ln>
                <a:solidFill>
                  <a:srgbClr val="000000"/>
                </a:solidFill>
                <a:effectLst/>
                <a:uLnTx/>
                <a:uFillTx/>
                <a:latin typeface="Arial"/>
                <a:cs typeface="Arial"/>
                <a:sym typeface="Arial"/>
              </a:rPr>
              <a:t>lược</a:t>
            </a:r>
            <a:endParaRPr kumimoji="0" lang="en-US" sz="1800" b="1" i="0" u="none" strike="noStrike" kern="0" cap="none" spc="0" normalizeH="0" baseline="0" noProof="0" dirty="0" smtClean="0">
              <a:ln>
                <a:noFill/>
              </a:ln>
              <a:solidFill>
                <a:srgbClr val="000000"/>
              </a:solidFill>
              <a:effectLst/>
              <a:uLnTx/>
              <a:uFillTx/>
              <a:latin typeface="Arial"/>
              <a:cs typeface="Arial"/>
              <a:sym typeface="Arial"/>
            </a:endParaRPr>
          </a:p>
          <a:p>
            <a:pPr marL="457200" marR="0" lvl="0" indent="-355600" algn="just" defTabSz="914400" rtl="0" eaLnBrk="1" fontAlgn="auto" latinLnBrk="0" hangingPunct="1">
              <a:lnSpc>
                <a:spcPct val="115000"/>
              </a:lnSpc>
              <a:spcBef>
                <a:spcPts val="1600"/>
              </a:spcBef>
              <a:spcAft>
                <a:spcPts val="0"/>
              </a:spcAft>
              <a:buClr>
                <a:srgbClr val="000000"/>
              </a:buClr>
              <a:buSzPts val="2000"/>
              <a:buFont typeface="Maven Pro"/>
              <a:buAutoNum type="arabicPeriod"/>
              <a:tabLst/>
              <a:defRPr/>
            </a:pPr>
            <a:r>
              <a:rPr kumimoji="0" lang="en-US" sz="1800" b="1" i="0" u="none" strike="noStrike" kern="0" cap="none" spc="0" normalizeH="0" baseline="0" noProof="0" dirty="0" err="1" smtClean="0">
                <a:ln>
                  <a:noFill/>
                </a:ln>
                <a:solidFill>
                  <a:srgbClr val="000000"/>
                </a:solidFill>
                <a:effectLst/>
                <a:uLnTx/>
                <a:uFillTx/>
                <a:latin typeface="Arial"/>
                <a:ea typeface="Arial"/>
                <a:cs typeface="Arial"/>
                <a:sym typeface="Arial"/>
              </a:rPr>
              <a:t>Vào</a:t>
            </a:r>
            <a:r>
              <a:rPr kumimoji="0" lang="en-US" sz="1800" b="1" i="0" u="none" strike="noStrike" kern="0" cap="none" spc="0" normalizeH="0" baseline="0" noProof="0" dirty="0" smtClean="0">
                <a:ln>
                  <a:noFill/>
                </a:ln>
                <a:solidFill>
                  <a:srgbClr val="000000"/>
                </a:solidFill>
                <a:effectLst/>
                <a:uLnTx/>
                <a:uFillTx/>
                <a:latin typeface="Arial"/>
                <a:ea typeface="Arial"/>
                <a:cs typeface="Arial"/>
                <a:sym typeface="Arial"/>
              </a:rPr>
              <a:t> </a:t>
            </a:r>
            <a:r>
              <a:rPr kumimoji="0" lang="en-US" sz="1800" b="1" i="0" u="none" strike="noStrike" kern="0" cap="none" spc="0" normalizeH="0" baseline="0" noProof="0" dirty="0" err="1" smtClean="0">
                <a:ln>
                  <a:noFill/>
                </a:ln>
                <a:solidFill>
                  <a:srgbClr val="000000"/>
                </a:solidFill>
                <a:effectLst/>
                <a:uLnTx/>
                <a:uFillTx/>
                <a:latin typeface="Arial"/>
                <a:ea typeface="Arial"/>
                <a:cs typeface="Arial"/>
                <a:sym typeface="Arial"/>
              </a:rPr>
              <a:t>lệnh</a:t>
            </a:r>
            <a:endParaRPr kumimoji="0" lang="en-US" sz="1800" b="1" i="0" u="none" strike="noStrike" kern="0" cap="none" spc="0" normalizeH="0" baseline="0" noProof="0" dirty="0" smtClean="0">
              <a:ln>
                <a:noFill/>
              </a:ln>
              <a:solidFill>
                <a:srgbClr val="000000"/>
              </a:solidFill>
              <a:effectLst/>
              <a:uLnTx/>
              <a:uFillTx/>
              <a:latin typeface="Arial"/>
              <a:ea typeface="Arial"/>
              <a:cs typeface="Arial"/>
              <a:sym typeface="Arial"/>
            </a:endParaRPr>
          </a:p>
          <a:p>
            <a:pPr marL="457200" marR="0" lvl="0" indent="-355600" algn="just" defTabSz="914400" rtl="0" eaLnBrk="1" fontAlgn="auto" latinLnBrk="0" hangingPunct="1">
              <a:lnSpc>
                <a:spcPct val="115000"/>
              </a:lnSpc>
              <a:spcBef>
                <a:spcPts val="1600"/>
              </a:spcBef>
              <a:spcAft>
                <a:spcPts val="0"/>
              </a:spcAft>
              <a:buClr>
                <a:srgbClr val="000000"/>
              </a:buClr>
              <a:buSzPts val="2000"/>
              <a:buFont typeface="Maven Pro"/>
              <a:buAutoNum type="arabicPeriod"/>
              <a:tabLst/>
              <a:defRPr/>
            </a:pPr>
            <a:r>
              <a:rPr lang="en-US" sz="1800" b="1" dirty="0" err="1" smtClean="0"/>
              <a:t>Cách</a:t>
            </a:r>
            <a:r>
              <a:rPr lang="en-US" sz="1800" b="1" dirty="0" smtClean="0"/>
              <a:t> </a:t>
            </a:r>
            <a:r>
              <a:rPr lang="en-US" sz="1800" b="1" dirty="0" err="1" smtClean="0"/>
              <a:t>xây</a:t>
            </a:r>
            <a:r>
              <a:rPr lang="en-US" sz="1800" b="1" dirty="0" smtClean="0"/>
              <a:t> </a:t>
            </a:r>
            <a:r>
              <a:rPr lang="en-US" sz="1800" b="1" dirty="0" err="1" smtClean="0"/>
              <a:t>dựng</a:t>
            </a:r>
            <a:r>
              <a:rPr lang="en-US" sz="1800" b="1" dirty="0" smtClean="0"/>
              <a:t> common</a:t>
            </a:r>
            <a:endParaRPr kumimoji="0" lang="en-US" sz="1800" b="1" i="0" u="none" strike="noStrike" kern="0" cap="none" spc="0" normalizeH="0" baseline="0" noProof="0" dirty="0" smtClean="0">
              <a:ln>
                <a:noFill/>
              </a:ln>
              <a:solidFill>
                <a:srgbClr val="000000"/>
              </a:solidFill>
              <a:effectLst/>
              <a:uLnTx/>
              <a:uFillTx/>
              <a:latin typeface="Arial"/>
              <a:ea typeface="Arial"/>
              <a:cs typeface="Arial"/>
              <a:sym typeface="Arial"/>
            </a:endParaRPr>
          </a:p>
          <a:p>
            <a:pPr marL="101600" marR="0" lvl="0" indent="0" algn="l" defTabSz="914400" rtl="0" eaLnBrk="1" fontAlgn="auto" latinLnBrk="0" hangingPunct="1">
              <a:lnSpc>
                <a:spcPct val="115000"/>
              </a:lnSpc>
              <a:spcBef>
                <a:spcPts val="1600"/>
              </a:spcBef>
              <a:spcAft>
                <a:spcPts val="0"/>
              </a:spcAft>
              <a:buClr>
                <a:srgbClr val="000000"/>
              </a:buClr>
              <a:buSzTx/>
              <a:buFont typeface="Arial"/>
              <a:buNone/>
              <a:tabLst/>
              <a:defRPr/>
            </a:pPr>
            <a:endParaRPr kumimoji="0" sz="1800" b="1" i="0" u="none" strike="noStrike" kern="0" cap="none" spc="0" normalizeH="0" baseline="0" noProof="0" dirty="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30683205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vi-VN" sz="2400" b="1" dirty="0">
                <a:solidFill>
                  <a:schemeClr val="lt1"/>
                </a:solidFill>
              </a:rPr>
              <a:t>Nội dung chính</a:t>
            </a:r>
            <a:endParaRPr sz="2400" b="1" i="0" u="none" strike="noStrike" cap="none" dirty="0">
              <a:solidFill>
                <a:schemeClr val="lt1"/>
              </a:solidFill>
              <a:sym typeface="Arial"/>
            </a:endParaRPr>
          </a:p>
        </p:txBody>
      </p:sp>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501650" lvl="0" indent="-400050">
              <a:lnSpc>
                <a:spcPct val="115000"/>
              </a:lnSpc>
              <a:spcBef>
                <a:spcPts val="1600"/>
              </a:spcBef>
              <a:buClr>
                <a:schemeClr val="dk1"/>
              </a:buClr>
              <a:buSzPts val="2000"/>
              <a:buAutoNum type="romanUcPeriod"/>
            </a:pPr>
            <a:r>
              <a:rPr lang="en-US" b="1" u="sng" dirty="0" smtClean="0">
                <a:solidFill>
                  <a:schemeClr val="dk1"/>
                </a:solidFill>
                <a:latin typeface="+mn-lt"/>
                <a:ea typeface="Maven Pro"/>
                <a:cs typeface="Maven Pro"/>
                <a:sym typeface="Maven Pro"/>
              </a:rPr>
              <a:t>Chiến </a:t>
            </a:r>
            <a:r>
              <a:rPr lang="en-US" b="1" u="sng" dirty="0" err="1" smtClean="0">
                <a:solidFill>
                  <a:schemeClr val="dk1"/>
                </a:solidFill>
                <a:latin typeface="+mn-lt"/>
                <a:ea typeface="Maven Pro"/>
                <a:cs typeface="Maven Pro"/>
                <a:sym typeface="Maven Pro"/>
              </a:rPr>
              <a:t>lược</a:t>
            </a:r>
            <a:r>
              <a:rPr lang="en-US" b="1" u="sng" dirty="0" smtClean="0">
                <a:solidFill>
                  <a:schemeClr val="dk1"/>
                </a:solidFill>
                <a:latin typeface="+mn-lt"/>
                <a:ea typeface="Maven Pro"/>
                <a:cs typeface="Maven Pro"/>
                <a:sym typeface="Maven Pro"/>
              </a:rPr>
              <a:t> </a:t>
            </a:r>
            <a:r>
              <a:rPr lang="en-US" b="1" u="sng" dirty="0" err="1" smtClean="0">
                <a:solidFill>
                  <a:schemeClr val="dk1"/>
                </a:solidFill>
                <a:latin typeface="+mn-lt"/>
                <a:ea typeface="Maven Pro"/>
                <a:cs typeface="Maven Pro"/>
                <a:sym typeface="Maven Pro"/>
              </a:rPr>
              <a:t>để</a:t>
            </a:r>
            <a:r>
              <a:rPr lang="en-US" b="1" u="sng" dirty="0" smtClean="0">
                <a:solidFill>
                  <a:schemeClr val="dk1"/>
                </a:solidFill>
                <a:latin typeface="+mn-lt"/>
                <a:ea typeface="Maven Pro"/>
                <a:cs typeface="Maven Pro"/>
                <a:sym typeface="Maven Pro"/>
              </a:rPr>
              <a:t> </a:t>
            </a:r>
            <a:r>
              <a:rPr lang="en-US" b="1" u="sng" dirty="0" err="1" smtClean="0">
                <a:solidFill>
                  <a:schemeClr val="dk1"/>
                </a:solidFill>
                <a:latin typeface="+mn-lt"/>
                <a:ea typeface="Maven Pro"/>
                <a:cs typeface="Maven Pro"/>
                <a:sym typeface="Maven Pro"/>
              </a:rPr>
              <a:t>vào</a:t>
            </a:r>
            <a:r>
              <a:rPr lang="en-US" b="1" u="sng" dirty="0" smtClean="0">
                <a:solidFill>
                  <a:schemeClr val="dk1"/>
                </a:solidFill>
                <a:latin typeface="+mn-lt"/>
                <a:ea typeface="Maven Pro"/>
                <a:cs typeface="Maven Pro"/>
                <a:sym typeface="Maven Pro"/>
              </a:rPr>
              <a:t> </a:t>
            </a:r>
            <a:r>
              <a:rPr lang="en-US" b="1" u="sng" dirty="0" err="1" smtClean="0">
                <a:solidFill>
                  <a:schemeClr val="dk1"/>
                </a:solidFill>
                <a:latin typeface="+mn-lt"/>
                <a:ea typeface="Maven Pro"/>
                <a:cs typeface="Maven Pro"/>
                <a:sym typeface="Maven Pro"/>
              </a:rPr>
              <a:t>lệnh</a:t>
            </a:r>
            <a:endParaRPr lang="en-US" b="1" u="sng" dirty="0" smtClean="0">
              <a:solidFill>
                <a:schemeClr val="dk1"/>
              </a:solidFill>
              <a:latin typeface="+mn-lt"/>
              <a:ea typeface="Maven Pro"/>
              <a:cs typeface="Maven Pro"/>
              <a:sym typeface="Maven Pro"/>
            </a:endParaRPr>
          </a:p>
          <a:p>
            <a:pPr marL="101600" lvl="0">
              <a:lnSpc>
                <a:spcPct val="115000"/>
              </a:lnSpc>
              <a:spcBef>
                <a:spcPts val="1600"/>
              </a:spcBef>
              <a:buClr>
                <a:schemeClr val="dk1"/>
              </a:buClr>
              <a:buSzPts val="2000"/>
            </a:pPr>
            <a:r>
              <a:rPr lang="en-US" b="1" dirty="0" smtClean="0">
                <a:solidFill>
                  <a:schemeClr val="tx1"/>
                </a:solidFill>
                <a:latin typeface="+mn-lt"/>
                <a:ea typeface="Maven Pro"/>
                <a:cs typeface="Maven Pro"/>
                <a:sym typeface="Maven Pro"/>
              </a:rPr>
              <a:t>      I.1. </a:t>
            </a:r>
            <a:r>
              <a:rPr lang="en-US" b="1" dirty="0" smtClean="0">
                <a:solidFill>
                  <a:schemeClr val="tx1"/>
                </a:solidFill>
                <a:ea typeface="Maven Pro"/>
                <a:cs typeface="Maven Pro"/>
                <a:sym typeface="Maven Pro"/>
              </a:rPr>
              <a:t>Chiến </a:t>
            </a:r>
            <a:r>
              <a:rPr lang="en-US" b="1" dirty="0" err="1">
                <a:solidFill>
                  <a:schemeClr val="tx1"/>
                </a:solidFill>
                <a:ea typeface="Maven Pro"/>
                <a:cs typeface="Maven Pro"/>
                <a:sym typeface="Maven Pro"/>
              </a:rPr>
              <a:t>lược</a:t>
            </a:r>
            <a:r>
              <a:rPr lang="en-US" b="1" dirty="0">
                <a:solidFill>
                  <a:schemeClr val="tx1"/>
                </a:solidFill>
                <a:ea typeface="Maven Pro"/>
                <a:cs typeface="Maven Pro"/>
                <a:sym typeface="Maven Pro"/>
              </a:rPr>
              <a:t> </a:t>
            </a:r>
            <a:r>
              <a:rPr lang="en-US" b="1" dirty="0" err="1">
                <a:solidFill>
                  <a:schemeClr val="tx1"/>
                </a:solidFill>
                <a:ea typeface="Maven Pro"/>
                <a:cs typeface="Maven Pro"/>
                <a:sym typeface="Maven Pro"/>
              </a:rPr>
              <a:t>nến</a:t>
            </a:r>
            <a:r>
              <a:rPr lang="en-US" b="1" dirty="0">
                <a:solidFill>
                  <a:schemeClr val="tx1"/>
                </a:solidFill>
                <a:ea typeface="Maven Pro"/>
                <a:cs typeface="Maven Pro"/>
                <a:sym typeface="Maven Pro"/>
              </a:rPr>
              <a:t> </a:t>
            </a:r>
            <a:r>
              <a:rPr lang="en-US" b="1" dirty="0" err="1">
                <a:solidFill>
                  <a:srgbClr val="FF0000"/>
                </a:solidFill>
                <a:ea typeface="Maven Pro"/>
                <a:cs typeface="Maven Pro"/>
                <a:sym typeface="Maven Pro"/>
              </a:rPr>
              <a:t>Doji</a:t>
            </a:r>
            <a:r>
              <a:rPr lang="en-US" b="1" dirty="0">
                <a:solidFill>
                  <a:srgbClr val="FF0000"/>
                </a:solidFill>
                <a:ea typeface="Maven Pro"/>
                <a:cs typeface="Maven Pro"/>
                <a:sym typeface="Maven Pro"/>
              </a:rPr>
              <a:t> – </a:t>
            </a:r>
            <a:r>
              <a:rPr lang="en-US" b="1" dirty="0" err="1">
                <a:solidFill>
                  <a:srgbClr val="FF0000"/>
                </a:solidFill>
                <a:ea typeface="Maven Pro"/>
                <a:cs typeface="Maven Pro"/>
                <a:sym typeface="Maven Pro"/>
              </a:rPr>
              <a:t>Doji</a:t>
            </a:r>
            <a:r>
              <a:rPr lang="en-US" b="1" dirty="0">
                <a:solidFill>
                  <a:srgbClr val="FF0000"/>
                </a:solidFill>
                <a:ea typeface="Maven Pro"/>
                <a:cs typeface="Maven Pro"/>
                <a:sym typeface="Maven Pro"/>
              </a:rPr>
              <a:t> </a:t>
            </a:r>
            <a:r>
              <a:rPr lang="en-US" b="1" dirty="0" err="1">
                <a:solidFill>
                  <a:srgbClr val="FF0000"/>
                </a:solidFill>
                <a:ea typeface="Maven Pro"/>
                <a:cs typeface="Maven Pro"/>
                <a:sym typeface="Maven Pro"/>
              </a:rPr>
              <a:t>chân</a:t>
            </a:r>
            <a:r>
              <a:rPr lang="en-US" b="1" dirty="0">
                <a:solidFill>
                  <a:srgbClr val="FF0000"/>
                </a:solidFill>
                <a:ea typeface="Maven Pro"/>
                <a:cs typeface="Maven Pro"/>
                <a:sym typeface="Maven Pro"/>
              </a:rPr>
              <a:t> </a:t>
            </a:r>
            <a:r>
              <a:rPr lang="en-US" b="1" dirty="0" err="1" smtClean="0">
                <a:solidFill>
                  <a:srgbClr val="FF0000"/>
                </a:solidFill>
                <a:ea typeface="Maven Pro"/>
                <a:cs typeface="Maven Pro"/>
                <a:sym typeface="Maven Pro"/>
              </a:rPr>
              <a:t>dài</a:t>
            </a:r>
            <a:endParaRPr lang="en-US" b="1" dirty="0" smtClean="0">
              <a:solidFill>
                <a:srgbClr val="FF0000"/>
              </a:solidFill>
              <a:ea typeface="Maven Pro"/>
              <a:cs typeface="Maven Pro"/>
              <a:sym typeface="Maven Pro"/>
            </a:endParaRPr>
          </a:p>
          <a:p>
            <a:pPr marL="101600" lvl="0">
              <a:lnSpc>
                <a:spcPct val="115000"/>
              </a:lnSpc>
              <a:spcBef>
                <a:spcPts val="1600"/>
              </a:spcBef>
              <a:buClr>
                <a:schemeClr val="dk1"/>
              </a:buClr>
              <a:buSzPts val="2000"/>
            </a:pPr>
            <a:r>
              <a:rPr lang="en-US" b="1" dirty="0" smtClean="0">
                <a:solidFill>
                  <a:schemeClr val="tx1"/>
                </a:solidFill>
                <a:ea typeface="Maven Pro"/>
                <a:cs typeface="Maven Pro"/>
                <a:sym typeface="Maven Pro"/>
              </a:rPr>
              <a:t>      I.2. </a:t>
            </a:r>
            <a:r>
              <a:rPr lang="vi-VN" b="1" dirty="0" smtClean="0">
                <a:solidFill>
                  <a:schemeClr val="tx1"/>
                </a:solidFill>
              </a:rPr>
              <a:t>Chiến </a:t>
            </a:r>
            <a:r>
              <a:rPr lang="vi-VN" b="1" dirty="0">
                <a:solidFill>
                  <a:schemeClr val="tx1"/>
                </a:solidFill>
              </a:rPr>
              <a:t>lược giao dịch theo chỉ số biến </a:t>
            </a:r>
            <a:r>
              <a:rPr lang="vi-VN" b="1" dirty="0" smtClean="0">
                <a:solidFill>
                  <a:schemeClr val="tx1"/>
                </a:solidFill>
              </a:rPr>
              <a:t>động</a:t>
            </a:r>
            <a:r>
              <a:rPr lang="en-US" b="1" dirty="0" smtClean="0">
                <a:solidFill>
                  <a:schemeClr val="tx1"/>
                </a:solidFill>
              </a:rPr>
              <a:t> (</a:t>
            </a:r>
            <a:r>
              <a:rPr lang="en-US" b="1" dirty="0" smtClean="0">
                <a:solidFill>
                  <a:srgbClr val="FF0000"/>
                </a:solidFill>
                <a:ea typeface="Maven Pro"/>
                <a:cs typeface="Maven Pro"/>
                <a:sym typeface="Maven Pro"/>
              </a:rPr>
              <a:t>Chiến </a:t>
            </a:r>
            <a:r>
              <a:rPr lang="en-US" b="1" dirty="0" err="1">
                <a:solidFill>
                  <a:srgbClr val="FF0000"/>
                </a:solidFill>
                <a:ea typeface="Maven Pro"/>
                <a:cs typeface="Maven Pro"/>
                <a:sym typeface="Maven Pro"/>
              </a:rPr>
              <a:t>lược</a:t>
            </a:r>
            <a:r>
              <a:rPr lang="en-US" b="1" dirty="0">
                <a:solidFill>
                  <a:srgbClr val="FF0000"/>
                </a:solidFill>
                <a:ea typeface="Maven Pro"/>
                <a:cs typeface="Maven Pro"/>
                <a:sym typeface="Maven Pro"/>
              </a:rPr>
              <a:t> SPY500 – </a:t>
            </a:r>
            <a:r>
              <a:rPr lang="en-US" b="1" dirty="0" smtClean="0">
                <a:solidFill>
                  <a:srgbClr val="FF0000"/>
                </a:solidFill>
                <a:ea typeface="Maven Pro"/>
                <a:cs typeface="Maven Pro"/>
                <a:sym typeface="Maven Pro"/>
              </a:rPr>
              <a:t>VIX</a:t>
            </a:r>
            <a:r>
              <a:rPr lang="en-US" b="1" dirty="0" smtClean="0">
                <a:solidFill>
                  <a:schemeClr val="tx1"/>
                </a:solidFill>
                <a:ea typeface="Maven Pro"/>
                <a:cs typeface="Maven Pro"/>
                <a:sym typeface="Maven Pro"/>
              </a:rPr>
              <a:t>)</a:t>
            </a:r>
          </a:p>
          <a:p>
            <a:pPr marL="101600">
              <a:lnSpc>
                <a:spcPct val="115000"/>
              </a:lnSpc>
              <a:spcBef>
                <a:spcPts val="1600"/>
              </a:spcBef>
              <a:buClr>
                <a:schemeClr val="dk1"/>
              </a:buClr>
              <a:buSzPts val="2000"/>
            </a:pPr>
            <a:r>
              <a:rPr lang="en-US" b="1" dirty="0">
                <a:solidFill>
                  <a:schemeClr val="tx1"/>
                </a:solidFill>
                <a:ea typeface="Maven Pro"/>
                <a:cs typeface="Maven Pro"/>
                <a:sym typeface="Maven Pro"/>
              </a:rPr>
              <a:t>      I.3. </a:t>
            </a:r>
            <a:r>
              <a:rPr lang="en-US" b="1" dirty="0" err="1">
                <a:solidFill>
                  <a:schemeClr val="tx1"/>
                </a:solidFill>
                <a:ea typeface="Maven Pro"/>
                <a:cs typeface="Maven Pro"/>
                <a:sym typeface="Maven Pro"/>
              </a:rPr>
              <a:t>Chiến</a:t>
            </a:r>
            <a:r>
              <a:rPr lang="en-US" b="1" dirty="0">
                <a:solidFill>
                  <a:schemeClr val="tx1"/>
                </a:solidFill>
                <a:ea typeface="Maven Pro"/>
                <a:cs typeface="Maven Pro"/>
                <a:sym typeface="Maven Pro"/>
              </a:rPr>
              <a:t> </a:t>
            </a:r>
            <a:r>
              <a:rPr lang="en-US" b="1" dirty="0" err="1">
                <a:solidFill>
                  <a:schemeClr val="tx1"/>
                </a:solidFill>
                <a:ea typeface="Maven Pro"/>
                <a:cs typeface="Maven Pro"/>
                <a:sym typeface="Maven Pro"/>
              </a:rPr>
              <a:t>lược</a:t>
            </a:r>
            <a:r>
              <a:rPr lang="en-US" b="1" dirty="0">
                <a:solidFill>
                  <a:schemeClr val="tx1"/>
                </a:solidFill>
                <a:ea typeface="Maven Pro"/>
                <a:cs typeface="Maven Pro"/>
                <a:sym typeface="Maven Pro"/>
              </a:rPr>
              <a:t> </a:t>
            </a:r>
            <a:r>
              <a:rPr lang="en-US" b="1" dirty="0" err="1">
                <a:solidFill>
                  <a:schemeClr val="tx1"/>
                </a:solidFill>
                <a:ea typeface="Maven Pro"/>
                <a:cs typeface="Maven Pro"/>
                <a:sym typeface="Maven Pro"/>
              </a:rPr>
              <a:t>của</a:t>
            </a:r>
            <a:r>
              <a:rPr lang="en-US" b="1" dirty="0">
                <a:solidFill>
                  <a:schemeClr val="tx1"/>
                </a:solidFill>
                <a:ea typeface="Maven Pro"/>
                <a:cs typeface="Maven Pro"/>
                <a:sym typeface="Maven Pro"/>
              </a:rPr>
              <a:t> 1 </a:t>
            </a:r>
            <a:r>
              <a:rPr lang="en-US" b="1" dirty="0" err="1">
                <a:solidFill>
                  <a:schemeClr val="tx1"/>
                </a:solidFill>
                <a:ea typeface="Maven Pro"/>
                <a:cs typeface="Maven Pro"/>
                <a:sym typeface="Maven Pro"/>
              </a:rPr>
              <a:t>học</a:t>
            </a:r>
            <a:r>
              <a:rPr lang="en-US" b="1" dirty="0">
                <a:solidFill>
                  <a:schemeClr val="tx1"/>
                </a:solidFill>
                <a:ea typeface="Maven Pro"/>
                <a:cs typeface="Maven Pro"/>
                <a:sym typeface="Maven Pro"/>
              </a:rPr>
              <a:t> </a:t>
            </a:r>
            <a:r>
              <a:rPr lang="en-US" b="1" dirty="0" err="1" smtClean="0">
                <a:solidFill>
                  <a:schemeClr val="tx1"/>
                </a:solidFill>
                <a:ea typeface="Maven Pro"/>
                <a:cs typeface="Maven Pro"/>
                <a:sym typeface="Maven Pro"/>
              </a:rPr>
              <a:t>viên</a:t>
            </a:r>
            <a:r>
              <a:rPr lang="en-US" b="1" dirty="0" smtClean="0">
                <a:solidFill>
                  <a:schemeClr val="tx1"/>
                </a:solidFill>
                <a:ea typeface="Maven Pro"/>
                <a:cs typeface="Maven Pro"/>
                <a:sym typeface="Maven Pro"/>
              </a:rPr>
              <a:t> </a:t>
            </a:r>
            <a:endParaRPr lang="en-US" b="1" dirty="0">
              <a:solidFill>
                <a:schemeClr val="tx1"/>
              </a:solidFill>
              <a:ea typeface="Maven Pro"/>
              <a:cs typeface="Maven Pro"/>
              <a:sym typeface="Maven Pro"/>
            </a:endParaRPr>
          </a:p>
          <a:p>
            <a:pPr marL="501650" lvl="0" indent="-400050">
              <a:lnSpc>
                <a:spcPct val="115000"/>
              </a:lnSpc>
              <a:spcBef>
                <a:spcPts val="1600"/>
              </a:spcBef>
              <a:buClr>
                <a:schemeClr val="dk1"/>
              </a:buClr>
              <a:buSzPts val="2000"/>
              <a:buFont typeface="+mj-lt"/>
              <a:buAutoNum type="romanUcPeriod" startAt="2"/>
            </a:pPr>
            <a:r>
              <a:rPr lang="en-US" b="1" u="sng" dirty="0" err="1" smtClean="0">
                <a:solidFill>
                  <a:schemeClr val="dk1"/>
                </a:solidFill>
                <a:latin typeface="+mn-lt"/>
                <a:ea typeface="Maven Pro"/>
                <a:cs typeface="Maven Pro"/>
                <a:sym typeface="Maven Pro"/>
              </a:rPr>
              <a:t>Vào</a:t>
            </a:r>
            <a:r>
              <a:rPr lang="en-US" b="1" u="sng" dirty="0" smtClean="0">
                <a:solidFill>
                  <a:schemeClr val="dk1"/>
                </a:solidFill>
                <a:latin typeface="+mn-lt"/>
                <a:ea typeface="Maven Pro"/>
                <a:cs typeface="Maven Pro"/>
                <a:sym typeface="Maven Pro"/>
              </a:rPr>
              <a:t> </a:t>
            </a:r>
            <a:r>
              <a:rPr lang="en-US" b="1" u="sng" dirty="0" err="1" smtClean="0">
                <a:solidFill>
                  <a:schemeClr val="dk1"/>
                </a:solidFill>
                <a:latin typeface="+mn-lt"/>
                <a:ea typeface="Maven Pro"/>
                <a:cs typeface="Maven Pro"/>
                <a:sym typeface="Maven Pro"/>
              </a:rPr>
              <a:t>lệnh</a:t>
            </a:r>
            <a:r>
              <a:rPr lang="en-US" b="1" u="sng" dirty="0" smtClean="0">
                <a:solidFill>
                  <a:schemeClr val="dk1"/>
                </a:solidFill>
                <a:latin typeface="+mn-lt"/>
                <a:ea typeface="Maven Pro"/>
                <a:cs typeface="Maven Pro"/>
                <a:sym typeface="Maven Pro"/>
              </a:rPr>
              <a:t> </a:t>
            </a:r>
            <a:r>
              <a:rPr lang="en-US" b="1" u="sng" dirty="0" err="1" smtClean="0">
                <a:solidFill>
                  <a:schemeClr val="dk1"/>
                </a:solidFill>
                <a:latin typeface="+mn-lt"/>
                <a:ea typeface="Maven Pro"/>
                <a:cs typeface="Maven Pro"/>
                <a:sym typeface="Maven Pro"/>
              </a:rPr>
              <a:t>bằng</a:t>
            </a:r>
            <a:r>
              <a:rPr lang="en-US" b="1" u="sng" dirty="0" smtClean="0">
                <a:solidFill>
                  <a:schemeClr val="dk1"/>
                </a:solidFill>
                <a:latin typeface="+mn-lt"/>
                <a:ea typeface="Maven Pro"/>
                <a:cs typeface="Maven Pro"/>
                <a:sym typeface="Maven Pro"/>
              </a:rPr>
              <a:t> </a:t>
            </a:r>
            <a:r>
              <a:rPr lang="en-US" b="1" u="sng" dirty="0" smtClean="0">
                <a:solidFill>
                  <a:srgbClr val="FF0000"/>
                </a:solidFill>
                <a:latin typeface="+mn-lt"/>
                <a:ea typeface="Maven Pro"/>
                <a:cs typeface="Maven Pro"/>
                <a:sym typeface="Maven Pro"/>
              </a:rPr>
              <a:t>manual</a:t>
            </a:r>
          </a:p>
          <a:p>
            <a:pPr marL="101600" lvl="0">
              <a:lnSpc>
                <a:spcPct val="115000"/>
              </a:lnSpc>
              <a:spcBef>
                <a:spcPts val="1600"/>
              </a:spcBef>
              <a:buClr>
                <a:schemeClr val="dk1"/>
              </a:buClr>
              <a:buSzPts val="2000"/>
            </a:pPr>
            <a:r>
              <a:rPr lang="en-US" b="1" dirty="0" smtClean="0">
                <a:solidFill>
                  <a:schemeClr val="dk1"/>
                </a:solidFill>
                <a:latin typeface="+mn-lt"/>
                <a:ea typeface="Maven Pro"/>
                <a:cs typeface="Maven Pro"/>
                <a:sym typeface="Maven Pro"/>
              </a:rPr>
              <a:t>      </a:t>
            </a:r>
            <a:r>
              <a:rPr lang="en-US" b="1" dirty="0" smtClean="0">
                <a:solidFill>
                  <a:schemeClr val="dk1"/>
                </a:solidFill>
                <a:ea typeface="Maven Pro"/>
                <a:cs typeface="Maven Pro"/>
                <a:sym typeface="Maven Pro"/>
              </a:rPr>
              <a:t>II.1</a:t>
            </a:r>
            <a:r>
              <a:rPr lang="en-US" b="1" dirty="0">
                <a:solidFill>
                  <a:schemeClr val="dk1"/>
                </a:solidFill>
                <a:ea typeface="Maven Pro"/>
                <a:cs typeface="Maven Pro"/>
                <a:sym typeface="Maven Pro"/>
              </a:rPr>
              <a:t>. </a:t>
            </a:r>
            <a:r>
              <a:rPr lang="vi-VN" b="1" dirty="0">
                <a:solidFill>
                  <a:schemeClr val="dk1"/>
                </a:solidFill>
                <a:ea typeface="Maven Pro"/>
                <a:cs typeface="Maven Pro"/>
                <a:sym typeface="Maven Pro"/>
              </a:rPr>
              <a:t>Vào lệnh bằng </a:t>
            </a:r>
            <a:r>
              <a:rPr lang="vi-VN" b="1" dirty="0" smtClean="0">
                <a:solidFill>
                  <a:schemeClr val="dk1"/>
                </a:solidFill>
                <a:ea typeface="Maven Pro"/>
                <a:cs typeface="Maven Pro"/>
                <a:sym typeface="Maven Pro"/>
              </a:rPr>
              <a:t>SSI</a:t>
            </a:r>
            <a:endParaRPr lang="vi-VN" b="1" dirty="0">
              <a:solidFill>
                <a:schemeClr val="dk1"/>
              </a:solidFill>
              <a:ea typeface="Maven Pro"/>
              <a:cs typeface="Maven Pro"/>
              <a:sym typeface="Maven Pro"/>
            </a:endParaRPr>
          </a:p>
          <a:p>
            <a:pPr marL="101600" lvl="0">
              <a:lnSpc>
                <a:spcPct val="115000"/>
              </a:lnSpc>
              <a:spcBef>
                <a:spcPts val="1600"/>
              </a:spcBef>
              <a:buClr>
                <a:schemeClr val="dk1"/>
              </a:buClr>
              <a:buSzPts val="2000"/>
            </a:pPr>
            <a:r>
              <a:rPr lang="en-US" b="1" dirty="0">
                <a:solidFill>
                  <a:schemeClr val="dk1"/>
                </a:solidFill>
                <a:ea typeface="Maven Pro"/>
                <a:cs typeface="Maven Pro"/>
                <a:sym typeface="Maven Pro"/>
              </a:rPr>
              <a:t>      </a:t>
            </a:r>
            <a:r>
              <a:rPr lang="en-US" b="1" dirty="0" smtClean="0">
                <a:solidFill>
                  <a:schemeClr val="dk1"/>
                </a:solidFill>
                <a:ea typeface="Maven Pro"/>
                <a:cs typeface="Maven Pro"/>
                <a:sym typeface="Maven Pro"/>
              </a:rPr>
              <a:t>II.2</a:t>
            </a:r>
            <a:r>
              <a:rPr lang="en-US" b="1" dirty="0">
                <a:solidFill>
                  <a:schemeClr val="dk1"/>
                </a:solidFill>
                <a:ea typeface="Maven Pro"/>
                <a:cs typeface="Maven Pro"/>
                <a:sym typeface="Maven Pro"/>
              </a:rPr>
              <a:t>. </a:t>
            </a:r>
            <a:r>
              <a:rPr lang="vi-VN" b="1" dirty="0">
                <a:solidFill>
                  <a:schemeClr val="dk1"/>
                </a:solidFill>
                <a:ea typeface="Maven Pro"/>
                <a:cs typeface="Maven Pro"/>
                <a:sym typeface="Maven Pro"/>
              </a:rPr>
              <a:t>Vào lệnh bằng </a:t>
            </a:r>
            <a:r>
              <a:rPr lang="vi-VN" b="1" dirty="0" smtClean="0">
                <a:solidFill>
                  <a:srgbClr val="FF0000"/>
                </a:solidFill>
                <a:ea typeface="Maven Pro"/>
                <a:cs typeface="Maven Pro"/>
                <a:sym typeface="Maven Pro"/>
              </a:rPr>
              <a:t>Binance</a:t>
            </a:r>
            <a:endParaRPr lang="vi-VN" b="1" dirty="0">
              <a:solidFill>
                <a:srgbClr val="FF0000"/>
              </a:solidFill>
              <a:ea typeface="Maven Pro"/>
              <a:cs typeface="Maven Pro"/>
              <a:sym typeface="Maven Pro"/>
            </a:endParaRPr>
          </a:p>
          <a:p>
            <a:pPr marL="101600" lvl="0">
              <a:lnSpc>
                <a:spcPct val="115000"/>
              </a:lnSpc>
              <a:spcBef>
                <a:spcPts val="1600"/>
              </a:spcBef>
              <a:buClr>
                <a:schemeClr val="dk1"/>
              </a:buClr>
              <a:buSzPts val="2000"/>
            </a:pPr>
            <a:r>
              <a:rPr lang="en-US" b="1" dirty="0">
                <a:solidFill>
                  <a:schemeClr val="dk1"/>
                </a:solidFill>
                <a:ea typeface="Maven Pro"/>
                <a:cs typeface="Maven Pro"/>
                <a:sym typeface="Maven Pro"/>
              </a:rPr>
              <a:t>      </a:t>
            </a:r>
            <a:r>
              <a:rPr lang="en-US" b="1" dirty="0" smtClean="0">
                <a:solidFill>
                  <a:schemeClr val="dk1"/>
                </a:solidFill>
                <a:ea typeface="Maven Pro"/>
                <a:cs typeface="Maven Pro"/>
                <a:sym typeface="Maven Pro"/>
              </a:rPr>
              <a:t>II.3</a:t>
            </a:r>
            <a:r>
              <a:rPr lang="en-US" b="1" dirty="0">
                <a:solidFill>
                  <a:schemeClr val="dk1"/>
                </a:solidFill>
                <a:ea typeface="Maven Pro"/>
                <a:cs typeface="Maven Pro"/>
                <a:sym typeface="Maven Pro"/>
              </a:rPr>
              <a:t>. </a:t>
            </a:r>
            <a:r>
              <a:rPr lang="vi-VN" b="1" dirty="0">
                <a:solidFill>
                  <a:schemeClr val="dk1"/>
                </a:solidFill>
                <a:ea typeface="Maven Pro"/>
                <a:cs typeface="Maven Pro"/>
                <a:sym typeface="Maven Pro"/>
              </a:rPr>
              <a:t>Vào lệnh </a:t>
            </a:r>
            <a:r>
              <a:rPr lang="vi-VN" b="1" dirty="0" smtClean="0">
                <a:solidFill>
                  <a:schemeClr val="dk1"/>
                </a:solidFill>
                <a:ea typeface="Maven Pro"/>
                <a:cs typeface="Maven Pro"/>
                <a:sym typeface="Maven Pro"/>
              </a:rPr>
              <a:t>bằng</a:t>
            </a:r>
            <a:r>
              <a:rPr lang="en-US" b="1" dirty="0" smtClean="0">
                <a:solidFill>
                  <a:schemeClr val="dk1"/>
                </a:solidFill>
                <a:ea typeface="Maven Pro"/>
                <a:cs typeface="Maven Pro"/>
                <a:sym typeface="Maven Pro"/>
              </a:rPr>
              <a:t> Forex</a:t>
            </a:r>
            <a:r>
              <a:rPr lang="vi-VN" b="1" dirty="0" smtClean="0">
                <a:solidFill>
                  <a:schemeClr val="dk1"/>
                </a:solidFill>
                <a:ea typeface="Maven Pro"/>
                <a:cs typeface="Maven Pro"/>
                <a:sym typeface="Maven Pro"/>
              </a:rPr>
              <a:t> </a:t>
            </a:r>
            <a:r>
              <a:rPr lang="vi-VN" b="1" dirty="0" smtClean="0">
                <a:solidFill>
                  <a:srgbClr val="FF0000"/>
                </a:solidFill>
                <a:ea typeface="Maven Pro"/>
                <a:cs typeface="Maven Pro"/>
                <a:sym typeface="Maven Pro"/>
              </a:rPr>
              <a:t>MT5</a:t>
            </a:r>
            <a:endParaRPr lang="en-US" b="1" dirty="0" smtClean="0">
              <a:solidFill>
                <a:srgbClr val="FF0000"/>
              </a:solidFill>
              <a:latin typeface="+mn-lt"/>
              <a:ea typeface="Maven Pro"/>
              <a:cs typeface="Maven Pro"/>
              <a:sym typeface="Maven Pro"/>
            </a:endParaRPr>
          </a:p>
          <a:p>
            <a:pPr marL="501650" indent="-400050">
              <a:lnSpc>
                <a:spcPct val="115000"/>
              </a:lnSpc>
              <a:spcBef>
                <a:spcPts val="1600"/>
              </a:spcBef>
              <a:buClr>
                <a:schemeClr val="dk1"/>
              </a:buClr>
              <a:buSzPts val="2000"/>
              <a:buFont typeface="+mj-lt"/>
              <a:buAutoNum type="romanUcPeriod" startAt="3"/>
            </a:pPr>
            <a:r>
              <a:rPr lang="en-US" b="1" u="sng" dirty="0" err="1" smtClean="0">
                <a:solidFill>
                  <a:schemeClr val="dk1"/>
                </a:solidFill>
                <a:latin typeface="+mn-lt"/>
                <a:ea typeface="Maven Pro"/>
                <a:cs typeface="Maven Pro"/>
                <a:sym typeface="Maven Pro"/>
              </a:rPr>
              <a:t>Vào</a:t>
            </a:r>
            <a:r>
              <a:rPr lang="en-US" b="1" u="sng" dirty="0" smtClean="0">
                <a:solidFill>
                  <a:schemeClr val="dk1"/>
                </a:solidFill>
                <a:latin typeface="+mn-lt"/>
                <a:ea typeface="Maven Pro"/>
                <a:cs typeface="Maven Pro"/>
                <a:sym typeface="Maven Pro"/>
              </a:rPr>
              <a:t> </a:t>
            </a:r>
            <a:r>
              <a:rPr lang="en-US" b="1" u="sng" dirty="0" err="1">
                <a:solidFill>
                  <a:schemeClr val="dk1"/>
                </a:solidFill>
                <a:latin typeface="+mn-lt"/>
                <a:ea typeface="Maven Pro"/>
                <a:cs typeface="Maven Pro"/>
                <a:sym typeface="Maven Pro"/>
              </a:rPr>
              <a:t>lệnh</a:t>
            </a:r>
            <a:r>
              <a:rPr lang="en-US" b="1" u="sng" dirty="0">
                <a:solidFill>
                  <a:schemeClr val="dk1"/>
                </a:solidFill>
                <a:latin typeface="+mn-lt"/>
                <a:ea typeface="Maven Pro"/>
                <a:cs typeface="Maven Pro"/>
                <a:sym typeface="Maven Pro"/>
              </a:rPr>
              <a:t> </a:t>
            </a:r>
            <a:r>
              <a:rPr lang="en-US" b="1" u="sng" dirty="0" err="1">
                <a:solidFill>
                  <a:schemeClr val="dk1"/>
                </a:solidFill>
                <a:latin typeface="+mn-lt"/>
                <a:ea typeface="Maven Pro"/>
                <a:cs typeface="Maven Pro"/>
                <a:sym typeface="Maven Pro"/>
              </a:rPr>
              <a:t>bằng</a:t>
            </a:r>
            <a:r>
              <a:rPr lang="en-US" b="1" u="sng" dirty="0">
                <a:solidFill>
                  <a:schemeClr val="dk1"/>
                </a:solidFill>
                <a:latin typeface="+mn-lt"/>
                <a:ea typeface="Maven Pro"/>
                <a:cs typeface="Maven Pro"/>
                <a:sym typeface="Maven Pro"/>
              </a:rPr>
              <a:t> </a:t>
            </a:r>
            <a:r>
              <a:rPr lang="en-US" b="1" u="sng" dirty="0">
                <a:solidFill>
                  <a:srgbClr val="FF0000"/>
                </a:solidFill>
                <a:latin typeface="+mn-lt"/>
                <a:ea typeface="Maven Pro"/>
                <a:cs typeface="Maven Pro"/>
                <a:sym typeface="Maven Pro"/>
              </a:rPr>
              <a:t>API</a:t>
            </a:r>
          </a:p>
          <a:p>
            <a:pPr marL="101600" lvl="0">
              <a:lnSpc>
                <a:spcPct val="115000"/>
              </a:lnSpc>
              <a:spcBef>
                <a:spcPts val="1600"/>
              </a:spcBef>
              <a:buClr>
                <a:schemeClr val="dk1"/>
              </a:buClr>
              <a:buSzPts val="2000"/>
            </a:pPr>
            <a:r>
              <a:rPr lang="en-US" b="1" dirty="0" smtClean="0">
                <a:solidFill>
                  <a:schemeClr val="dk1"/>
                </a:solidFill>
                <a:latin typeface="+mn-lt"/>
                <a:ea typeface="Maven Pro"/>
                <a:cs typeface="Maven Pro"/>
                <a:sym typeface="Maven Pro"/>
              </a:rPr>
              <a:t>      III.1. </a:t>
            </a:r>
            <a:r>
              <a:rPr lang="vi-VN" b="1" dirty="0" smtClean="0">
                <a:solidFill>
                  <a:schemeClr val="dk1"/>
                </a:solidFill>
                <a:latin typeface="+mn-lt"/>
                <a:ea typeface="Maven Pro"/>
                <a:cs typeface="Maven Pro"/>
                <a:sym typeface="Maven Pro"/>
              </a:rPr>
              <a:t>Vào </a:t>
            </a:r>
            <a:r>
              <a:rPr lang="vi-VN" b="1" dirty="0">
                <a:solidFill>
                  <a:schemeClr val="dk1"/>
                </a:solidFill>
                <a:latin typeface="+mn-lt"/>
                <a:ea typeface="Maven Pro"/>
                <a:cs typeface="Maven Pro"/>
                <a:sym typeface="Maven Pro"/>
              </a:rPr>
              <a:t>lệnh bằng API SSI</a:t>
            </a:r>
          </a:p>
          <a:p>
            <a:pPr marL="101600" lvl="0">
              <a:lnSpc>
                <a:spcPct val="115000"/>
              </a:lnSpc>
              <a:spcBef>
                <a:spcPts val="1600"/>
              </a:spcBef>
              <a:buClr>
                <a:schemeClr val="dk1"/>
              </a:buClr>
              <a:buSzPts val="2000"/>
            </a:pPr>
            <a:r>
              <a:rPr lang="en-US" b="1" dirty="0" smtClean="0">
                <a:solidFill>
                  <a:schemeClr val="dk1"/>
                </a:solidFill>
                <a:latin typeface="+mn-lt"/>
                <a:ea typeface="Maven Pro"/>
                <a:cs typeface="Maven Pro"/>
                <a:sym typeface="Maven Pro"/>
              </a:rPr>
              <a:t>      III.2. </a:t>
            </a:r>
            <a:r>
              <a:rPr lang="vi-VN" b="1" dirty="0" smtClean="0">
                <a:solidFill>
                  <a:schemeClr val="dk1"/>
                </a:solidFill>
                <a:latin typeface="+mn-lt"/>
                <a:ea typeface="Maven Pro"/>
                <a:cs typeface="Maven Pro"/>
                <a:sym typeface="Maven Pro"/>
              </a:rPr>
              <a:t>Vào </a:t>
            </a:r>
            <a:r>
              <a:rPr lang="vi-VN" b="1" dirty="0">
                <a:solidFill>
                  <a:schemeClr val="dk1"/>
                </a:solidFill>
                <a:latin typeface="+mn-lt"/>
                <a:ea typeface="Maven Pro"/>
                <a:cs typeface="Maven Pro"/>
                <a:sym typeface="Maven Pro"/>
              </a:rPr>
              <a:t>lệnh bằng </a:t>
            </a:r>
            <a:r>
              <a:rPr lang="vi-VN" b="1" dirty="0">
                <a:solidFill>
                  <a:srgbClr val="FF0000"/>
                </a:solidFill>
                <a:latin typeface="+mn-lt"/>
                <a:ea typeface="Maven Pro"/>
                <a:cs typeface="Maven Pro"/>
                <a:sym typeface="Maven Pro"/>
              </a:rPr>
              <a:t>API Binance</a:t>
            </a:r>
          </a:p>
          <a:p>
            <a:pPr marL="101600" lvl="0">
              <a:lnSpc>
                <a:spcPct val="115000"/>
              </a:lnSpc>
              <a:spcBef>
                <a:spcPts val="1600"/>
              </a:spcBef>
              <a:buClr>
                <a:schemeClr val="dk1"/>
              </a:buClr>
              <a:buSzPts val="2000"/>
            </a:pPr>
            <a:r>
              <a:rPr lang="en-US" b="1" dirty="0" smtClean="0">
                <a:solidFill>
                  <a:schemeClr val="dk1"/>
                </a:solidFill>
                <a:latin typeface="+mn-lt"/>
                <a:ea typeface="Maven Pro"/>
                <a:cs typeface="Maven Pro"/>
                <a:sym typeface="Maven Pro"/>
              </a:rPr>
              <a:t>      III.3. </a:t>
            </a:r>
            <a:r>
              <a:rPr lang="vi-VN" b="1" dirty="0" smtClean="0">
                <a:solidFill>
                  <a:schemeClr val="dk1"/>
                </a:solidFill>
                <a:latin typeface="+mn-lt"/>
                <a:ea typeface="Maven Pro"/>
                <a:cs typeface="Maven Pro"/>
                <a:sym typeface="Maven Pro"/>
              </a:rPr>
              <a:t>Vào </a:t>
            </a:r>
            <a:r>
              <a:rPr lang="vi-VN" b="1" dirty="0">
                <a:solidFill>
                  <a:schemeClr val="dk1"/>
                </a:solidFill>
                <a:latin typeface="+mn-lt"/>
                <a:ea typeface="Maven Pro"/>
                <a:cs typeface="Maven Pro"/>
                <a:sym typeface="Maven Pro"/>
              </a:rPr>
              <a:t>lệnh bằng </a:t>
            </a:r>
            <a:r>
              <a:rPr lang="vi-VN" b="1" dirty="0">
                <a:solidFill>
                  <a:srgbClr val="FF0000"/>
                </a:solidFill>
                <a:latin typeface="+mn-lt"/>
                <a:ea typeface="Maven Pro"/>
                <a:cs typeface="Maven Pro"/>
                <a:sym typeface="Maven Pro"/>
              </a:rPr>
              <a:t>API MT5</a:t>
            </a:r>
            <a:endParaRPr lang="en-US" b="1" dirty="0">
              <a:solidFill>
                <a:srgbClr val="FF0000"/>
              </a:solidFill>
              <a:latin typeface="+mn-lt"/>
              <a:ea typeface="Maven Pro"/>
              <a:cs typeface="Maven Pro"/>
              <a:sym typeface="Maven Pro"/>
            </a:endParaRPr>
          </a:p>
          <a:p>
            <a:pPr marL="101600" lvl="0">
              <a:lnSpc>
                <a:spcPct val="115000"/>
              </a:lnSpc>
              <a:spcBef>
                <a:spcPts val="1600"/>
              </a:spcBef>
              <a:buClr>
                <a:schemeClr val="dk1"/>
              </a:buClr>
              <a:buSzPts val="2000"/>
            </a:pPr>
            <a:endParaRPr b="1" dirty="0">
              <a:solidFill>
                <a:schemeClr val="dk1"/>
              </a:solidFill>
              <a:latin typeface="+mn-lt"/>
              <a:ea typeface="Maven Pro"/>
              <a:cs typeface="Maven Pro"/>
              <a:sym typeface="Maven Pro"/>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9"/>
        <p:cNvGrpSpPr/>
        <p:nvPr/>
      </p:nvGrpSpPr>
      <p:grpSpPr>
        <a:xfrm>
          <a:off x="0" y="0"/>
          <a:ext cx="0" cy="0"/>
          <a:chOff x="0" y="0"/>
          <a:chExt cx="0" cy="0"/>
        </a:xfrm>
      </p:grpSpPr>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101600" lvl="0">
              <a:lnSpc>
                <a:spcPct val="115000"/>
              </a:lnSpc>
              <a:spcBef>
                <a:spcPts val="1600"/>
              </a:spcBef>
              <a:buClr>
                <a:schemeClr val="dk1"/>
              </a:buClr>
              <a:buSzPts val="2000"/>
            </a:pPr>
            <a:r>
              <a:rPr lang="en-US" sz="1600" b="1" dirty="0" smtClean="0">
                <a:solidFill>
                  <a:schemeClr val="dk1"/>
                </a:solidFill>
                <a:latin typeface="+mn-lt"/>
                <a:ea typeface="Maven Pro"/>
                <a:cs typeface="Maven Pro"/>
                <a:sym typeface="Maven Pro"/>
              </a:rPr>
              <a:t>      </a:t>
            </a:r>
            <a:endParaRPr sz="1600" b="1" dirty="0">
              <a:solidFill>
                <a:schemeClr val="dk1"/>
              </a:solidFill>
              <a:latin typeface="+mn-lt"/>
              <a:ea typeface="Maven Pro"/>
              <a:cs typeface="Maven Pro"/>
              <a:sym typeface="Maven Pro"/>
            </a:endParaRPr>
          </a:p>
        </p:txBody>
      </p:sp>
      <p:sp>
        <p:nvSpPr>
          <p:cNvPr id="5" name="Google Shape;100;p3"/>
          <p:cNvSpPr txBox="1"/>
          <p:nvPr/>
        </p:nvSpPr>
        <p:spPr>
          <a:xfrm>
            <a:off x="424875" y="3248709"/>
            <a:ext cx="6865800" cy="830956"/>
          </a:xfrm>
          <a:prstGeom prst="rect">
            <a:avLst/>
          </a:prstGeom>
          <a:noFill/>
          <a:ln>
            <a:noFill/>
          </a:ln>
        </p:spPr>
        <p:txBody>
          <a:bodyPr spcFirstLastPara="1" wrap="square" lIns="91425" tIns="45700" rIns="91425" bIns="45700" anchor="t" anchorCtr="0">
            <a:spAutoFit/>
          </a:bodyPr>
          <a:lstStyle/>
          <a:p>
            <a:pPr>
              <a:buSzPts val="2000"/>
            </a:pPr>
            <a:r>
              <a:rPr lang="en-US" sz="2400" b="1" dirty="0" smtClean="0">
                <a:solidFill>
                  <a:schemeClr val="tx1"/>
                </a:solidFill>
              </a:rPr>
              <a:t>I</a:t>
            </a:r>
            <a:r>
              <a:rPr lang="en-US" sz="2400" dirty="0" smtClean="0">
                <a:solidFill>
                  <a:schemeClr val="tx1"/>
                </a:solidFill>
              </a:rPr>
              <a:t>. </a:t>
            </a:r>
            <a:r>
              <a:rPr lang="en-US" sz="2400" b="1" dirty="0" smtClean="0">
                <a:solidFill>
                  <a:schemeClr val="tx1"/>
                </a:solidFill>
                <a:ea typeface="Maven Pro"/>
                <a:cs typeface="Maven Pro"/>
                <a:sym typeface="Maven Pro"/>
              </a:rPr>
              <a:t>Chiến </a:t>
            </a:r>
            <a:r>
              <a:rPr lang="en-US" sz="2400" b="1" dirty="0" err="1">
                <a:solidFill>
                  <a:schemeClr val="tx1"/>
                </a:solidFill>
                <a:ea typeface="Maven Pro"/>
                <a:cs typeface="Maven Pro"/>
                <a:sym typeface="Maven Pro"/>
              </a:rPr>
              <a:t>lược</a:t>
            </a:r>
            <a:r>
              <a:rPr lang="en-US" sz="2400" b="1" dirty="0">
                <a:solidFill>
                  <a:schemeClr val="tx1"/>
                </a:solidFill>
                <a:ea typeface="Maven Pro"/>
                <a:cs typeface="Maven Pro"/>
                <a:sym typeface="Maven Pro"/>
              </a:rPr>
              <a:t> </a:t>
            </a:r>
            <a:r>
              <a:rPr lang="en-US" sz="2400" b="1" dirty="0" err="1">
                <a:solidFill>
                  <a:schemeClr val="tx1"/>
                </a:solidFill>
                <a:ea typeface="Maven Pro"/>
                <a:cs typeface="Maven Pro"/>
                <a:sym typeface="Maven Pro"/>
              </a:rPr>
              <a:t>để</a:t>
            </a:r>
            <a:r>
              <a:rPr lang="en-US" sz="2400" b="1" dirty="0">
                <a:solidFill>
                  <a:schemeClr val="tx1"/>
                </a:solidFill>
                <a:ea typeface="Maven Pro"/>
                <a:cs typeface="Maven Pro"/>
                <a:sym typeface="Maven Pro"/>
              </a:rPr>
              <a:t> </a:t>
            </a:r>
            <a:r>
              <a:rPr lang="en-US" sz="2400" b="1" dirty="0" err="1">
                <a:solidFill>
                  <a:schemeClr val="tx1"/>
                </a:solidFill>
                <a:ea typeface="Maven Pro"/>
                <a:cs typeface="Maven Pro"/>
                <a:sym typeface="Maven Pro"/>
              </a:rPr>
              <a:t>vào</a:t>
            </a:r>
            <a:r>
              <a:rPr lang="en-US" sz="2400" b="1" dirty="0">
                <a:solidFill>
                  <a:schemeClr val="tx1"/>
                </a:solidFill>
                <a:ea typeface="Maven Pro"/>
                <a:cs typeface="Maven Pro"/>
                <a:sym typeface="Maven Pro"/>
              </a:rPr>
              <a:t> </a:t>
            </a:r>
            <a:r>
              <a:rPr lang="en-US" sz="2400" b="1" dirty="0" err="1">
                <a:solidFill>
                  <a:schemeClr val="tx1"/>
                </a:solidFill>
                <a:ea typeface="Maven Pro"/>
                <a:cs typeface="Maven Pro"/>
                <a:sym typeface="Maven Pro"/>
              </a:rPr>
              <a:t>lệnh</a:t>
            </a:r>
            <a:endParaRPr lang="en-US" sz="2400" b="1" dirty="0">
              <a:solidFill>
                <a:schemeClr val="tx1"/>
              </a:solidFill>
              <a:ea typeface="Maven Pro"/>
              <a:cs typeface="Maven Pro"/>
              <a:sym typeface="Maven Pro"/>
            </a:endParaRPr>
          </a:p>
          <a:p>
            <a:pPr marL="0" marR="0" lvl="0" indent="0" algn="l" rtl="0">
              <a:lnSpc>
                <a:spcPct val="100000"/>
              </a:lnSpc>
              <a:spcBef>
                <a:spcPts val="0"/>
              </a:spcBef>
              <a:spcAft>
                <a:spcPts val="0"/>
              </a:spcAft>
              <a:buClr>
                <a:srgbClr val="000000"/>
              </a:buClr>
              <a:buSzPts val="2000"/>
              <a:buFont typeface="Arial"/>
              <a:buNone/>
            </a:pPr>
            <a:endParaRPr sz="2400" b="0" i="0" u="none" strike="noStrike" cap="none" dirty="0">
              <a:solidFill>
                <a:schemeClr val="tx1"/>
              </a:solidFill>
              <a:latin typeface="Arial"/>
              <a:ea typeface="Arial"/>
              <a:cs typeface="Arial"/>
              <a:sym typeface="Arial"/>
            </a:endParaRPr>
          </a:p>
        </p:txBody>
      </p:sp>
    </p:spTree>
    <p:extLst>
      <p:ext uri="{BB962C8B-B14F-4D97-AF65-F5344CB8AC3E}">
        <p14:creationId xmlns:p14="http://schemas.microsoft.com/office/powerpoint/2010/main" val="383997599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830956"/>
          </a:xfrm>
          <a:prstGeom prst="rect">
            <a:avLst/>
          </a:prstGeom>
          <a:noFill/>
          <a:ln>
            <a:noFill/>
          </a:ln>
        </p:spPr>
        <p:txBody>
          <a:bodyPr spcFirstLastPara="1" wrap="square" lIns="91425" tIns="45700" rIns="91425" bIns="45700" anchor="t" anchorCtr="0">
            <a:spAutoFit/>
          </a:bodyPr>
          <a:lstStyle/>
          <a:p>
            <a:pPr>
              <a:buSzPts val="2000"/>
            </a:pPr>
            <a:r>
              <a:rPr lang="en-US" sz="2400" b="1" dirty="0" smtClean="0">
                <a:solidFill>
                  <a:schemeClr val="bg1"/>
                </a:solidFill>
              </a:rPr>
              <a:t>I</a:t>
            </a:r>
            <a:r>
              <a:rPr lang="en-US" sz="2400" dirty="0" smtClean="0">
                <a:solidFill>
                  <a:schemeClr val="bg1"/>
                </a:solidFill>
              </a:rPr>
              <a:t>. </a:t>
            </a:r>
            <a:r>
              <a:rPr lang="en-US" sz="2400" b="1" dirty="0" smtClean="0">
                <a:solidFill>
                  <a:schemeClr val="bg1"/>
                </a:solidFill>
                <a:ea typeface="Maven Pro"/>
                <a:cs typeface="Maven Pro"/>
                <a:sym typeface="Maven Pro"/>
              </a:rPr>
              <a:t>Chiến </a:t>
            </a:r>
            <a:r>
              <a:rPr lang="en-US" sz="2400" b="1" dirty="0" err="1">
                <a:solidFill>
                  <a:schemeClr val="bg1"/>
                </a:solidFill>
                <a:ea typeface="Maven Pro"/>
                <a:cs typeface="Maven Pro"/>
                <a:sym typeface="Maven Pro"/>
              </a:rPr>
              <a:t>lược</a:t>
            </a:r>
            <a:r>
              <a:rPr lang="en-US" sz="2400" b="1" dirty="0">
                <a:solidFill>
                  <a:schemeClr val="bg1"/>
                </a:solidFill>
                <a:ea typeface="Maven Pro"/>
                <a:cs typeface="Maven Pro"/>
                <a:sym typeface="Maven Pro"/>
              </a:rPr>
              <a:t> </a:t>
            </a:r>
            <a:r>
              <a:rPr lang="en-US" sz="2400" b="1" dirty="0" err="1">
                <a:solidFill>
                  <a:schemeClr val="bg1"/>
                </a:solidFill>
                <a:ea typeface="Maven Pro"/>
                <a:cs typeface="Maven Pro"/>
                <a:sym typeface="Maven Pro"/>
              </a:rPr>
              <a:t>để</a:t>
            </a:r>
            <a:r>
              <a:rPr lang="en-US" sz="2400" b="1" dirty="0">
                <a:solidFill>
                  <a:schemeClr val="bg1"/>
                </a:solidFill>
                <a:ea typeface="Maven Pro"/>
                <a:cs typeface="Maven Pro"/>
                <a:sym typeface="Maven Pro"/>
              </a:rPr>
              <a:t> </a:t>
            </a:r>
            <a:r>
              <a:rPr lang="en-US" sz="2400" b="1" dirty="0" err="1">
                <a:solidFill>
                  <a:schemeClr val="bg1"/>
                </a:solidFill>
                <a:ea typeface="Maven Pro"/>
                <a:cs typeface="Maven Pro"/>
                <a:sym typeface="Maven Pro"/>
              </a:rPr>
              <a:t>vào</a:t>
            </a:r>
            <a:r>
              <a:rPr lang="en-US" sz="2400" b="1" dirty="0">
                <a:solidFill>
                  <a:schemeClr val="bg1"/>
                </a:solidFill>
                <a:ea typeface="Maven Pro"/>
                <a:cs typeface="Maven Pro"/>
                <a:sym typeface="Maven Pro"/>
              </a:rPr>
              <a:t> </a:t>
            </a:r>
            <a:r>
              <a:rPr lang="en-US" sz="2400" b="1" dirty="0" err="1">
                <a:solidFill>
                  <a:schemeClr val="bg1"/>
                </a:solidFill>
                <a:ea typeface="Maven Pro"/>
                <a:cs typeface="Maven Pro"/>
                <a:sym typeface="Maven Pro"/>
              </a:rPr>
              <a:t>lệnh</a:t>
            </a:r>
            <a:endParaRPr lang="en-US" sz="2400" b="1" dirty="0">
              <a:solidFill>
                <a:schemeClr val="bg1"/>
              </a:solidFill>
              <a:ea typeface="Maven Pro"/>
              <a:cs typeface="Maven Pro"/>
              <a:sym typeface="Maven Pro"/>
            </a:endParaRPr>
          </a:p>
          <a:p>
            <a:pPr marL="0" marR="0" lvl="0" indent="0" algn="l" rtl="0">
              <a:lnSpc>
                <a:spcPct val="100000"/>
              </a:lnSpc>
              <a:spcBef>
                <a:spcPts val="0"/>
              </a:spcBef>
              <a:spcAft>
                <a:spcPts val="0"/>
              </a:spcAft>
              <a:buClr>
                <a:srgbClr val="000000"/>
              </a:buClr>
              <a:buSzPts val="2000"/>
              <a:buFont typeface="Arial"/>
              <a:buNone/>
            </a:pPr>
            <a:endParaRPr sz="2400" b="0" i="0" u="none" strike="noStrike" cap="none" dirty="0">
              <a:solidFill>
                <a:schemeClr val="lt1"/>
              </a:solidFill>
              <a:latin typeface="Arial"/>
              <a:ea typeface="Arial"/>
              <a:cs typeface="Arial"/>
              <a:sym typeface="Arial"/>
            </a:endParaRPr>
          </a:p>
        </p:txBody>
      </p:sp>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101600" lvl="0">
              <a:lnSpc>
                <a:spcPct val="115000"/>
              </a:lnSpc>
              <a:spcBef>
                <a:spcPts val="1600"/>
              </a:spcBef>
              <a:buClr>
                <a:schemeClr val="dk1"/>
              </a:buClr>
              <a:buSzPts val="2000"/>
            </a:pPr>
            <a:r>
              <a:rPr lang="en-US" sz="1600" b="1" dirty="0" smtClean="0">
                <a:solidFill>
                  <a:schemeClr val="tx1"/>
                </a:solidFill>
                <a:ea typeface="Maven Pro"/>
                <a:cs typeface="Maven Pro"/>
                <a:sym typeface="Maven Pro"/>
              </a:rPr>
              <a:t>I.1. </a:t>
            </a:r>
            <a:r>
              <a:rPr lang="en-US" sz="1600" b="1" dirty="0">
                <a:solidFill>
                  <a:srgbClr val="FF0000"/>
                </a:solidFill>
                <a:ea typeface="Maven Pro"/>
                <a:cs typeface="Maven Pro"/>
                <a:sym typeface="Maven Pro"/>
              </a:rPr>
              <a:t>Chiến </a:t>
            </a:r>
            <a:r>
              <a:rPr lang="en-US" sz="1600" b="1" dirty="0" err="1">
                <a:solidFill>
                  <a:srgbClr val="FF0000"/>
                </a:solidFill>
                <a:ea typeface="Maven Pro"/>
                <a:cs typeface="Maven Pro"/>
                <a:sym typeface="Maven Pro"/>
              </a:rPr>
              <a:t>lược</a:t>
            </a:r>
            <a:r>
              <a:rPr lang="en-US" sz="1600" b="1" dirty="0">
                <a:solidFill>
                  <a:srgbClr val="FF0000"/>
                </a:solidFill>
                <a:ea typeface="Maven Pro"/>
                <a:cs typeface="Maven Pro"/>
                <a:sym typeface="Maven Pro"/>
              </a:rPr>
              <a:t> </a:t>
            </a:r>
            <a:r>
              <a:rPr lang="en-US" sz="1600" b="1" dirty="0" err="1">
                <a:solidFill>
                  <a:srgbClr val="FF0000"/>
                </a:solidFill>
                <a:ea typeface="Maven Pro"/>
                <a:cs typeface="Maven Pro"/>
                <a:sym typeface="Maven Pro"/>
              </a:rPr>
              <a:t>nến</a:t>
            </a:r>
            <a:r>
              <a:rPr lang="en-US" sz="1600" b="1" dirty="0">
                <a:solidFill>
                  <a:srgbClr val="FF0000"/>
                </a:solidFill>
                <a:ea typeface="Maven Pro"/>
                <a:cs typeface="Maven Pro"/>
                <a:sym typeface="Maven Pro"/>
              </a:rPr>
              <a:t> </a:t>
            </a:r>
            <a:r>
              <a:rPr lang="en-US" sz="1600" b="1" dirty="0" err="1">
                <a:solidFill>
                  <a:srgbClr val="FF0000"/>
                </a:solidFill>
                <a:ea typeface="Maven Pro"/>
                <a:cs typeface="Maven Pro"/>
                <a:sym typeface="Maven Pro"/>
              </a:rPr>
              <a:t>Doji</a:t>
            </a:r>
            <a:r>
              <a:rPr lang="en-US" sz="1600" b="1" dirty="0">
                <a:solidFill>
                  <a:srgbClr val="FF0000"/>
                </a:solidFill>
                <a:ea typeface="Maven Pro"/>
                <a:cs typeface="Maven Pro"/>
                <a:sym typeface="Maven Pro"/>
              </a:rPr>
              <a:t> – </a:t>
            </a:r>
            <a:r>
              <a:rPr lang="en-US" sz="1600" b="1" dirty="0" err="1">
                <a:solidFill>
                  <a:srgbClr val="FF0000"/>
                </a:solidFill>
                <a:ea typeface="Maven Pro"/>
                <a:cs typeface="Maven Pro"/>
                <a:sym typeface="Maven Pro"/>
              </a:rPr>
              <a:t>Doji</a:t>
            </a:r>
            <a:r>
              <a:rPr lang="en-US" sz="1600" b="1" dirty="0">
                <a:solidFill>
                  <a:srgbClr val="FF0000"/>
                </a:solidFill>
                <a:ea typeface="Maven Pro"/>
                <a:cs typeface="Maven Pro"/>
                <a:sym typeface="Maven Pro"/>
              </a:rPr>
              <a:t> </a:t>
            </a:r>
            <a:r>
              <a:rPr lang="en-US" sz="1600" b="1" dirty="0" err="1">
                <a:solidFill>
                  <a:srgbClr val="FF0000"/>
                </a:solidFill>
                <a:ea typeface="Maven Pro"/>
                <a:cs typeface="Maven Pro"/>
                <a:sym typeface="Maven Pro"/>
              </a:rPr>
              <a:t>chân</a:t>
            </a:r>
            <a:r>
              <a:rPr lang="en-US" sz="1600" b="1" dirty="0">
                <a:solidFill>
                  <a:srgbClr val="FF0000"/>
                </a:solidFill>
                <a:ea typeface="Maven Pro"/>
                <a:cs typeface="Maven Pro"/>
                <a:sym typeface="Maven Pro"/>
              </a:rPr>
              <a:t> </a:t>
            </a:r>
            <a:r>
              <a:rPr lang="en-US" sz="1600" b="1" dirty="0" err="1" smtClean="0">
                <a:solidFill>
                  <a:srgbClr val="FF0000"/>
                </a:solidFill>
                <a:ea typeface="Maven Pro"/>
                <a:cs typeface="Maven Pro"/>
                <a:sym typeface="Maven Pro"/>
              </a:rPr>
              <a:t>dài</a:t>
            </a:r>
            <a:endParaRPr lang="en-US" sz="1600" b="1" dirty="0" smtClean="0">
              <a:solidFill>
                <a:srgbClr val="FF0000"/>
              </a:solidFill>
              <a:ea typeface="Maven Pro"/>
              <a:cs typeface="Maven Pro"/>
              <a:sym typeface="Maven Pro"/>
            </a:endParaRPr>
          </a:p>
          <a:p>
            <a:pPr marL="444500" lvl="0" indent="-342900">
              <a:lnSpc>
                <a:spcPct val="115000"/>
              </a:lnSpc>
              <a:spcBef>
                <a:spcPts val="1600"/>
              </a:spcBef>
              <a:buClr>
                <a:schemeClr val="dk1"/>
              </a:buClr>
              <a:buSzPts val="2000"/>
              <a:buAutoNum type="alphaLcParenR"/>
            </a:pPr>
            <a:r>
              <a:rPr lang="en-US" sz="1600" b="1" u="sng" dirty="0" err="1" smtClean="0">
                <a:solidFill>
                  <a:schemeClr val="tx1"/>
                </a:solidFill>
                <a:ea typeface="Maven Pro"/>
                <a:cs typeface="Maven Pro"/>
                <a:sym typeface="Maven Pro"/>
              </a:rPr>
              <a:t>Nhận</a:t>
            </a:r>
            <a:r>
              <a:rPr lang="en-US" sz="1600" b="1" u="sng" dirty="0" smtClean="0">
                <a:solidFill>
                  <a:schemeClr val="tx1"/>
                </a:solidFill>
                <a:ea typeface="Maven Pro"/>
                <a:cs typeface="Maven Pro"/>
                <a:sym typeface="Maven Pro"/>
              </a:rPr>
              <a:t> </a:t>
            </a:r>
            <a:r>
              <a:rPr lang="en-US" sz="1600" b="1" u="sng" dirty="0" err="1" smtClean="0">
                <a:solidFill>
                  <a:schemeClr val="tx1"/>
                </a:solidFill>
                <a:ea typeface="Maven Pro"/>
                <a:cs typeface="Maven Pro"/>
                <a:sym typeface="Maven Pro"/>
              </a:rPr>
              <a:t>diện</a:t>
            </a:r>
            <a:r>
              <a:rPr lang="en-US" sz="1600" b="1" u="sng" dirty="0" smtClean="0">
                <a:solidFill>
                  <a:schemeClr val="tx1"/>
                </a:solidFill>
                <a:ea typeface="Maven Pro"/>
                <a:cs typeface="Maven Pro"/>
                <a:sym typeface="Maven Pro"/>
              </a:rPr>
              <a:t> </a:t>
            </a:r>
            <a:r>
              <a:rPr lang="en-US" sz="1600" b="1" u="sng" dirty="0" err="1" smtClean="0">
                <a:solidFill>
                  <a:schemeClr val="tx1"/>
                </a:solidFill>
                <a:ea typeface="Maven Pro"/>
                <a:cs typeface="Maven Pro"/>
                <a:sym typeface="Maven Pro"/>
              </a:rPr>
              <a:t>nến</a:t>
            </a:r>
            <a:r>
              <a:rPr lang="en-US" sz="1600" b="1" u="sng" dirty="0" smtClean="0">
                <a:solidFill>
                  <a:schemeClr val="tx1"/>
                </a:solidFill>
                <a:ea typeface="Maven Pro"/>
                <a:cs typeface="Maven Pro"/>
                <a:sym typeface="Maven Pro"/>
              </a:rPr>
              <a:t> </a:t>
            </a:r>
            <a:r>
              <a:rPr lang="en-US" sz="1600" b="1" u="sng" dirty="0" err="1" smtClean="0">
                <a:solidFill>
                  <a:schemeClr val="tx1"/>
                </a:solidFill>
                <a:ea typeface="Maven Pro"/>
                <a:cs typeface="Maven Pro"/>
                <a:sym typeface="Maven Pro"/>
              </a:rPr>
              <a:t>Doji</a:t>
            </a:r>
            <a:r>
              <a:rPr lang="en-US" sz="1600" b="1" u="sng" dirty="0" smtClean="0">
                <a:solidFill>
                  <a:schemeClr val="tx1"/>
                </a:solidFill>
                <a:ea typeface="Maven Pro"/>
                <a:cs typeface="Maven Pro"/>
                <a:sym typeface="Maven Pro"/>
              </a:rPr>
              <a:t> </a:t>
            </a:r>
            <a:r>
              <a:rPr lang="en-US" sz="1600" b="1" u="sng" dirty="0" err="1" smtClean="0">
                <a:solidFill>
                  <a:schemeClr val="tx1"/>
                </a:solidFill>
                <a:ea typeface="Maven Pro"/>
                <a:cs typeface="Maven Pro"/>
                <a:sym typeface="Maven Pro"/>
              </a:rPr>
              <a:t>chân</a:t>
            </a:r>
            <a:r>
              <a:rPr lang="en-US" sz="1600" b="1" u="sng" dirty="0" smtClean="0">
                <a:solidFill>
                  <a:schemeClr val="tx1"/>
                </a:solidFill>
                <a:ea typeface="Maven Pro"/>
                <a:cs typeface="Maven Pro"/>
                <a:sym typeface="Maven Pro"/>
              </a:rPr>
              <a:t> </a:t>
            </a:r>
            <a:r>
              <a:rPr lang="en-US" sz="1600" b="1" u="sng" dirty="0" err="1" smtClean="0">
                <a:solidFill>
                  <a:schemeClr val="tx1"/>
                </a:solidFill>
                <a:ea typeface="Maven Pro"/>
                <a:cs typeface="Maven Pro"/>
                <a:sym typeface="Maven Pro"/>
              </a:rPr>
              <a:t>dài</a:t>
            </a:r>
            <a:r>
              <a:rPr lang="en-US" sz="1600" b="1" u="sng" dirty="0" smtClean="0">
                <a:solidFill>
                  <a:schemeClr val="tx1"/>
                </a:solidFill>
                <a:ea typeface="Maven Pro"/>
                <a:cs typeface="Maven Pro"/>
                <a:sym typeface="Maven Pro"/>
              </a:rPr>
              <a:t>: </a:t>
            </a:r>
          </a:p>
          <a:p>
            <a:pPr marL="387350" lvl="0" indent="-285750" algn="just">
              <a:lnSpc>
                <a:spcPct val="115000"/>
              </a:lnSpc>
              <a:spcBef>
                <a:spcPts val="1600"/>
              </a:spcBef>
              <a:buClr>
                <a:schemeClr val="dk1"/>
              </a:buClr>
              <a:buSzPts val="2000"/>
              <a:buFontTx/>
              <a:buChar char="-"/>
            </a:pPr>
            <a:r>
              <a:rPr lang="en-US" sz="1600" b="1" dirty="0" err="1" smtClean="0">
                <a:solidFill>
                  <a:schemeClr val="tx1"/>
                </a:solidFill>
                <a:ea typeface="Maven Pro"/>
                <a:cs typeface="Maven Pro"/>
                <a:sym typeface="Maven Pro"/>
              </a:rPr>
              <a:t>Là</a:t>
            </a:r>
            <a:r>
              <a:rPr lang="en-US" sz="1600" b="1" dirty="0" smtClean="0">
                <a:solidFill>
                  <a:schemeClr val="tx1"/>
                </a:solidFill>
                <a:ea typeface="Maven Pro"/>
                <a:cs typeface="Maven Pro"/>
                <a:sym typeface="Maven Pro"/>
              </a:rPr>
              <a:t> </a:t>
            </a:r>
            <a:r>
              <a:rPr lang="en-US" sz="1600" b="1" dirty="0" err="1" smtClean="0">
                <a:solidFill>
                  <a:schemeClr val="tx1"/>
                </a:solidFill>
                <a:ea typeface="Maven Pro"/>
                <a:cs typeface="Maven Pro"/>
                <a:sym typeface="Maven Pro"/>
              </a:rPr>
              <a:t>nến</a:t>
            </a:r>
            <a:r>
              <a:rPr lang="en-US" sz="1600" b="1" dirty="0" smtClean="0">
                <a:solidFill>
                  <a:schemeClr val="tx1"/>
                </a:solidFill>
                <a:ea typeface="Maven Pro"/>
                <a:cs typeface="Maven Pro"/>
                <a:sym typeface="Maven Pro"/>
              </a:rPr>
              <a:t> </a:t>
            </a:r>
            <a:r>
              <a:rPr lang="en-US" sz="1600" b="1" dirty="0" err="1" smtClean="0">
                <a:solidFill>
                  <a:schemeClr val="tx1"/>
                </a:solidFill>
                <a:ea typeface="Maven Pro"/>
                <a:cs typeface="Maven Pro"/>
                <a:sym typeface="Maven Pro"/>
              </a:rPr>
              <a:t>Doji</a:t>
            </a:r>
            <a:r>
              <a:rPr lang="en-US" sz="1600" b="1" dirty="0" smtClean="0">
                <a:solidFill>
                  <a:schemeClr val="tx1"/>
                </a:solidFill>
                <a:ea typeface="Maven Pro"/>
                <a:cs typeface="Maven Pro"/>
                <a:sym typeface="Maven Pro"/>
              </a:rPr>
              <a:t>: </a:t>
            </a:r>
            <a:r>
              <a:rPr lang="en-US" sz="1600" b="1" dirty="0" err="1" smtClean="0">
                <a:solidFill>
                  <a:schemeClr val="tx1"/>
                </a:solidFill>
                <a:ea typeface="Maven Pro"/>
                <a:cs typeface="Maven Pro"/>
                <a:sym typeface="Maven Pro"/>
              </a:rPr>
              <a:t>Nến</a:t>
            </a:r>
            <a:r>
              <a:rPr lang="en-US" sz="1600" b="1" dirty="0" smtClean="0">
                <a:solidFill>
                  <a:schemeClr val="tx1"/>
                </a:solidFill>
                <a:ea typeface="Maven Pro"/>
                <a:cs typeface="Maven Pro"/>
                <a:sym typeface="Maven Pro"/>
              </a:rPr>
              <a:t> </a:t>
            </a:r>
            <a:r>
              <a:rPr lang="en-US" sz="1600" b="1" dirty="0" err="1" smtClean="0">
                <a:solidFill>
                  <a:schemeClr val="tx1"/>
                </a:solidFill>
                <a:ea typeface="Maven Pro"/>
                <a:cs typeface="Maven Pro"/>
                <a:sym typeface="Maven Pro"/>
              </a:rPr>
              <a:t>Doji</a:t>
            </a:r>
            <a:r>
              <a:rPr lang="en-US" sz="1600" b="1" dirty="0" smtClean="0">
                <a:solidFill>
                  <a:schemeClr val="tx1"/>
                </a:solidFill>
                <a:ea typeface="Maven Pro"/>
                <a:cs typeface="Maven Pro"/>
                <a:sym typeface="Maven Pro"/>
              </a:rPr>
              <a:t> </a:t>
            </a:r>
            <a:r>
              <a:rPr lang="en-US" sz="1600" b="1" dirty="0" err="1" smtClean="0">
                <a:solidFill>
                  <a:schemeClr val="tx1"/>
                </a:solidFill>
                <a:ea typeface="Maven Pro"/>
                <a:cs typeface="Maven Pro"/>
                <a:sym typeface="Maven Pro"/>
              </a:rPr>
              <a:t>là</a:t>
            </a:r>
            <a:r>
              <a:rPr lang="en-US" sz="1600" b="1" dirty="0" smtClean="0">
                <a:solidFill>
                  <a:schemeClr val="tx1"/>
                </a:solidFill>
                <a:ea typeface="Maven Pro"/>
                <a:cs typeface="Maven Pro"/>
                <a:sym typeface="Maven Pro"/>
              </a:rPr>
              <a:t> </a:t>
            </a:r>
            <a:r>
              <a:rPr lang="en-US" sz="1600" b="1" dirty="0" err="1" smtClean="0">
                <a:solidFill>
                  <a:schemeClr val="tx1"/>
                </a:solidFill>
                <a:ea typeface="Maven Pro"/>
                <a:cs typeface="Maven Pro"/>
                <a:sym typeface="Maven Pro"/>
              </a:rPr>
              <a:t>nến</a:t>
            </a:r>
            <a:r>
              <a:rPr lang="en-US" sz="1600" b="1" dirty="0" smtClean="0">
                <a:solidFill>
                  <a:schemeClr val="tx1"/>
                </a:solidFill>
                <a:ea typeface="Maven Pro"/>
                <a:cs typeface="Maven Pro"/>
                <a:sym typeface="Maven Pro"/>
              </a:rPr>
              <a:t> </a:t>
            </a:r>
            <a:r>
              <a:rPr lang="en-US" sz="1600" b="1" dirty="0" err="1" smtClean="0">
                <a:solidFill>
                  <a:schemeClr val="tx1"/>
                </a:solidFill>
                <a:ea typeface="Maven Pro"/>
                <a:cs typeface="Maven Pro"/>
                <a:sym typeface="Maven Pro"/>
              </a:rPr>
              <a:t>có</a:t>
            </a:r>
            <a:r>
              <a:rPr lang="en-US" sz="1600" b="1" dirty="0" smtClean="0">
                <a:solidFill>
                  <a:schemeClr val="tx1"/>
                </a:solidFill>
                <a:ea typeface="Maven Pro"/>
                <a:cs typeface="Maven Pro"/>
                <a:sym typeface="Maven Pro"/>
              </a:rPr>
              <a:t> </a:t>
            </a:r>
            <a:r>
              <a:rPr lang="en-US" sz="1600" b="1" dirty="0" err="1" smtClean="0">
                <a:solidFill>
                  <a:schemeClr val="tx1"/>
                </a:solidFill>
                <a:ea typeface="Maven Pro"/>
                <a:cs typeface="Maven Pro"/>
                <a:sym typeface="Maven Pro"/>
              </a:rPr>
              <a:t>giá</a:t>
            </a:r>
            <a:r>
              <a:rPr lang="en-US" sz="1600" b="1" dirty="0" smtClean="0">
                <a:solidFill>
                  <a:schemeClr val="tx1"/>
                </a:solidFill>
                <a:ea typeface="Maven Pro"/>
                <a:cs typeface="Maven Pro"/>
                <a:sym typeface="Maven Pro"/>
              </a:rPr>
              <a:t> </a:t>
            </a:r>
            <a:r>
              <a:rPr lang="en-US" sz="1600" b="1" dirty="0" err="1" smtClean="0">
                <a:solidFill>
                  <a:srgbClr val="FF0000"/>
                </a:solidFill>
                <a:ea typeface="Maven Pro"/>
                <a:cs typeface="Maven Pro"/>
                <a:sym typeface="Maven Pro"/>
              </a:rPr>
              <a:t>mở</a:t>
            </a:r>
            <a:r>
              <a:rPr lang="en-US" sz="1600" b="1" dirty="0" smtClean="0">
                <a:solidFill>
                  <a:srgbClr val="FF0000"/>
                </a:solidFill>
                <a:ea typeface="Maven Pro"/>
                <a:cs typeface="Maven Pro"/>
                <a:sym typeface="Maven Pro"/>
              </a:rPr>
              <a:t> </a:t>
            </a:r>
            <a:r>
              <a:rPr lang="en-US" sz="1600" b="1" dirty="0" err="1" smtClean="0">
                <a:solidFill>
                  <a:srgbClr val="FF0000"/>
                </a:solidFill>
                <a:ea typeface="Maven Pro"/>
                <a:cs typeface="Maven Pro"/>
                <a:sym typeface="Maven Pro"/>
              </a:rPr>
              <a:t>cửa</a:t>
            </a:r>
            <a:r>
              <a:rPr lang="en-US" sz="1600" b="1" dirty="0" smtClean="0">
                <a:solidFill>
                  <a:srgbClr val="FF0000"/>
                </a:solidFill>
                <a:ea typeface="Maven Pro"/>
                <a:cs typeface="Maven Pro"/>
                <a:sym typeface="Maven Pro"/>
              </a:rPr>
              <a:t> </a:t>
            </a:r>
            <a:r>
              <a:rPr lang="en-US" sz="1600" b="1" dirty="0" err="1" smtClean="0">
                <a:solidFill>
                  <a:srgbClr val="FF0000"/>
                </a:solidFill>
                <a:ea typeface="Maven Pro"/>
                <a:cs typeface="Maven Pro"/>
                <a:sym typeface="Maven Pro"/>
              </a:rPr>
              <a:t>và</a:t>
            </a:r>
            <a:r>
              <a:rPr lang="en-US" sz="1600" b="1" dirty="0" smtClean="0">
                <a:solidFill>
                  <a:srgbClr val="FF0000"/>
                </a:solidFill>
                <a:ea typeface="Maven Pro"/>
                <a:cs typeface="Maven Pro"/>
                <a:sym typeface="Maven Pro"/>
              </a:rPr>
              <a:t> </a:t>
            </a:r>
            <a:r>
              <a:rPr lang="en-US" sz="1600" b="1" dirty="0" err="1" smtClean="0">
                <a:solidFill>
                  <a:srgbClr val="FF0000"/>
                </a:solidFill>
                <a:ea typeface="Maven Pro"/>
                <a:cs typeface="Maven Pro"/>
                <a:sym typeface="Maven Pro"/>
              </a:rPr>
              <a:t>đóng</a:t>
            </a:r>
            <a:r>
              <a:rPr lang="en-US" sz="1600" b="1" dirty="0" smtClean="0">
                <a:solidFill>
                  <a:srgbClr val="FF0000"/>
                </a:solidFill>
                <a:ea typeface="Maven Pro"/>
                <a:cs typeface="Maven Pro"/>
                <a:sym typeface="Maven Pro"/>
              </a:rPr>
              <a:t> </a:t>
            </a:r>
            <a:r>
              <a:rPr lang="en-US" sz="1600" b="1" dirty="0" err="1" smtClean="0">
                <a:solidFill>
                  <a:srgbClr val="FF0000"/>
                </a:solidFill>
                <a:ea typeface="Maven Pro"/>
                <a:cs typeface="Maven Pro"/>
                <a:sym typeface="Maven Pro"/>
              </a:rPr>
              <a:t>cửa</a:t>
            </a:r>
            <a:r>
              <a:rPr lang="en-US" sz="1600" b="1" dirty="0" smtClean="0">
                <a:solidFill>
                  <a:srgbClr val="FF0000"/>
                </a:solidFill>
                <a:ea typeface="Maven Pro"/>
                <a:cs typeface="Maven Pro"/>
                <a:sym typeface="Maven Pro"/>
              </a:rPr>
              <a:t> </a:t>
            </a:r>
            <a:r>
              <a:rPr lang="en-US" sz="1600" b="1" dirty="0" err="1" smtClean="0">
                <a:solidFill>
                  <a:srgbClr val="FFC000"/>
                </a:solidFill>
                <a:ea typeface="Maven Pro"/>
                <a:cs typeface="Maven Pro"/>
                <a:sym typeface="Maven Pro"/>
              </a:rPr>
              <a:t>gần</a:t>
            </a:r>
            <a:r>
              <a:rPr lang="en-US" sz="1600" b="1" dirty="0" smtClean="0">
                <a:solidFill>
                  <a:srgbClr val="FFC000"/>
                </a:solidFill>
                <a:ea typeface="Maven Pro"/>
                <a:cs typeface="Maven Pro"/>
                <a:sym typeface="Maven Pro"/>
              </a:rPr>
              <a:t> </a:t>
            </a:r>
            <a:r>
              <a:rPr lang="en-US" sz="1600" b="1" dirty="0" err="1" smtClean="0">
                <a:solidFill>
                  <a:srgbClr val="FFC000"/>
                </a:solidFill>
                <a:ea typeface="Maven Pro"/>
                <a:cs typeface="Maven Pro"/>
                <a:sym typeface="Maven Pro"/>
              </a:rPr>
              <a:t>bằng</a:t>
            </a:r>
            <a:r>
              <a:rPr lang="en-US" sz="1600" b="1" dirty="0" smtClean="0">
                <a:solidFill>
                  <a:srgbClr val="FFC000"/>
                </a:solidFill>
                <a:ea typeface="Maven Pro"/>
                <a:cs typeface="Maven Pro"/>
                <a:sym typeface="Maven Pro"/>
              </a:rPr>
              <a:t> </a:t>
            </a:r>
            <a:r>
              <a:rPr lang="en-US" sz="1600" b="1" dirty="0" err="1" smtClean="0">
                <a:solidFill>
                  <a:srgbClr val="FFC000"/>
                </a:solidFill>
                <a:ea typeface="Maven Pro"/>
                <a:cs typeface="Maven Pro"/>
                <a:sym typeface="Maven Pro"/>
              </a:rPr>
              <a:t>nhau</a:t>
            </a:r>
            <a:r>
              <a:rPr lang="en-US" sz="1600" b="1" dirty="0" smtClean="0">
                <a:solidFill>
                  <a:srgbClr val="FFC000"/>
                </a:solidFill>
                <a:ea typeface="Maven Pro"/>
                <a:cs typeface="Maven Pro"/>
                <a:sym typeface="Maven Pro"/>
              </a:rPr>
              <a:t> </a:t>
            </a:r>
            <a:r>
              <a:rPr lang="en-US" sz="1600" b="1" dirty="0" smtClean="0">
                <a:solidFill>
                  <a:schemeClr val="tx1"/>
                </a:solidFill>
                <a:ea typeface="Maven Pro"/>
                <a:cs typeface="Maven Pro"/>
                <a:sym typeface="Maven Pro"/>
              </a:rPr>
              <a:t>(</a:t>
            </a:r>
            <a:r>
              <a:rPr lang="en-US" sz="1600" b="1" dirty="0" err="1" smtClean="0">
                <a:solidFill>
                  <a:schemeClr val="tx1"/>
                </a:solidFill>
                <a:ea typeface="Maven Pro"/>
                <a:cs typeface="Maven Pro"/>
                <a:sym typeface="Maven Pro"/>
              </a:rPr>
              <a:t>không</a:t>
            </a:r>
            <a:r>
              <a:rPr lang="en-US" sz="1600" b="1" dirty="0" smtClean="0">
                <a:solidFill>
                  <a:schemeClr val="tx1"/>
                </a:solidFill>
                <a:ea typeface="Maven Pro"/>
                <a:cs typeface="Maven Pro"/>
                <a:sym typeface="Maven Pro"/>
              </a:rPr>
              <a:t> </a:t>
            </a:r>
            <a:r>
              <a:rPr lang="en-US" sz="1600" b="1" dirty="0" err="1" smtClean="0">
                <a:solidFill>
                  <a:schemeClr val="tx1"/>
                </a:solidFill>
                <a:ea typeface="Maven Pro"/>
                <a:cs typeface="Maven Pro"/>
                <a:sym typeface="Maven Pro"/>
              </a:rPr>
              <a:t>quan</a:t>
            </a:r>
            <a:r>
              <a:rPr lang="en-US" sz="1600" b="1" dirty="0" smtClean="0">
                <a:solidFill>
                  <a:schemeClr val="tx1"/>
                </a:solidFill>
                <a:ea typeface="Maven Pro"/>
                <a:cs typeface="Maven Pro"/>
                <a:sym typeface="Maven Pro"/>
              </a:rPr>
              <a:t> </a:t>
            </a:r>
            <a:r>
              <a:rPr lang="en-US" sz="1600" b="1" dirty="0" err="1" smtClean="0">
                <a:solidFill>
                  <a:schemeClr val="tx1"/>
                </a:solidFill>
                <a:ea typeface="Maven Pro"/>
                <a:cs typeface="Maven Pro"/>
                <a:sym typeface="Maven Pro"/>
              </a:rPr>
              <a:t>trọng</a:t>
            </a:r>
            <a:r>
              <a:rPr lang="en-US" sz="1600" b="1" dirty="0" smtClean="0">
                <a:solidFill>
                  <a:schemeClr val="tx1"/>
                </a:solidFill>
                <a:ea typeface="Maven Pro"/>
                <a:cs typeface="Maven Pro"/>
                <a:sym typeface="Maven Pro"/>
              </a:rPr>
              <a:t> </a:t>
            </a:r>
            <a:r>
              <a:rPr lang="en-US" sz="1600" b="1" dirty="0" err="1" smtClean="0">
                <a:solidFill>
                  <a:schemeClr val="tx1"/>
                </a:solidFill>
                <a:ea typeface="Maven Pro"/>
                <a:cs typeface="Maven Pro"/>
                <a:sym typeface="Maven Pro"/>
              </a:rPr>
              <a:t>giá</a:t>
            </a:r>
            <a:r>
              <a:rPr lang="en-US" sz="1600" b="1" dirty="0" smtClean="0">
                <a:solidFill>
                  <a:schemeClr val="tx1"/>
                </a:solidFill>
                <a:ea typeface="Maven Pro"/>
                <a:cs typeface="Maven Pro"/>
                <a:sym typeface="Maven Pro"/>
              </a:rPr>
              <a:t> </a:t>
            </a:r>
            <a:r>
              <a:rPr lang="en-US" sz="1600" b="1" dirty="0" smtClean="0">
                <a:solidFill>
                  <a:srgbClr val="FF0000"/>
                </a:solidFill>
                <a:ea typeface="Maven Pro"/>
                <a:cs typeface="Maven Pro"/>
                <a:sym typeface="Maven Pro"/>
              </a:rPr>
              <a:t>Open &gt; </a:t>
            </a:r>
            <a:r>
              <a:rPr lang="en-US" sz="1600" b="1" dirty="0" err="1" smtClean="0">
                <a:solidFill>
                  <a:srgbClr val="FF0000"/>
                </a:solidFill>
                <a:ea typeface="Maven Pro"/>
                <a:cs typeface="Maven Pro"/>
                <a:sym typeface="Maven Pro"/>
              </a:rPr>
              <a:t>hơn</a:t>
            </a:r>
            <a:r>
              <a:rPr lang="en-US" sz="1600" b="1" dirty="0" smtClean="0">
                <a:solidFill>
                  <a:srgbClr val="FF0000"/>
                </a:solidFill>
                <a:ea typeface="Maven Pro"/>
                <a:cs typeface="Maven Pro"/>
                <a:sym typeface="Maven Pro"/>
              </a:rPr>
              <a:t> hay &lt; </a:t>
            </a:r>
            <a:r>
              <a:rPr lang="en-US" sz="1600" b="1" dirty="0" err="1" smtClean="0">
                <a:solidFill>
                  <a:srgbClr val="FF0000"/>
                </a:solidFill>
                <a:ea typeface="Maven Pro"/>
                <a:cs typeface="Maven Pro"/>
                <a:sym typeface="Maven Pro"/>
              </a:rPr>
              <a:t>giá</a:t>
            </a:r>
            <a:r>
              <a:rPr lang="en-US" sz="1600" b="1" dirty="0" smtClean="0">
                <a:solidFill>
                  <a:srgbClr val="FF0000"/>
                </a:solidFill>
                <a:ea typeface="Maven Pro"/>
                <a:cs typeface="Maven Pro"/>
                <a:sym typeface="Maven Pro"/>
              </a:rPr>
              <a:t> Close</a:t>
            </a:r>
            <a:r>
              <a:rPr lang="en-US" sz="1600" b="1" dirty="0" smtClean="0">
                <a:solidFill>
                  <a:schemeClr val="tx1"/>
                </a:solidFill>
                <a:ea typeface="Maven Pro"/>
                <a:cs typeface="Maven Pro"/>
                <a:sym typeface="Maven Pro"/>
              </a:rPr>
              <a:t>)</a:t>
            </a:r>
          </a:p>
          <a:p>
            <a:pPr marL="387350" lvl="0" indent="-285750" algn="just">
              <a:lnSpc>
                <a:spcPct val="115000"/>
              </a:lnSpc>
              <a:spcBef>
                <a:spcPts val="1600"/>
              </a:spcBef>
              <a:buClr>
                <a:schemeClr val="dk1"/>
              </a:buClr>
              <a:buSzPts val="2000"/>
              <a:buFontTx/>
              <a:buChar char="-"/>
            </a:pPr>
            <a:r>
              <a:rPr lang="en-US" sz="1600" dirty="0" err="1" smtClean="0">
                <a:solidFill>
                  <a:schemeClr val="tx1"/>
                </a:solidFill>
                <a:ea typeface="Maven Pro"/>
                <a:cs typeface="Maven Pro"/>
                <a:sym typeface="Maven Pro"/>
              </a:rPr>
              <a:t>Là</a:t>
            </a:r>
            <a:r>
              <a:rPr lang="en-US" sz="1600" dirty="0" smtClean="0">
                <a:solidFill>
                  <a:schemeClr val="tx1"/>
                </a:solidFill>
                <a:ea typeface="Maven Pro"/>
                <a:cs typeface="Maven Pro"/>
                <a:sym typeface="Maven Pro"/>
              </a:rPr>
              <a:t> </a:t>
            </a:r>
            <a:r>
              <a:rPr lang="en-US" sz="1600" dirty="0" err="1" smtClean="0">
                <a:solidFill>
                  <a:schemeClr val="tx1"/>
                </a:solidFill>
                <a:ea typeface="Maven Pro"/>
                <a:cs typeface="Maven Pro"/>
                <a:sym typeface="Maven Pro"/>
              </a:rPr>
              <a:t>nến</a:t>
            </a:r>
            <a:r>
              <a:rPr lang="en-US" sz="1600" dirty="0" smtClean="0">
                <a:solidFill>
                  <a:schemeClr val="tx1"/>
                </a:solidFill>
                <a:ea typeface="Maven Pro"/>
                <a:cs typeface="Maven Pro"/>
                <a:sym typeface="Maven Pro"/>
              </a:rPr>
              <a:t> </a:t>
            </a:r>
            <a:r>
              <a:rPr lang="en-US" sz="1600" dirty="0" err="1" smtClean="0">
                <a:solidFill>
                  <a:schemeClr val="tx1"/>
                </a:solidFill>
                <a:ea typeface="Maven Pro"/>
                <a:cs typeface="Maven Pro"/>
                <a:sym typeface="Maven Pro"/>
              </a:rPr>
              <a:t>Doji</a:t>
            </a:r>
            <a:r>
              <a:rPr lang="en-US" sz="1600" dirty="0" smtClean="0">
                <a:solidFill>
                  <a:schemeClr val="tx1"/>
                </a:solidFill>
                <a:ea typeface="Maven Pro"/>
                <a:cs typeface="Maven Pro"/>
                <a:sym typeface="Maven Pro"/>
              </a:rPr>
              <a:t> </a:t>
            </a:r>
            <a:r>
              <a:rPr lang="en-US" sz="1600" dirty="0" err="1" smtClean="0">
                <a:solidFill>
                  <a:schemeClr val="tx1"/>
                </a:solidFill>
                <a:ea typeface="Maven Pro"/>
                <a:cs typeface="Maven Pro"/>
                <a:sym typeface="Maven Pro"/>
              </a:rPr>
              <a:t>có</a:t>
            </a:r>
            <a:r>
              <a:rPr lang="en-US" sz="1600" dirty="0" smtClean="0">
                <a:solidFill>
                  <a:schemeClr val="tx1"/>
                </a:solidFill>
                <a:ea typeface="Maven Pro"/>
                <a:cs typeface="Maven Pro"/>
                <a:sym typeface="Maven Pro"/>
              </a:rPr>
              <a:t>      </a:t>
            </a:r>
          </a:p>
          <a:p>
            <a:pPr marL="101600" lvl="0" algn="just">
              <a:lnSpc>
                <a:spcPct val="115000"/>
              </a:lnSpc>
              <a:spcBef>
                <a:spcPts val="1600"/>
              </a:spcBef>
              <a:buClr>
                <a:schemeClr val="dk1"/>
              </a:buClr>
              <a:buSzPts val="2000"/>
            </a:pPr>
            <a:r>
              <a:rPr lang="en-US" sz="1600" dirty="0" smtClean="0">
                <a:solidFill>
                  <a:schemeClr val="tx1"/>
                </a:solidFill>
                <a:ea typeface="Maven Pro"/>
                <a:cs typeface="Maven Pro"/>
                <a:sym typeface="Maven Pro"/>
              </a:rPr>
              <a:t>     + </a:t>
            </a:r>
            <a:r>
              <a:rPr lang="en-US" sz="1600" b="1" dirty="0" err="1" smtClean="0">
                <a:solidFill>
                  <a:srgbClr val="FF0000"/>
                </a:solidFill>
                <a:ea typeface="Maven Pro"/>
                <a:cs typeface="Maven Pro"/>
                <a:sym typeface="Maven Pro"/>
              </a:rPr>
              <a:t>Bóng</a:t>
            </a:r>
            <a:r>
              <a:rPr lang="en-US" sz="1600" b="1" dirty="0" smtClean="0">
                <a:solidFill>
                  <a:srgbClr val="FF0000"/>
                </a:solidFill>
                <a:ea typeface="Maven Pro"/>
                <a:cs typeface="Maven Pro"/>
                <a:sym typeface="Maven Pro"/>
              </a:rPr>
              <a:t> </a:t>
            </a:r>
            <a:r>
              <a:rPr lang="en-US" sz="1600" b="1" dirty="0" err="1" smtClean="0">
                <a:solidFill>
                  <a:srgbClr val="FF0000"/>
                </a:solidFill>
                <a:ea typeface="Maven Pro"/>
                <a:cs typeface="Maven Pro"/>
                <a:sym typeface="Maven Pro"/>
              </a:rPr>
              <a:t>nến</a:t>
            </a:r>
            <a:r>
              <a:rPr lang="en-US" sz="1600" b="1" dirty="0" smtClean="0">
                <a:solidFill>
                  <a:srgbClr val="FF0000"/>
                </a:solidFill>
                <a:ea typeface="Maven Pro"/>
                <a:cs typeface="Maven Pro"/>
                <a:sym typeface="Maven Pro"/>
              </a:rPr>
              <a:t> </a:t>
            </a:r>
            <a:r>
              <a:rPr lang="en-US" sz="1600" b="1" dirty="0" err="1" smtClean="0">
                <a:solidFill>
                  <a:schemeClr val="tx1"/>
                </a:solidFill>
                <a:ea typeface="Maven Pro"/>
                <a:cs typeface="Maven Pro"/>
                <a:sym typeface="Maven Pro"/>
              </a:rPr>
              <a:t>trên</a:t>
            </a:r>
            <a:r>
              <a:rPr lang="en-US" sz="1600" b="1" dirty="0" smtClean="0">
                <a:solidFill>
                  <a:schemeClr val="tx1"/>
                </a:solidFill>
                <a:ea typeface="Maven Pro"/>
                <a:cs typeface="Maven Pro"/>
                <a:sym typeface="Maven Pro"/>
              </a:rPr>
              <a:t> &gt;= 2 </a:t>
            </a:r>
            <a:r>
              <a:rPr lang="en-US" sz="1600" b="1" dirty="0" err="1" smtClean="0">
                <a:solidFill>
                  <a:schemeClr val="tx1"/>
                </a:solidFill>
                <a:ea typeface="Maven Pro"/>
                <a:cs typeface="Maven Pro"/>
                <a:sym typeface="Maven Pro"/>
              </a:rPr>
              <a:t>lần</a:t>
            </a:r>
            <a:r>
              <a:rPr lang="en-US" sz="1600" b="1" dirty="0" smtClean="0">
                <a:solidFill>
                  <a:schemeClr val="tx1"/>
                </a:solidFill>
                <a:ea typeface="Maven Pro"/>
                <a:cs typeface="Maven Pro"/>
                <a:sym typeface="Maven Pro"/>
              </a:rPr>
              <a:t> </a:t>
            </a:r>
            <a:r>
              <a:rPr lang="en-US" sz="1600" b="1" dirty="0" err="1" smtClean="0">
                <a:solidFill>
                  <a:srgbClr val="FF0000"/>
                </a:solidFill>
                <a:ea typeface="Maven Pro"/>
                <a:cs typeface="Maven Pro"/>
                <a:sym typeface="Maven Pro"/>
              </a:rPr>
              <a:t>thân</a:t>
            </a:r>
            <a:r>
              <a:rPr lang="en-US" sz="1600" b="1" dirty="0" smtClean="0">
                <a:solidFill>
                  <a:srgbClr val="FF0000"/>
                </a:solidFill>
                <a:ea typeface="Maven Pro"/>
                <a:cs typeface="Maven Pro"/>
                <a:sym typeface="Maven Pro"/>
              </a:rPr>
              <a:t> </a:t>
            </a:r>
            <a:r>
              <a:rPr lang="en-US" sz="1600" b="1" dirty="0" err="1" smtClean="0">
                <a:solidFill>
                  <a:srgbClr val="FF0000"/>
                </a:solidFill>
                <a:ea typeface="Maven Pro"/>
                <a:cs typeface="Maven Pro"/>
                <a:sym typeface="Maven Pro"/>
              </a:rPr>
              <a:t>nến</a:t>
            </a:r>
            <a:r>
              <a:rPr lang="en-US" sz="1600" b="1" dirty="0" smtClean="0">
                <a:solidFill>
                  <a:srgbClr val="FF0000"/>
                </a:solidFill>
                <a:ea typeface="Maven Pro"/>
                <a:cs typeface="Maven Pro"/>
                <a:sym typeface="Maven Pro"/>
              </a:rPr>
              <a:t> </a:t>
            </a:r>
            <a:r>
              <a:rPr lang="en-US" sz="1600" b="1" dirty="0" err="1" smtClean="0">
                <a:solidFill>
                  <a:schemeClr val="tx1"/>
                </a:solidFill>
                <a:ea typeface="Maven Pro"/>
                <a:cs typeface="Maven Pro"/>
                <a:sym typeface="Maven Pro"/>
              </a:rPr>
              <a:t>và</a:t>
            </a:r>
            <a:r>
              <a:rPr lang="en-US" sz="1600" b="1" dirty="0" smtClean="0">
                <a:solidFill>
                  <a:schemeClr val="tx1"/>
                </a:solidFill>
                <a:ea typeface="Maven Pro"/>
                <a:cs typeface="Maven Pro"/>
                <a:sym typeface="Maven Pro"/>
              </a:rPr>
              <a:t> </a:t>
            </a:r>
            <a:r>
              <a:rPr lang="en-US" sz="1600" b="1" dirty="0" err="1" smtClean="0">
                <a:solidFill>
                  <a:srgbClr val="FF0000"/>
                </a:solidFill>
                <a:ea typeface="Maven Pro"/>
                <a:cs typeface="Maven Pro"/>
                <a:sym typeface="Maven Pro"/>
              </a:rPr>
              <a:t>bóng</a:t>
            </a:r>
            <a:r>
              <a:rPr lang="en-US" sz="1600" b="1" dirty="0" smtClean="0">
                <a:solidFill>
                  <a:srgbClr val="FF0000"/>
                </a:solidFill>
                <a:ea typeface="Maven Pro"/>
                <a:cs typeface="Maven Pro"/>
                <a:sym typeface="Maven Pro"/>
              </a:rPr>
              <a:t> </a:t>
            </a:r>
            <a:r>
              <a:rPr lang="en-US" sz="1600" b="1" dirty="0" err="1" smtClean="0">
                <a:solidFill>
                  <a:srgbClr val="FF0000"/>
                </a:solidFill>
                <a:ea typeface="Maven Pro"/>
                <a:cs typeface="Maven Pro"/>
                <a:sym typeface="Maven Pro"/>
              </a:rPr>
              <a:t>nến</a:t>
            </a:r>
            <a:r>
              <a:rPr lang="en-US" sz="1600" b="1" dirty="0" smtClean="0">
                <a:solidFill>
                  <a:srgbClr val="FF0000"/>
                </a:solidFill>
                <a:ea typeface="Maven Pro"/>
                <a:cs typeface="Maven Pro"/>
                <a:sym typeface="Maven Pro"/>
              </a:rPr>
              <a:t> </a:t>
            </a:r>
            <a:r>
              <a:rPr lang="en-US" sz="1600" b="1" dirty="0" err="1" smtClean="0">
                <a:solidFill>
                  <a:srgbClr val="FF0000"/>
                </a:solidFill>
                <a:ea typeface="Maven Pro"/>
                <a:cs typeface="Maven Pro"/>
                <a:sym typeface="Maven Pro"/>
              </a:rPr>
              <a:t>dưới</a:t>
            </a:r>
            <a:r>
              <a:rPr lang="en-US" sz="1600" b="1" dirty="0" smtClean="0">
                <a:solidFill>
                  <a:srgbClr val="FF0000"/>
                </a:solidFill>
                <a:ea typeface="Maven Pro"/>
                <a:cs typeface="Maven Pro"/>
                <a:sym typeface="Maven Pro"/>
              </a:rPr>
              <a:t> &gt;= 2 </a:t>
            </a:r>
            <a:r>
              <a:rPr lang="en-US" sz="1600" b="1" dirty="0" err="1" smtClean="0">
                <a:solidFill>
                  <a:srgbClr val="FF0000"/>
                </a:solidFill>
                <a:ea typeface="Maven Pro"/>
                <a:cs typeface="Maven Pro"/>
                <a:sym typeface="Maven Pro"/>
              </a:rPr>
              <a:t>lần</a:t>
            </a:r>
            <a:r>
              <a:rPr lang="en-US" sz="1600" b="1" dirty="0" smtClean="0">
                <a:solidFill>
                  <a:srgbClr val="FF0000"/>
                </a:solidFill>
                <a:ea typeface="Maven Pro"/>
                <a:cs typeface="Maven Pro"/>
                <a:sym typeface="Maven Pro"/>
              </a:rPr>
              <a:t> </a:t>
            </a:r>
            <a:r>
              <a:rPr lang="en-US" sz="1600" b="1" dirty="0" err="1" smtClean="0">
                <a:solidFill>
                  <a:srgbClr val="FF0000"/>
                </a:solidFill>
                <a:ea typeface="Maven Pro"/>
                <a:cs typeface="Maven Pro"/>
                <a:sym typeface="Maven Pro"/>
              </a:rPr>
              <a:t>thân</a:t>
            </a:r>
            <a:r>
              <a:rPr lang="en-US" sz="1600" b="1" dirty="0" smtClean="0">
                <a:solidFill>
                  <a:srgbClr val="FF0000"/>
                </a:solidFill>
                <a:ea typeface="Maven Pro"/>
                <a:cs typeface="Maven Pro"/>
                <a:sym typeface="Maven Pro"/>
              </a:rPr>
              <a:t> </a:t>
            </a:r>
            <a:r>
              <a:rPr lang="en-US" sz="1600" b="1" dirty="0" err="1" smtClean="0">
                <a:solidFill>
                  <a:srgbClr val="FF0000"/>
                </a:solidFill>
                <a:ea typeface="Maven Pro"/>
                <a:cs typeface="Maven Pro"/>
                <a:sym typeface="Maven Pro"/>
              </a:rPr>
              <a:t>nến</a:t>
            </a:r>
            <a:r>
              <a:rPr lang="en-US" sz="1600" b="1" dirty="0" smtClean="0">
                <a:solidFill>
                  <a:srgbClr val="FF0000"/>
                </a:solidFill>
                <a:ea typeface="Maven Pro"/>
                <a:cs typeface="Maven Pro"/>
                <a:sym typeface="Maven Pro"/>
              </a:rPr>
              <a:t> </a:t>
            </a:r>
          </a:p>
          <a:p>
            <a:pPr marL="101600" lvl="0">
              <a:lnSpc>
                <a:spcPct val="115000"/>
              </a:lnSpc>
              <a:spcBef>
                <a:spcPts val="1600"/>
              </a:spcBef>
              <a:buClr>
                <a:schemeClr val="dk1"/>
              </a:buClr>
              <a:buSzPts val="2000"/>
            </a:pPr>
            <a:endParaRPr lang="en-US" sz="1600" dirty="0">
              <a:solidFill>
                <a:schemeClr val="tx1"/>
              </a:solidFill>
              <a:ea typeface="Maven Pro"/>
              <a:cs typeface="Maven Pro"/>
              <a:sym typeface="Maven Pro"/>
            </a:endParaRPr>
          </a:p>
          <a:p>
            <a:pPr marL="101600" lvl="0">
              <a:lnSpc>
                <a:spcPct val="115000"/>
              </a:lnSpc>
              <a:spcBef>
                <a:spcPts val="1600"/>
              </a:spcBef>
              <a:buClr>
                <a:schemeClr val="dk1"/>
              </a:buClr>
              <a:buSzPts val="2000"/>
            </a:pPr>
            <a:r>
              <a:rPr lang="en-US" sz="1600" b="1" dirty="0" smtClean="0">
                <a:solidFill>
                  <a:schemeClr val="dk1"/>
                </a:solidFill>
                <a:latin typeface="+mn-lt"/>
                <a:ea typeface="Maven Pro"/>
                <a:cs typeface="Maven Pro"/>
                <a:sym typeface="Maven Pro"/>
              </a:rPr>
              <a:t>      </a:t>
            </a:r>
            <a:endParaRPr sz="1600" b="1" dirty="0">
              <a:solidFill>
                <a:schemeClr val="dk1"/>
              </a:solidFill>
              <a:latin typeface="+mn-lt"/>
              <a:ea typeface="Maven Pro"/>
              <a:cs typeface="Maven Pro"/>
              <a:sym typeface="Maven Pro"/>
            </a:endParaRPr>
          </a:p>
        </p:txBody>
      </p:sp>
      <p:pic>
        <p:nvPicPr>
          <p:cNvPr id="5" name="Google Shape;124;p4"/>
          <p:cNvPicPr preferRelativeResize="0"/>
          <p:nvPr/>
        </p:nvPicPr>
        <p:blipFill>
          <a:blip r:embed="rId3">
            <a:alphaModFix/>
          </a:blip>
          <a:stretch>
            <a:fillRect/>
          </a:stretch>
        </p:blipFill>
        <p:spPr>
          <a:xfrm>
            <a:off x="708791" y="3526971"/>
            <a:ext cx="5803976" cy="1464908"/>
          </a:xfrm>
          <a:prstGeom prst="rect">
            <a:avLst/>
          </a:prstGeom>
          <a:noFill/>
          <a:ln>
            <a:noFill/>
          </a:ln>
        </p:spPr>
      </p:pic>
      <p:sp>
        <p:nvSpPr>
          <p:cNvPr id="6" name="Google Shape;125;p4"/>
          <p:cNvSpPr txBox="1"/>
          <p:nvPr/>
        </p:nvSpPr>
        <p:spPr>
          <a:xfrm>
            <a:off x="1260739" y="5203844"/>
            <a:ext cx="7415700" cy="369291"/>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Clr>
                <a:schemeClr val="dk1"/>
              </a:buClr>
              <a:buSzPts val="1100"/>
              <a:buFont typeface="Arial"/>
              <a:buNone/>
            </a:pPr>
            <a:r>
              <a:rPr lang="vi-VN" sz="1800" b="1" dirty="0">
                <a:solidFill>
                  <a:srgbClr val="00B050"/>
                </a:solidFill>
              </a:rPr>
              <a:t>GIÁ MỞ CỦA &amp; GIÁ ĐÓNG CỬA GẦN NHƯ NẰM TẠI CÙNG 1 </a:t>
            </a:r>
            <a:r>
              <a:rPr lang="vi-VN" sz="1800" b="1" dirty="0" smtClean="0">
                <a:solidFill>
                  <a:srgbClr val="00B050"/>
                </a:solidFill>
              </a:rPr>
              <a:t>ĐIỂM</a:t>
            </a:r>
            <a:endParaRPr sz="1800" b="1" dirty="0">
              <a:solidFill>
                <a:schemeClr val="dk1"/>
              </a:solidFill>
            </a:endParaRPr>
          </a:p>
        </p:txBody>
      </p:sp>
      <p:pic>
        <p:nvPicPr>
          <p:cNvPr id="7" name="Google Shape;126;p4"/>
          <p:cNvPicPr preferRelativeResize="0"/>
          <p:nvPr/>
        </p:nvPicPr>
        <p:blipFill>
          <a:blip r:embed="rId3">
            <a:alphaModFix/>
          </a:blip>
          <a:stretch>
            <a:fillRect/>
          </a:stretch>
        </p:blipFill>
        <p:spPr>
          <a:xfrm>
            <a:off x="304800" y="5050507"/>
            <a:ext cx="833200" cy="689000"/>
          </a:xfrm>
          <a:prstGeom prst="rect">
            <a:avLst/>
          </a:prstGeom>
          <a:noFill/>
          <a:ln>
            <a:noFill/>
          </a:ln>
        </p:spPr>
      </p:pic>
    </p:spTree>
    <p:extLst>
      <p:ext uri="{BB962C8B-B14F-4D97-AF65-F5344CB8AC3E}">
        <p14:creationId xmlns:p14="http://schemas.microsoft.com/office/powerpoint/2010/main" val="190297420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830956"/>
          </a:xfrm>
          <a:prstGeom prst="rect">
            <a:avLst/>
          </a:prstGeom>
          <a:noFill/>
          <a:ln>
            <a:noFill/>
          </a:ln>
        </p:spPr>
        <p:txBody>
          <a:bodyPr spcFirstLastPara="1" wrap="square" lIns="91425" tIns="45700" rIns="91425" bIns="45700" anchor="t" anchorCtr="0">
            <a:spAutoFit/>
          </a:bodyPr>
          <a:lstStyle/>
          <a:p>
            <a:pPr>
              <a:buSzPts val="2000"/>
            </a:pPr>
            <a:r>
              <a:rPr lang="en-US" sz="2400" b="1" dirty="0" smtClean="0">
                <a:solidFill>
                  <a:schemeClr val="bg1"/>
                </a:solidFill>
              </a:rPr>
              <a:t>I</a:t>
            </a:r>
            <a:r>
              <a:rPr lang="en-US" sz="2400" dirty="0" smtClean="0">
                <a:solidFill>
                  <a:schemeClr val="bg1"/>
                </a:solidFill>
              </a:rPr>
              <a:t>. </a:t>
            </a:r>
            <a:r>
              <a:rPr lang="en-US" sz="2400" b="1" dirty="0" smtClean="0">
                <a:solidFill>
                  <a:schemeClr val="bg1"/>
                </a:solidFill>
                <a:ea typeface="Maven Pro"/>
                <a:cs typeface="Maven Pro"/>
                <a:sym typeface="Maven Pro"/>
              </a:rPr>
              <a:t>Chiến </a:t>
            </a:r>
            <a:r>
              <a:rPr lang="en-US" sz="2400" b="1" dirty="0" err="1">
                <a:solidFill>
                  <a:schemeClr val="bg1"/>
                </a:solidFill>
                <a:ea typeface="Maven Pro"/>
                <a:cs typeface="Maven Pro"/>
                <a:sym typeface="Maven Pro"/>
              </a:rPr>
              <a:t>lược</a:t>
            </a:r>
            <a:r>
              <a:rPr lang="en-US" sz="2400" b="1" dirty="0">
                <a:solidFill>
                  <a:schemeClr val="bg1"/>
                </a:solidFill>
                <a:ea typeface="Maven Pro"/>
                <a:cs typeface="Maven Pro"/>
                <a:sym typeface="Maven Pro"/>
              </a:rPr>
              <a:t> </a:t>
            </a:r>
            <a:r>
              <a:rPr lang="en-US" sz="2400" b="1" dirty="0" err="1">
                <a:solidFill>
                  <a:schemeClr val="bg1"/>
                </a:solidFill>
                <a:ea typeface="Maven Pro"/>
                <a:cs typeface="Maven Pro"/>
                <a:sym typeface="Maven Pro"/>
              </a:rPr>
              <a:t>để</a:t>
            </a:r>
            <a:r>
              <a:rPr lang="en-US" sz="2400" b="1" dirty="0">
                <a:solidFill>
                  <a:schemeClr val="bg1"/>
                </a:solidFill>
                <a:ea typeface="Maven Pro"/>
                <a:cs typeface="Maven Pro"/>
                <a:sym typeface="Maven Pro"/>
              </a:rPr>
              <a:t> </a:t>
            </a:r>
            <a:r>
              <a:rPr lang="en-US" sz="2400" b="1" dirty="0" err="1">
                <a:solidFill>
                  <a:schemeClr val="bg1"/>
                </a:solidFill>
                <a:ea typeface="Maven Pro"/>
                <a:cs typeface="Maven Pro"/>
                <a:sym typeface="Maven Pro"/>
              </a:rPr>
              <a:t>vào</a:t>
            </a:r>
            <a:r>
              <a:rPr lang="en-US" sz="2400" b="1" dirty="0">
                <a:solidFill>
                  <a:schemeClr val="bg1"/>
                </a:solidFill>
                <a:ea typeface="Maven Pro"/>
                <a:cs typeface="Maven Pro"/>
                <a:sym typeface="Maven Pro"/>
              </a:rPr>
              <a:t> </a:t>
            </a:r>
            <a:r>
              <a:rPr lang="en-US" sz="2400" b="1" dirty="0" err="1">
                <a:solidFill>
                  <a:schemeClr val="bg1"/>
                </a:solidFill>
                <a:ea typeface="Maven Pro"/>
                <a:cs typeface="Maven Pro"/>
                <a:sym typeface="Maven Pro"/>
              </a:rPr>
              <a:t>lệnh</a:t>
            </a:r>
            <a:endParaRPr lang="en-US" sz="2400" b="1" dirty="0">
              <a:solidFill>
                <a:schemeClr val="bg1"/>
              </a:solidFill>
              <a:ea typeface="Maven Pro"/>
              <a:cs typeface="Maven Pro"/>
              <a:sym typeface="Maven Pro"/>
            </a:endParaRPr>
          </a:p>
          <a:p>
            <a:pPr marL="0" marR="0" lvl="0" indent="0" algn="l" rtl="0">
              <a:lnSpc>
                <a:spcPct val="100000"/>
              </a:lnSpc>
              <a:spcBef>
                <a:spcPts val="0"/>
              </a:spcBef>
              <a:spcAft>
                <a:spcPts val="0"/>
              </a:spcAft>
              <a:buClr>
                <a:srgbClr val="000000"/>
              </a:buClr>
              <a:buSzPts val="2000"/>
              <a:buFont typeface="Arial"/>
              <a:buNone/>
            </a:pPr>
            <a:endParaRPr sz="2400" b="0" i="0" u="none" strike="noStrike" cap="none" dirty="0">
              <a:solidFill>
                <a:schemeClr val="lt1"/>
              </a:solidFill>
              <a:latin typeface="Arial"/>
              <a:ea typeface="Arial"/>
              <a:cs typeface="Arial"/>
              <a:sym typeface="Arial"/>
            </a:endParaRPr>
          </a:p>
        </p:txBody>
      </p:sp>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101600" lvl="0">
              <a:lnSpc>
                <a:spcPct val="115000"/>
              </a:lnSpc>
              <a:spcBef>
                <a:spcPts val="1600"/>
              </a:spcBef>
              <a:buClr>
                <a:schemeClr val="dk1"/>
              </a:buClr>
              <a:buSzPts val="2000"/>
            </a:pPr>
            <a:r>
              <a:rPr lang="en-US" sz="1600" b="1" dirty="0" smtClean="0">
                <a:solidFill>
                  <a:schemeClr val="tx1"/>
                </a:solidFill>
                <a:ea typeface="Maven Pro"/>
                <a:cs typeface="Maven Pro"/>
                <a:sym typeface="Maven Pro"/>
              </a:rPr>
              <a:t>I.1. </a:t>
            </a:r>
            <a:r>
              <a:rPr lang="en-US" sz="1600" b="1" dirty="0">
                <a:solidFill>
                  <a:schemeClr val="tx1"/>
                </a:solidFill>
                <a:ea typeface="Maven Pro"/>
                <a:cs typeface="Maven Pro"/>
                <a:sym typeface="Maven Pro"/>
              </a:rPr>
              <a:t>Chiến </a:t>
            </a:r>
            <a:r>
              <a:rPr lang="en-US" sz="1600" b="1" dirty="0" err="1">
                <a:solidFill>
                  <a:schemeClr val="tx1"/>
                </a:solidFill>
                <a:ea typeface="Maven Pro"/>
                <a:cs typeface="Maven Pro"/>
                <a:sym typeface="Maven Pro"/>
              </a:rPr>
              <a:t>lược</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nến</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Doji</a:t>
            </a:r>
            <a:r>
              <a:rPr lang="en-US" sz="1600" b="1" dirty="0">
                <a:solidFill>
                  <a:schemeClr val="tx1"/>
                </a:solidFill>
                <a:ea typeface="Maven Pro"/>
                <a:cs typeface="Maven Pro"/>
                <a:sym typeface="Maven Pro"/>
              </a:rPr>
              <a:t> – </a:t>
            </a:r>
            <a:r>
              <a:rPr lang="en-US" sz="1600" b="1" dirty="0" err="1">
                <a:solidFill>
                  <a:schemeClr val="tx1"/>
                </a:solidFill>
                <a:ea typeface="Maven Pro"/>
                <a:cs typeface="Maven Pro"/>
                <a:sym typeface="Maven Pro"/>
              </a:rPr>
              <a:t>Doji</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chân</a:t>
            </a:r>
            <a:r>
              <a:rPr lang="en-US" sz="1600" b="1" dirty="0">
                <a:solidFill>
                  <a:schemeClr val="tx1"/>
                </a:solidFill>
                <a:ea typeface="Maven Pro"/>
                <a:cs typeface="Maven Pro"/>
                <a:sym typeface="Maven Pro"/>
              </a:rPr>
              <a:t> </a:t>
            </a:r>
            <a:r>
              <a:rPr lang="en-US" sz="1600" b="1" dirty="0" err="1" smtClean="0">
                <a:solidFill>
                  <a:schemeClr val="tx1"/>
                </a:solidFill>
                <a:ea typeface="Maven Pro"/>
                <a:cs typeface="Maven Pro"/>
                <a:sym typeface="Maven Pro"/>
              </a:rPr>
              <a:t>dài</a:t>
            </a:r>
            <a:endParaRPr lang="en-US" sz="1600" b="1" dirty="0" smtClean="0">
              <a:solidFill>
                <a:schemeClr val="tx1"/>
              </a:solidFill>
              <a:ea typeface="Maven Pro"/>
              <a:cs typeface="Maven Pro"/>
              <a:sym typeface="Maven Pro"/>
            </a:endParaRPr>
          </a:p>
          <a:p>
            <a:pPr marL="387350" lvl="0" indent="-285750">
              <a:lnSpc>
                <a:spcPct val="115000"/>
              </a:lnSpc>
              <a:spcBef>
                <a:spcPts val="1600"/>
              </a:spcBef>
              <a:buClr>
                <a:schemeClr val="dk1"/>
              </a:buClr>
              <a:buSzPts val="2000"/>
              <a:buFontTx/>
              <a:buChar char="-"/>
            </a:pPr>
            <a:r>
              <a:rPr lang="en-US" sz="1600" dirty="0" err="1" smtClean="0">
                <a:solidFill>
                  <a:schemeClr val="tx1"/>
                </a:solidFill>
                <a:ea typeface="Maven Pro"/>
                <a:cs typeface="Maven Pro"/>
                <a:sym typeface="Maven Pro"/>
              </a:rPr>
              <a:t>Nhận</a:t>
            </a:r>
            <a:r>
              <a:rPr lang="en-US" sz="1600" dirty="0" smtClean="0">
                <a:solidFill>
                  <a:schemeClr val="tx1"/>
                </a:solidFill>
                <a:ea typeface="Maven Pro"/>
                <a:cs typeface="Maven Pro"/>
                <a:sym typeface="Maven Pro"/>
              </a:rPr>
              <a:t> </a:t>
            </a:r>
            <a:r>
              <a:rPr lang="en-US" sz="1600" dirty="0" err="1">
                <a:solidFill>
                  <a:schemeClr val="tx1"/>
                </a:solidFill>
                <a:ea typeface="Maven Pro"/>
                <a:cs typeface="Maven Pro"/>
                <a:sym typeface="Maven Pro"/>
              </a:rPr>
              <a:t>diện</a:t>
            </a:r>
            <a:r>
              <a:rPr lang="en-US" sz="1600" dirty="0">
                <a:solidFill>
                  <a:schemeClr val="tx1"/>
                </a:solidFill>
                <a:ea typeface="Maven Pro"/>
                <a:cs typeface="Maven Pro"/>
                <a:sym typeface="Maven Pro"/>
              </a:rPr>
              <a:t> </a:t>
            </a:r>
            <a:r>
              <a:rPr lang="en-US" sz="1600" dirty="0" err="1">
                <a:solidFill>
                  <a:schemeClr val="tx1"/>
                </a:solidFill>
                <a:ea typeface="Maven Pro"/>
                <a:cs typeface="Maven Pro"/>
                <a:sym typeface="Maven Pro"/>
              </a:rPr>
              <a:t>nến</a:t>
            </a:r>
            <a:r>
              <a:rPr lang="en-US" sz="1600" dirty="0">
                <a:solidFill>
                  <a:schemeClr val="tx1"/>
                </a:solidFill>
                <a:ea typeface="Maven Pro"/>
                <a:cs typeface="Maven Pro"/>
                <a:sym typeface="Maven Pro"/>
              </a:rPr>
              <a:t> </a:t>
            </a:r>
            <a:r>
              <a:rPr lang="en-US" sz="1600" dirty="0" err="1">
                <a:solidFill>
                  <a:schemeClr val="tx1"/>
                </a:solidFill>
                <a:ea typeface="Maven Pro"/>
                <a:cs typeface="Maven Pro"/>
                <a:sym typeface="Maven Pro"/>
              </a:rPr>
              <a:t>Doji</a:t>
            </a:r>
            <a:r>
              <a:rPr lang="en-US" sz="1600" dirty="0">
                <a:solidFill>
                  <a:schemeClr val="tx1"/>
                </a:solidFill>
                <a:ea typeface="Maven Pro"/>
                <a:cs typeface="Maven Pro"/>
                <a:sym typeface="Maven Pro"/>
              </a:rPr>
              <a:t> </a:t>
            </a:r>
            <a:r>
              <a:rPr lang="en-US" sz="1600" dirty="0" err="1">
                <a:solidFill>
                  <a:schemeClr val="tx1"/>
                </a:solidFill>
                <a:ea typeface="Maven Pro"/>
                <a:cs typeface="Maven Pro"/>
                <a:sym typeface="Maven Pro"/>
              </a:rPr>
              <a:t>chân</a:t>
            </a:r>
            <a:r>
              <a:rPr lang="en-US" sz="1600" dirty="0">
                <a:solidFill>
                  <a:schemeClr val="tx1"/>
                </a:solidFill>
                <a:ea typeface="Maven Pro"/>
                <a:cs typeface="Maven Pro"/>
                <a:sym typeface="Maven Pro"/>
              </a:rPr>
              <a:t> </a:t>
            </a:r>
            <a:r>
              <a:rPr lang="en-US" sz="1600" dirty="0" err="1" smtClean="0">
                <a:solidFill>
                  <a:schemeClr val="tx1"/>
                </a:solidFill>
                <a:ea typeface="Maven Pro"/>
                <a:cs typeface="Maven Pro"/>
                <a:sym typeface="Maven Pro"/>
              </a:rPr>
              <a:t>dài</a:t>
            </a:r>
            <a:endParaRPr lang="en-US" sz="1600" dirty="0" smtClean="0">
              <a:solidFill>
                <a:schemeClr val="tx1"/>
              </a:solidFill>
              <a:ea typeface="Maven Pro"/>
              <a:cs typeface="Maven Pro"/>
              <a:sym typeface="Maven Pro"/>
            </a:endParaRPr>
          </a:p>
          <a:p>
            <a:pPr marL="387350" lvl="0" indent="-285750">
              <a:lnSpc>
                <a:spcPct val="115000"/>
              </a:lnSpc>
              <a:spcBef>
                <a:spcPts val="1600"/>
              </a:spcBef>
              <a:buClr>
                <a:schemeClr val="dk1"/>
              </a:buClr>
              <a:buSzPts val="2000"/>
              <a:buFontTx/>
              <a:buChar char="-"/>
            </a:pPr>
            <a:endParaRPr lang="en-US" sz="1600" b="1" dirty="0" smtClean="0">
              <a:solidFill>
                <a:schemeClr val="tx1"/>
              </a:solidFill>
              <a:ea typeface="Maven Pro"/>
              <a:cs typeface="Maven Pro"/>
              <a:sym typeface="Maven Pro"/>
            </a:endParaRPr>
          </a:p>
          <a:p>
            <a:pPr marL="101600" lvl="0">
              <a:lnSpc>
                <a:spcPct val="115000"/>
              </a:lnSpc>
              <a:spcBef>
                <a:spcPts val="1600"/>
              </a:spcBef>
              <a:buClr>
                <a:schemeClr val="dk1"/>
              </a:buClr>
              <a:buSzPts val="2000"/>
            </a:pPr>
            <a:endParaRPr lang="en-US" sz="1600" dirty="0">
              <a:solidFill>
                <a:schemeClr val="tx1"/>
              </a:solidFill>
              <a:ea typeface="Maven Pro"/>
              <a:cs typeface="Maven Pro"/>
              <a:sym typeface="Maven Pro"/>
            </a:endParaRPr>
          </a:p>
          <a:p>
            <a:pPr marL="101600" lvl="0">
              <a:lnSpc>
                <a:spcPct val="115000"/>
              </a:lnSpc>
              <a:spcBef>
                <a:spcPts val="1600"/>
              </a:spcBef>
              <a:buClr>
                <a:schemeClr val="dk1"/>
              </a:buClr>
              <a:buSzPts val="2000"/>
            </a:pPr>
            <a:r>
              <a:rPr lang="en-US" sz="1600" b="1" dirty="0" smtClean="0">
                <a:solidFill>
                  <a:schemeClr val="dk1"/>
                </a:solidFill>
                <a:latin typeface="+mn-lt"/>
                <a:ea typeface="Maven Pro"/>
                <a:cs typeface="Maven Pro"/>
                <a:sym typeface="Maven Pro"/>
              </a:rPr>
              <a:t>      </a:t>
            </a:r>
            <a:endParaRPr sz="1600" b="1" dirty="0">
              <a:solidFill>
                <a:schemeClr val="dk1"/>
              </a:solidFill>
              <a:latin typeface="+mn-lt"/>
              <a:ea typeface="Maven Pro"/>
              <a:cs typeface="Maven Pro"/>
              <a:sym typeface="Maven Pro"/>
            </a:endParaRPr>
          </a:p>
        </p:txBody>
      </p:sp>
      <p:sp>
        <p:nvSpPr>
          <p:cNvPr id="6" name="Google Shape;125;p4"/>
          <p:cNvSpPr txBox="1"/>
          <p:nvPr/>
        </p:nvSpPr>
        <p:spPr>
          <a:xfrm>
            <a:off x="1260739" y="5539751"/>
            <a:ext cx="7415700" cy="369291"/>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Clr>
                <a:schemeClr val="dk1"/>
              </a:buClr>
              <a:buSzPts val="1100"/>
              <a:buFont typeface="Arial"/>
              <a:buNone/>
            </a:pPr>
            <a:r>
              <a:rPr lang="vi-VN" sz="1800" b="1" dirty="0">
                <a:solidFill>
                  <a:srgbClr val="00B050"/>
                </a:solidFill>
              </a:rPr>
              <a:t>GIÁ MỞ CỦA &amp; GIÁ ĐÓNG CỬA GẦN NHƯ NẰM TẠI CÙNG 1 </a:t>
            </a:r>
            <a:r>
              <a:rPr lang="vi-VN" sz="1800" b="1" dirty="0" smtClean="0">
                <a:solidFill>
                  <a:srgbClr val="00B050"/>
                </a:solidFill>
              </a:rPr>
              <a:t>ĐIỂM</a:t>
            </a:r>
            <a:endParaRPr sz="1800" b="1" dirty="0">
              <a:solidFill>
                <a:schemeClr val="dk1"/>
              </a:solidFill>
            </a:endParaRPr>
          </a:p>
        </p:txBody>
      </p:sp>
      <p:pic>
        <p:nvPicPr>
          <p:cNvPr id="7" name="Google Shape;126;p4"/>
          <p:cNvPicPr preferRelativeResize="0"/>
          <p:nvPr/>
        </p:nvPicPr>
        <p:blipFill>
          <a:blip r:embed="rId3">
            <a:alphaModFix/>
          </a:blip>
          <a:stretch>
            <a:fillRect/>
          </a:stretch>
        </p:blipFill>
        <p:spPr>
          <a:xfrm>
            <a:off x="304800" y="5386414"/>
            <a:ext cx="833200" cy="689000"/>
          </a:xfrm>
          <a:prstGeom prst="rect">
            <a:avLst/>
          </a:prstGeom>
          <a:noFill/>
          <a:ln>
            <a:noFill/>
          </a:ln>
        </p:spPr>
      </p:pic>
      <p:pic>
        <p:nvPicPr>
          <p:cNvPr id="3" name="Picture 2"/>
          <p:cNvPicPr>
            <a:picLocks noChangeAspect="1"/>
          </p:cNvPicPr>
          <p:nvPr/>
        </p:nvPicPr>
        <p:blipFill>
          <a:blip r:embed="rId3"/>
          <a:stretch>
            <a:fillRect/>
          </a:stretch>
        </p:blipFill>
        <p:spPr>
          <a:xfrm>
            <a:off x="424876" y="1726628"/>
            <a:ext cx="5994586" cy="3642370"/>
          </a:xfrm>
          <a:prstGeom prst="rect">
            <a:avLst/>
          </a:prstGeom>
        </p:spPr>
      </p:pic>
    </p:spTree>
    <p:extLst>
      <p:ext uri="{BB962C8B-B14F-4D97-AF65-F5344CB8AC3E}">
        <p14:creationId xmlns:p14="http://schemas.microsoft.com/office/powerpoint/2010/main" val="331754310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830956"/>
          </a:xfrm>
          <a:prstGeom prst="rect">
            <a:avLst/>
          </a:prstGeom>
          <a:noFill/>
          <a:ln>
            <a:noFill/>
          </a:ln>
        </p:spPr>
        <p:txBody>
          <a:bodyPr spcFirstLastPara="1" wrap="square" lIns="91425" tIns="45700" rIns="91425" bIns="45700" anchor="t" anchorCtr="0">
            <a:spAutoFit/>
          </a:bodyPr>
          <a:lstStyle/>
          <a:p>
            <a:pPr>
              <a:buSzPts val="2000"/>
            </a:pPr>
            <a:r>
              <a:rPr lang="en-US" sz="2400" b="1" dirty="0" smtClean="0">
                <a:solidFill>
                  <a:schemeClr val="bg1"/>
                </a:solidFill>
              </a:rPr>
              <a:t>I. </a:t>
            </a:r>
            <a:r>
              <a:rPr lang="en-US" sz="2400" b="1" dirty="0" smtClean="0">
                <a:solidFill>
                  <a:schemeClr val="bg1"/>
                </a:solidFill>
                <a:ea typeface="Maven Pro"/>
                <a:cs typeface="Maven Pro"/>
                <a:sym typeface="Maven Pro"/>
              </a:rPr>
              <a:t>Chiến </a:t>
            </a:r>
            <a:r>
              <a:rPr lang="en-US" sz="2400" b="1" dirty="0" err="1">
                <a:solidFill>
                  <a:schemeClr val="bg1"/>
                </a:solidFill>
                <a:ea typeface="Maven Pro"/>
                <a:cs typeface="Maven Pro"/>
                <a:sym typeface="Maven Pro"/>
              </a:rPr>
              <a:t>lược</a:t>
            </a:r>
            <a:r>
              <a:rPr lang="en-US" sz="2400" b="1" dirty="0">
                <a:solidFill>
                  <a:schemeClr val="bg1"/>
                </a:solidFill>
                <a:ea typeface="Maven Pro"/>
                <a:cs typeface="Maven Pro"/>
                <a:sym typeface="Maven Pro"/>
              </a:rPr>
              <a:t> </a:t>
            </a:r>
            <a:r>
              <a:rPr lang="en-US" sz="2400" b="1" dirty="0" err="1">
                <a:solidFill>
                  <a:schemeClr val="bg1"/>
                </a:solidFill>
                <a:ea typeface="Maven Pro"/>
                <a:cs typeface="Maven Pro"/>
                <a:sym typeface="Maven Pro"/>
              </a:rPr>
              <a:t>để</a:t>
            </a:r>
            <a:r>
              <a:rPr lang="en-US" sz="2400" b="1" dirty="0">
                <a:solidFill>
                  <a:schemeClr val="bg1"/>
                </a:solidFill>
                <a:ea typeface="Maven Pro"/>
                <a:cs typeface="Maven Pro"/>
                <a:sym typeface="Maven Pro"/>
              </a:rPr>
              <a:t> </a:t>
            </a:r>
            <a:r>
              <a:rPr lang="en-US" sz="2400" b="1" dirty="0" err="1">
                <a:solidFill>
                  <a:schemeClr val="bg1"/>
                </a:solidFill>
                <a:ea typeface="Maven Pro"/>
                <a:cs typeface="Maven Pro"/>
                <a:sym typeface="Maven Pro"/>
              </a:rPr>
              <a:t>vào</a:t>
            </a:r>
            <a:r>
              <a:rPr lang="en-US" sz="2400" b="1" dirty="0">
                <a:solidFill>
                  <a:schemeClr val="bg1"/>
                </a:solidFill>
                <a:ea typeface="Maven Pro"/>
                <a:cs typeface="Maven Pro"/>
                <a:sym typeface="Maven Pro"/>
              </a:rPr>
              <a:t> </a:t>
            </a:r>
            <a:r>
              <a:rPr lang="en-US" sz="2400" b="1" dirty="0" err="1">
                <a:solidFill>
                  <a:schemeClr val="bg1"/>
                </a:solidFill>
                <a:ea typeface="Maven Pro"/>
                <a:cs typeface="Maven Pro"/>
                <a:sym typeface="Maven Pro"/>
              </a:rPr>
              <a:t>lệnh</a:t>
            </a:r>
            <a:endParaRPr lang="en-US" sz="2400" b="1" dirty="0">
              <a:solidFill>
                <a:schemeClr val="bg1"/>
              </a:solidFill>
              <a:ea typeface="Maven Pro"/>
              <a:cs typeface="Maven Pro"/>
              <a:sym typeface="Maven Pro"/>
            </a:endParaRPr>
          </a:p>
          <a:p>
            <a:pPr marL="0" marR="0" lvl="0" indent="0" algn="l" rtl="0">
              <a:lnSpc>
                <a:spcPct val="100000"/>
              </a:lnSpc>
              <a:spcBef>
                <a:spcPts val="0"/>
              </a:spcBef>
              <a:spcAft>
                <a:spcPts val="0"/>
              </a:spcAft>
              <a:buClr>
                <a:srgbClr val="000000"/>
              </a:buClr>
              <a:buSzPts val="2000"/>
              <a:buFont typeface="Arial"/>
              <a:buNone/>
            </a:pPr>
            <a:endParaRPr sz="2400" b="0" i="0" u="none" strike="noStrike" cap="none" dirty="0">
              <a:solidFill>
                <a:schemeClr val="lt1"/>
              </a:solidFill>
              <a:latin typeface="Arial"/>
              <a:ea typeface="Arial"/>
              <a:cs typeface="Arial"/>
              <a:sym typeface="Arial"/>
            </a:endParaRPr>
          </a:p>
        </p:txBody>
      </p:sp>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101600" lvl="0">
              <a:lnSpc>
                <a:spcPct val="115000"/>
              </a:lnSpc>
              <a:spcBef>
                <a:spcPts val="1600"/>
              </a:spcBef>
              <a:buClr>
                <a:schemeClr val="dk1"/>
              </a:buClr>
              <a:buSzPts val="2000"/>
            </a:pPr>
            <a:r>
              <a:rPr lang="en-US" sz="1600" b="1" dirty="0" smtClean="0">
                <a:solidFill>
                  <a:schemeClr val="tx1"/>
                </a:solidFill>
                <a:ea typeface="Maven Pro"/>
                <a:cs typeface="Maven Pro"/>
                <a:sym typeface="Maven Pro"/>
              </a:rPr>
              <a:t>I.1. </a:t>
            </a:r>
            <a:r>
              <a:rPr lang="en-US" sz="1600" b="1" dirty="0">
                <a:solidFill>
                  <a:schemeClr val="tx1"/>
                </a:solidFill>
                <a:ea typeface="Maven Pro"/>
                <a:cs typeface="Maven Pro"/>
                <a:sym typeface="Maven Pro"/>
              </a:rPr>
              <a:t>Chiến </a:t>
            </a:r>
            <a:r>
              <a:rPr lang="en-US" sz="1600" b="1" dirty="0" err="1">
                <a:solidFill>
                  <a:schemeClr val="tx1"/>
                </a:solidFill>
                <a:ea typeface="Maven Pro"/>
                <a:cs typeface="Maven Pro"/>
                <a:sym typeface="Maven Pro"/>
              </a:rPr>
              <a:t>lược</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nến</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Doji</a:t>
            </a:r>
            <a:r>
              <a:rPr lang="en-US" sz="1600" b="1" dirty="0">
                <a:solidFill>
                  <a:schemeClr val="tx1"/>
                </a:solidFill>
                <a:ea typeface="Maven Pro"/>
                <a:cs typeface="Maven Pro"/>
                <a:sym typeface="Maven Pro"/>
              </a:rPr>
              <a:t> – </a:t>
            </a:r>
            <a:r>
              <a:rPr lang="en-US" sz="1600" b="1" dirty="0" err="1">
                <a:solidFill>
                  <a:schemeClr val="tx1"/>
                </a:solidFill>
                <a:ea typeface="Maven Pro"/>
                <a:cs typeface="Maven Pro"/>
                <a:sym typeface="Maven Pro"/>
              </a:rPr>
              <a:t>Doji</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chân</a:t>
            </a:r>
            <a:r>
              <a:rPr lang="en-US" sz="1600" b="1" dirty="0">
                <a:solidFill>
                  <a:schemeClr val="tx1"/>
                </a:solidFill>
                <a:ea typeface="Maven Pro"/>
                <a:cs typeface="Maven Pro"/>
                <a:sym typeface="Maven Pro"/>
              </a:rPr>
              <a:t> </a:t>
            </a:r>
            <a:r>
              <a:rPr lang="en-US" sz="1600" b="1" dirty="0" err="1" smtClean="0">
                <a:solidFill>
                  <a:schemeClr val="tx1"/>
                </a:solidFill>
                <a:ea typeface="Maven Pro"/>
                <a:cs typeface="Maven Pro"/>
                <a:sym typeface="Maven Pro"/>
              </a:rPr>
              <a:t>dài</a:t>
            </a:r>
            <a:endParaRPr lang="en-US" sz="1600" b="1" dirty="0" smtClean="0">
              <a:solidFill>
                <a:schemeClr val="tx1"/>
              </a:solidFill>
              <a:ea typeface="Maven Pro"/>
              <a:cs typeface="Maven Pro"/>
              <a:sym typeface="Maven Pro"/>
            </a:endParaRPr>
          </a:p>
          <a:p>
            <a:pPr marL="387350" lvl="0" indent="-285750">
              <a:lnSpc>
                <a:spcPct val="115000"/>
              </a:lnSpc>
              <a:spcBef>
                <a:spcPts val="1600"/>
              </a:spcBef>
              <a:buClr>
                <a:schemeClr val="dk1"/>
              </a:buClr>
              <a:buSzPts val="2000"/>
              <a:buFontTx/>
              <a:buChar char="-"/>
            </a:pPr>
            <a:r>
              <a:rPr lang="en-US" sz="1600" b="1" dirty="0" smtClean="0">
                <a:solidFill>
                  <a:srgbClr val="FF0000"/>
                </a:solidFill>
                <a:ea typeface="Maven Pro"/>
                <a:cs typeface="Maven Pro"/>
                <a:sym typeface="Maven Pro"/>
              </a:rPr>
              <a:t>Code </a:t>
            </a:r>
            <a:r>
              <a:rPr lang="en-US" sz="1600" b="1" dirty="0" err="1" smtClean="0">
                <a:solidFill>
                  <a:srgbClr val="FF0000"/>
                </a:solidFill>
                <a:ea typeface="Maven Pro"/>
                <a:cs typeface="Maven Pro"/>
                <a:sym typeface="Maven Pro"/>
              </a:rPr>
              <a:t>nhận</a:t>
            </a:r>
            <a:r>
              <a:rPr lang="en-US" sz="1600" b="1" dirty="0" smtClean="0">
                <a:solidFill>
                  <a:srgbClr val="FF0000"/>
                </a:solidFill>
                <a:ea typeface="Maven Pro"/>
                <a:cs typeface="Maven Pro"/>
                <a:sym typeface="Maven Pro"/>
              </a:rPr>
              <a:t> </a:t>
            </a:r>
            <a:r>
              <a:rPr lang="en-US" sz="1600" b="1" dirty="0" err="1" smtClean="0">
                <a:solidFill>
                  <a:srgbClr val="FF0000"/>
                </a:solidFill>
                <a:ea typeface="Maven Pro"/>
                <a:cs typeface="Maven Pro"/>
                <a:sym typeface="Maven Pro"/>
              </a:rPr>
              <a:t>diện</a:t>
            </a:r>
            <a:r>
              <a:rPr lang="en-US" sz="1600" b="1" dirty="0" smtClean="0">
                <a:solidFill>
                  <a:srgbClr val="FF0000"/>
                </a:solidFill>
                <a:ea typeface="Maven Pro"/>
                <a:cs typeface="Maven Pro"/>
                <a:sym typeface="Maven Pro"/>
              </a:rPr>
              <a:t> </a:t>
            </a:r>
            <a:r>
              <a:rPr lang="en-US" sz="1600" b="1" dirty="0" err="1" smtClean="0">
                <a:solidFill>
                  <a:srgbClr val="FF0000"/>
                </a:solidFill>
                <a:ea typeface="Maven Pro"/>
                <a:cs typeface="Maven Pro"/>
                <a:sym typeface="Maven Pro"/>
              </a:rPr>
              <a:t>nến</a:t>
            </a:r>
            <a:r>
              <a:rPr lang="en-US" sz="1600" b="1" dirty="0" smtClean="0">
                <a:solidFill>
                  <a:srgbClr val="FF0000"/>
                </a:solidFill>
                <a:ea typeface="Maven Pro"/>
                <a:cs typeface="Maven Pro"/>
                <a:sym typeface="Maven Pro"/>
              </a:rPr>
              <a:t> </a:t>
            </a:r>
            <a:r>
              <a:rPr lang="en-US" sz="1600" b="1" dirty="0" err="1" smtClean="0">
                <a:solidFill>
                  <a:srgbClr val="FF0000"/>
                </a:solidFill>
                <a:ea typeface="Maven Pro"/>
                <a:cs typeface="Maven Pro"/>
                <a:sym typeface="Maven Pro"/>
              </a:rPr>
              <a:t>Doji</a:t>
            </a:r>
            <a:r>
              <a:rPr lang="en-US" sz="1600" b="1" dirty="0" smtClean="0">
                <a:solidFill>
                  <a:srgbClr val="FF0000"/>
                </a:solidFill>
                <a:ea typeface="Maven Pro"/>
                <a:cs typeface="Maven Pro"/>
                <a:sym typeface="Maven Pro"/>
              </a:rPr>
              <a:t> </a:t>
            </a:r>
            <a:r>
              <a:rPr lang="en-US" sz="1600" b="1" dirty="0" err="1" smtClean="0">
                <a:solidFill>
                  <a:srgbClr val="FF0000"/>
                </a:solidFill>
                <a:ea typeface="Maven Pro"/>
                <a:cs typeface="Maven Pro"/>
                <a:sym typeface="Maven Pro"/>
              </a:rPr>
              <a:t>chân</a:t>
            </a:r>
            <a:r>
              <a:rPr lang="en-US" sz="1600" b="1" dirty="0" smtClean="0">
                <a:solidFill>
                  <a:srgbClr val="FF0000"/>
                </a:solidFill>
                <a:ea typeface="Maven Pro"/>
                <a:cs typeface="Maven Pro"/>
                <a:sym typeface="Maven Pro"/>
              </a:rPr>
              <a:t> </a:t>
            </a:r>
            <a:r>
              <a:rPr lang="en-US" sz="1600" b="1" dirty="0" err="1" smtClean="0">
                <a:solidFill>
                  <a:srgbClr val="FF0000"/>
                </a:solidFill>
                <a:ea typeface="Maven Pro"/>
                <a:cs typeface="Maven Pro"/>
                <a:sym typeface="Maven Pro"/>
              </a:rPr>
              <a:t>dài</a:t>
            </a:r>
            <a:r>
              <a:rPr lang="en-US" sz="1600" b="1" dirty="0" smtClean="0">
                <a:solidFill>
                  <a:srgbClr val="FF0000"/>
                </a:solidFill>
                <a:ea typeface="Maven Pro"/>
                <a:cs typeface="Maven Pro"/>
                <a:sym typeface="Maven Pro"/>
              </a:rPr>
              <a:t>: </a:t>
            </a:r>
            <a:r>
              <a:rPr lang="en-US" sz="1600" dirty="0" err="1" smtClean="0">
                <a:solidFill>
                  <a:schemeClr val="tx1"/>
                </a:solidFill>
                <a:ea typeface="Maven Pro"/>
                <a:cs typeface="Maven Pro"/>
                <a:sym typeface="Maven Pro"/>
              </a:rPr>
              <a:t>Vậy</a:t>
            </a:r>
            <a:r>
              <a:rPr lang="en-US" sz="1600" dirty="0" smtClean="0">
                <a:solidFill>
                  <a:schemeClr val="tx1"/>
                </a:solidFill>
                <a:ea typeface="Maven Pro"/>
                <a:cs typeface="Maven Pro"/>
                <a:sym typeface="Maven Pro"/>
              </a:rPr>
              <a:t> </a:t>
            </a:r>
            <a:r>
              <a:rPr lang="en-US" sz="1600" dirty="0" err="1" smtClean="0">
                <a:solidFill>
                  <a:schemeClr val="tx1"/>
                </a:solidFill>
                <a:ea typeface="Maven Pro"/>
                <a:cs typeface="Maven Pro"/>
                <a:sym typeface="Maven Pro"/>
              </a:rPr>
              <a:t>nếu</a:t>
            </a:r>
            <a:r>
              <a:rPr lang="en-US" sz="1600" dirty="0" smtClean="0">
                <a:solidFill>
                  <a:schemeClr val="tx1"/>
                </a:solidFill>
                <a:ea typeface="Maven Pro"/>
                <a:cs typeface="Maven Pro"/>
                <a:sym typeface="Maven Pro"/>
              </a:rPr>
              <a:t> code </a:t>
            </a:r>
            <a:r>
              <a:rPr lang="en-US" sz="1600" dirty="0" err="1" smtClean="0">
                <a:solidFill>
                  <a:schemeClr val="tx1"/>
                </a:solidFill>
                <a:ea typeface="Maven Pro"/>
                <a:cs typeface="Maven Pro"/>
                <a:sym typeface="Maven Pro"/>
              </a:rPr>
              <a:t>để</a:t>
            </a:r>
            <a:r>
              <a:rPr lang="en-US" sz="1600" dirty="0" smtClean="0">
                <a:solidFill>
                  <a:schemeClr val="tx1"/>
                </a:solidFill>
                <a:ea typeface="Maven Pro"/>
                <a:cs typeface="Maven Pro"/>
                <a:sym typeface="Maven Pro"/>
              </a:rPr>
              <a:t> </a:t>
            </a:r>
            <a:r>
              <a:rPr lang="en-US" sz="1600" b="1" dirty="0" err="1" smtClean="0">
                <a:solidFill>
                  <a:schemeClr val="tx1"/>
                </a:solidFill>
                <a:ea typeface="Maven Pro"/>
                <a:cs typeface="Maven Pro"/>
                <a:sym typeface="Maven Pro"/>
              </a:rPr>
              <a:t>nhận</a:t>
            </a:r>
            <a:r>
              <a:rPr lang="en-US" sz="1600" b="1" dirty="0" smtClean="0">
                <a:solidFill>
                  <a:schemeClr val="tx1"/>
                </a:solidFill>
                <a:ea typeface="Maven Pro"/>
                <a:cs typeface="Maven Pro"/>
                <a:sym typeface="Maven Pro"/>
              </a:rPr>
              <a:t> </a:t>
            </a:r>
            <a:r>
              <a:rPr lang="en-US" sz="1600" b="1" dirty="0" err="1" smtClean="0">
                <a:solidFill>
                  <a:schemeClr val="tx1"/>
                </a:solidFill>
                <a:ea typeface="Maven Pro"/>
                <a:cs typeface="Maven Pro"/>
                <a:sym typeface="Maven Pro"/>
              </a:rPr>
              <a:t>diện</a:t>
            </a:r>
            <a:r>
              <a:rPr lang="en-US" sz="1600" b="1" dirty="0" smtClean="0">
                <a:solidFill>
                  <a:schemeClr val="tx1"/>
                </a:solidFill>
                <a:ea typeface="Maven Pro"/>
                <a:cs typeface="Maven Pro"/>
                <a:sym typeface="Maven Pro"/>
              </a:rPr>
              <a:t> </a:t>
            </a:r>
            <a:r>
              <a:rPr lang="en-US" sz="1600" b="1" dirty="0" err="1" smtClean="0">
                <a:solidFill>
                  <a:schemeClr val="tx1"/>
                </a:solidFill>
                <a:ea typeface="Maven Pro"/>
                <a:cs typeface="Maven Pro"/>
                <a:sym typeface="Maven Pro"/>
              </a:rPr>
              <a:t>nến</a:t>
            </a:r>
            <a:r>
              <a:rPr lang="en-US" sz="1600" b="1" dirty="0" smtClean="0">
                <a:solidFill>
                  <a:schemeClr val="tx1"/>
                </a:solidFill>
                <a:ea typeface="Maven Pro"/>
                <a:cs typeface="Maven Pro"/>
                <a:sym typeface="Maven Pro"/>
              </a:rPr>
              <a:t> </a:t>
            </a:r>
            <a:r>
              <a:rPr lang="en-US" sz="1600" b="1" dirty="0" err="1" smtClean="0">
                <a:solidFill>
                  <a:schemeClr val="tx1"/>
                </a:solidFill>
                <a:ea typeface="Maven Pro"/>
                <a:cs typeface="Maven Pro"/>
                <a:sym typeface="Maven Pro"/>
              </a:rPr>
              <a:t>Doji</a:t>
            </a:r>
            <a:r>
              <a:rPr lang="en-US" sz="1600" b="1" dirty="0" smtClean="0">
                <a:solidFill>
                  <a:schemeClr val="tx1"/>
                </a:solidFill>
                <a:ea typeface="Maven Pro"/>
                <a:cs typeface="Maven Pro"/>
                <a:sym typeface="Maven Pro"/>
              </a:rPr>
              <a:t> </a:t>
            </a:r>
            <a:r>
              <a:rPr lang="en-US" sz="1600" b="1" dirty="0" err="1" smtClean="0">
                <a:solidFill>
                  <a:schemeClr val="tx1"/>
                </a:solidFill>
                <a:ea typeface="Maven Pro"/>
                <a:cs typeface="Maven Pro"/>
                <a:sym typeface="Maven Pro"/>
              </a:rPr>
              <a:t>chân</a:t>
            </a:r>
            <a:r>
              <a:rPr lang="en-US" sz="1600" b="1" dirty="0" smtClean="0">
                <a:solidFill>
                  <a:schemeClr val="tx1"/>
                </a:solidFill>
                <a:ea typeface="Maven Pro"/>
                <a:cs typeface="Maven Pro"/>
                <a:sym typeface="Maven Pro"/>
              </a:rPr>
              <a:t> </a:t>
            </a:r>
            <a:r>
              <a:rPr lang="en-US" sz="1600" b="1" dirty="0" err="1" smtClean="0">
                <a:solidFill>
                  <a:schemeClr val="tx1"/>
                </a:solidFill>
                <a:ea typeface="Maven Pro"/>
                <a:cs typeface="Maven Pro"/>
                <a:sym typeface="Maven Pro"/>
              </a:rPr>
              <a:t>dài</a:t>
            </a:r>
            <a:r>
              <a:rPr lang="en-US" sz="1600" b="1" dirty="0" smtClean="0">
                <a:solidFill>
                  <a:schemeClr val="tx1"/>
                </a:solidFill>
                <a:ea typeface="Maven Pro"/>
                <a:cs typeface="Maven Pro"/>
                <a:sym typeface="Maven Pro"/>
              </a:rPr>
              <a:t> </a:t>
            </a:r>
            <a:r>
              <a:rPr lang="en-US" sz="1600" dirty="0" err="1" smtClean="0">
                <a:solidFill>
                  <a:schemeClr val="tx1"/>
                </a:solidFill>
                <a:ea typeface="Maven Pro"/>
                <a:cs typeface="Maven Pro"/>
                <a:sym typeface="Maven Pro"/>
              </a:rPr>
              <a:t>thì</a:t>
            </a:r>
            <a:r>
              <a:rPr lang="en-US" sz="1600" dirty="0" smtClean="0">
                <a:solidFill>
                  <a:schemeClr val="tx1"/>
                </a:solidFill>
                <a:ea typeface="Maven Pro"/>
                <a:cs typeface="Maven Pro"/>
                <a:sym typeface="Maven Pro"/>
              </a:rPr>
              <a:t> </a:t>
            </a:r>
            <a:r>
              <a:rPr lang="en-US" sz="1600" dirty="0" err="1" smtClean="0">
                <a:solidFill>
                  <a:schemeClr val="tx1"/>
                </a:solidFill>
                <a:ea typeface="Maven Pro"/>
                <a:cs typeface="Maven Pro"/>
                <a:sym typeface="Maven Pro"/>
              </a:rPr>
              <a:t>chúng</a:t>
            </a:r>
            <a:r>
              <a:rPr lang="en-US" sz="1600" dirty="0" smtClean="0">
                <a:solidFill>
                  <a:schemeClr val="tx1"/>
                </a:solidFill>
                <a:ea typeface="Maven Pro"/>
                <a:cs typeface="Maven Pro"/>
                <a:sym typeface="Maven Pro"/>
              </a:rPr>
              <a:t> ta </a:t>
            </a:r>
            <a:r>
              <a:rPr lang="en-US" sz="1600" dirty="0" err="1" smtClean="0">
                <a:solidFill>
                  <a:schemeClr val="tx1"/>
                </a:solidFill>
                <a:ea typeface="Maven Pro"/>
                <a:cs typeface="Maven Pro"/>
                <a:sym typeface="Maven Pro"/>
              </a:rPr>
              <a:t>sẽ</a:t>
            </a:r>
            <a:r>
              <a:rPr lang="en-US" sz="1600" dirty="0" smtClean="0">
                <a:solidFill>
                  <a:schemeClr val="tx1"/>
                </a:solidFill>
                <a:ea typeface="Maven Pro"/>
                <a:cs typeface="Maven Pro"/>
                <a:sym typeface="Maven Pro"/>
              </a:rPr>
              <a:t> code </a:t>
            </a:r>
            <a:r>
              <a:rPr lang="en-US" sz="1600" dirty="0" err="1" smtClean="0">
                <a:solidFill>
                  <a:schemeClr val="tx1"/>
                </a:solidFill>
                <a:ea typeface="Maven Pro"/>
                <a:cs typeface="Maven Pro"/>
                <a:sym typeface="Maven Pro"/>
              </a:rPr>
              <a:t>gì</a:t>
            </a:r>
            <a:r>
              <a:rPr lang="en-US" sz="1600" dirty="0" smtClean="0">
                <a:solidFill>
                  <a:schemeClr val="tx1"/>
                </a:solidFill>
                <a:ea typeface="Maven Pro"/>
                <a:cs typeface="Maven Pro"/>
                <a:sym typeface="Maven Pro"/>
              </a:rPr>
              <a:t>?</a:t>
            </a:r>
          </a:p>
          <a:p>
            <a:pPr marL="101600" lvl="0">
              <a:lnSpc>
                <a:spcPct val="115000"/>
              </a:lnSpc>
              <a:spcBef>
                <a:spcPts val="1600"/>
              </a:spcBef>
              <a:buClr>
                <a:schemeClr val="dk1"/>
              </a:buClr>
              <a:buSzPts val="2000"/>
            </a:pPr>
            <a:r>
              <a:rPr lang="en-US" sz="1600" dirty="0" smtClean="0">
                <a:solidFill>
                  <a:schemeClr val="tx1"/>
                </a:solidFill>
                <a:ea typeface="Maven Pro"/>
                <a:cs typeface="Maven Pro"/>
                <a:sym typeface="Maven Pro"/>
              </a:rPr>
              <a:t>     + </a:t>
            </a:r>
            <a:r>
              <a:rPr lang="en-US" sz="1600" dirty="0" err="1" smtClean="0">
                <a:solidFill>
                  <a:srgbClr val="FF0000"/>
                </a:solidFill>
                <a:ea typeface="Maven Pro"/>
                <a:cs typeface="Maven Pro"/>
                <a:sym typeface="Maven Pro"/>
              </a:rPr>
              <a:t>Kiểm</a:t>
            </a:r>
            <a:r>
              <a:rPr lang="en-US" sz="1600" dirty="0" smtClean="0">
                <a:solidFill>
                  <a:srgbClr val="FF0000"/>
                </a:solidFill>
                <a:ea typeface="Maven Pro"/>
                <a:cs typeface="Maven Pro"/>
                <a:sym typeface="Maven Pro"/>
              </a:rPr>
              <a:t> </a:t>
            </a:r>
            <a:r>
              <a:rPr lang="en-US" sz="1600" dirty="0" err="1" smtClean="0">
                <a:solidFill>
                  <a:srgbClr val="FF0000"/>
                </a:solidFill>
                <a:ea typeface="Maven Pro"/>
                <a:cs typeface="Maven Pro"/>
                <a:sym typeface="Maven Pro"/>
              </a:rPr>
              <a:t>tra</a:t>
            </a:r>
            <a:r>
              <a:rPr lang="en-US" sz="1600" dirty="0" smtClean="0">
                <a:solidFill>
                  <a:srgbClr val="FF0000"/>
                </a:solidFill>
                <a:ea typeface="Maven Pro"/>
                <a:cs typeface="Maven Pro"/>
                <a:sym typeface="Maven Pro"/>
              </a:rPr>
              <a:t> </a:t>
            </a:r>
            <a:r>
              <a:rPr lang="en-US" sz="1600" dirty="0" err="1" smtClean="0">
                <a:solidFill>
                  <a:srgbClr val="FF0000"/>
                </a:solidFill>
                <a:ea typeface="Maven Pro"/>
                <a:cs typeface="Maven Pro"/>
                <a:sym typeface="Maven Pro"/>
              </a:rPr>
              <a:t>giá</a:t>
            </a:r>
            <a:r>
              <a:rPr lang="en-US" sz="1600" dirty="0" smtClean="0">
                <a:solidFill>
                  <a:srgbClr val="FF0000"/>
                </a:solidFill>
                <a:ea typeface="Maven Pro"/>
                <a:cs typeface="Maven Pro"/>
                <a:sym typeface="Maven Pro"/>
              </a:rPr>
              <a:t> </a:t>
            </a:r>
            <a:r>
              <a:rPr lang="en-US" sz="1600" dirty="0" err="1" smtClean="0">
                <a:solidFill>
                  <a:srgbClr val="FF0000"/>
                </a:solidFill>
                <a:ea typeface="Maven Pro"/>
                <a:cs typeface="Maven Pro"/>
                <a:sym typeface="Maven Pro"/>
              </a:rPr>
              <a:t>mở</a:t>
            </a:r>
            <a:r>
              <a:rPr lang="en-US" sz="1600" dirty="0" smtClean="0">
                <a:solidFill>
                  <a:srgbClr val="FF0000"/>
                </a:solidFill>
                <a:ea typeface="Maven Pro"/>
                <a:cs typeface="Maven Pro"/>
                <a:sym typeface="Maven Pro"/>
              </a:rPr>
              <a:t> </a:t>
            </a:r>
            <a:r>
              <a:rPr lang="en-US" sz="1600" dirty="0" err="1" smtClean="0">
                <a:solidFill>
                  <a:srgbClr val="FF0000"/>
                </a:solidFill>
                <a:ea typeface="Maven Pro"/>
                <a:cs typeface="Maven Pro"/>
                <a:sym typeface="Maven Pro"/>
              </a:rPr>
              <a:t>cửa</a:t>
            </a:r>
            <a:r>
              <a:rPr lang="en-US" sz="1600" dirty="0" smtClean="0">
                <a:solidFill>
                  <a:srgbClr val="FF0000"/>
                </a:solidFill>
                <a:ea typeface="Maven Pro"/>
                <a:cs typeface="Maven Pro"/>
                <a:sym typeface="Maven Pro"/>
              </a:rPr>
              <a:t> </a:t>
            </a:r>
            <a:r>
              <a:rPr lang="en-US" sz="1600" dirty="0" err="1" smtClean="0">
                <a:solidFill>
                  <a:srgbClr val="FF0000"/>
                </a:solidFill>
                <a:ea typeface="Maven Pro"/>
                <a:cs typeface="Maven Pro"/>
                <a:sym typeface="Maven Pro"/>
              </a:rPr>
              <a:t>và</a:t>
            </a:r>
            <a:r>
              <a:rPr lang="en-US" sz="1600" dirty="0" smtClean="0">
                <a:solidFill>
                  <a:srgbClr val="FF0000"/>
                </a:solidFill>
                <a:ea typeface="Maven Pro"/>
                <a:cs typeface="Maven Pro"/>
                <a:sym typeface="Maven Pro"/>
              </a:rPr>
              <a:t> </a:t>
            </a:r>
            <a:r>
              <a:rPr lang="en-US" sz="1600" dirty="0" err="1" smtClean="0">
                <a:solidFill>
                  <a:srgbClr val="FF0000"/>
                </a:solidFill>
                <a:ea typeface="Maven Pro"/>
                <a:cs typeface="Maven Pro"/>
                <a:sym typeface="Maven Pro"/>
              </a:rPr>
              <a:t>đóng</a:t>
            </a:r>
            <a:r>
              <a:rPr lang="en-US" sz="1600" dirty="0" smtClean="0">
                <a:solidFill>
                  <a:srgbClr val="FF0000"/>
                </a:solidFill>
                <a:ea typeface="Maven Pro"/>
                <a:cs typeface="Maven Pro"/>
                <a:sym typeface="Maven Pro"/>
              </a:rPr>
              <a:t> </a:t>
            </a:r>
            <a:r>
              <a:rPr lang="en-US" sz="1600" dirty="0" err="1" smtClean="0">
                <a:solidFill>
                  <a:srgbClr val="FF0000"/>
                </a:solidFill>
                <a:ea typeface="Maven Pro"/>
                <a:cs typeface="Maven Pro"/>
                <a:sym typeface="Maven Pro"/>
              </a:rPr>
              <a:t>cửa</a:t>
            </a:r>
            <a:r>
              <a:rPr lang="en-US" sz="1600" dirty="0" smtClean="0">
                <a:solidFill>
                  <a:srgbClr val="FF0000"/>
                </a:solidFill>
                <a:ea typeface="Maven Pro"/>
                <a:cs typeface="Maven Pro"/>
                <a:sym typeface="Maven Pro"/>
              </a:rPr>
              <a:t> </a:t>
            </a:r>
            <a:r>
              <a:rPr lang="en-US" sz="1600" dirty="0" err="1" smtClean="0">
                <a:solidFill>
                  <a:srgbClr val="FF0000"/>
                </a:solidFill>
                <a:ea typeface="Maven Pro"/>
                <a:cs typeface="Maven Pro"/>
                <a:sym typeface="Maven Pro"/>
              </a:rPr>
              <a:t>có</a:t>
            </a:r>
            <a:r>
              <a:rPr lang="en-US" sz="1600" dirty="0" smtClean="0">
                <a:solidFill>
                  <a:srgbClr val="FF0000"/>
                </a:solidFill>
                <a:ea typeface="Maven Pro"/>
                <a:cs typeface="Maven Pro"/>
                <a:sym typeface="Maven Pro"/>
              </a:rPr>
              <a:t> </a:t>
            </a:r>
            <a:r>
              <a:rPr lang="en-US" sz="1600" dirty="0" err="1" smtClean="0">
                <a:solidFill>
                  <a:srgbClr val="FF0000"/>
                </a:solidFill>
                <a:ea typeface="Maven Pro"/>
                <a:cs typeface="Maven Pro"/>
                <a:sym typeface="Maven Pro"/>
              </a:rPr>
              <a:t>gần</a:t>
            </a:r>
            <a:r>
              <a:rPr lang="en-US" sz="1600" dirty="0" smtClean="0">
                <a:solidFill>
                  <a:srgbClr val="FF0000"/>
                </a:solidFill>
                <a:ea typeface="Maven Pro"/>
                <a:cs typeface="Maven Pro"/>
                <a:sym typeface="Maven Pro"/>
              </a:rPr>
              <a:t> </a:t>
            </a:r>
            <a:r>
              <a:rPr lang="en-US" sz="1600" dirty="0" err="1" smtClean="0">
                <a:solidFill>
                  <a:srgbClr val="FF0000"/>
                </a:solidFill>
                <a:ea typeface="Maven Pro"/>
                <a:cs typeface="Maven Pro"/>
                <a:sym typeface="Maven Pro"/>
              </a:rPr>
              <a:t>bằng</a:t>
            </a:r>
            <a:r>
              <a:rPr lang="en-US" sz="1600" dirty="0" smtClean="0">
                <a:solidFill>
                  <a:srgbClr val="FF0000"/>
                </a:solidFill>
                <a:ea typeface="Maven Pro"/>
                <a:cs typeface="Maven Pro"/>
                <a:sym typeface="Maven Pro"/>
              </a:rPr>
              <a:t> </a:t>
            </a:r>
            <a:r>
              <a:rPr lang="en-US" sz="1600" dirty="0" err="1" smtClean="0">
                <a:solidFill>
                  <a:srgbClr val="FF0000"/>
                </a:solidFill>
                <a:ea typeface="Maven Pro"/>
                <a:cs typeface="Maven Pro"/>
                <a:sym typeface="Maven Pro"/>
              </a:rPr>
              <a:t>nhau</a:t>
            </a:r>
            <a:r>
              <a:rPr lang="en-US" sz="1600" dirty="0" smtClean="0">
                <a:solidFill>
                  <a:srgbClr val="FF0000"/>
                </a:solidFill>
                <a:ea typeface="Maven Pro"/>
                <a:cs typeface="Maven Pro"/>
                <a:sym typeface="Maven Pro"/>
              </a:rPr>
              <a:t> </a:t>
            </a:r>
            <a:r>
              <a:rPr lang="en-US" sz="1600" dirty="0" err="1" smtClean="0">
                <a:solidFill>
                  <a:srgbClr val="FF0000"/>
                </a:solidFill>
                <a:ea typeface="Maven Pro"/>
                <a:cs typeface="Maven Pro"/>
                <a:sym typeface="Maven Pro"/>
              </a:rPr>
              <a:t>không</a:t>
            </a:r>
            <a:r>
              <a:rPr lang="en-US" sz="1600" dirty="0" smtClean="0">
                <a:solidFill>
                  <a:srgbClr val="FF0000"/>
                </a:solidFill>
                <a:ea typeface="Maven Pro"/>
                <a:cs typeface="Maven Pro"/>
                <a:sym typeface="Maven Pro"/>
              </a:rPr>
              <a:t>?</a:t>
            </a:r>
          </a:p>
          <a:p>
            <a:pPr marL="101600" lvl="0">
              <a:lnSpc>
                <a:spcPct val="115000"/>
              </a:lnSpc>
              <a:spcBef>
                <a:spcPts val="1600"/>
              </a:spcBef>
              <a:buClr>
                <a:schemeClr val="dk1"/>
              </a:buClr>
              <a:buSzPts val="2000"/>
            </a:pPr>
            <a:r>
              <a:rPr lang="en-US" sz="1600" dirty="0">
                <a:solidFill>
                  <a:schemeClr val="tx1"/>
                </a:solidFill>
                <a:ea typeface="Maven Pro"/>
                <a:cs typeface="Maven Pro"/>
                <a:sym typeface="Maven Pro"/>
              </a:rPr>
              <a:t> </a:t>
            </a:r>
            <a:r>
              <a:rPr lang="en-US" sz="1600" dirty="0" smtClean="0">
                <a:solidFill>
                  <a:schemeClr val="tx1"/>
                </a:solidFill>
                <a:ea typeface="Maven Pro"/>
                <a:cs typeface="Maven Pro"/>
                <a:sym typeface="Maven Pro"/>
              </a:rPr>
              <a:t>    + </a:t>
            </a:r>
            <a:r>
              <a:rPr lang="en-US" sz="1600" dirty="0" err="1" smtClean="0">
                <a:solidFill>
                  <a:srgbClr val="FF0000"/>
                </a:solidFill>
                <a:ea typeface="Maven Pro"/>
                <a:cs typeface="Maven Pro"/>
                <a:sym typeface="Maven Pro"/>
              </a:rPr>
              <a:t>Kiểm</a:t>
            </a:r>
            <a:r>
              <a:rPr lang="en-US" sz="1600" dirty="0" smtClean="0">
                <a:solidFill>
                  <a:srgbClr val="FF0000"/>
                </a:solidFill>
                <a:ea typeface="Maven Pro"/>
                <a:cs typeface="Maven Pro"/>
                <a:sym typeface="Maven Pro"/>
              </a:rPr>
              <a:t> </a:t>
            </a:r>
            <a:r>
              <a:rPr lang="en-US" sz="1600" dirty="0" err="1" smtClean="0">
                <a:solidFill>
                  <a:srgbClr val="FF0000"/>
                </a:solidFill>
                <a:ea typeface="Maven Pro"/>
                <a:cs typeface="Maven Pro"/>
                <a:sym typeface="Maven Pro"/>
              </a:rPr>
              <a:t>tra</a:t>
            </a:r>
            <a:r>
              <a:rPr lang="en-US" sz="1600" dirty="0" smtClean="0">
                <a:solidFill>
                  <a:srgbClr val="FF0000"/>
                </a:solidFill>
                <a:ea typeface="Maven Pro"/>
                <a:cs typeface="Maven Pro"/>
                <a:sym typeface="Maven Pro"/>
              </a:rPr>
              <a:t> </a:t>
            </a:r>
            <a:r>
              <a:rPr lang="en-US" sz="1600" dirty="0" err="1" smtClean="0">
                <a:solidFill>
                  <a:srgbClr val="FF0000"/>
                </a:solidFill>
                <a:ea typeface="Maven Pro"/>
                <a:cs typeface="Maven Pro"/>
                <a:sym typeface="Maven Pro"/>
              </a:rPr>
              <a:t>bóng</a:t>
            </a:r>
            <a:r>
              <a:rPr lang="en-US" sz="1600" dirty="0" smtClean="0">
                <a:solidFill>
                  <a:srgbClr val="FF0000"/>
                </a:solidFill>
                <a:ea typeface="Maven Pro"/>
                <a:cs typeface="Maven Pro"/>
                <a:sym typeface="Maven Pro"/>
              </a:rPr>
              <a:t> </a:t>
            </a:r>
            <a:r>
              <a:rPr lang="en-US" sz="1600" dirty="0" err="1" smtClean="0">
                <a:solidFill>
                  <a:srgbClr val="FF0000"/>
                </a:solidFill>
                <a:ea typeface="Maven Pro"/>
                <a:cs typeface="Maven Pro"/>
                <a:sym typeface="Maven Pro"/>
              </a:rPr>
              <a:t>nến</a:t>
            </a:r>
            <a:r>
              <a:rPr lang="en-US" sz="1600" dirty="0" smtClean="0">
                <a:solidFill>
                  <a:srgbClr val="FF0000"/>
                </a:solidFill>
                <a:ea typeface="Maven Pro"/>
                <a:cs typeface="Maven Pro"/>
                <a:sym typeface="Maven Pro"/>
              </a:rPr>
              <a:t> </a:t>
            </a:r>
            <a:r>
              <a:rPr lang="en-US" sz="1600" dirty="0" err="1" smtClean="0">
                <a:solidFill>
                  <a:srgbClr val="FF0000"/>
                </a:solidFill>
                <a:ea typeface="Maven Pro"/>
                <a:cs typeface="Maven Pro"/>
                <a:sym typeface="Maven Pro"/>
              </a:rPr>
              <a:t>trên</a:t>
            </a:r>
            <a:r>
              <a:rPr lang="en-US" sz="1600" dirty="0" smtClean="0">
                <a:solidFill>
                  <a:srgbClr val="FF0000"/>
                </a:solidFill>
                <a:ea typeface="Maven Pro"/>
                <a:cs typeface="Maven Pro"/>
                <a:sym typeface="Maven Pro"/>
              </a:rPr>
              <a:t> </a:t>
            </a:r>
            <a:r>
              <a:rPr lang="en-US" sz="1600" dirty="0" err="1" smtClean="0">
                <a:solidFill>
                  <a:srgbClr val="FF0000"/>
                </a:solidFill>
                <a:ea typeface="Maven Pro"/>
                <a:cs typeface="Maven Pro"/>
                <a:sym typeface="Maven Pro"/>
              </a:rPr>
              <a:t>có</a:t>
            </a:r>
            <a:r>
              <a:rPr lang="en-US" sz="1600" dirty="0" smtClean="0">
                <a:solidFill>
                  <a:srgbClr val="FF0000"/>
                </a:solidFill>
                <a:ea typeface="Maven Pro"/>
                <a:cs typeface="Maven Pro"/>
                <a:sym typeface="Maven Pro"/>
              </a:rPr>
              <a:t> </a:t>
            </a:r>
            <a:r>
              <a:rPr lang="en-US" sz="1600" dirty="0" err="1" smtClean="0">
                <a:solidFill>
                  <a:srgbClr val="FF0000"/>
                </a:solidFill>
                <a:ea typeface="Maven Pro"/>
                <a:cs typeface="Maven Pro"/>
                <a:sym typeface="Maven Pro"/>
              </a:rPr>
              <a:t>lớn</a:t>
            </a:r>
            <a:r>
              <a:rPr lang="en-US" sz="1600" dirty="0" smtClean="0">
                <a:solidFill>
                  <a:srgbClr val="FF0000"/>
                </a:solidFill>
                <a:ea typeface="Maven Pro"/>
                <a:cs typeface="Maven Pro"/>
                <a:sym typeface="Maven Pro"/>
              </a:rPr>
              <a:t> </a:t>
            </a:r>
            <a:r>
              <a:rPr lang="en-US" sz="1600" dirty="0" err="1" smtClean="0">
                <a:solidFill>
                  <a:srgbClr val="FF0000"/>
                </a:solidFill>
                <a:ea typeface="Maven Pro"/>
                <a:cs typeface="Maven Pro"/>
                <a:sym typeface="Maven Pro"/>
              </a:rPr>
              <a:t>hơn</a:t>
            </a:r>
            <a:r>
              <a:rPr lang="en-US" sz="1600" dirty="0" smtClean="0">
                <a:solidFill>
                  <a:srgbClr val="FF0000"/>
                </a:solidFill>
                <a:ea typeface="Maven Pro"/>
                <a:cs typeface="Maven Pro"/>
                <a:sym typeface="Maven Pro"/>
              </a:rPr>
              <a:t> </a:t>
            </a:r>
            <a:r>
              <a:rPr lang="en-US" sz="1600" dirty="0" err="1" smtClean="0">
                <a:solidFill>
                  <a:srgbClr val="FF0000"/>
                </a:solidFill>
                <a:ea typeface="Maven Pro"/>
                <a:cs typeface="Maven Pro"/>
                <a:sym typeface="Maven Pro"/>
              </a:rPr>
              <a:t>hoặc</a:t>
            </a:r>
            <a:r>
              <a:rPr lang="en-US" sz="1600" dirty="0" smtClean="0">
                <a:solidFill>
                  <a:srgbClr val="FF0000"/>
                </a:solidFill>
                <a:ea typeface="Maven Pro"/>
                <a:cs typeface="Maven Pro"/>
                <a:sym typeface="Maven Pro"/>
              </a:rPr>
              <a:t> </a:t>
            </a:r>
            <a:r>
              <a:rPr lang="en-US" sz="1600" dirty="0" err="1" smtClean="0">
                <a:solidFill>
                  <a:srgbClr val="FF0000"/>
                </a:solidFill>
                <a:ea typeface="Maven Pro"/>
                <a:cs typeface="Maven Pro"/>
                <a:sym typeface="Maven Pro"/>
              </a:rPr>
              <a:t>bằng</a:t>
            </a:r>
            <a:r>
              <a:rPr lang="en-US" sz="1600" dirty="0" smtClean="0">
                <a:solidFill>
                  <a:srgbClr val="FF0000"/>
                </a:solidFill>
                <a:ea typeface="Maven Pro"/>
                <a:cs typeface="Maven Pro"/>
                <a:sym typeface="Maven Pro"/>
              </a:rPr>
              <a:t> 2 </a:t>
            </a:r>
            <a:r>
              <a:rPr lang="en-US" sz="1600" dirty="0" err="1" smtClean="0">
                <a:solidFill>
                  <a:srgbClr val="FF0000"/>
                </a:solidFill>
                <a:ea typeface="Maven Pro"/>
                <a:cs typeface="Maven Pro"/>
                <a:sym typeface="Maven Pro"/>
              </a:rPr>
              <a:t>lần</a:t>
            </a:r>
            <a:r>
              <a:rPr lang="en-US" sz="1600" dirty="0" smtClean="0">
                <a:solidFill>
                  <a:srgbClr val="FF0000"/>
                </a:solidFill>
                <a:ea typeface="Maven Pro"/>
                <a:cs typeface="Maven Pro"/>
                <a:sym typeface="Maven Pro"/>
              </a:rPr>
              <a:t> </a:t>
            </a:r>
            <a:r>
              <a:rPr lang="en-US" sz="1600" dirty="0" err="1" smtClean="0">
                <a:solidFill>
                  <a:srgbClr val="FF0000"/>
                </a:solidFill>
                <a:ea typeface="Maven Pro"/>
                <a:cs typeface="Maven Pro"/>
                <a:sym typeface="Maven Pro"/>
              </a:rPr>
              <a:t>thân</a:t>
            </a:r>
            <a:r>
              <a:rPr lang="en-US" sz="1600" dirty="0" smtClean="0">
                <a:solidFill>
                  <a:srgbClr val="FF0000"/>
                </a:solidFill>
                <a:ea typeface="Maven Pro"/>
                <a:cs typeface="Maven Pro"/>
                <a:sym typeface="Maven Pro"/>
              </a:rPr>
              <a:t> </a:t>
            </a:r>
            <a:r>
              <a:rPr lang="en-US" sz="1600" dirty="0" err="1" smtClean="0">
                <a:solidFill>
                  <a:srgbClr val="FF0000"/>
                </a:solidFill>
                <a:ea typeface="Maven Pro"/>
                <a:cs typeface="Maven Pro"/>
                <a:sym typeface="Maven Pro"/>
              </a:rPr>
              <a:t>nến</a:t>
            </a:r>
            <a:r>
              <a:rPr lang="en-US" sz="1600" dirty="0" smtClean="0">
                <a:solidFill>
                  <a:srgbClr val="FF0000"/>
                </a:solidFill>
                <a:ea typeface="Maven Pro"/>
                <a:cs typeface="Maven Pro"/>
                <a:sym typeface="Maven Pro"/>
              </a:rPr>
              <a:t> </a:t>
            </a:r>
            <a:r>
              <a:rPr lang="en-US" sz="1600" dirty="0" err="1" smtClean="0">
                <a:solidFill>
                  <a:srgbClr val="FF0000"/>
                </a:solidFill>
                <a:ea typeface="Maven Pro"/>
                <a:cs typeface="Maven Pro"/>
                <a:sym typeface="Maven Pro"/>
              </a:rPr>
              <a:t>không</a:t>
            </a:r>
            <a:r>
              <a:rPr lang="en-US" sz="1600" dirty="0" smtClean="0">
                <a:solidFill>
                  <a:srgbClr val="FF0000"/>
                </a:solidFill>
                <a:ea typeface="Maven Pro"/>
                <a:cs typeface="Maven Pro"/>
                <a:sym typeface="Maven Pro"/>
              </a:rPr>
              <a:t>?</a:t>
            </a:r>
          </a:p>
          <a:p>
            <a:pPr marL="101600" lvl="0">
              <a:lnSpc>
                <a:spcPct val="115000"/>
              </a:lnSpc>
              <a:spcBef>
                <a:spcPts val="1600"/>
              </a:spcBef>
              <a:buClr>
                <a:schemeClr val="dk1"/>
              </a:buClr>
              <a:buSzPts val="2000"/>
            </a:pPr>
            <a:r>
              <a:rPr lang="en-US" sz="1600" dirty="0">
                <a:solidFill>
                  <a:schemeClr val="tx1"/>
                </a:solidFill>
                <a:ea typeface="Maven Pro"/>
                <a:cs typeface="Maven Pro"/>
                <a:sym typeface="Maven Pro"/>
              </a:rPr>
              <a:t> </a:t>
            </a:r>
            <a:r>
              <a:rPr lang="en-US" sz="1600" dirty="0" smtClean="0">
                <a:solidFill>
                  <a:schemeClr val="tx1"/>
                </a:solidFill>
                <a:ea typeface="Maven Pro"/>
                <a:cs typeface="Maven Pro"/>
                <a:sym typeface="Maven Pro"/>
              </a:rPr>
              <a:t>    + </a:t>
            </a:r>
            <a:r>
              <a:rPr lang="en-US" sz="1600" dirty="0" err="1" smtClean="0">
                <a:solidFill>
                  <a:srgbClr val="FF0000"/>
                </a:solidFill>
                <a:ea typeface="Maven Pro"/>
                <a:cs typeface="Maven Pro"/>
                <a:sym typeface="Maven Pro"/>
              </a:rPr>
              <a:t>Kiểm</a:t>
            </a:r>
            <a:r>
              <a:rPr lang="en-US" sz="1600" dirty="0" smtClean="0">
                <a:solidFill>
                  <a:srgbClr val="FF0000"/>
                </a:solidFill>
                <a:ea typeface="Maven Pro"/>
                <a:cs typeface="Maven Pro"/>
                <a:sym typeface="Maven Pro"/>
              </a:rPr>
              <a:t> </a:t>
            </a:r>
            <a:r>
              <a:rPr lang="en-US" sz="1600" dirty="0" err="1" smtClean="0">
                <a:solidFill>
                  <a:srgbClr val="FF0000"/>
                </a:solidFill>
                <a:ea typeface="Maven Pro"/>
                <a:cs typeface="Maven Pro"/>
                <a:sym typeface="Maven Pro"/>
              </a:rPr>
              <a:t>tra</a:t>
            </a:r>
            <a:r>
              <a:rPr lang="en-US" sz="1600" dirty="0" smtClean="0">
                <a:solidFill>
                  <a:srgbClr val="FF0000"/>
                </a:solidFill>
                <a:ea typeface="Maven Pro"/>
                <a:cs typeface="Maven Pro"/>
                <a:sym typeface="Maven Pro"/>
              </a:rPr>
              <a:t> </a:t>
            </a:r>
            <a:r>
              <a:rPr lang="en-US" sz="1600" dirty="0" err="1" smtClean="0">
                <a:solidFill>
                  <a:srgbClr val="FF0000"/>
                </a:solidFill>
                <a:ea typeface="Maven Pro"/>
                <a:cs typeface="Maven Pro"/>
                <a:sym typeface="Maven Pro"/>
              </a:rPr>
              <a:t>bóng</a:t>
            </a:r>
            <a:r>
              <a:rPr lang="en-US" sz="1600" dirty="0" smtClean="0">
                <a:solidFill>
                  <a:srgbClr val="FF0000"/>
                </a:solidFill>
                <a:ea typeface="Maven Pro"/>
                <a:cs typeface="Maven Pro"/>
                <a:sym typeface="Maven Pro"/>
              </a:rPr>
              <a:t> </a:t>
            </a:r>
            <a:r>
              <a:rPr lang="en-US" sz="1600" dirty="0" err="1" smtClean="0">
                <a:solidFill>
                  <a:srgbClr val="FF0000"/>
                </a:solidFill>
                <a:ea typeface="Maven Pro"/>
                <a:cs typeface="Maven Pro"/>
                <a:sym typeface="Maven Pro"/>
              </a:rPr>
              <a:t>nến</a:t>
            </a:r>
            <a:r>
              <a:rPr lang="en-US" sz="1600" dirty="0" smtClean="0">
                <a:solidFill>
                  <a:srgbClr val="FF0000"/>
                </a:solidFill>
                <a:ea typeface="Maven Pro"/>
                <a:cs typeface="Maven Pro"/>
                <a:sym typeface="Maven Pro"/>
              </a:rPr>
              <a:t> </a:t>
            </a:r>
            <a:r>
              <a:rPr lang="en-US" sz="1600" dirty="0" err="1" smtClean="0">
                <a:solidFill>
                  <a:srgbClr val="FF0000"/>
                </a:solidFill>
                <a:ea typeface="Maven Pro"/>
                <a:cs typeface="Maven Pro"/>
                <a:sym typeface="Maven Pro"/>
              </a:rPr>
              <a:t>dưới</a:t>
            </a:r>
            <a:r>
              <a:rPr lang="en-US" sz="1600" dirty="0" smtClean="0">
                <a:solidFill>
                  <a:srgbClr val="FF0000"/>
                </a:solidFill>
                <a:ea typeface="Maven Pro"/>
                <a:cs typeface="Maven Pro"/>
                <a:sym typeface="Maven Pro"/>
              </a:rPr>
              <a:t> </a:t>
            </a:r>
            <a:r>
              <a:rPr lang="en-US" sz="1600" dirty="0" err="1" smtClean="0">
                <a:solidFill>
                  <a:srgbClr val="FF0000"/>
                </a:solidFill>
                <a:ea typeface="Maven Pro"/>
                <a:cs typeface="Maven Pro"/>
                <a:sym typeface="Maven Pro"/>
              </a:rPr>
              <a:t>có</a:t>
            </a:r>
            <a:r>
              <a:rPr lang="en-US" sz="1600" dirty="0" smtClean="0">
                <a:solidFill>
                  <a:srgbClr val="FF0000"/>
                </a:solidFill>
                <a:ea typeface="Maven Pro"/>
                <a:cs typeface="Maven Pro"/>
                <a:sym typeface="Maven Pro"/>
              </a:rPr>
              <a:t> </a:t>
            </a:r>
            <a:r>
              <a:rPr lang="en-US" sz="1600" dirty="0" err="1" smtClean="0">
                <a:solidFill>
                  <a:srgbClr val="FF0000"/>
                </a:solidFill>
                <a:ea typeface="Maven Pro"/>
                <a:cs typeface="Maven Pro"/>
                <a:sym typeface="Maven Pro"/>
              </a:rPr>
              <a:t>lớn</a:t>
            </a:r>
            <a:r>
              <a:rPr lang="en-US" sz="1600" dirty="0" smtClean="0">
                <a:solidFill>
                  <a:srgbClr val="FF0000"/>
                </a:solidFill>
                <a:ea typeface="Maven Pro"/>
                <a:cs typeface="Maven Pro"/>
                <a:sym typeface="Maven Pro"/>
              </a:rPr>
              <a:t> </a:t>
            </a:r>
            <a:r>
              <a:rPr lang="en-US" sz="1600" dirty="0" err="1" smtClean="0">
                <a:solidFill>
                  <a:srgbClr val="FF0000"/>
                </a:solidFill>
                <a:ea typeface="Maven Pro"/>
                <a:cs typeface="Maven Pro"/>
                <a:sym typeface="Maven Pro"/>
              </a:rPr>
              <a:t>hơn</a:t>
            </a:r>
            <a:r>
              <a:rPr lang="en-US" sz="1600" dirty="0" smtClean="0">
                <a:solidFill>
                  <a:srgbClr val="FF0000"/>
                </a:solidFill>
                <a:ea typeface="Maven Pro"/>
                <a:cs typeface="Maven Pro"/>
                <a:sym typeface="Maven Pro"/>
              </a:rPr>
              <a:t> </a:t>
            </a:r>
            <a:r>
              <a:rPr lang="en-US" sz="1600" dirty="0" err="1" smtClean="0">
                <a:solidFill>
                  <a:srgbClr val="FF0000"/>
                </a:solidFill>
                <a:ea typeface="Maven Pro"/>
                <a:cs typeface="Maven Pro"/>
                <a:sym typeface="Maven Pro"/>
              </a:rPr>
              <a:t>hoặc</a:t>
            </a:r>
            <a:r>
              <a:rPr lang="en-US" sz="1600" dirty="0" smtClean="0">
                <a:solidFill>
                  <a:srgbClr val="FF0000"/>
                </a:solidFill>
                <a:ea typeface="Maven Pro"/>
                <a:cs typeface="Maven Pro"/>
                <a:sym typeface="Maven Pro"/>
              </a:rPr>
              <a:t> </a:t>
            </a:r>
            <a:r>
              <a:rPr lang="en-US" sz="1600" dirty="0" err="1" smtClean="0">
                <a:solidFill>
                  <a:srgbClr val="FF0000"/>
                </a:solidFill>
                <a:ea typeface="Maven Pro"/>
                <a:cs typeface="Maven Pro"/>
                <a:sym typeface="Maven Pro"/>
              </a:rPr>
              <a:t>bằng</a:t>
            </a:r>
            <a:r>
              <a:rPr lang="en-US" sz="1600" dirty="0" smtClean="0">
                <a:solidFill>
                  <a:srgbClr val="FF0000"/>
                </a:solidFill>
                <a:ea typeface="Maven Pro"/>
                <a:cs typeface="Maven Pro"/>
                <a:sym typeface="Maven Pro"/>
              </a:rPr>
              <a:t> 2 </a:t>
            </a:r>
            <a:r>
              <a:rPr lang="en-US" sz="1600" dirty="0" err="1" smtClean="0">
                <a:solidFill>
                  <a:srgbClr val="FF0000"/>
                </a:solidFill>
                <a:ea typeface="Maven Pro"/>
                <a:cs typeface="Maven Pro"/>
                <a:sym typeface="Maven Pro"/>
              </a:rPr>
              <a:t>lần</a:t>
            </a:r>
            <a:r>
              <a:rPr lang="en-US" sz="1600" dirty="0" smtClean="0">
                <a:solidFill>
                  <a:srgbClr val="FF0000"/>
                </a:solidFill>
                <a:ea typeface="Maven Pro"/>
                <a:cs typeface="Maven Pro"/>
                <a:sym typeface="Maven Pro"/>
              </a:rPr>
              <a:t> </a:t>
            </a:r>
            <a:r>
              <a:rPr lang="en-US" sz="1600" dirty="0" err="1" smtClean="0">
                <a:solidFill>
                  <a:srgbClr val="FF0000"/>
                </a:solidFill>
                <a:ea typeface="Maven Pro"/>
                <a:cs typeface="Maven Pro"/>
                <a:sym typeface="Maven Pro"/>
              </a:rPr>
              <a:t>thân</a:t>
            </a:r>
            <a:r>
              <a:rPr lang="en-US" sz="1600" dirty="0" smtClean="0">
                <a:solidFill>
                  <a:srgbClr val="FF0000"/>
                </a:solidFill>
                <a:ea typeface="Maven Pro"/>
                <a:cs typeface="Maven Pro"/>
                <a:sym typeface="Maven Pro"/>
              </a:rPr>
              <a:t> </a:t>
            </a:r>
            <a:r>
              <a:rPr lang="en-US" sz="1600" dirty="0" err="1" smtClean="0">
                <a:solidFill>
                  <a:srgbClr val="FF0000"/>
                </a:solidFill>
                <a:ea typeface="Maven Pro"/>
                <a:cs typeface="Maven Pro"/>
                <a:sym typeface="Maven Pro"/>
              </a:rPr>
              <a:t>nến</a:t>
            </a:r>
            <a:r>
              <a:rPr lang="en-US" sz="1600" dirty="0" smtClean="0">
                <a:solidFill>
                  <a:srgbClr val="FF0000"/>
                </a:solidFill>
                <a:ea typeface="Maven Pro"/>
                <a:cs typeface="Maven Pro"/>
                <a:sym typeface="Maven Pro"/>
              </a:rPr>
              <a:t> </a:t>
            </a:r>
            <a:r>
              <a:rPr lang="en-US" sz="1600" dirty="0" err="1" smtClean="0">
                <a:solidFill>
                  <a:srgbClr val="FF0000"/>
                </a:solidFill>
                <a:ea typeface="Maven Pro"/>
                <a:cs typeface="Maven Pro"/>
                <a:sym typeface="Maven Pro"/>
              </a:rPr>
              <a:t>không</a:t>
            </a:r>
            <a:r>
              <a:rPr lang="en-US" sz="1600" dirty="0" smtClean="0">
                <a:solidFill>
                  <a:srgbClr val="FF0000"/>
                </a:solidFill>
                <a:ea typeface="Maven Pro"/>
                <a:cs typeface="Maven Pro"/>
                <a:sym typeface="Maven Pro"/>
              </a:rPr>
              <a:t>?</a:t>
            </a:r>
          </a:p>
          <a:p>
            <a:pPr marL="101600" lvl="0">
              <a:lnSpc>
                <a:spcPct val="115000"/>
              </a:lnSpc>
              <a:spcBef>
                <a:spcPts val="1600"/>
              </a:spcBef>
              <a:buClr>
                <a:schemeClr val="dk1"/>
              </a:buClr>
              <a:buSzPts val="2000"/>
            </a:pPr>
            <a:endParaRPr lang="en-US" sz="1600" dirty="0" smtClean="0">
              <a:solidFill>
                <a:schemeClr val="tx1"/>
              </a:solidFill>
              <a:ea typeface="Maven Pro"/>
              <a:cs typeface="Maven Pro"/>
              <a:sym typeface="Maven Pro"/>
            </a:endParaRPr>
          </a:p>
          <a:p>
            <a:pPr marL="101600" lvl="0">
              <a:lnSpc>
                <a:spcPct val="115000"/>
              </a:lnSpc>
              <a:spcBef>
                <a:spcPts val="1600"/>
              </a:spcBef>
              <a:buClr>
                <a:schemeClr val="dk1"/>
              </a:buClr>
              <a:buSzPts val="2000"/>
            </a:pPr>
            <a:r>
              <a:rPr lang="en-US" sz="1600" b="1" dirty="0" smtClean="0">
                <a:solidFill>
                  <a:schemeClr val="tx1"/>
                </a:solidFill>
                <a:ea typeface="Maven Pro"/>
                <a:cs typeface="Maven Pro"/>
                <a:sym typeface="Maven Pro"/>
              </a:rPr>
              <a:t>  </a:t>
            </a:r>
          </a:p>
          <a:p>
            <a:pPr marL="101600" lvl="0">
              <a:lnSpc>
                <a:spcPct val="115000"/>
              </a:lnSpc>
              <a:spcBef>
                <a:spcPts val="1600"/>
              </a:spcBef>
              <a:buClr>
                <a:schemeClr val="dk1"/>
              </a:buClr>
              <a:buSzPts val="2000"/>
            </a:pPr>
            <a:endParaRPr lang="en-US" sz="1600" dirty="0">
              <a:solidFill>
                <a:schemeClr val="tx1"/>
              </a:solidFill>
              <a:ea typeface="Maven Pro"/>
              <a:cs typeface="Maven Pro"/>
              <a:sym typeface="Maven Pro"/>
            </a:endParaRPr>
          </a:p>
          <a:p>
            <a:pPr marL="101600" lvl="0">
              <a:lnSpc>
                <a:spcPct val="115000"/>
              </a:lnSpc>
              <a:spcBef>
                <a:spcPts val="1600"/>
              </a:spcBef>
              <a:buClr>
                <a:schemeClr val="dk1"/>
              </a:buClr>
              <a:buSzPts val="2000"/>
            </a:pPr>
            <a:r>
              <a:rPr lang="en-US" sz="1600" b="1" dirty="0" smtClean="0">
                <a:solidFill>
                  <a:schemeClr val="dk1"/>
                </a:solidFill>
                <a:latin typeface="+mn-lt"/>
                <a:ea typeface="Maven Pro"/>
                <a:cs typeface="Maven Pro"/>
                <a:sym typeface="Maven Pro"/>
              </a:rPr>
              <a:t>      </a:t>
            </a:r>
            <a:endParaRPr sz="1600" b="1" dirty="0">
              <a:solidFill>
                <a:schemeClr val="dk1"/>
              </a:solidFill>
              <a:latin typeface="+mn-lt"/>
              <a:ea typeface="Maven Pro"/>
              <a:cs typeface="Maven Pro"/>
              <a:sym typeface="Maven Pro"/>
            </a:endParaRPr>
          </a:p>
        </p:txBody>
      </p:sp>
      <p:sp>
        <p:nvSpPr>
          <p:cNvPr id="6" name="Google Shape;125;p4"/>
          <p:cNvSpPr txBox="1"/>
          <p:nvPr/>
        </p:nvSpPr>
        <p:spPr>
          <a:xfrm>
            <a:off x="1260739" y="5539751"/>
            <a:ext cx="7415700" cy="369291"/>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Clr>
                <a:schemeClr val="dk1"/>
              </a:buClr>
              <a:buSzPts val="1100"/>
              <a:buFont typeface="Arial"/>
              <a:buNone/>
            </a:pPr>
            <a:r>
              <a:rPr lang="vi-VN" sz="1800" b="1" dirty="0">
                <a:solidFill>
                  <a:srgbClr val="00B050"/>
                </a:solidFill>
              </a:rPr>
              <a:t>GIÁ MỞ CỦA &amp; GIÁ ĐÓNG CỬA GẦN NHƯ NẰM TẠI CÙNG 1 </a:t>
            </a:r>
            <a:r>
              <a:rPr lang="vi-VN" sz="1800" b="1" dirty="0" smtClean="0">
                <a:solidFill>
                  <a:srgbClr val="00B050"/>
                </a:solidFill>
              </a:rPr>
              <a:t>ĐIỂM</a:t>
            </a:r>
            <a:endParaRPr sz="1800" b="1" dirty="0">
              <a:solidFill>
                <a:schemeClr val="dk1"/>
              </a:solidFill>
            </a:endParaRPr>
          </a:p>
        </p:txBody>
      </p:sp>
      <p:pic>
        <p:nvPicPr>
          <p:cNvPr id="7" name="Google Shape;126;p4"/>
          <p:cNvPicPr preferRelativeResize="0"/>
          <p:nvPr/>
        </p:nvPicPr>
        <p:blipFill>
          <a:blip r:embed="rId3">
            <a:alphaModFix/>
          </a:blip>
          <a:stretch>
            <a:fillRect/>
          </a:stretch>
        </p:blipFill>
        <p:spPr>
          <a:xfrm>
            <a:off x="304800" y="5386414"/>
            <a:ext cx="833200" cy="689000"/>
          </a:xfrm>
          <a:prstGeom prst="rect">
            <a:avLst/>
          </a:prstGeom>
          <a:noFill/>
          <a:ln>
            <a:noFill/>
          </a:ln>
        </p:spPr>
      </p:pic>
      <p:pic>
        <p:nvPicPr>
          <p:cNvPr id="8" name="Picture 7"/>
          <p:cNvPicPr>
            <a:picLocks noChangeAspect="1"/>
          </p:cNvPicPr>
          <p:nvPr/>
        </p:nvPicPr>
        <p:blipFill>
          <a:blip r:embed="rId3"/>
          <a:stretch>
            <a:fillRect/>
          </a:stretch>
        </p:blipFill>
        <p:spPr>
          <a:xfrm>
            <a:off x="954668" y="3398253"/>
            <a:ext cx="3524461" cy="2141497"/>
          </a:xfrm>
          <a:prstGeom prst="rect">
            <a:avLst/>
          </a:prstGeom>
        </p:spPr>
      </p:pic>
    </p:spTree>
    <p:extLst>
      <p:ext uri="{BB962C8B-B14F-4D97-AF65-F5344CB8AC3E}">
        <p14:creationId xmlns:p14="http://schemas.microsoft.com/office/powerpoint/2010/main" val="2073172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830956"/>
          </a:xfrm>
          <a:prstGeom prst="rect">
            <a:avLst/>
          </a:prstGeom>
          <a:noFill/>
          <a:ln>
            <a:noFill/>
          </a:ln>
        </p:spPr>
        <p:txBody>
          <a:bodyPr spcFirstLastPara="1" wrap="square" lIns="91425" tIns="45700" rIns="91425" bIns="45700" anchor="t" anchorCtr="0">
            <a:spAutoFit/>
          </a:bodyPr>
          <a:lstStyle/>
          <a:p>
            <a:pPr>
              <a:buSzPts val="2000"/>
            </a:pPr>
            <a:r>
              <a:rPr lang="en-US" sz="2400" b="1" dirty="0" smtClean="0">
                <a:solidFill>
                  <a:schemeClr val="bg1"/>
                </a:solidFill>
              </a:rPr>
              <a:t>I. </a:t>
            </a:r>
            <a:r>
              <a:rPr lang="en-US" sz="2400" b="1" dirty="0" smtClean="0">
                <a:solidFill>
                  <a:schemeClr val="bg1"/>
                </a:solidFill>
                <a:ea typeface="Maven Pro"/>
                <a:cs typeface="Maven Pro"/>
                <a:sym typeface="Maven Pro"/>
              </a:rPr>
              <a:t>Chiến </a:t>
            </a:r>
            <a:r>
              <a:rPr lang="en-US" sz="2400" b="1" dirty="0" err="1">
                <a:solidFill>
                  <a:schemeClr val="bg1"/>
                </a:solidFill>
                <a:ea typeface="Maven Pro"/>
                <a:cs typeface="Maven Pro"/>
                <a:sym typeface="Maven Pro"/>
              </a:rPr>
              <a:t>lược</a:t>
            </a:r>
            <a:r>
              <a:rPr lang="en-US" sz="2400" b="1" dirty="0">
                <a:solidFill>
                  <a:schemeClr val="bg1"/>
                </a:solidFill>
                <a:ea typeface="Maven Pro"/>
                <a:cs typeface="Maven Pro"/>
                <a:sym typeface="Maven Pro"/>
              </a:rPr>
              <a:t> </a:t>
            </a:r>
            <a:r>
              <a:rPr lang="en-US" sz="2400" b="1" dirty="0" err="1">
                <a:solidFill>
                  <a:schemeClr val="bg1"/>
                </a:solidFill>
                <a:ea typeface="Maven Pro"/>
                <a:cs typeface="Maven Pro"/>
                <a:sym typeface="Maven Pro"/>
              </a:rPr>
              <a:t>để</a:t>
            </a:r>
            <a:r>
              <a:rPr lang="en-US" sz="2400" b="1" dirty="0">
                <a:solidFill>
                  <a:schemeClr val="bg1"/>
                </a:solidFill>
                <a:ea typeface="Maven Pro"/>
                <a:cs typeface="Maven Pro"/>
                <a:sym typeface="Maven Pro"/>
              </a:rPr>
              <a:t> </a:t>
            </a:r>
            <a:r>
              <a:rPr lang="en-US" sz="2400" b="1" dirty="0" err="1">
                <a:solidFill>
                  <a:schemeClr val="bg1"/>
                </a:solidFill>
                <a:ea typeface="Maven Pro"/>
                <a:cs typeface="Maven Pro"/>
                <a:sym typeface="Maven Pro"/>
              </a:rPr>
              <a:t>vào</a:t>
            </a:r>
            <a:r>
              <a:rPr lang="en-US" sz="2400" b="1" dirty="0">
                <a:solidFill>
                  <a:schemeClr val="bg1"/>
                </a:solidFill>
                <a:ea typeface="Maven Pro"/>
                <a:cs typeface="Maven Pro"/>
                <a:sym typeface="Maven Pro"/>
              </a:rPr>
              <a:t> </a:t>
            </a:r>
            <a:r>
              <a:rPr lang="en-US" sz="2400" b="1" dirty="0" err="1">
                <a:solidFill>
                  <a:schemeClr val="bg1"/>
                </a:solidFill>
                <a:ea typeface="Maven Pro"/>
                <a:cs typeface="Maven Pro"/>
                <a:sym typeface="Maven Pro"/>
              </a:rPr>
              <a:t>lệnh</a:t>
            </a:r>
            <a:endParaRPr lang="en-US" sz="2400" b="1" dirty="0">
              <a:solidFill>
                <a:schemeClr val="bg1"/>
              </a:solidFill>
              <a:ea typeface="Maven Pro"/>
              <a:cs typeface="Maven Pro"/>
              <a:sym typeface="Maven Pro"/>
            </a:endParaRPr>
          </a:p>
          <a:p>
            <a:pPr marL="0" marR="0" lvl="0" indent="0" algn="l" rtl="0">
              <a:lnSpc>
                <a:spcPct val="100000"/>
              </a:lnSpc>
              <a:spcBef>
                <a:spcPts val="0"/>
              </a:spcBef>
              <a:spcAft>
                <a:spcPts val="0"/>
              </a:spcAft>
              <a:buClr>
                <a:srgbClr val="000000"/>
              </a:buClr>
              <a:buSzPts val="2000"/>
              <a:buFont typeface="Arial"/>
              <a:buNone/>
            </a:pPr>
            <a:endParaRPr sz="2400" b="1" i="0" u="none" strike="noStrike" cap="none" dirty="0">
              <a:solidFill>
                <a:schemeClr val="lt1"/>
              </a:solidFill>
              <a:sym typeface="Arial"/>
            </a:endParaRPr>
          </a:p>
        </p:txBody>
      </p:sp>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101600" lvl="0">
              <a:lnSpc>
                <a:spcPct val="115000"/>
              </a:lnSpc>
              <a:spcBef>
                <a:spcPts val="1600"/>
              </a:spcBef>
              <a:buClr>
                <a:schemeClr val="dk1"/>
              </a:buClr>
              <a:buSzPts val="2000"/>
            </a:pPr>
            <a:r>
              <a:rPr lang="en-US" sz="1600" b="1" dirty="0" smtClean="0">
                <a:solidFill>
                  <a:schemeClr val="tx1"/>
                </a:solidFill>
                <a:ea typeface="Maven Pro"/>
                <a:cs typeface="Maven Pro"/>
                <a:sym typeface="Maven Pro"/>
              </a:rPr>
              <a:t>I.1. </a:t>
            </a:r>
            <a:r>
              <a:rPr lang="en-US" sz="1600" b="1" dirty="0">
                <a:solidFill>
                  <a:schemeClr val="tx1"/>
                </a:solidFill>
                <a:ea typeface="Maven Pro"/>
                <a:cs typeface="Maven Pro"/>
                <a:sym typeface="Maven Pro"/>
              </a:rPr>
              <a:t>Chiến </a:t>
            </a:r>
            <a:r>
              <a:rPr lang="en-US" sz="1600" b="1" dirty="0" err="1">
                <a:solidFill>
                  <a:schemeClr val="tx1"/>
                </a:solidFill>
                <a:ea typeface="Maven Pro"/>
                <a:cs typeface="Maven Pro"/>
                <a:sym typeface="Maven Pro"/>
              </a:rPr>
              <a:t>lược</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nến</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Doji</a:t>
            </a:r>
            <a:r>
              <a:rPr lang="en-US" sz="1600" b="1" dirty="0">
                <a:solidFill>
                  <a:schemeClr val="tx1"/>
                </a:solidFill>
                <a:ea typeface="Maven Pro"/>
                <a:cs typeface="Maven Pro"/>
                <a:sym typeface="Maven Pro"/>
              </a:rPr>
              <a:t> – </a:t>
            </a:r>
            <a:r>
              <a:rPr lang="en-US" sz="1600" b="1" dirty="0" err="1">
                <a:solidFill>
                  <a:schemeClr val="tx1"/>
                </a:solidFill>
                <a:ea typeface="Maven Pro"/>
                <a:cs typeface="Maven Pro"/>
                <a:sym typeface="Maven Pro"/>
              </a:rPr>
              <a:t>Doji</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chân</a:t>
            </a:r>
            <a:r>
              <a:rPr lang="en-US" sz="1600" b="1" dirty="0">
                <a:solidFill>
                  <a:schemeClr val="tx1"/>
                </a:solidFill>
                <a:ea typeface="Maven Pro"/>
                <a:cs typeface="Maven Pro"/>
                <a:sym typeface="Maven Pro"/>
              </a:rPr>
              <a:t> </a:t>
            </a:r>
            <a:r>
              <a:rPr lang="en-US" sz="1600" b="1" dirty="0" err="1" smtClean="0">
                <a:solidFill>
                  <a:schemeClr val="tx1"/>
                </a:solidFill>
                <a:ea typeface="Maven Pro"/>
                <a:cs typeface="Maven Pro"/>
                <a:sym typeface="Maven Pro"/>
              </a:rPr>
              <a:t>dài</a:t>
            </a:r>
            <a:endParaRPr lang="en-US" sz="1600" b="1" dirty="0" smtClean="0">
              <a:solidFill>
                <a:schemeClr val="tx1"/>
              </a:solidFill>
              <a:ea typeface="Maven Pro"/>
              <a:cs typeface="Maven Pro"/>
              <a:sym typeface="Maven Pro"/>
            </a:endParaRPr>
          </a:p>
          <a:p>
            <a:pPr marL="444500" indent="-342900" algn="just">
              <a:lnSpc>
                <a:spcPct val="115000"/>
              </a:lnSpc>
              <a:spcBef>
                <a:spcPts val="1600"/>
              </a:spcBef>
              <a:buClr>
                <a:schemeClr val="dk1"/>
              </a:buClr>
              <a:buSzPts val="2000"/>
              <a:buFont typeface="+mj-lt"/>
              <a:buAutoNum type="alphaLcParenR" startAt="2"/>
            </a:pPr>
            <a:r>
              <a:rPr lang="en-US" sz="1600" b="1" u="sng" dirty="0" err="1" smtClean="0">
                <a:solidFill>
                  <a:schemeClr val="tx1"/>
                </a:solidFill>
                <a:ea typeface="Maven Pro"/>
                <a:cs typeface="Maven Pro"/>
                <a:sym typeface="Maven Pro"/>
              </a:rPr>
              <a:t>Cần</a:t>
            </a:r>
            <a:r>
              <a:rPr lang="en-US" sz="1600" b="1" u="sng" dirty="0" smtClean="0">
                <a:solidFill>
                  <a:schemeClr val="tx1"/>
                </a:solidFill>
                <a:ea typeface="Maven Pro"/>
                <a:cs typeface="Maven Pro"/>
                <a:sym typeface="Maven Pro"/>
              </a:rPr>
              <a:t> </a:t>
            </a:r>
            <a:r>
              <a:rPr lang="en-US" sz="1600" b="1" u="sng" dirty="0" err="1" smtClean="0">
                <a:solidFill>
                  <a:schemeClr val="tx1"/>
                </a:solidFill>
                <a:ea typeface="Maven Pro"/>
                <a:cs typeface="Maven Pro"/>
                <a:sym typeface="Maven Pro"/>
              </a:rPr>
              <a:t>nến</a:t>
            </a:r>
            <a:r>
              <a:rPr lang="en-US" sz="1600" b="1" u="sng" dirty="0" smtClean="0">
                <a:solidFill>
                  <a:schemeClr val="tx1"/>
                </a:solidFill>
                <a:ea typeface="Maven Pro"/>
                <a:cs typeface="Maven Pro"/>
                <a:sym typeface="Maven Pro"/>
              </a:rPr>
              <a:t> </a:t>
            </a:r>
            <a:r>
              <a:rPr lang="en-US" sz="1600" b="1" u="sng" dirty="0" err="1" smtClean="0">
                <a:solidFill>
                  <a:schemeClr val="tx1"/>
                </a:solidFill>
                <a:ea typeface="Maven Pro"/>
                <a:cs typeface="Maven Pro"/>
                <a:sym typeface="Maven Pro"/>
              </a:rPr>
              <a:t>xác</a:t>
            </a:r>
            <a:r>
              <a:rPr lang="en-US" sz="1600" b="1" u="sng" dirty="0" smtClean="0">
                <a:solidFill>
                  <a:schemeClr val="tx1"/>
                </a:solidFill>
                <a:ea typeface="Maven Pro"/>
                <a:cs typeface="Maven Pro"/>
                <a:sym typeface="Maven Pro"/>
              </a:rPr>
              <a:t> </a:t>
            </a:r>
            <a:r>
              <a:rPr lang="en-US" sz="1600" b="1" u="sng" dirty="0" err="1" smtClean="0">
                <a:solidFill>
                  <a:schemeClr val="tx1"/>
                </a:solidFill>
                <a:ea typeface="Maven Pro"/>
                <a:cs typeface="Maven Pro"/>
                <a:sym typeface="Maven Pro"/>
              </a:rPr>
              <a:t>nhận</a:t>
            </a:r>
            <a:r>
              <a:rPr lang="en-US" sz="1600" b="1" u="sng" dirty="0" smtClean="0">
                <a:solidFill>
                  <a:schemeClr val="tx1"/>
                </a:solidFill>
                <a:ea typeface="Maven Pro"/>
                <a:cs typeface="Maven Pro"/>
                <a:sym typeface="Maven Pro"/>
              </a:rPr>
              <a:t>:</a:t>
            </a:r>
            <a:r>
              <a:rPr lang="en-US" sz="1600" b="1" dirty="0" smtClean="0">
                <a:solidFill>
                  <a:schemeClr val="tx1"/>
                </a:solidFill>
                <a:ea typeface="Maven Pro"/>
                <a:cs typeface="Maven Pro"/>
                <a:sym typeface="Maven Pro"/>
              </a:rPr>
              <a:t> </a:t>
            </a:r>
            <a:r>
              <a:rPr lang="en-US" sz="1600" dirty="0" err="1" smtClean="0">
                <a:solidFill>
                  <a:schemeClr val="tx1"/>
                </a:solidFill>
                <a:ea typeface="Maven Pro"/>
                <a:cs typeface="Maven Pro"/>
                <a:sym typeface="Maven Pro"/>
              </a:rPr>
              <a:t>Sau</a:t>
            </a:r>
            <a:r>
              <a:rPr lang="en-US" sz="1600" dirty="0" smtClean="0">
                <a:solidFill>
                  <a:schemeClr val="tx1"/>
                </a:solidFill>
                <a:ea typeface="Maven Pro"/>
                <a:cs typeface="Maven Pro"/>
                <a:sym typeface="Maven Pro"/>
              </a:rPr>
              <a:t> </a:t>
            </a:r>
            <a:r>
              <a:rPr lang="en-US" sz="1600" dirty="0" err="1" smtClean="0">
                <a:solidFill>
                  <a:schemeClr val="tx1"/>
                </a:solidFill>
                <a:ea typeface="Maven Pro"/>
                <a:cs typeface="Maven Pro"/>
                <a:sym typeface="Maven Pro"/>
              </a:rPr>
              <a:t>khi</a:t>
            </a:r>
            <a:r>
              <a:rPr lang="en-US" sz="1600" dirty="0" smtClean="0">
                <a:solidFill>
                  <a:schemeClr val="tx1"/>
                </a:solidFill>
                <a:ea typeface="Maven Pro"/>
                <a:cs typeface="Maven Pro"/>
                <a:sym typeface="Maven Pro"/>
              </a:rPr>
              <a:t> </a:t>
            </a:r>
            <a:r>
              <a:rPr lang="en-US" sz="1600" dirty="0" err="1" smtClean="0">
                <a:solidFill>
                  <a:schemeClr val="tx1"/>
                </a:solidFill>
                <a:ea typeface="Maven Pro"/>
                <a:cs typeface="Maven Pro"/>
                <a:sym typeface="Maven Pro"/>
              </a:rPr>
              <a:t>xuất</a:t>
            </a:r>
            <a:r>
              <a:rPr lang="en-US" sz="1600" dirty="0" smtClean="0">
                <a:solidFill>
                  <a:schemeClr val="tx1"/>
                </a:solidFill>
                <a:ea typeface="Maven Pro"/>
                <a:cs typeface="Maven Pro"/>
                <a:sym typeface="Maven Pro"/>
              </a:rPr>
              <a:t> </a:t>
            </a:r>
            <a:r>
              <a:rPr lang="en-US" sz="1600" dirty="0" err="1" smtClean="0">
                <a:solidFill>
                  <a:schemeClr val="tx1"/>
                </a:solidFill>
                <a:ea typeface="Maven Pro"/>
                <a:cs typeface="Maven Pro"/>
                <a:sym typeface="Maven Pro"/>
              </a:rPr>
              <a:t>hiện</a:t>
            </a:r>
            <a:r>
              <a:rPr lang="en-US" sz="1600" dirty="0" smtClean="0">
                <a:solidFill>
                  <a:schemeClr val="tx1"/>
                </a:solidFill>
                <a:ea typeface="Maven Pro"/>
                <a:cs typeface="Maven Pro"/>
                <a:sym typeface="Maven Pro"/>
              </a:rPr>
              <a:t> </a:t>
            </a:r>
            <a:r>
              <a:rPr lang="en-US" sz="1600" dirty="0" err="1" smtClean="0">
                <a:solidFill>
                  <a:schemeClr val="tx1"/>
                </a:solidFill>
                <a:ea typeface="Maven Pro"/>
                <a:cs typeface="Maven Pro"/>
                <a:sym typeface="Maven Pro"/>
              </a:rPr>
              <a:t>nến</a:t>
            </a:r>
            <a:r>
              <a:rPr lang="en-US" sz="1600" dirty="0" smtClean="0">
                <a:solidFill>
                  <a:schemeClr val="tx1"/>
                </a:solidFill>
                <a:ea typeface="Maven Pro"/>
                <a:cs typeface="Maven Pro"/>
                <a:sym typeface="Maven Pro"/>
              </a:rPr>
              <a:t> </a:t>
            </a:r>
            <a:r>
              <a:rPr lang="en-US" sz="1600" dirty="0" err="1" smtClean="0">
                <a:solidFill>
                  <a:schemeClr val="tx1"/>
                </a:solidFill>
                <a:ea typeface="Maven Pro"/>
                <a:cs typeface="Maven Pro"/>
                <a:sym typeface="Maven Pro"/>
              </a:rPr>
              <a:t>Doji</a:t>
            </a:r>
            <a:r>
              <a:rPr lang="en-US" sz="1600" dirty="0" smtClean="0">
                <a:solidFill>
                  <a:schemeClr val="tx1"/>
                </a:solidFill>
                <a:ea typeface="Maven Pro"/>
                <a:cs typeface="Maven Pro"/>
                <a:sym typeface="Maven Pro"/>
              </a:rPr>
              <a:t> </a:t>
            </a:r>
            <a:r>
              <a:rPr lang="en-US" sz="1600" dirty="0" err="1" smtClean="0">
                <a:solidFill>
                  <a:schemeClr val="tx1"/>
                </a:solidFill>
                <a:ea typeface="Maven Pro"/>
                <a:cs typeface="Maven Pro"/>
                <a:sym typeface="Maven Pro"/>
              </a:rPr>
              <a:t>chân</a:t>
            </a:r>
            <a:r>
              <a:rPr lang="en-US" sz="1600" dirty="0" smtClean="0">
                <a:solidFill>
                  <a:schemeClr val="tx1"/>
                </a:solidFill>
                <a:ea typeface="Maven Pro"/>
                <a:cs typeface="Maven Pro"/>
                <a:sym typeface="Maven Pro"/>
              </a:rPr>
              <a:t> </a:t>
            </a:r>
            <a:r>
              <a:rPr lang="en-US" sz="1600" dirty="0" err="1" smtClean="0">
                <a:solidFill>
                  <a:schemeClr val="tx1"/>
                </a:solidFill>
                <a:ea typeface="Maven Pro"/>
                <a:cs typeface="Maven Pro"/>
                <a:sym typeface="Maven Pro"/>
              </a:rPr>
              <a:t>dài</a:t>
            </a:r>
            <a:r>
              <a:rPr lang="en-US" sz="1600" dirty="0" smtClean="0">
                <a:solidFill>
                  <a:schemeClr val="tx1"/>
                </a:solidFill>
                <a:ea typeface="Maven Pro"/>
                <a:cs typeface="Maven Pro"/>
                <a:sym typeface="Maven Pro"/>
              </a:rPr>
              <a:t> =&gt; </a:t>
            </a:r>
            <a:r>
              <a:rPr lang="en-US" sz="1600" dirty="0" err="1" smtClean="0">
                <a:solidFill>
                  <a:schemeClr val="tx1"/>
                </a:solidFill>
                <a:ea typeface="Maven Pro"/>
                <a:cs typeface="Maven Pro"/>
                <a:sym typeface="Maven Pro"/>
              </a:rPr>
              <a:t>Cần</a:t>
            </a:r>
            <a:r>
              <a:rPr lang="en-US" sz="1600" dirty="0" smtClean="0">
                <a:solidFill>
                  <a:schemeClr val="tx1"/>
                </a:solidFill>
                <a:ea typeface="Maven Pro"/>
                <a:cs typeface="Maven Pro"/>
                <a:sym typeface="Maven Pro"/>
              </a:rPr>
              <a:t> 1 </a:t>
            </a:r>
            <a:r>
              <a:rPr lang="en-US" sz="1600" dirty="0" err="1" smtClean="0">
                <a:solidFill>
                  <a:schemeClr val="tx1"/>
                </a:solidFill>
                <a:ea typeface="Maven Pro"/>
                <a:cs typeface="Maven Pro"/>
                <a:sym typeface="Maven Pro"/>
              </a:rPr>
              <a:t>nến</a:t>
            </a:r>
            <a:r>
              <a:rPr lang="en-US" sz="1600" dirty="0" smtClean="0">
                <a:solidFill>
                  <a:schemeClr val="tx1"/>
                </a:solidFill>
                <a:ea typeface="Maven Pro"/>
                <a:cs typeface="Maven Pro"/>
                <a:sym typeface="Maven Pro"/>
              </a:rPr>
              <a:t> </a:t>
            </a:r>
            <a:r>
              <a:rPr lang="en-US" sz="1600" dirty="0" err="1" smtClean="0">
                <a:solidFill>
                  <a:schemeClr val="tx1"/>
                </a:solidFill>
                <a:ea typeface="Maven Pro"/>
                <a:cs typeface="Maven Pro"/>
                <a:sym typeface="Maven Pro"/>
              </a:rPr>
              <a:t>xác</a:t>
            </a:r>
            <a:r>
              <a:rPr lang="en-US" sz="1600" dirty="0" smtClean="0">
                <a:solidFill>
                  <a:schemeClr val="tx1"/>
                </a:solidFill>
                <a:ea typeface="Maven Pro"/>
                <a:cs typeface="Maven Pro"/>
                <a:sym typeface="Maven Pro"/>
              </a:rPr>
              <a:t> </a:t>
            </a:r>
            <a:r>
              <a:rPr lang="en-US" sz="1600" dirty="0" err="1" smtClean="0">
                <a:solidFill>
                  <a:schemeClr val="tx1"/>
                </a:solidFill>
                <a:ea typeface="Maven Pro"/>
                <a:cs typeface="Maven Pro"/>
                <a:sym typeface="Maven Pro"/>
              </a:rPr>
              <a:t>nhận</a:t>
            </a:r>
            <a:r>
              <a:rPr lang="en-US" sz="1600" dirty="0" smtClean="0">
                <a:solidFill>
                  <a:schemeClr val="tx1"/>
                </a:solidFill>
                <a:ea typeface="Maven Pro"/>
                <a:cs typeface="Maven Pro"/>
                <a:sym typeface="Maven Pro"/>
              </a:rPr>
              <a:t> </a:t>
            </a:r>
            <a:r>
              <a:rPr lang="en-US" sz="1600" dirty="0" err="1" smtClean="0">
                <a:solidFill>
                  <a:schemeClr val="tx1"/>
                </a:solidFill>
                <a:ea typeface="Maven Pro"/>
                <a:cs typeface="Maven Pro"/>
                <a:sym typeface="Maven Pro"/>
              </a:rPr>
              <a:t>xu</a:t>
            </a:r>
            <a:r>
              <a:rPr lang="en-US" sz="1600" dirty="0" smtClean="0">
                <a:solidFill>
                  <a:schemeClr val="tx1"/>
                </a:solidFill>
                <a:ea typeface="Maven Pro"/>
                <a:cs typeface="Maven Pro"/>
                <a:sym typeface="Maven Pro"/>
              </a:rPr>
              <a:t> </a:t>
            </a:r>
            <a:r>
              <a:rPr lang="en-US" sz="1600" dirty="0" err="1" smtClean="0">
                <a:solidFill>
                  <a:schemeClr val="tx1"/>
                </a:solidFill>
                <a:ea typeface="Maven Pro"/>
                <a:cs typeface="Maven Pro"/>
                <a:sym typeface="Maven Pro"/>
              </a:rPr>
              <a:t>hướng</a:t>
            </a:r>
            <a:r>
              <a:rPr lang="en-US" sz="1600" b="1" dirty="0" smtClean="0">
                <a:solidFill>
                  <a:schemeClr val="tx1"/>
                </a:solidFill>
                <a:ea typeface="Maven Pro"/>
                <a:cs typeface="Maven Pro"/>
                <a:sym typeface="Maven Pro"/>
              </a:rPr>
              <a:t> </a:t>
            </a:r>
          </a:p>
          <a:p>
            <a:pPr marL="101600" algn="just">
              <a:lnSpc>
                <a:spcPct val="115000"/>
              </a:lnSpc>
              <a:spcBef>
                <a:spcPts val="1600"/>
              </a:spcBef>
              <a:buClr>
                <a:schemeClr val="dk1"/>
              </a:buClr>
              <a:buSzPts val="2000"/>
            </a:pPr>
            <a:r>
              <a:rPr lang="vi-VN" sz="1600" b="1" dirty="0" smtClean="0"/>
              <a:t>Quan </a:t>
            </a:r>
            <a:r>
              <a:rPr lang="vi-VN" sz="1600" b="1" dirty="0"/>
              <a:t>sát nến tiếp theo:</a:t>
            </a:r>
            <a:endParaRPr lang="vi-VN" sz="1600" dirty="0"/>
          </a:p>
          <a:p>
            <a:pPr lvl="1" algn="just"/>
            <a:r>
              <a:rPr lang="en-US" sz="1600" dirty="0"/>
              <a:t> </a:t>
            </a:r>
            <a:r>
              <a:rPr lang="en-US" sz="1600" dirty="0" smtClean="0"/>
              <a:t> + </a:t>
            </a:r>
            <a:r>
              <a:rPr lang="vi-VN" sz="1600" dirty="0" smtClean="0"/>
              <a:t>Nếu </a:t>
            </a:r>
            <a:r>
              <a:rPr lang="vi-VN" sz="1600" dirty="0"/>
              <a:t>nến tiếp theo sau Doji là một nến giảm (màu đỏ hoặc đen) và đóng cửa dưới thân nến của Doji, điều này có thể được coi là một nến xác nhận giảm giá.</a:t>
            </a:r>
          </a:p>
          <a:p>
            <a:pPr lvl="1" algn="just"/>
            <a:r>
              <a:rPr lang="en-US" sz="1600" dirty="0" smtClean="0"/>
              <a:t>  + </a:t>
            </a:r>
            <a:r>
              <a:rPr lang="vi-VN" sz="1600" dirty="0" smtClean="0"/>
              <a:t>Ngược </a:t>
            </a:r>
            <a:r>
              <a:rPr lang="vi-VN" sz="1600" dirty="0"/>
              <a:t>lại, nếu nến tiếp theo là một nến tăng (màu xanh lá hoặc trắng) và </a:t>
            </a:r>
            <a:r>
              <a:rPr lang="vi-VN" sz="1600" dirty="0">
                <a:solidFill>
                  <a:srgbClr val="FF0000"/>
                </a:solidFill>
              </a:rPr>
              <a:t>đóng cửa trên thân nến </a:t>
            </a:r>
            <a:r>
              <a:rPr lang="vi-VN" sz="1600" dirty="0" smtClean="0">
                <a:solidFill>
                  <a:srgbClr val="FF0000"/>
                </a:solidFill>
              </a:rPr>
              <a:t>của </a:t>
            </a:r>
            <a:r>
              <a:rPr lang="vi-VN" sz="1600" dirty="0">
                <a:solidFill>
                  <a:srgbClr val="FF0000"/>
                </a:solidFill>
              </a:rPr>
              <a:t>Doji</a:t>
            </a:r>
            <a:r>
              <a:rPr lang="vi-VN" sz="1600" dirty="0"/>
              <a:t>, nó có thể là một nến xác nhận tăng giá.</a:t>
            </a:r>
          </a:p>
          <a:p>
            <a:pPr marL="101600" lvl="0" algn="just">
              <a:lnSpc>
                <a:spcPct val="115000"/>
              </a:lnSpc>
              <a:spcBef>
                <a:spcPts val="1600"/>
              </a:spcBef>
              <a:buClr>
                <a:schemeClr val="dk1"/>
              </a:buClr>
              <a:buSzPts val="2000"/>
            </a:pPr>
            <a:r>
              <a:rPr lang="en-US" sz="1600" b="1" dirty="0">
                <a:solidFill>
                  <a:schemeClr val="tx1"/>
                </a:solidFill>
                <a:ea typeface="Maven Pro"/>
                <a:cs typeface="Maven Pro"/>
                <a:sym typeface="Maven Pro"/>
              </a:rPr>
              <a:t>Code </a:t>
            </a:r>
            <a:r>
              <a:rPr lang="en-US" sz="1600" b="1" dirty="0" err="1" smtClean="0">
                <a:solidFill>
                  <a:schemeClr val="tx1"/>
                </a:solidFill>
                <a:ea typeface="Maven Pro"/>
                <a:cs typeface="Maven Pro"/>
                <a:sym typeface="Maven Pro"/>
              </a:rPr>
              <a:t>kiểm</a:t>
            </a:r>
            <a:r>
              <a:rPr lang="en-US" sz="1600" b="1" dirty="0" smtClean="0">
                <a:solidFill>
                  <a:schemeClr val="tx1"/>
                </a:solidFill>
                <a:ea typeface="Maven Pro"/>
                <a:cs typeface="Maven Pro"/>
                <a:sym typeface="Maven Pro"/>
              </a:rPr>
              <a:t> </a:t>
            </a:r>
            <a:r>
              <a:rPr lang="en-US" sz="1600" b="1" dirty="0" err="1" smtClean="0">
                <a:solidFill>
                  <a:schemeClr val="tx1"/>
                </a:solidFill>
                <a:ea typeface="Maven Pro"/>
                <a:cs typeface="Maven Pro"/>
                <a:sym typeface="Maven Pro"/>
              </a:rPr>
              <a:t>tra</a:t>
            </a:r>
            <a:r>
              <a:rPr lang="en-US" sz="1600" b="1" dirty="0" smtClean="0">
                <a:solidFill>
                  <a:schemeClr val="tx1"/>
                </a:solidFill>
                <a:ea typeface="Maven Pro"/>
                <a:cs typeface="Maven Pro"/>
                <a:sym typeface="Maven Pro"/>
              </a:rPr>
              <a:t> </a:t>
            </a:r>
            <a:r>
              <a:rPr lang="en-US" sz="1600" b="1" dirty="0" err="1" smtClean="0">
                <a:solidFill>
                  <a:schemeClr val="tx1"/>
                </a:solidFill>
                <a:ea typeface="Maven Pro"/>
                <a:cs typeface="Maven Pro"/>
                <a:sym typeface="Maven Pro"/>
              </a:rPr>
              <a:t>nến</a:t>
            </a:r>
            <a:r>
              <a:rPr lang="en-US" sz="1600" b="1" dirty="0" smtClean="0">
                <a:solidFill>
                  <a:schemeClr val="tx1"/>
                </a:solidFill>
                <a:ea typeface="Maven Pro"/>
                <a:cs typeface="Maven Pro"/>
                <a:sym typeface="Maven Pro"/>
              </a:rPr>
              <a:t> </a:t>
            </a:r>
            <a:r>
              <a:rPr lang="en-US" sz="1600" b="1" dirty="0" err="1" smtClean="0">
                <a:solidFill>
                  <a:schemeClr val="tx1"/>
                </a:solidFill>
                <a:ea typeface="Maven Pro"/>
                <a:cs typeface="Maven Pro"/>
                <a:sym typeface="Maven Pro"/>
              </a:rPr>
              <a:t>xác</a:t>
            </a:r>
            <a:r>
              <a:rPr lang="en-US" sz="1600" b="1" dirty="0" smtClean="0">
                <a:solidFill>
                  <a:schemeClr val="tx1"/>
                </a:solidFill>
                <a:ea typeface="Maven Pro"/>
                <a:cs typeface="Maven Pro"/>
                <a:sym typeface="Maven Pro"/>
              </a:rPr>
              <a:t> </a:t>
            </a:r>
            <a:r>
              <a:rPr lang="en-US" sz="1600" b="1" dirty="0" err="1" smtClean="0">
                <a:solidFill>
                  <a:schemeClr val="tx1"/>
                </a:solidFill>
                <a:ea typeface="Maven Pro"/>
                <a:cs typeface="Maven Pro"/>
                <a:sym typeface="Maven Pro"/>
              </a:rPr>
              <a:t>nhận</a:t>
            </a:r>
            <a:r>
              <a:rPr lang="en-US" sz="1600" b="1" dirty="0" smtClean="0">
                <a:solidFill>
                  <a:schemeClr val="tx1"/>
                </a:solidFill>
                <a:ea typeface="Maven Pro"/>
                <a:cs typeface="Maven Pro"/>
                <a:sym typeface="Maven Pro"/>
              </a:rPr>
              <a:t> </a:t>
            </a:r>
            <a:r>
              <a:rPr lang="en-US" sz="1600" b="1" dirty="0" err="1" smtClean="0">
                <a:solidFill>
                  <a:schemeClr val="tx1"/>
                </a:solidFill>
                <a:ea typeface="Maven Pro"/>
                <a:cs typeface="Maven Pro"/>
                <a:sym typeface="Maven Pro"/>
              </a:rPr>
              <a:t>sau</a:t>
            </a:r>
            <a:r>
              <a:rPr lang="en-US" sz="1600" b="1" dirty="0" smtClean="0">
                <a:solidFill>
                  <a:schemeClr val="tx1"/>
                </a:solidFill>
                <a:ea typeface="Maven Pro"/>
                <a:cs typeface="Maven Pro"/>
                <a:sym typeface="Maven Pro"/>
              </a:rPr>
              <a:t> </a:t>
            </a:r>
            <a:r>
              <a:rPr lang="en-US" sz="1600" b="1" dirty="0" err="1">
                <a:solidFill>
                  <a:schemeClr val="tx1"/>
                </a:solidFill>
                <a:ea typeface="Maven Pro"/>
                <a:cs typeface="Maven Pro"/>
                <a:sym typeface="Maven Pro"/>
              </a:rPr>
              <a:t>nến</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Doji</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chân</a:t>
            </a:r>
            <a:r>
              <a:rPr lang="en-US" sz="1600" b="1" dirty="0">
                <a:solidFill>
                  <a:schemeClr val="tx1"/>
                </a:solidFill>
                <a:ea typeface="Maven Pro"/>
                <a:cs typeface="Maven Pro"/>
                <a:sym typeface="Maven Pro"/>
              </a:rPr>
              <a:t> </a:t>
            </a:r>
            <a:r>
              <a:rPr lang="en-US" sz="1600" b="1" dirty="0" err="1" smtClean="0">
                <a:solidFill>
                  <a:schemeClr val="tx1"/>
                </a:solidFill>
                <a:ea typeface="Maven Pro"/>
                <a:cs typeface="Maven Pro"/>
                <a:sym typeface="Maven Pro"/>
              </a:rPr>
              <a:t>dài</a:t>
            </a:r>
            <a:r>
              <a:rPr lang="en-US" sz="1600" b="1" dirty="0" smtClean="0">
                <a:solidFill>
                  <a:schemeClr val="tx1"/>
                </a:solidFill>
                <a:ea typeface="Maven Pro"/>
                <a:cs typeface="Maven Pro"/>
                <a:sym typeface="Maven Pro"/>
              </a:rPr>
              <a:t> 1 </a:t>
            </a:r>
            <a:r>
              <a:rPr lang="en-US" sz="1600" b="1" dirty="0" err="1" smtClean="0">
                <a:solidFill>
                  <a:schemeClr val="tx1"/>
                </a:solidFill>
                <a:ea typeface="Maven Pro"/>
                <a:cs typeface="Maven Pro"/>
                <a:sym typeface="Maven Pro"/>
              </a:rPr>
              <a:t>nến</a:t>
            </a:r>
            <a:r>
              <a:rPr lang="en-US" sz="1600" b="1" dirty="0" smtClean="0">
                <a:solidFill>
                  <a:schemeClr val="tx1"/>
                </a:solidFill>
                <a:ea typeface="Maven Pro"/>
                <a:cs typeface="Maven Pro"/>
                <a:sym typeface="Maven Pro"/>
              </a:rPr>
              <a:t>: </a:t>
            </a:r>
            <a:r>
              <a:rPr lang="en-US" sz="1600" dirty="0" err="1">
                <a:solidFill>
                  <a:schemeClr val="tx1"/>
                </a:solidFill>
                <a:ea typeface="Maven Pro"/>
                <a:cs typeface="Maven Pro"/>
                <a:sym typeface="Maven Pro"/>
              </a:rPr>
              <a:t>Vậy</a:t>
            </a:r>
            <a:r>
              <a:rPr lang="en-US" sz="1600" dirty="0">
                <a:solidFill>
                  <a:schemeClr val="tx1"/>
                </a:solidFill>
                <a:ea typeface="Maven Pro"/>
                <a:cs typeface="Maven Pro"/>
                <a:sym typeface="Maven Pro"/>
              </a:rPr>
              <a:t> </a:t>
            </a:r>
            <a:r>
              <a:rPr lang="en-US" sz="1600" dirty="0" err="1">
                <a:solidFill>
                  <a:schemeClr val="tx1"/>
                </a:solidFill>
                <a:ea typeface="Maven Pro"/>
                <a:cs typeface="Maven Pro"/>
                <a:sym typeface="Maven Pro"/>
              </a:rPr>
              <a:t>nếu</a:t>
            </a:r>
            <a:r>
              <a:rPr lang="en-US" sz="1600" dirty="0">
                <a:solidFill>
                  <a:schemeClr val="tx1"/>
                </a:solidFill>
                <a:ea typeface="Maven Pro"/>
                <a:cs typeface="Maven Pro"/>
                <a:sym typeface="Maven Pro"/>
              </a:rPr>
              <a:t> code </a:t>
            </a:r>
            <a:r>
              <a:rPr lang="en-US" sz="1600" dirty="0" err="1">
                <a:solidFill>
                  <a:schemeClr val="tx1"/>
                </a:solidFill>
                <a:ea typeface="Maven Pro"/>
                <a:cs typeface="Maven Pro"/>
                <a:sym typeface="Maven Pro"/>
              </a:rPr>
              <a:t>để</a:t>
            </a:r>
            <a:r>
              <a:rPr lang="en-US" sz="1600"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kiểm</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tra</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nến</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xác</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nhận</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sau</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nến</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Doji</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chân</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dài</a:t>
            </a:r>
            <a:r>
              <a:rPr lang="en-US" sz="1600" b="1" dirty="0">
                <a:solidFill>
                  <a:schemeClr val="tx1"/>
                </a:solidFill>
                <a:ea typeface="Maven Pro"/>
                <a:cs typeface="Maven Pro"/>
                <a:sym typeface="Maven Pro"/>
              </a:rPr>
              <a:t> 1 </a:t>
            </a:r>
            <a:r>
              <a:rPr lang="en-US" sz="1600" b="1" dirty="0" err="1">
                <a:solidFill>
                  <a:schemeClr val="tx1"/>
                </a:solidFill>
                <a:ea typeface="Maven Pro"/>
                <a:cs typeface="Maven Pro"/>
                <a:sym typeface="Maven Pro"/>
              </a:rPr>
              <a:t>nến</a:t>
            </a:r>
            <a:r>
              <a:rPr lang="en-US" sz="1600" b="1" dirty="0" smtClean="0">
                <a:solidFill>
                  <a:schemeClr val="tx1"/>
                </a:solidFill>
                <a:ea typeface="Maven Pro"/>
                <a:cs typeface="Maven Pro"/>
                <a:sym typeface="Maven Pro"/>
              </a:rPr>
              <a:t> </a:t>
            </a:r>
            <a:r>
              <a:rPr lang="en-US" sz="1600" dirty="0" err="1">
                <a:solidFill>
                  <a:schemeClr val="tx1"/>
                </a:solidFill>
                <a:ea typeface="Maven Pro"/>
                <a:cs typeface="Maven Pro"/>
                <a:sym typeface="Maven Pro"/>
              </a:rPr>
              <a:t>thì</a:t>
            </a:r>
            <a:r>
              <a:rPr lang="en-US" sz="1600" dirty="0">
                <a:solidFill>
                  <a:schemeClr val="tx1"/>
                </a:solidFill>
                <a:ea typeface="Maven Pro"/>
                <a:cs typeface="Maven Pro"/>
                <a:sym typeface="Maven Pro"/>
              </a:rPr>
              <a:t> </a:t>
            </a:r>
            <a:r>
              <a:rPr lang="en-US" sz="1600" dirty="0" err="1">
                <a:solidFill>
                  <a:schemeClr val="tx1"/>
                </a:solidFill>
                <a:ea typeface="Maven Pro"/>
                <a:cs typeface="Maven Pro"/>
                <a:sym typeface="Maven Pro"/>
              </a:rPr>
              <a:t>chúng</a:t>
            </a:r>
            <a:r>
              <a:rPr lang="en-US" sz="1600" dirty="0">
                <a:solidFill>
                  <a:schemeClr val="tx1"/>
                </a:solidFill>
                <a:ea typeface="Maven Pro"/>
                <a:cs typeface="Maven Pro"/>
                <a:sym typeface="Maven Pro"/>
              </a:rPr>
              <a:t> ta </a:t>
            </a:r>
            <a:r>
              <a:rPr lang="en-US" sz="1600" dirty="0" err="1">
                <a:solidFill>
                  <a:schemeClr val="tx1"/>
                </a:solidFill>
                <a:ea typeface="Maven Pro"/>
                <a:cs typeface="Maven Pro"/>
                <a:sym typeface="Maven Pro"/>
              </a:rPr>
              <a:t>sẽ</a:t>
            </a:r>
            <a:r>
              <a:rPr lang="en-US" sz="1600" dirty="0">
                <a:solidFill>
                  <a:schemeClr val="tx1"/>
                </a:solidFill>
                <a:ea typeface="Maven Pro"/>
                <a:cs typeface="Maven Pro"/>
                <a:sym typeface="Maven Pro"/>
              </a:rPr>
              <a:t> code </a:t>
            </a:r>
            <a:r>
              <a:rPr lang="en-US" sz="1600" dirty="0" err="1">
                <a:solidFill>
                  <a:schemeClr val="tx1"/>
                </a:solidFill>
                <a:ea typeface="Maven Pro"/>
                <a:cs typeface="Maven Pro"/>
                <a:sym typeface="Maven Pro"/>
              </a:rPr>
              <a:t>gì</a:t>
            </a:r>
            <a:r>
              <a:rPr lang="en-US" sz="1600" dirty="0">
                <a:solidFill>
                  <a:schemeClr val="tx1"/>
                </a:solidFill>
                <a:ea typeface="Maven Pro"/>
                <a:cs typeface="Maven Pro"/>
                <a:sym typeface="Maven Pro"/>
              </a:rPr>
              <a:t>?</a:t>
            </a:r>
          </a:p>
          <a:p>
            <a:pPr marL="101600" lvl="1">
              <a:lnSpc>
                <a:spcPct val="115000"/>
              </a:lnSpc>
              <a:spcBef>
                <a:spcPts val="1600"/>
              </a:spcBef>
              <a:buClr>
                <a:schemeClr val="dk1"/>
              </a:buClr>
              <a:buSzPts val="2000"/>
            </a:pPr>
            <a:r>
              <a:rPr lang="en-US" sz="1600" dirty="0" smtClean="0">
                <a:solidFill>
                  <a:schemeClr val="tx1"/>
                </a:solidFill>
                <a:ea typeface="Maven Pro"/>
                <a:cs typeface="Maven Pro"/>
                <a:sym typeface="Maven Pro"/>
              </a:rPr>
              <a:t>+ </a:t>
            </a:r>
            <a:r>
              <a:rPr lang="en-US" sz="1600" dirty="0" smtClean="0">
                <a:ea typeface="Maven Pro"/>
              </a:rPr>
              <a:t>N</a:t>
            </a:r>
            <a:r>
              <a:rPr lang="vi-VN" sz="1600" dirty="0" smtClean="0"/>
              <a:t>ếu </a:t>
            </a:r>
            <a:r>
              <a:rPr lang="vi-VN" sz="1600" dirty="0"/>
              <a:t>nến tiếp theo là một nến tăng (màu xanh lá hoặc trắng) và đóng cửa trên thân nến của Doji, nó có thể là một nến xác nhận tăng giá</a:t>
            </a:r>
            <a:r>
              <a:rPr lang="vi-VN" sz="1600" dirty="0" smtClean="0"/>
              <a:t>.</a:t>
            </a:r>
            <a:r>
              <a:rPr lang="en-US" sz="1600" dirty="0" smtClean="0"/>
              <a:t> =&gt; </a:t>
            </a:r>
            <a:r>
              <a:rPr lang="en-US" sz="1600" b="1" dirty="0" err="1" smtClean="0"/>
              <a:t>Thực</a:t>
            </a:r>
            <a:r>
              <a:rPr lang="en-US" sz="1600" b="1" dirty="0" smtClean="0"/>
              <a:t> </a:t>
            </a:r>
            <a:r>
              <a:rPr lang="en-US" sz="1600" b="1" dirty="0" err="1" smtClean="0"/>
              <a:t>hiện</a:t>
            </a:r>
            <a:r>
              <a:rPr lang="en-US" sz="1600" b="1" dirty="0" smtClean="0"/>
              <a:t> </a:t>
            </a:r>
            <a:r>
              <a:rPr lang="en-US" sz="1600" b="1" dirty="0" err="1" smtClean="0"/>
              <a:t>chiến</a:t>
            </a:r>
            <a:r>
              <a:rPr lang="en-US" sz="1600" b="1" dirty="0" smtClean="0"/>
              <a:t> </a:t>
            </a:r>
            <a:r>
              <a:rPr lang="en-US" sz="1600" b="1" dirty="0" err="1" smtClean="0"/>
              <a:t>lược</a:t>
            </a:r>
            <a:r>
              <a:rPr lang="en-US" sz="1600" b="1" dirty="0" smtClean="0"/>
              <a:t> </a:t>
            </a:r>
            <a:r>
              <a:rPr lang="en-US" sz="1600" b="1" dirty="0" err="1" smtClean="0"/>
              <a:t>mua</a:t>
            </a:r>
            <a:r>
              <a:rPr lang="en-US" sz="1600" b="1" dirty="0" smtClean="0"/>
              <a:t> </a:t>
            </a:r>
            <a:r>
              <a:rPr lang="en-US" sz="1600" b="1" dirty="0" err="1" smtClean="0"/>
              <a:t>vào</a:t>
            </a:r>
            <a:endParaRPr lang="vi-VN" sz="1600" b="1" dirty="0"/>
          </a:p>
          <a:p>
            <a:pPr marL="101600">
              <a:lnSpc>
                <a:spcPct val="115000"/>
              </a:lnSpc>
              <a:spcBef>
                <a:spcPts val="1600"/>
              </a:spcBef>
              <a:buClr>
                <a:schemeClr val="dk1"/>
              </a:buClr>
              <a:buSzPts val="2000"/>
            </a:pPr>
            <a:endParaRPr lang="en-US" sz="1600" dirty="0">
              <a:solidFill>
                <a:schemeClr val="tx1"/>
              </a:solidFill>
              <a:ea typeface="Maven Pro"/>
              <a:cs typeface="Maven Pro"/>
              <a:sym typeface="Maven Pro"/>
            </a:endParaRPr>
          </a:p>
          <a:p>
            <a:pPr marL="101600" lvl="0">
              <a:lnSpc>
                <a:spcPct val="115000"/>
              </a:lnSpc>
              <a:spcBef>
                <a:spcPts val="1600"/>
              </a:spcBef>
              <a:buClr>
                <a:schemeClr val="dk1"/>
              </a:buClr>
              <a:buSzPts val="2000"/>
            </a:pPr>
            <a:endParaRPr lang="en-US" sz="1600" dirty="0" smtClean="0">
              <a:solidFill>
                <a:schemeClr val="tx1"/>
              </a:solidFill>
              <a:ea typeface="Maven Pro"/>
              <a:cs typeface="Maven Pro"/>
              <a:sym typeface="Maven Pro"/>
            </a:endParaRPr>
          </a:p>
          <a:p>
            <a:pPr marL="101600" lvl="0">
              <a:lnSpc>
                <a:spcPct val="115000"/>
              </a:lnSpc>
              <a:spcBef>
                <a:spcPts val="1600"/>
              </a:spcBef>
              <a:buClr>
                <a:schemeClr val="dk1"/>
              </a:buClr>
              <a:buSzPts val="2000"/>
            </a:pPr>
            <a:r>
              <a:rPr lang="en-US" sz="1600" b="1" dirty="0" smtClean="0">
                <a:solidFill>
                  <a:schemeClr val="tx1"/>
                </a:solidFill>
                <a:ea typeface="Maven Pro"/>
                <a:cs typeface="Maven Pro"/>
                <a:sym typeface="Maven Pro"/>
              </a:rPr>
              <a:t>  </a:t>
            </a:r>
          </a:p>
          <a:p>
            <a:pPr marL="101600" lvl="0">
              <a:lnSpc>
                <a:spcPct val="115000"/>
              </a:lnSpc>
              <a:spcBef>
                <a:spcPts val="1600"/>
              </a:spcBef>
              <a:buClr>
                <a:schemeClr val="dk1"/>
              </a:buClr>
              <a:buSzPts val="2000"/>
            </a:pPr>
            <a:endParaRPr lang="en-US" sz="1600" dirty="0">
              <a:solidFill>
                <a:schemeClr val="tx1"/>
              </a:solidFill>
              <a:ea typeface="Maven Pro"/>
              <a:cs typeface="Maven Pro"/>
              <a:sym typeface="Maven Pro"/>
            </a:endParaRPr>
          </a:p>
          <a:p>
            <a:pPr marL="101600" lvl="0">
              <a:lnSpc>
                <a:spcPct val="115000"/>
              </a:lnSpc>
              <a:spcBef>
                <a:spcPts val="1600"/>
              </a:spcBef>
              <a:buClr>
                <a:schemeClr val="dk1"/>
              </a:buClr>
              <a:buSzPts val="2000"/>
            </a:pPr>
            <a:r>
              <a:rPr lang="en-US" sz="1600" b="1" dirty="0" smtClean="0">
                <a:solidFill>
                  <a:schemeClr val="dk1"/>
                </a:solidFill>
                <a:latin typeface="+mn-lt"/>
                <a:ea typeface="Maven Pro"/>
                <a:cs typeface="Maven Pro"/>
                <a:sym typeface="Maven Pro"/>
              </a:rPr>
              <a:t>      </a:t>
            </a:r>
            <a:endParaRPr sz="1600" b="1" dirty="0">
              <a:solidFill>
                <a:schemeClr val="dk1"/>
              </a:solidFill>
              <a:latin typeface="+mn-lt"/>
              <a:ea typeface="Maven Pro"/>
              <a:cs typeface="Maven Pro"/>
              <a:sym typeface="Maven Pro"/>
            </a:endParaRPr>
          </a:p>
        </p:txBody>
      </p:sp>
    </p:spTree>
    <p:extLst>
      <p:ext uri="{BB962C8B-B14F-4D97-AF65-F5344CB8AC3E}">
        <p14:creationId xmlns:p14="http://schemas.microsoft.com/office/powerpoint/2010/main" val="420166861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830956"/>
          </a:xfrm>
          <a:prstGeom prst="rect">
            <a:avLst/>
          </a:prstGeom>
          <a:noFill/>
          <a:ln>
            <a:noFill/>
          </a:ln>
        </p:spPr>
        <p:txBody>
          <a:bodyPr spcFirstLastPara="1" wrap="square" lIns="91425" tIns="45700" rIns="91425" bIns="45700" anchor="t" anchorCtr="0">
            <a:spAutoFit/>
          </a:bodyPr>
          <a:lstStyle/>
          <a:p>
            <a:pPr>
              <a:buSzPts val="2000"/>
            </a:pPr>
            <a:r>
              <a:rPr lang="en-US" sz="2400" b="1" dirty="0" smtClean="0">
                <a:solidFill>
                  <a:schemeClr val="bg1"/>
                </a:solidFill>
              </a:rPr>
              <a:t>I. </a:t>
            </a:r>
            <a:r>
              <a:rPr lang="en-US" sz="2400" b="1" dirty="0" smtClean="0">
                <a:solidFill>
                  <a:schemeClr val="bg1"/>
                </a:solidFill>
                <a:ea typeface="Maven Pro"/>
                <a:cs typeface="Maven Pro"/>
                <a:sym typeface="Maven Pro"/>
              </a:rPr>
              <a:t>Chiến </a:t>
            </a:r>
            <a:r>
              <a:rPr lang="en-US" sz="2400" b="1" dirty="0" err="1">
                <a:solidFill>
                  <a:schemeClr val="bg1"/>
                </a:solidFill>
                <a:ea typeface="Maven Pro"/>
                <a:cs typeface="Maven Pro"/>
                <a:sym typeface="Maven Pro"/>
              </a:rPr>
              <a:t>lược</a:t>
            </a:r>
            <a:r>
              <a:rPr lang="en-US" sz="2400" b="1" dirty="0">
                <a:solidFill>
                  <a:schemeClr val="bg1"/>
                </a:solidFill>
                <a:ea typeface="Maven Pro"/>
                <a:cs typeface="Maven Pro"/>
                <a:sym typeface="Maven Pro"/>
              </a:rPr>
              <a:t> </a:t>
            </a:r>
            <a:r>
              <a:rPr lang="en-US" sz="2400" b="1" dirty="0" err="1">
                <a:solidFill>
                  <a:schemeClr val="bg1"/>
                </a:solidFill>
                <a:ea typeface="Maven Pro"/>
                <a:cs typeface="Maven Pro"/>
                <a:sym typeface="Maven Pro"/>
              </a:rPr>
              <a:t>để</a:t>
            </a:r>
            <a:r>
              <a:rPr lang="en-US" sz="2400" b="1" dirty="0">
                <a:solidFill>
                  <a:schemeClr val="bg1"/>
                </a:solidFill>
                <a:ea typeface="Maven Pro"/>
                <a:cs typeface="Maven Pro"/>
                <a:sym typeface="Maven Pro"/>
              </a:rPr>
              <a:t> </a:t>
            </a:r>
            <a:r>
              <a:rPr lang="en-US" sz="2400" b="1" dirty="0" err="1">
                <a:solidFill>
                  <a:schemeClr val="bg1"/>
                </a:solidFill>
                <a:ea typeface="Maven Pro"/>
                <a:cs typeface="Maven Pro"/>
                <a:sym typeface="Maven Pro"/>
              </a:rPr>
              <a:t>vào</a:t>
            </a:r>
            <a:r>
              <a:rPr lang="en-US" sz="2400" b="1" dirty="0">
                <a:solidFill>
                  <a:schemeClr val="bg1"/>
                </a:solidFill>
                <a:ea typeface="Maven Pro"/>
                <a:cs typeface="Maven Pro"/>
                <a:sym typeface="Maven Pro"/>
              </a:rPr>
              <a:t> </a:t>
            </a:r>
            <a:r>
              <a:rPr lang="en-US" sz="2400" b="1" dirty="0" err="1">
                <a:solidFill>
                  <a:schemeClr val="bg1"/>
                </a:solidFill>
                <a:ea typeface="Maven Pro"/>
                <a:cs typeface="Maven Pro"/>
                <a:sym typeface="Maven Pro"/>
              </a:rPr>
              <a:t>lệnh</a:t>
            </a:r>
            <a:endParaRPr lang="en-US" sz="2400" b="1" dirty="0">
              <a:solidFill>
                <a:schemeClr val="bg1"/>
              </a:solidFill>
              <a:ea typeface="Maven Pro"/>
              <a:cs typeface="Maven Pro"/>
              <a:sym typeface="Maven Pro"/>
            </a:endParaRPr>
          </a:p>
          <a:p>
            <a:pPr marL="0" marR="0" lvl="0" indent="0" algn="l" rtl="0">
              <a:lnSpc>
                <a:spcPct val="100000"/>
              </a:lnSpc>
              <a:spcBef>
                <a:spcPts val="0"/>
              </a:spcBef>
              <a:spcAft>
                <a:spcPts val="0"/>
              </a:spcAft>
              <a:buClr>
                <a:srgbClr val="000000"/>
              </a:buClr>
              <a:buSzPts val="2000"/>
              <a:buFont typeface="Arial"/>
              <a:buNone/>
            </a:pPr>
            <a:endParaRPr sz="2400" b="1" i="0" u="none" strike="noStrike" cap="none" dirty="0">
              <a:solidFill>
                <a:schemeClr val="lt1"/>
              </a:solidFill>
              <a:sym typeface="Arial"/>
            </a:endParaRPr>
          </a:p>
        </p:txBody>
      </p:sp>
      <p:sp>
        <p:nvSpPr>
          <p:cNvPr id="101" name="Google Shape;101;p3"/>
          <p:cNvSpPr txBox="1"/>
          <p:nvPr/>
        </p:nvSpPr>
        <p:spPr>
          <a:xfrm>
            <a:off x="424875" y="616224"/>
            <a:ext cx="8285017" cy="5327376"/>
          </a:xfrm>
          <a:prstGeom prst="rect">
            <a:avLst/>
          </a:prstGeom>
          <a:noFill/>
          <a:ln>
            <a:noFill/>
          </a:ln>
        </p:spPr>
        <p:txBody>
          <a:bodyPr spcFirstLastPara="1" wrap="square" lIns="91425" tIns="91425" rIns="91425" bIns="91425" anchor="t" anchorCtr="0">
            <a:noAutofit/>
          </a:bodyPr>
          <a:lstStyle/>
          <a:p>
            <a:pPr marL="101600" lvl="0">
              <a:lnSpc>
                <a:spcPct val="115000"/>
              </a:lnSpc>
              <a:spcBef>
                <a:spcPts val="1600"/>
              </a:spcBef>
              <a:buClr>
                <a:schemeClr val="dk1"/>
              </a:buClr>
              <a:buSzPts val="2000"/>
            </a:pPr>
            <a:r>
              <a:rPr lang="en-US" sz="1600" b="1" dirty="0" smtClean="0">
                <a:solidFill>
                  <a:schemeClr val="tx1"/>
                </a:solidFill>
                <a:ea typeface="Maven Pro"/>
                <a:cs typeface="Maven Pro"/>
                <a:sym typeface="Maven Pro"/>
              </a:rPr>
              <a:t>I.1. </a:t>
            </a:r>
            <a:r>
              <a:rPr lang="en-US" sz="1600" b="1" dirty="0">
                <a:solidFill>
                  <a:schemeClr val="tx1"/>
                </a:solidFill>
                <a:ea typeface="Maven Pro"/>
                <a:cs typeface="Maven Pro"/>
                <a:sym typeface="Maven Pro"/>
              </a:rPr>
              <a:t>Chiến </a:t>
            </a:r>
            <a:r>
              <a:rPr lang="en-US" sz="1600" b="1" dirty="0" err="1">
                <a:solidFill>
                  <a:schemeClr val="tx1"/>
                </a:solidFill>
                <a:ea typeface="Maven Pro"/>
                <a:cs typeface="Maven Pro"/>
                <a:sym typeface="Maven Pro"/>
              </a:rPr>
              <a:t>lược</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nến</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Doji</a:t>
            </a:r>
            <a:r>
              <a:rPr lang="en-US" sz="1600" b="1" dirty="0">
                <a:solidFill>
                  <a:schemeClr val="tx1"/>
                </a:solidFill>
                <a:ea typeface="Maven Pro"/>
                <a:cs typeface="Maven Pro"/>
                <a:sym typeface="Maven Pro"/>
              </a:rPr>
              <a:t> – </a:t>
            </a:r>
            <a:r>
              <a:rPr lang="en-US" sz="1600" b="1" dirty="0" err="1">
                <a:solidFill>
                  <a:schemeClr val="tx1"/>
                </a:solidFill>
                <a:ea typeface="Maven Pro"/>
                <a:cs typeface="Maven Pro"/>
                <a:sym typeface="Maven Pro"/>
              </a:rPr>
              <a:t>Doji</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chân</a:t>
            </a:r>
            <a:r>
              <a:rPr lang="en-US" sz="1600" b="1" dirty="0">
                <a:solidFill>
                  <a:schemeClr val="tx1"/>
                </a:solidFill>
                <a:ea typeface="Maven Pro"/>
                <a:cs typeface="Maven Pro"/>
                <a:sym typeface="Maven Pro"/>
              </a:rPr>
              <a:t> </a:t>
            </a:r>
            <a:r>
              <a:rPr lang="en-US" sz="1600" b="1" dirty="0" err="1" smtClean="0">
                <a:solidFill>
                  <a:schemeClr val="tx1"/>
                </a:solidFill>
                <a:ea typeface="Maven Pro"/>
                <a:cs typeface="Maven Pro"/>
                <a:sym typeface="Maven Pro"/>
              </a:rPr>
              <a:t>dài</a:t>
            </a:r>
            <a:endParaRPr lang="en-US" sz="1600" b="1" dirty="0" smtClean="0">
              <a:solidFill>
                <a:schemeClr val="tx1"/>
              </a:solidFill>
              <a:ea typeface="Maven Pro"/>
              <a:cs typeface="Maven Pro"/>
              <a:sym typeface="Maven Pro"/>
            </a:endParaRPr>
          </a:p>
          <a:p>
            <a:pPr marL="444500" indent="-342900">
              <a:lnSpc>
                <a:spcPct val="115000"/>
              </a:lnSpc>
              <a:spcBef>
                <a:spcPts val="1600"/>
              </a:spcBef>
              <a:buClr>
                <a:schemeClr val="dk1"/>
              </a:buClr>
              <a:buSzPts val="2000"/>
              <a:buFont typeface="+mj-lt"/>
              <a:buAutoNum type="alphaLcParenR" startAt="3"/>
            </a:pPr>
            <a:r>
              <a:rPr lang="en-US" sz="1600" b="1" u="sng" dirty="0" err="1" smtClean="0">
                <a:solidFill>
                  <a:schemeClr val="tx1"/>
                </a:solidFill>
                <a:sym typeface="Maven Pro"/>
              </a:rPr>
              <a:t>Tổng</a:t>
            </a:r>
            <a:r>
              <a:rPr lang="en-US" sz="1600" b="1" u="sng" dirty="0" smtClean="0">
                <a:solidFill>
                  <a:schemeClr val="tx1"/>
                </a:solidFill>
                <a:sym typeface="Maven Pro"/>
              </a:rPr>
              <a:t> </a:t>
            </a:r>
            <a:r>
              <a:rPr lang="en-US" sz="1600" b="1" u="sng" dirty="0" err="1" smtClean="0">
                <a:solidFill>
                  <a:schemeClr val="tx1"/>
                </a:solidFill>
                <a:sym typeface="Maven Pro"/>
              </a:rPr>
              <a:t>hợp</a:t>
            </a:r>
            <a:r>
              <a:rPr lang="en-US" sz="1600" b="1" u="sng" dirty="0" smtClean="0">
                <a:solidFill>
                  <a:schemeClr val="tx1"/>
                </a:solidFill>
                <a:sym typeface="Maven Pro"/>
              </a:rPr>
              <a:t> </a:t>
            </a:r>
            <a:r>
              <a:rPr lang="en-US" sz="1600" b="1" u="sng" dirty="0" err="1" smtClean="0">
                <a:solidFill>
                  <a:schemeClr val="tx1"/>
                </a:solidFill>
                <a:sym typeface="Maven Pro"/>
              </a:rPr>
              <a:t>tư</a:t>
            </a:r>
            <a:r>
              <a:rPr lang="en-US" sz="1600" b="1" u="sng" dirty="0" smtClean="0">
                <a:solidFill>
                  <a:schemeClr val="tx1"/>
                </a:solidFill>
                <a:sym typeface="Maven Pro"/>
              </a:rPr>
              <a:t> </a:t>
            </a:r>
            <a:r>
              <a:rPr lang="en-US" sz="1600" b="1" u="sng" dirty="0" err="1" smtClean="0">
                <a:solidFill>
                  <a:schemeClr val="tx1"/>
                </a:solidFill>
                <a:sym typeface="Maven Pro"/>
              </a:rPr>
              <a:t>duy</a:t>
            </a:r>
            <a:r>
              <a:rPr lang="en-US" sz="1600" b="1" u="sng" dirty="0" smtClean="0">
                <a:solidFill>
                  <a:schemeClr val="tx1"/>
                </a:solidFill>
                <a:sym typeface="Maven Pro"/>
              </a:rPr>
              <a:t> code</a:t>
            </a:r>
            <a:endParaRPr lang="vi-VN" sz="1600" b="1" dirty="0"/>
          </a:p>
          <a:p>
            <a:pPr marL="101600" algn="just">
              <a:lnSpc>
                <a:spcPct val="115000"/>
              </a:lnSpc>
              <a:spcBef>
                <a:spcPts val="1600"/>
              </a:spcBef>
              <a:buClr>
                <a:schemeClr val="dk1"/>
              </a:buClr>
              <a:buSzPts val="2000"/>
            </a:pPr>
            <a:r>
              <a:rPr lang="vi-VN" sz="1600" dirty="0" smtClean="0"/>
              <a:t>1</a:t>
            </a:r>
            <a:r>
              <a:rPr lang="vi-VN" sz="1600" dirty="0"/>
              <a:t>/ Code nhận diện nến Doji chân dài: Vậy nếu code để nhận diện nến Doji chân dài thì chúng ta sẽ code gì?</a:t>
            </a:r>
          </a:p>
          <a:p>
            <a:pPr marL="101600" algn="just">
              <a:lnSpc>
                <a:spcPct val="115000"/>
              </a:lnSpc>
              <a:spcBef>
                <a:spcPts val="1600"/>
              </a:spcBef>
              <a:buClr>
                <a:schemeClr val="dk1"/>
              </a:buClr>
              <a:buSzPts val="2000"/>
            </a:pPr>
            <a:r>
              <a:rPr lang="vi-VN" sz="1600" dirty="0"/>
              <a:t>     + </a:t>
            </a:r>
            <a:r>
              <a:rPr lang="vi-VN" sz="1600" b="1" dirty="0"/>
              <a:t>Kiểm tra giá mở cửa và đóng cửa có gần bằng nhau không?</a:t>
            </a:r>
          </a:p>
          <a:p>
            <a:pPr marL="101600" algn="just">
              <a:lnSpc>
                <a:spcPct val="115000"/>
              </a:lnSpc>
              <a:spcBef>
                <a:spcPts val="1600"/>
              </a:spcBef>
              <a:buClr>
                <a:schemeClr val="dk1"/>
              </a:buClr>
              <a:buSzPts val="2000"/>
            </a:pPr>
            <a:r>
              <a:rPr lang="vi-VN" sz="1600" b="1" dirty="0"/>
              <a:t>     + Kiểm tra bóng nến trên có lớn hơn hoặc bằng 2 lần thân nến không?</a:t>
            </a:r>
          </a:p>
          <a:p>
            <a:pPr marL="101600" algn="just">
              <a:lnSpc>
                <a:spcPct val="115000"/>
              </a:lnSpc>
              <a:spcBef>
                <a:spcPts val="1600"/>
              </a:spcBef>
              <a:buClr>
                <a:schemeClr val="dk1"/>
              </a:buClr>
              <a:buSzPts val="2000"/>
            </a:pPr>
            <a:r>
              <a:rPr lang="vi-VN" sz="1600" b="1" dirty="0"/>
              <a:t>     + Kiểm tra bóng nến dưới có lớn hơn hoặc bằng 2 lần thân nến không?</a:t>
            </a:r>
          </a:p>
          <a:p>
            <a:pPr marL="101600" algn="just">
              <a:lnSpc>
                <a:spcPct val="115000"/>
              </a:lnSpc>
              <a:spcBef>
                <a:spcPts val="1600"/>
              </a:spcBef>
              <a:buClr>
                <a:schemeClr val="dk1"/>
              </a:buClr>
              <a:buSzPts val="2000"/>
            </a:pPr>
            <a:r>
              <a:rPr lang="vi-VN" sz="1600" dirty="0"/>
              <a:t>2/ </a:t>
            </a:r>
            <a:r>
              <a:rPr lang="vi-VN" sz="1600" dirty="0" smtClean="0">
                <a:solidFill>
                  <a:schemeClr val="tx1"/>
                </a:solidFill>
              </a:rPr>
              <a:t>Code kiểm tra nến xác </a:t>
            </a:r>
            <a:r>
              <a:rPr lang="vi-VN" sz="1600" b="1" dirty="0" smtClean="0">
                <a:solidFill>
                  <a:schemeClr val="tx1"/>
                </a:solidFill>
              </a:rPr>
              <a:t>nhận sau nến Doji chân dài 1 nến</a:t>
            </a:r>
            <a:r>
              <a:rPr lang="vi-VN" sz="1600" dirty="0" smtClean="0">
                <a:solidFill>
                  <a:schemeClr val="tx1"/>
                </a:solidFill>
              </a:rPr>
              <a:t>: </a:t>
            </a:r>
            <a:r>
              <a:rPr lang="vi-VN" sz="1600" b="1" dirty="0"/>
              <a:t>Vậy nếu code để kiểm tra nến xác nhận sau nến </a:t>
            </a:r>
            <a:r>
              <a:rPr lang="vi-VN" sz="1600" b="1" dirty="0" smtClean="0"/>
              <a:t>Doji </a:t>
            </a:r>
            <a:r>
              <a:rPr lang="vi-VN" sz="1600" b="1" dirty="0"/>
              <a:t>chân dài 1 nến thì chúng ta sẽ code gì?</a:t>
            </a:r>
          </a:p>
          <a:p>
            <a:pPr marL="101600" algn="just">
              <a:lnSpc>
                <a:spcPct val="115000"/>
              </a:lnSpc>
              <a:spcBef>
                <a:spcPts val="1600"/>
              </a:spcBef>
              <a:buClr>
                <a:schemeClr val="dk1"/>
              </a:buClr>
              <a:buSzPts val="2000"/>
            </a:pPr>
            <a:r>
              <a:rPr lang="vi-VN" sz="1600" dirty="0"/>
              <a:t>+ </a:t>
            </a:r>
            <a:r>
              <a:rPr lang="vi-VN" sz="1600" b="1" dirty="0"/>
              <a:t>Nếu nến tiếp theo là một nến tăng (màu xanh lá hoặc trắng) và đóng cửa trên thân nến của Doji, nó có thể là một nến xác nhận tăng giá. </a:t>
            </a:r>
            <a:r>
              <a:rPr lang="en-US" sz="1600" b="1" dirty="0" smtClean="0"/>
              <a:t>=&gt; </a:t>
            </a:r>
            <a:r>
              <a:rPr lang="vi-VN" sz="1600" b="1" dirty="0" smtClean="0"/>
              <a:t>Thực </a:t>
            </a:r>
            <a:r>
              <a:rPr lang="vi-VN" sz="1600" b="1" dirty="0"/>
              <a:t>hiện chiến lược mua vào</a:t>
            </a:r>
          </a:p>
          <a:p>
            <a:pPr marL="101600">
              <a:lnSpc>
                <a:spcPct val="115000"/>
              </a:lnSpc>
              <a:spcBef>
                <a:spcPts val="1600"/>
              </a:spcBef>
              <a:buClr>
                <a:schemeClr val="dk1"/>
              </a:buClr>
              <a:buSzPts val="2000"/>
            </a:pPr>
            <a:endParaRPr lang="en-US" sz="1600" dirty="0">
              <a:solidFill>
                <a:schemeClr val="tx1"/>
              </a:solidFill>
              <a:ea typeface="Maven Pro"/>
              <a:cs typeface="Maven Pro"/>
              <a:sym typeface="Maven Pro"/>
            </a:endParaRPr>
          </a:p>
          <a:p>
            <a:pPr marL="101600" lvl="0">
              <a:lnSpc>
                <a:spcPct val="115000"/>
              </a:lnSpc>
              <a:spcBef>
                <a:spcPts val="1600"/>
              </a:spcBef>
              <a:buClr>
                <a:schemeClr val="dk1"/>
              </a:buClr>
              <a:buSzPts val="2000"/>
            </a:pPr>
            <a:endParaRPr lang="en-US" sz="1600" dirty="0" smtClean="0">
              <a:solidFill>
                <a:schemeClr val="tx1"/>
              </a:solidFill>
              <a:ea typeface="Maven Pro"/>
              <a:cs typeface="Maven Pro"/>
              <a:sym typeface="Maven Pro"/>
            </a:endParaRPr>
          </a:p>
          <a:p>
            <a:pPr marL="101600" lvl="0">
              <a:lnSpc>
                <a:spcPct val="115000"/>
              </a:lnSpc>
              <a:spcBef>
                <a:spcPts val="1600"/>
              </a:spcBef>
              <a:buClr>
                <a:schemeClr val="dk1"/>
              </a:buClr>
              <a:buSzPts val="2000"/>
            </a:pPr>
            <a:r>
              <a:rPr lang="en-US" sz="1600" b="1" dirty="0" smtClean="0">
                <a:solidFill>
                  <a:schemeClr val="tx1"/>
                </a:solidFill>
                <a:ea typeface="Maven Pro"/>
                <a:cs typeface="Maven Pro"/>
                <a:sym typeface="Maven Pro"/>
              </a:rPr>
              <a:t>  </a:t>
            </a:r>
          </a:p>
          <a:p>
            <a:pPr marL="101600" lvl="0">
              <a:lnSpc>
                <a:spcPct val="115000"/>
              </a:lnSpc>
              <a:spcBef>
                <a:spcPts val="1600"/>
              </a:spcBef>
              <a:buClr>
                <a:schemeClr val="dk1"/>
              </a:buClr>
              <a:buSzPts val="2000"/>
            </a:pPr>
            <a:endParaRPr lang="en-US" sz="1600" dirty="0">
              <a:solidFill>
                <a:schemeClr val="tx1"/>
              </a:solidFill>
              <a:ea typeface="Maven Pro"/>
              <a:cs typeface="Maven Pro"/>
              <a:sym typeface="Maven Pro"/>
            </a:endParaRPr>
          </a:p>
          <a:p>
            <a:pPr marL="101600" lvl="0">
              <a:lnSpc>
                <a:spcPct val="115000"/>
              </a:lnSpc>
              <a:spcBef>
                <a:spcPts val="1600"/>
              </a:spcBef>
              <a:buClr>
                <a:schemeClr val="dk1"/>
              </a:buClr>
              <a:buSzPts val="2000"/>
            </a:pPr>
            <a:r>
              <a:rPr lang="en-US" sz="1600" b="1" dirty="0" smtClean="0">
                <a:solidFill>
                  <a:schemeClr val="dk1"/>
                </a:solidFill>
                <a:latin typeface="+mn-lt"/>
                <a:ea typeface="Maven Pro"/>
                <a:cs typeface="Maven Pro"/>
                <a:sym typeface="Maven Pro"/>
              </a:rPr>
              <a:t>      </a:t>
            </a:r>
            <a:endParaRPr sz="1600" b="1" dirty="0">
              <a:solidFill>
                <a:schemeClr val="dk1"/>
              </a:solidFill>
              <a:latin typeface="+mn-lt"/>
              <a:ea typeface="Maven Pro"/>
              <a:cs typeface="Maven Pro"/>
              <a:sym typeface="Maven Pro"/>
            </a:endParaRPr>
          </a:p>
        </p:txBody>
      </p:sp>
    </p:spTree>
    <p:extLst>
      <p:ext uri="{BB962C8B-B14F-4D97-AF65-F5344CB8AC3E}">
        <p14:creationId xmlns:p14="http://schemas.microsoft.com/office/powerpoint/2010/main" val="285966365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830956"/>
          </a:xfrm>
          <a:prstGeom prst="rect">
            <a:avLst/>
          </a:prstGeom>
          <a:noFill/>
          <a:ln>
            <a:noFill/>
          </a:ln>
        </p:spPr>
        <p:txBody>
          <a:bodyPr spcFirstLastPara="1" wrap="square" lIns="91425" tIns="45700" rIns="91425" bIns="45700" anchor="t" anchorCtr="0">
            <a:spAutoFit/>
          </a:bodyPr>
          <a:lstStyle/>
          <a:p>
            <a:pPr>
              <a:buSzPts val="2000"/>
            </a:pPr>
            <a:r>
              <a:rPr lang="en-US" sz="2400" b="1" dirty="0" smtClean="0">
                <a:solidFill>
                  <a:schemeClr val="bg1"/>
                </a:solidFill>
              </a:rPr>
              <a:t>I. </a:t>
            </a:r>
            <a:r>
              <a:rPr lang="en-US" sz="2400" b="1" dirty="0" smtClean="0">
                <a:solidFill>
                  <a:schemeClr val="bg1"/>
                </a:solidFill>
                <a:ea typeface="Maven Pro"/>
                <a:cs typeface="Maven Pro"/>
                <a:sym typeface="Maven Pro"/>
              </a:rPr>
              <a:t>Chiến </a:t>
            </a:r>
            <a:r>
              <a:rPr lang="en-US" sz="2400" b="1" dirty="0" err="1">
                <a:solidFill>
                  <a:schemeClr val="bg1"/>
                </a:solidFill>
                <a:ea typeface="Maven Pro"/>
                <a:cs typeface="Maven Pro"/>
                <a:sym typeface="Maven Pro"/>
              </a:rPr>
              <a:t>lược</a:t>
            </a:r>
            <a:r>
              <a:rPr lang="en-US" sz="2400" b="1" dirty="0">
                <a:solidFill>
                  <a:schemeClr val="bg1"/>
                </a:solidFill>
                <a:ea typeface="Maven Pro"/>
                <a:cs typeface="Maven Pro"/>
                <a:sym typeface="Maven Pro"/>
              </a:rPr>
              <a:t> </a:t>
            </a:r>
            <a:r>
              <a:rPr lang="en-US" sz="2400" b="1" dirty="0" err="1">
                <a:solidFill>
                  <a:schemeClr val="bg1"/>
                </a:solidFill>
                <a:ea typeface="Maven Pro"/>
                <a:cs typeface="Maven Pro"/>
                <a:sym typeface="Maven Pro"/>
              </a:rPr>
              <a:t>để</a:t>
            </a:r>
            <a:r>
              <a:rPr lang="en-US" sz="2400" b="1" dirty="0">
                <a:solidFill>
                  <a:schemeClr val="bg1"/>
                </a:solidFill>
                <a:ea typeface="Maven Pro"/>
                <a:cs typeface="Maven Pro"/>
                <a:sym typeface="Maven Pro"/>
              </a:rPr>
              <a:t> </a:t>
            </a:r>
            <a:r>
              <a:rPr lang="en-US" sz="2400" b="1" dirty="0" err="1">
                <a:solidFill>
                  <a:schemeClr val="bg1"/>
                </a:solidFill>
                <a:ea typeface="Maven Pro"/>
                <a:cs typeface="Maven Pro"/>
                <a:sym typeface="Maven Pro"/>
              </a:rPr>
              <a:t>vào</a:t>
            </a:r>
            <a:r>
              <a:rPr lang="en-US" sz="2400" b="1" dirty="0">
                <a:solidFill>
                  <a:schemeClr val="bg1"/>
                </a:solidFill>
                <a:ea typeface="Maven Pro"/>
                <a:cs typeface="Maven Pro"/>
                <a:sym typeface="Maven Pro"/>
              </a:rPr>
              <a:t> </a:t>
            </a:r>
            <a:r>
              <a:rPr lang="en-US" sz="2400" b="1" dirty="0" err="1">
                <a:solidFill>
                  <a:schemeClr val="bg1"/>
                </a:solidFill>
                <a:ea typeface="Maven Pro"/>
                <a:cs typeface="Maven Pro"/>
                <a:sym typeface="Maven Pro"/>
              </a:rPr>
              <a:t>lệnh</a:t>
            </a:r>
            <a:endParaRPr lang="en-US" sz="2400" b="1" dirty="0">
              <a:solidFill>
                <a:schemeClr val="bg1"/>
              </a:solidFill>
              <a:ea typeface="Maven Pro"/>
              <a:cs typeface="Maven Pro"/>
              <a:sym typeface="Maven Pro"/>
            </a:endParaRPr>
          </a:p>
          <a:p>
            <a:pPr marL="0" marR="0" lvl="0" indent="0" algn="l" rtl="0">
              <a:lnSpc>
                <a:spcPct val="100000"/>
              </a:lnSpc>
              <a:spcBef>
                <a:spcPts val="0"/>
              </a:spcBef>
              <a:spcAft>
                <a:spcPts val="0"/>
              </a:spcAft>
              <a:buClr>
                <a:srgbClr val="000000"/>
              </a:buClr>
              <a:buSzPts val="2000"/>
              <a:buFont typeface="Arial"/>
              <a:buNone/>
            </a:pPr>
            <a:endParaRPr sz="2400" b="1" i="0" u="none" strike="noStrike" cap="none" dirty="0">
              <a:solidFill>
                <a:schemeClr val="lt1"/>
              </a:solidFill>
              <a:sym typeface="Arial"/>
            </a:endParaRPr>
          </a:p>
        </p:txBody>
      </p:sp>
      <p:sp>
        <p:nvSpPr>
          <p:cNvPr id="101" name="Google Shape;101;p3"/>
          <p:cNvSpPr txBox="1"/>
          <p:nvPr/>
        </p:nvSpPr>
        <p:spPr>
          <a:xfrm>
            <a:off x="424875" y="616224"/>
            <a:ext cx="8285017" cy="5327376"/>
          </a:xfrm>
          <a:prstGeom prst="rect">
            <a:avLst/>
          </a:prstGeom>
          <a:noFill/>
          <a:ln>
            <a:noFill/>
          </a:ln>
        </p:spPr>
        <p:txBody>
          <a:bodyPr spcFirstLastPara="1" wrap="square" lIns="91425" tIns="91425" rIns="91425" bIns="91425" anchor="t" anchorCtr="0">
            <a:noAutofit/>
          </a:bodyPr>
          <a:lstStyle/>
          <a:p>
            <a:pPr marL="101600" lvl="0">
              <a:lnSpc>
                <a:spcPct val="115000"/>
              </a:lnSpc>
              <a:spcBef>
                <a:spcPts val="1600"/>
              </a:spcBef>
              <a:buClr>
                <a:schemeClr val="dk1"/>
              </a:buClr>
              <a:buSzPts val="2000"/>
            </a:pPr>
            <a:r>
              <a:rPr lang="en-US" sz="1600" b="1" dirty="0" smtClean="0">
                <a:solidFill>
                  <a:schemeClr val="tx1"/>
                </a:solidFill>
                <a:ea typeface="Maven Pro"/>
                <a:cs typeface="Maven Pro"/>
                <a:sym typeface="Maven Pro"/>
              </a:rPr>
              <a:t>I.1. </a:t>
            </a:r>
            <a:r>
              <a:rPr lang="en-US" sz="1600" b="1" dirty="0">
                <a:solidFill>
                  <a:schemeClr val="tx1"/>
                </a:solidFill>
                <a:ea typeface="Maven Pro"/>
                <a:cs typeface="Maven Pro"/>
                <a:sym typeface="Maven Pro"/>
              </a:rPr>
              <a:t>Chiến </a:t>
            </a:r>
            <a:r>
              <a:rPr lang="en-US" sz="1600" b="1" dirty="0" err="1">
                <a:solidFill>
                  <a:schemeClr val="tx1"/>
                </a:solidFill>
                <a:ea typeface="Maven Pro"/>
                <a:cs typeface="Maven Pro"/>
                <a:sym typeface="Maven Pro"/>
              </a:rPr>
              <a:t>lược</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nến</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Doji</a:t>
            </a:r>
            <a:r>
              <a:rPr lang="en-US" sz="1600" b="1" dirty="0">
                <a:solidFill>
                  <a:schemeClr val="tx1"/>
                </a:solidFill>
                <a:ea typeface="Maven Pro"/>
                <a:cs typeface="Maven Pro"/>
                <a:sym typeface="Maven Pro"/>
              </a:rPr>
              <a:t> – </a:t>
            </a:r>
            <a:r>
              <a:rPr lang="en-US" sz="1600" b="1" dirty="0" err="1">
                <a:solidFill>
                  <a:schemeClr val="tx1"/>
                </a:solidFill>
                <a:ea typeface="Maven Pro"/>
                <a:cs typeface="Maven Pro"/>
                <a:sym typeface="Maven Pro"/>
              </a:rPr>
              <a:t>Doji</a:t>
            </a:r>
            <a:r>
              <a:rPr lang="en-US" sz="1600" b="1" dirty="0">
                <a:solidFill>
                  <a:schemeClr val="tx1"/>
                </a:solidFill>
                <a:ea typeface="Maven Pro"/>
                <a:cs typeface="Maven Pro"/>
                <a:sym typeface="Maven Pro"/>
              </a:rPr>
              <a:t> </a:t>
            </a:r>
            <a:r>
              <a:rPr lang="en-US" sz="1600" b="1" dirty="0" err="1">
                <a:solidFill>
                  <a:schemeClr val="tx1"/>
                </a:solidFill>
                <a:ea typeface="Maven Pro"/>
                <a:cs typeface="Maven Pro"/>
                <a:sym typeface="Maven Pro"/>
              </a:rPr>
              <a:t>chân</a:t>
            </a:r>
            <a:r>
              <a:rPr lang="en-US" sz="1600" b="1" dirty="0">
                <a:solidFill>
                  <a:schemeClr val="tx1"/>
                </a:solidFill>
                <a:ea typeface="Maven Pro"/>
                <a:cs typeface="Maven Pro"/>
                <a:sym typeface="Maven Pro"/>
              </a:rPr>
              <a:t> </a:t>
            </a:r>
            <a:r>
              <a:rPr lang="en-US" sz="1600" b="1" dirty="0" err="1" smtClean="0">
                <a:solidFill>
                  <a:schemeClr val="tx1"/>
                </a:solidFill>
                <a:ea typeface="Maven Pro"/>
                <a:cs typeface="Maven Pro"/>
                <a:sym typeface="Maven Pro"/>
              </a:rPr>
              <a:t>dài</a:t>
            </a:r>
            <a:endParaRPr lang="en-US" sz="1600" b="1" dirty="0" smtClean="0">
              <a:solidFill>
                <a:schemeClr val="tx1"/>
              </a:solidFill>
              <a:ea typeface="Maven Pro"/>
              <a:cs typeface="Maven Pro"/>
              <a:sym typeface="Maven Pro"/>
            </a:endParaRPr>
          </a:p>
          <a:p>
            <a:pPr marL="444500" indent="-342900">
              <a:lnSpc>
                <a:spcPct val="115000"/>
              </a:lnSpc>
              <a:spcBef>
                <a:spcPts val="1600"/>
              </a:spcBef>
              <a:buClr>
                <a:schemeClr val="dk1"/>
              </a:buClr>
              <a:buSzPts val="2000"/>
              <a:buFont typeface="+mj-lt"/>
              <a:buAutoNum type="alphaLcParenR" startAt="4"/>
            </a:pPr>
            <a:r>
              <a:rPr lang="en-US" sz="1600" b="1" u="sng" dirty="0" smtClean="0">
                <a:solidFill>
                  <a:schemeClr val="tx1"/>
                </a:solidFill>
                <a:sym typeface="Maven Pro"/>
              </a:rPr>
              <a:t>Code </a:t>
            </a:r>
            <a:r>
              <a:rPr lang="en-US" sz="1600" b="1" u="sng" dirty="0" err="1" smtClean="0">
                <a:solidFill>
                  <a:schemeClr val="tx1"/>
                </a:solidFill>
                <a:sym typeface="Maven Pro"/>
              </a:rPr>
              <a:t>chiến</a:t>
            </a:r>
            <a:r>
              <a:rPr lang="en-US" sz="1600" b="1" u="sng" dirty="0" smtClean="0">
                <a:solidFill>
                  <a:schemeClr val="tx1"/>
                </a:solidFill>
                <a:sym typeface="Maven Pro"/>
              </a:rPr>
              <a:t> </a:t>
            </a:r>
            <a:r>
              <a:rPr lang="en-US" sz="1600" b="1" u="sng" dirty="0" err="1" smtClean="0">
                <a:solidFill>
                  <a:schemeClr val="tx1"/>
                </a:solidFill>
                <a:sym typeface="Maven Pro"/>
              </a:rPr>
              <a:t>lược</a:t>
            </a:r>
            <a:r>
              <a:rPr lang="en-US" sz="1600" b="1" u="sng" dirty="0" smtClean="0">
                <a:solidFill>
                  <a:schemeClr val="tx1"/>
                </a:solidFill>
                <a:sym typeface="Maven Pro"/>
              </a:rPr>
              <a:t>: </a:t>
            </a:r>
          </a:p>
          <a:p>
            <a:pPr marL="387350" indent="-285750" algn="just">
              <a:lnSpc>
                <a:spcPct val="115000"/>
              </a:lnSpc>
              <a:spcBef>
                <a:spcPts val="1600"/>
              </a:spcBef>
              <a:buClr>
                <a:schemeClr val="dk1"/>
              </a:buClr>
              <a:buSzPts val="2000"/>
              <a:buFontTx/>
              <a:buChar char="-"/>
            </a:pPr>
            <a:r>
              <a:rPr lang="en-US" sz="1600" b="1" dirty="0" err="1" smtClean="0">
                <a:solidFill>
                  <a:schemeClr val="tx1"/>
                </a:solidFill>
                <a:sym typeface="Maven Pro"/>
              </a:rPr>
              <a:t>Vậy</a:t>
            </a:r>
            <a:r>
              <a:rPr lang="en-US" sz="1600" b="1" dirty="0" smtClean="0">
                <a:solidFill>
                  <a:schemeClr val="tx1"/>
                </a:solidFill>
                <a:sym typeface="Maven Pro"/>
              </a:rPr>
              <a:t> </a:t>
            </a:r>
            <a:r>
              <a:rPr lang="en-US" sz="1600" b="1" dirty="0" err="1">
                <a:solidFill>
                  <a:schemeClr val="tx1"/>
                </a:solidFill>
                <a:sym typeface="Maven Pro"/>
              </a:rPr>
              <a:t>kiểm</a:t>
            </a:r>
            <a:r>
              <a:rPr lang="en-US" sz="1600" b="1" dirty="0">
                <a:solidFill>
                  <a:schemeClr val="tx1"/>
                </a:solidFill>
                <a:sym typeface="Maven Pro"/>
              </a:rPr>
              <a:t> </a:t>
            </a:r>
            <a:r>
              <a:rPr lang="en-US" sz="1600" b="1" dirty="0" err="1">
                <a:solidFill>
                  <a:schemeClr val="tx1"/>
                </a:solidFill>
                <a:sym typeface="Maven Pro"/>
              </a:rPr>
              <a:t>tra</a:t>
            </a:r>
            <a:r>
              <a:rPr lang="en-US" sz="1600" b="1" dirty="0">
                <a:solidFill>
                  <a:schemeClr val="tx1"/>
                </a:solidFill>
                <a:sym typeface="Maven Pro"/>
              </a:rPr>
              <a:t> </a:t>
            </a:r>
            <a:r>
              <a:rPr lang="en-US" sz="1600" b="1" dirty="0" err="1">
                <a:solidFill>
                  <a:schemeClr val="tx1"/>
                </a:solidFill>
                <a:sym typeface="Maven Pro"/>
              </a:rPr>
              <a:t>nến</a:t>
            </a:r>
            <a:r>
              <a:rPr lang="en-US" sz="1600" b="1" dirty="0">
                <a:solidFill>
                  <a:schemeClr val="tx1"/>
                </a:solidFill>
                <a:sym typeface="Maven Pro"/>
              </a:rPr>
              <a:t> </a:t>
            </a:r>
            <a:r>
              <a:rPr lang="en-US" sz="1600" b="1" dirty="0" err="1">
                <a:solidFill>
                  <a:schemeClr val="tx1"/>
                </a:solidFill>
                <a:sym typeface="Maven Pro"/>
              </a:rPr>
              <a:t>hiện</a:t>
            </a:r>
            <a:r>
              <a:rPr lang="en-US" sz="1600" b="1" dirty="0">
                <a:solidFill>
                  <a:schemeClr val="tx1"/>
                </a:solidFill>
                <a:sym typeface="Maven Pro"/>
              </a:rPr>
              <a:t> </a:t>
            </a:r>
            <a:r>
              <a:rPr lang="en-US" sz="1600" b="1" dirty="0" err="1">
                <a:solidFill>
                  <a:schemeClr val="tx1"/>
                </a:solidFill>
                <a:sym typeface="Maven Pro"/>
              </a:rPr>
              <a:t>tại</a:t>
            </a:r>
            <a:r>
              <a:rPr lang="en-US" sz="1600" b="1" dirty="0">
                <a:solidFill>
                  <a:schemeClr val="tx1"/>
                </a:solidFill>
                <a:sym typeface="Maven Pro"/>
              </a:rPr>
              <a:t> </a:t>
            </a:r>
            <a:r>
              <a:rPr lang="en-US" sz="1600" b="1" dirty="0" err="1">
                <a:solidFill>
                  <a:schemeClr val="tx1"/>
                </a:solidFill>
                <a:sym typeface="Maven Pro"/>
              </a:rPr>
              <a:t>có</a:t>
            </a:r>
            <a:r>
              <a:rPr lang="en-US" sz="1600" b="1" dirty="0">
                <a:solidFill>
                  <a:schemeClr val="tx1"/>
                </a:solidFill>
                <a:sym typeface="Maven Pro"/>
              </a:rPr>
              <a:t> </a:t>
            </a:r>
            <a:r>
              <a:rPr lang="en-US" sz="1600" b="1" dirty="0" err="1">
                <a:solidFill>
                  <a:schemeClr val="tx1"/>
                </a:solidFill>
                <a:sym typeface="Maven Pro"/>
              </a:rPr>
              <a:t>phải</a:t>
            </a:r>
            <a:r>
              <a:rPr lang="en-US" sz="1600" b="1" dirty="0">
                <a:solidFill>
                  <a:schemeClr val="tx1"/>
                </a:solidFill>
                <a:sym typeface="Maven Pro"/>
              </a:rPr>
              <a:t> </a:t>
            </a:r>
            <a:r>
              <a:rPr lang="en-US" sz="1600" b="1" dirty="0" err="1">
                <a:solidFill>
                  <a:schemeClr val="tx1"/>
                </a:solidFill>
                <a:sym typeface="Maven Pro"/>
              </a:rPr>
              <a:t>là</a:t>
            </a:r>
            <a:r>
              <a:rPr lang="en-US" sz="1600" b="1" dirty="0">
                <a:solidFill>
                  <a:schemeClr val="tx1"/>
                </a:solidFill>
                <a:sym typeface="Maven Pro"/>
              </a:rPr>
              <a:t> </a:t>
            </a:r>
            <a:r>
              <a:rPr lang="en-US" sz="1600" b="1" dirty="0" err="1">
                <a:solidFill>
                  <a:schemeClr val="tx1"/>
                </a:solidFill>
                <a:sym typeface="Maven Pro"/>
              </a:rPr>
              <a:t>nến</a:t>
            </a:r>
            <a:r>
              <a:rPr lang="en-US" sz="1600" b="1" dirty="0">
                <a:solidFill>
                  <a:schemeClr val="tx1"/>
                </a:solidFill>
                <a:sym typeface="Maven Pro"/>
              </a:rPr>
              <a:t> </a:t>
            </a:r>
            <a:r>
              <a:rPr lang="en-US" sz="1600" b="1" dirty="0" err="1">
                <a:solidFill>
                  <a:schemeClr val="tx1"/>
                </a:solidFill>
                <a:sym typeface="Maven Pro"/>
              </a:rPr>
              <a:t>tăng</a:t>
            </a:r>
            <a:r>
              <a:rPr lang="en-US" sz="1600" b="1" dirty="0">
                <a:solidFill>
                  <a:schemeClr val="tx1"/>
                </a:solidFill>
                <a:sym typeface="Maven Pro"/>
              </a:rPr>
              <a:t> hay </a:t>
            </a:r>
            <a:r>
              <a:rPr lang="en-US" sz="1600" b="1" dirty="0" err="1" smtClean="0">
                <a:solidFill>
                  <a:schemeClr val="tx1"/>
                </a:solidFill>
                <a:sym typeface="Maven Pro"/>
              </a:rPr>
              <a:t>không</a:t>
            </a:r>
            <a:r>
              <a:rPr lang="en-US" sz="1600" b="1" dirty="0" smtClean="0">
                <a:solidFill>
                  <a:schemeClr val="tx1"/>
                </a:solidFill>
                <a:sym typeface="Maven Pro"/>
              </a:rPr>
              <a:t> </a:t>
            </a:r>
            <a:r>
              <a:rPr lang="en-US" sz="1600" dirty="0" smtClean="0">
                <a:solidFill>
                  <a:schemeClr val="tx1"/>
                </a:solidFill>
                <a:sym typeface="Maven Pro"/>
              </a:rPr>
              <a:t>=&gt; </a:t>
            </a:r>
            <a:r>
              <a:rPr lang="en-US" sz="1600" b="1" dirty="0" err="1">
                <a:solidFill>
                  <a:schemeClr val="tx1"/>
                </a:solidFill>
                <a:sym typeface="Maven Pro"/>
              </a:rPr>
              <a:t>Nếu</a:t>
            </a:r>
            <a:r>
              <a:rPr lang="en-US" sz="1600" b="1" dirty="0">
                <a:solidFill>
                  <a:schemeClr val="tx1"/>
                </a:solidFill>
                <a:sym typeface="Maven Pro"/>
              </a:rPr>
              <a:t> </a:t>
            </a:r>
            <a:r>
              <a:rPr lang="en-US" sz="1600" b="1" dirty="0" err="1">
                <a:solidFill>
                  <a:schemeClr val="tx1"/>
                </a:solidFill>
                <a:sym typeface="Maven Pro"/>
              </a:rPr>
              <a:t>nến</a:t>
            </a:r>
            <a:r>
              <a:rPr lang="en-US" sz="1600" b="1" dirty="0">
                <a:solidFill>
                  <a:schemeClr val="tx1"/>
                </a:solidFill>
                <a:sym typeface="Maven Pro"/>
              </a:rPr>
              <a:t> </a:t>
            </a:r>
            <a:r>
              <a:rPr lang="en-US" sz="1600" b="1" dirty="0" err="1">
                <a:solidFill>
                  <a:schemeClr val="tx1"/>
                </a:solidFill>
                <a:sym typeface="Maven Pro"/>
              </a:rPr>
              <a:t>tăng</a:t>
            </a:r>
            <a:r>
              <a:rPr lang="en-US" sz="1600" b="1" dirty="0">
                <a:solidFill>
                  <a:schemeClr val="tx1"/>
                </a:solidFill>
                <a:sym typeface="Maven Pro"/>
              </a:rPr>
              <a:t> </a:t>
            </a:r>
            <a:r>
              <a:rPr lang="en-US" sz="1600" b="1" dirty="0" err="1">
                <a:solidFill>
                  <a:schemeClr val="tx1"/>
                </a:solidFill>
                <a:sym typeface="Maven Pro"/>
              </a:rPr>
              <a:t>thì</a:t>
            </a:r>
            <a:r>
              <a:rPr lang="en-US" sz="1600" b="1" dirty="0">
                <a:solidFill>
                  <a:schemeClr val="tx1"/>
                </a:solidFill>
                <a:sym typeface="Maven Pro"/>
              </a:rPr>
              <a:t> </a:t>
            </a:r>
            <a:r>
              <a:rPr lang="en-US" sz="1600" b="1" dirty="0" err="1">
                <a:solidFill>
                  <a:schemeClr val="tx1"/>
                </a:solidFill>
                <a:sym typeface="Maven Pro"/>
              </a:rPr>
              <a:t>kiểm</a:t>
            </a:r>
            <a:r>
              <a:rPr lang="en-US" sz="1600" b="1" dirty="0">
                <a:solidFill>
                  <a:schemeClr val="tx1"/>
                </a:solidFill>
                <a:sym typeface="Maven Pro"/>
              </a:rPr>
              <a:t> </a:t>
            </a:r>
            <a:r>
              <a:rPr lang="en-US" sz="1600" b="1" dirty="0" err="1">
                <a:solidFill>
                  <a:schemeClr val="tx1"/>
                </a:solidFill>
                <a:sym typeface="Maven Pro"/>
              </a:rPr>
              <a:t>tra</a:t>
            </a:r>
            <a:r>
              <a:rPr lang="en-US" sz="1600" b="1" dirty="0">
                <a:solidFill>
                  <a:schemeClr val="tx1"/>
                </a:solidFill>
                <a:sym typeface="Maven Pro"/>
              </a:rPr>
              <a:t> </a:t>
            </a:r>
            <a:r>
              <a:rPr lang="en-US" sz="1600" b="1" dirty="0" err="1">
                <a:solidFill>
                  <a:schemeClr val="tx1"/>
                </a:solidFill>
                <a:sym typeface="Maven Pro"/>
              </a:rPr>
              <a:t>nến</a:t>
            </a:r>
            <a:r>
              <a:rPr lang="en-US" sz="1600" b="1" dirty="0">
                <a:solidFill>
                  <a:schemeClr val="tx1"/>
                </a:solidFill>
                <a:sym typeface="Maven Pro"/>
              </a:rPr>
              <a:t> </a:t>
            </a:r>
            <a:r>
              <a:rPr lang="en-US" sz="1600" b="1" dirty="0" err="1">
                <a:solidFill>
                  <a:schemeClr val="tx1"/>
                </a:solidFill>
                <a:sym typeface="Maven Pro"/>
              </a:rPr>
              <a:t>trước</a:t>
            </a:r>
            <a:r>
              <a:rPr lang="en-US" sz="1600" b="1" dirty="0">
                <a:solidFill>
                  <a:schemeClr val="tx1"/>
                </a:solidFill>
                <a:sym typeface="Maven Pro"/>
              </a:rPr>
              <a:t> </a:t>
            </a:r>
            <a:r>
              <a:rPr lang="en-US" sz="1600" b="1" dirty="0" err="1">
                <a:solidFill>
                  <a:schemeClr val="tx1"/>
                </a:solidFill>
                <a:sym typeface="Maven Pro"/>
              </a:rPr>
              <a:t>nến</a:t>
            </a:r>
            <a:r>
              <a:rPr lang="en-US" sz="1600" b="1" dirty="0">
                <a:solidFill>
                  <a:schemeClr val="tx1"/>
                </a:solidFill>
                <a:sym typeface="Maven Pro"/>
              </a:rPr>
              <a:t> </a:t>
            </a:r>
            <a:r>
              <a:rPr lang="en-US" sz="1600" b="1" dirty="0" err="1">
                <a:solidFill>
                  <a:schemeClr val="tx1"/>
                </a:solidFill>
                <a:sym typeface="Maven Pro"/>
              </a:rPr>
              <a:t>hiện</a:t>
            </a:r>
            <a:r>
              <a:rPr lang="en-US" sz="1600" b="1" dirty="0">
                <a:solidFill>
                  <a:schemeClr val="tx1"/>
                </a:solidFill>
                <a:sym typeface="Maven Pro"/>
              </a:rPr>
              <a:t> </a:t>
            </a:r>
            <a:r>
              <a:rPr lang="en-US" sz="1600" b="1" dirty="0" err="1">
                <a:solidFill>
                  <a:schemeClr val="tx1"/>
                </a:solidFill>
                <a:sym typeface="Maven Pro"/>
              </a:rPr>
              <a:t>tại</a:t>
            </a:r>
            <a:r>
              <a:rPr lang="en-US" sz="1600" b="1" dirty="0">
                <a:solidFill>
                  <a:schemeClr val="tx1"/>
                </a:solidFill>
                <a:sym typeface="Maven Pro"/>
              </a:rPr>
              <a:t> 1 </a:t>
            </a:r>
            <a:r>
              <a:rPr lang="en-US" sz="1600" b="1" dirty="0" err="1">
                <a:solidFill>
                  <a:schemeClr val="tx1"/>
                </a:solidFill>
                <a:sym typeface="Maven Pro"/>
              </a:rPr>
              <a:t>nến</a:t>
            </a:r>
            <a:r>
              <a:rPr lang="en-US" sz="1600" b="1" dirty="0">
                <a:solidFill>
                  <a:schemeClr val="tx1"/>
                </a:solidFill>
                <a:sym typeface="Maven Pro"/>
              </a:rPr>
              <a:t> </a:t>
            </a:r>
            <a:r>
              <a:rPr lang="en-US" sz="1600" b="1" dirty="0" err="1">
                <a:solidFill>
                  <a:schemeClr val="tx1"/>
                </a:solidFill>
                <a:sym typeface="Maven Pro"/>
              </a:rPr>
              <a:t>có</a:t>
            </a:r>
            <a:r>
              <a:rPr lang="en-US" sz="1600" b="1" dirty="0">
                <a:solidFill>
                  <a:schemeClr val="tx1"/>
                </a:solidFill>
                <a:sym typeface="Maven Pro"/>
              </a:rPr>
              <a:t> </a:t>
            </a:r>
            <a:r>
              <a:rPr lang="en-US" sz="1600" b="1" dirty="0" err="1">
                <a:solidFill>
                  <a:schemeClr val="tx1"/>
                </a:solidFill>
                <a:sym typeface="Maven Pro"/>
              </a:rPr>
              <a:t>phải</a:t>
            </a:r>
            <a:r>
              <a:rPr lang="en-US" sz="1600" b="1" dirty="0">
                <a:solidFill>
                  <a:schemeClr val="tx1"/>
                </a:solidFill>
                <a:sym typeface="Maven Pro"/>
              </a:rPr>
              <a:t> </a:t>
            </a:r>
            <a:r>
              <a:rPr lang="en-US" sz="1600" b="1" dirty="0" err="1">
                <a:solidFill>
                  <a:schemeClr val="tx1"/>
                </a:solidFill>
                <a:sym typeface="Maven Pro"/>
              </a:rPr>
              <a:t>là</a:t>
            </a:r>
            <a:r>
              <a:rPr lang="en-US" sz="1600" b="1" dirty="0">
                <a:solidFill>
                  <a:schemeClr val="tx1"/>
                </a:solidFill>
                <a:sym typeface="Maven Pro"/>
              </a:rPr>
              <a:t> </a:t>
            </a:r>
            <a:r>
              <a:rPr lang="en-US" sz="1600" b="1" dirty="0" err="1">
                <a:solidFill>
                  <a:schemeClr val="tx1"/>
                </a:solidFill>
                <a:sym typeface="Maven Pro"/>
              </a:rPr>
              <a:t>nến</a:t>
            </a:r>
            <a:r>
              <a:rPr lang="en-US" sz="1600" b="1" dirty="0">
                <a:solidFill>
                  <a:schemeClr val="tx1"/>
                </a:solidFill>
                <a:sym typeface="Maven Pro"/>
              </a:rPr>
              <a:t> </a:t>
            </a:r>
            <a:r>
              <a:rPr lang="en-US" sz="1600" b="1" dirty="0" err="1">
                <a:solidFill>
                  <a:schemeClr val="tx1"/>
                </a:solidFill>
                <a:sym typeface="Maven Pro"/>
              </a:rPr>
              <a:t>Doji</a:t>
            </a:r>
            <a:r>
              <a:rPr lang="en-US" sz="1600" b="1" dirty="0">
                <a:solidFill>
                  <a:schemeClr val="tx1"/>
                </a:solidFill>
                <a:sym typeface="Maven Pro"/>
              </a:rPr>
              <a:t> </a:t>
            </a:r>
            <a:r>
              <a:rPr lang="en-US" sz="1600" b="1" dirty="0" err="1">
                <a:solidFill>
                  <a:schemeClr val="tx1"/>
                </a:solidFill>
                <a:sym typeface="Maven Pro"/>
              </a:rPr>
              <a:t>chân</a:t>
            </a:r>
            <a:r>
              <a:rPr lang="en-US" sz="1600" b="1" dirty="0">
                <a:solidFill>
                  <a:schemeClr val="tx1"/>
                </a:solidFill>
                <a:sym typeface="Maven Pro"/>
              </a:rPr>
              <a:t> </a:t>
            </a:r>
            <a:r>
              <a:rPr lang="en-US" sz="1600" b="1" dirty="0" err="1">
                <a:solidFill>
                  <a:schemeClr val="tx1"/>
                </a:solidFill>
                <a:sym typeface="Maven Pro"/>
              </a:rPr>
              <a:t>dài</a:t>
            </a:r>
            <a:r>
              <a:rPr lang="en-US" sz="1600" b="1" dirty="0">
                <a:solidFill>
                  <a:schemeClr val="tx1"/>
                </a:solidFill>
                <a:sym typeface="Maven Pro"/>
              </a:rPr>
              <a:t> hay </a:t>
            </a:r>
            <a:r>
              <a:rPr lang="en-US" sz="1600" b="1" dirty="0" err="1" smtClean="0">
                <a:solidFill>
                  <a:schemeClr val="tx1"/>
                </a:solidFill>
                <a:sym typeface="Maven Pro"/>
              </a:rPr>
              <a:t>không</a:t>
            </a:r>
            <a:r>
              <a:rPr lang="en-US" sz="1600" b="1" dirty="0" smtClean="0">
                <a:solidFill>
                  <a:schemeClr val="tx1"/>
                </a:solidFill>
                <a:sym typeface="Maven Pro"/>
              </a:rPr>
              <a:t> </a:t>
            </a:r>
            <a:r>
              <a:rPr lang="en-US" sz="1600" dirty="0" smtClean="0">
                <a:solidFill>
                  <a:schemeClr val="tx1"/>
                </a:solidFill>
                <a:sym typeface="Maven Pro"/>
              </a:rPr>
              <a:t>=&gt; </a:t>
            </a:r>
            <a:r>
              <a:rPr lang="en-US" sz="1600" dirty="0" err="1" smtClean="0">
                <a:solidFill>
                  <a:schemeClr val="tx1"/>
                </a:solidFill>
                <a:sym typeface="Maven Pro"/>
              </a:rPr>
              <a:t>Kiểm</a:t>
            </a:r>
            <a:r>
              <a:rPr lang="en-US" sz="1600" dirty="0" smtClean="0">
                <a:solidFill>
                  <a:schemeClr val="tx1"/>
                </a:solidFill>
                <a:sym typeface="Maven Pro"/>
              </a:rPr>
              <a:t> </a:t>
            </a:r>
            <a:r>
              <a:rPr lang="en-US" sz="1600" dirty="0" err="1" smtClean="0">
                <a:solidFill>
                  <a:schemeClr val="tx1"/>
                </a:solidFill>
                <a:sym typeface="Maven Pro"/>
              </a:rPr>
              <a:t>tra</a:t>
            </a:r>
            <a:r>
              <a:rPr lang="en-US" sz="1600" dirty="0" smtClean="0">
                <a:solidFill>
                  <a:schemeClr val="tx1"/>
                </a:solidFill>
                <a:sym typeface="Maven Pro"/>
              </a:rPr>
              <a:t> </a:t>
            </a:r>
            <a:r>
              <a:rPr lang="en-US" sz="1600" dirty="0" err="1" smtClean="0">
                <a:solidFill>
                  <a:schemeClr val="tx1"/>
                </a:solidFill>
                <a:sym typeface="Maven Pro"/>
              </a:rPr>
              <a:t>nến</a:t>
            </a:r>
            <a:r>
              <a:rPr lang="en-US" sz="1600" dirty="0" smtClean="0">
                <a:solidFill>
                  <a:schemeClr val="tx1"/>
                </a:solidFill>
                <a:sym typeface="Maven Pro"/>
              </a:rPr>
              <a:t> </a:t>
            </a:r>
            <a:r>
              <a:rPr lang="en-US" sz="1600" dirty="0" err="1" smtClean="0">
                <a:solidFill>
                  <a:schemeClr val="tx1"/>
                </a:solidFill>
                <a:sym typeface="Maven Pro"/>
              </a:rPr>
              <a:t>hiện</a:t>
            </a:r>
            <a:r>
              <a:rPr lang="en-US" sz="1600" dirty="0" smtClean="0">
                <a:solidFill>
                  <a:schemeClr val="tx1"/>
                </a:solidFill>
                <a:sym typeface="Maven Pro"/>
              </a:rPr>
              <a:t> </a:t>
            </a:r>
            <a:r>
              <a:rPr lang="en-US" sz="1600" dirty="0" err="1" smtClean="0">
                <a:solidFill>
                  <a:schemeClr val="tx1"/>
                </a:solidFill>
                <a:sym typeface="Maven Pro"/>
              </a:rPr>
              <a:t>tại</a:t>
            </a:r>
            <a:r>
              <a:rPr lang="en-US" sz="1600" dirty="0" smtClean="0">
                <a:solidFill>
                  <a:schemeClr val="tx1"/>
                </a:solidFill>
                <a:sym typeface="Maven Pro"/>
              </a:rPr>
              <a:t> </a:t>
            </a:r>
            <a:r>
              <a:rPr lang="en-US" sz="1600" dirty="0" err="1" smtClean="0">
                <a:solidFill>
                  <a:schemeClr val="tx1"/>
                </a:solidFill>
                <a:sym typeface="Maven Pro"/>
              </a:rPr>
              <a:t>có</a:t>
            </a:r>
            <a:r>
              <a:rPr lang="en-US" sz="1600" dirty="0" smtClean="0">
                <a:solidFill>
                  <a:schemeClr val="tx1"/>
                </a:solidFill>
                <a:sym typeface="Maven Pro"/>
              </a:rPr>
              <a:t> </a:t>
            </a:r>
            <a:r>
              <a:rPr lang="en-US" sz="1600" dirty="0" err="1" smtClean="0">
                <a:solidFill>
                  <a:schemeClr val="tx1"/>
                </a:solidFill>
                <a:sym typeface="Maven Pro"/>
              </a:rPr>
              <a:t>giá</a:t>
            </a:r>
            <a:r>
              <a:rPr lang="en-US" sz="1600" dirty="0" smtClean="0">
                <a:solidFill>
                  <a:schemeClr val="tx1"/>
                </a:solidFill>
                <a:sym typeface="Maven Pro"/>
              </a:rPr>
              <a:t> </a:t>
            </a:r>
            <a:r>
              <a:rPr lang="vi-VN" sz="1600" dirty="0"/>
              <a:t>đóng cửa trên thân nến của Doji, nó có thể là một nến xác nhận tăng giá</a:t>
            </a:r>
            <a:endParaRPr lang="en-US" sz="1600" dirty="0">
              <a:solidFill>
                <a:schemeClr val="tx1"/>
              </a:solidFill>
              <a:sym typeface="Maven Pro"/>
            </a:endParaRPr>
          </a:p>
          <a:p>
            <a:pPr marL="101600" algn="just">
              <a:lnSpc>
                <a:spcPct val="115000"/>
              </a:lnSpc>
              <a:spcBef>
                <a:spcPts val="1600"/>
              </a:spcBef>
              <a:buClr>
                <a:schemeClr val="dk1"/>
              </a:buClr>
              <a:buSzPts val="2000"/>
            </a:pPr>
            <a:r>
              <a:rPr lang="en-US" sz="1600" dirty="0" smtClean="0">
                <a:solidFill>
                  <a:schemeClr val="tx1"/>
                </a:solidFill>
                <a:sym typeface="Maven Pro"/>
              </a:rPr>
              <a:t>      =&gt; </a:t>
            </a:r>
            <a:r>
              <a:rPr lang="en-US" sz="1600" dirty="0" err="1" smtClean="0">
                <a:solidFill>
                  <a:schemeClr val="tx1"/>
                </a:solidFill>
                <a:sym typeface="Maven Pro"/>
              </a:rPr>
              <a:t>Nếu</a:t>
            </a:r>
            <a:r>
              <a:rPr lang="en-US" sz="1600" dirty="0" smtClean="0">
                <a:solidFill>
                  <a:schemeClr val="tx1"/>
                </a:solidFill>
                <a:sym typeface="Maven Pro"/>
              </a:rPr>
              <a:t> </a:t>
            </a:r>
            <a:r>
              <a:rPr lang="en-US" sz="1600" dirty="0" err="1" smtClean="0">
                <a:solidFill>
                  <a:schemeClr val="tx1"/>
                </a:solidFill>
                <a:sym typeface="Maven Pro"/>
              </a:rPr>
              <a:t>cả</a:t>
            </a:r>
            <a:r>
              <a:rPr lang="en-US" sz="1600" dirty="0" smtClean="0">
                <a:solidFill>
                  <a:schemeClr val="tx1"/>
                </a:solidFill>
                <a:sym typeface="Maven Pro"/>
              </a:rPr>
              <a:t> 2 </a:t>
            </a:r>
            <a:r>
              <a:rPr lang="en-US" sz="1600" dirty="0" err="1" smtClean="0">
                <a:solidFill>
                  <a:schemeClr val="tx1"/>
                </a:solidFill>
                <a:sym typeface="Maven Pro"/>
              </a:rPr>
              <a:t>điều</a:t>
            </a:r>
            <a:r>
              <a:rPr lang="en-US" sz="1600" dirty="0" smtClean="0">
                <a:solidFill>
                  <a:schemeClr val="tx1"/>
                </a:solidFill>
                <a:sym typeface="Maven Pro"/>
              </a:rPr>
              <a:t> </a:t>
            </a:r>
            <a:r>
              <a:rPr lang="en-US" sz="1600" dirty="0" err="1" smtClean="0">
                <a:solidFill>
                  <a:schemeClr val="tx1"/>
                </a:solidFill>
                <a:sym typeface="Maven Pro"/>
              </a:rPr>
              <a:t>kiện</a:t>
            </a:r>
            <a:r>
              <a:rPr lang="en-US" sz="1600" dirty="0" smtClean="0">
                <a:solidFill>
                  <a:schemeClr val="tx1"/>
                </a:solidFill>
                <a:sym typeface="Maven Pro"/>
              </a:rPr>
              <a:t> </a:t>
            </a:r>
            <a:r>
              <a:rPr lang="en-US" sz="1600" dirty="0" err="1" smtClean="0">
                <a:solidFill>
                  <a:schemeClr val="tx1"/>
                </a:solidFill>
                <a:sym typeface="Maven Pro"/>
              </a:rPr>
              <a:t>đó</a:t>
            </a:r>
            <a:r>
              <a:rPr lang="en-US" sz="1600" dirty="0" smtClean="0">
                <a:solidFill>
                  <a:schemeClr val="tx1"/>
                </a:solidFill>
                <a:sym typeface="Maven Pro"/>
              </a:rPr>
              <a:t> </a:t>
            </a:r>
            <a:r>
              <a:rPr lang="en-US" sz="1600" dirty="0" err="1" smtClean="0">
                <a:solidFill>
                  <a:schemeClr val="tx1"/>
                </a:solidFill>
                <a:sym typeface="Maven Pro"/>
              </a:rPr>
              <a:t>thỏa</a:t>
            </a:r>
            <a:r>
              <a:rPr lang="en-US" sz="1600" dirty="0" smtClean="0">
                <a:solidFill>
                  <a:schemeClr val="tx1"/>
                </a:solidFill>
                <a:sym typeface="Maven Pro"/>
              </a:rPr>
              <a:t> </a:t>
            </a:r>
            <a:r>
              <a:rPr lang="en-US" sz="1600" dirty="0" err="1" smtClean="0">
                <a:solidFill>
                  <a:schemeClr val="tx1"/>
                </a:solidFill>
                <a:sym typeface="Maven Pro"/>
              </a:rPr>
              <a:t>thì</a:t>
            </a:r>
            <a:r>
              <a:rPr lang="en-US" sz="1600" dirty="0" smtClean="0">
                <a:solidFill>
                  <a:schemeClr val="tx1"/>
                </a:solidFill>
                <a:sym typeface="Maven Pro"/>
              </a:rPr>
              <a:t> </a:t>
            </a:r>
            <a:r>
              <a:rPr lang="en-US" sz="1600" dirty="0" err="1" smtClean="0">
                <a:solidFill>
                  <a:schemeClr val="tx1"/>
                </a:solidFill>
                <a:sym typeface="Maven Pro"/>
              </a:rPr>
              <a:t>vào</a:t>
            </a:r>
            <a:r>
              <a:rPr lang="en-US" sz="1600" dirty="0" smtClean="0">
                <a:solidFill>
                  <a:schemeClr val="tx1"/>
                </a:solidFill>
                <a:sym typeface="Maven Pro"/>
              </a:rPr>
              <a:t> 1 </a:t>
            </a:r>
            <a:r>
              <a:rPr lang="en-US" sz="1600" dirty="0" err="1" smtClean="0">
                <a:solidFill>
                  <a:schemeClr val="tx1"/>
                </a:solidFill>
                <a:sym typeface="Maven Pro"/>
              </a:rPr>
              <a:t>lệnh</a:t>
            </a:r>
            <a:r>
              <a:rPr lang="en-US" sz="1600" dirty="0" smtClean="0">
                <a:solidFill>
                  <a:schemeClr val="tx1"/>
                </a:solidFill>
                <a:sym typeface="Maven Pro"/>
              </a:rPr>
              <a:t> </a:t>
            </a:r>
            <a:r>
              <a:rPr lang="en-US" sz="1600" dirty="0" err="1" smtClean="0">
                <a:solidFill>
                  <a:schemeClr val="tx1"/>
                </a:solidFill>
                <a:sym typeface="Maven Pro"/>
              </a:rPr>
              <a:t>mua</a:t>
            </a:r>
            <a:endParaRPr lang="en-US" sz="1600" dirty="0" smtClean="0">
              <a:solidFill>
                <a:schemeClr val="tx1"/>
              </a:solidFill>
              <a:sym typeface="Maven Pro"/>
            </a:endParaRPr>
          </a:p>
          <a:p>
            <a:pPr marL="101600">
              <a:lnSpc>
                <a:spcPct val="115000"/>
              </a:lnSpc>
              <a:spcBef>
                <a:spcPts val="1600"/>
              </a:spcBef>
              <a:buClr>
                <a:schemeClr val="dk1"/>
              </a:buClr>
              <a:buSzPts val="2000"/>
            </a:pPr>
            <a:endParaRPr lang="en-US" sz="1600" dirty="0">
              <a:solidFill>
                <a:schemeClr val="tx1"/>
              </a:solidFill>
              <a:ea typeface="Maven Pro"/>
              <a:cs typeface="Maven Pro"/>
              <a:sym typeface="Maven Pro"/>
            </a:endParaRPr>
          </a:p>
          <a:p>
            <a:pPr marL="101600" lvl="0">
              <a:lnSpc>
                <a:spcPct val="115000"/>
              </a:lnSpc>
              <a:spcBef>
                <a:spcPts val="1600"/>
              </a:spcBef>
              <a:buClr>
                <a:schemeClr val="dk1"/>
              </a:buClr>
              <a:buSzPts val="2000"/>
            </a:pPr>
            <a:endParaRPr lang="en-US" sz="1600" dirty="0" smtClean="0">
              <a:solidFill>
                <a:schemeClr val="tx1"/>
              </a:solidFill>
              <a:ea typeface="Maven Pro"/>
              <a:cs typeface="Maven Pro"/>
              <a:sym typeface="Maven Pro"/>
            </a:endParaRPr>
          </a:p>
          <a:p>
            <a:pPr marL="101600" lvl="0">
              <a:lnSpc>
                <a:spcPct val="115000"/>
              </a:lnSpc>
              <a:spcBef>
                <a:spcPts val="1600"/>
              </a:spcBef>
              <a:buClr>
                <a:schemeClr val="dk1"/>
              </a:buClr>
              <a:buSzPts val="2000"/>
            </a:pPr>
            <a:r>
              <a:rPr lang="en-US" sz="1600" b="1" dirty="0" smtClean="0">
                <a:solidFill>
                  <a:schemeClr val="tx1"/>
                </a:solidFill>
                <a:ea typeface="Maven Pro"/>
                <a:cs typeface="Maven Pro"/>
                <a:sym typeface="Maven Pro"/>
              </a:rPr>
              <a:t>  </a:t>
            </a:r>
          </a:p>
          <a:p>
            <a:pPr marL="101600" lvl="0">
              <a:lnSpc>
                <a:spcPct val="115000"/>
              </a:lnSpc>
              <a:spcBef>
                <a:spcPts val="1600"/>
              </a:spcBef>
              <a:buClr>
                <a:schemeClr val="dk1"/>
              </a:buClr>
              <a:buSzPts val="2000"/>
            </a:pPr>
            <a:endParaRPr lang="en-US" sz="1600" dirty="0">
              <a:solidFill>
                <a:schemeClr val="tx1"/>
              </a:solidFill>
              <a:ea typeface="Maven Pro"/>
              <a:cs typeface="Maven Pro"/>
              <a:sym typeface="Maven Pro"/>
            </a:endParaRPr>
          </a:p>
          <a:p>
            <a:pPr marL="101600" lvl="0">
              <a:lnSpc>
                <a:spcPct val="115000"/>
              </a:lnSpc>
              <a:spcBef>
                <a:spcPts val="1600"/>
              </a:spcBef>
              <a:buClr>
                <a:schemeClr val="dk1"/>
              </a:buClr>
              <a:buSzPts val="2000"/>
            </a:pPr>
            <a:r>
              <a:rPr lang="en-US" sz="1600" b="1" dirty="0" smtClean="0">
                <a:solidFill>
                  <a:schemeClr val="dk1"/>
                </a:solidFill>
                <a:latin typeface="+mn-lt"/>
                <a:ea typeface="Maven Pro"/>
                <a:cs typeface="Maven Pro"/>
                <a:sym typeface="Maven Pro"/>
              </a:rPr>
              <a:t>      </a:t>
            </a:r>
            <a:endParaRPr sz="1600" b="1" dirty="0">
              <a:solidFill>
                <a:schemeClr val="dk1"/>
              </a:solidFill>
              <a:latin typeface="+mn-lt"/>
              <a:ea typeface="Maven Pro"/>
              <a:cs typeface="Maven Pro"/>
              <a:sym typeface="Maven Pro"/>
            </a:endParaRPr>
          </a:p>
        </p:txBody>
      </p:sp>
    </p:spTree>
    <p:extLst>
      <p:ext uri="{BB962C8B-B14F-4D97-AF65-F5344CB8AC3E}">
        <p14:creationId xmlns:p14="http://schemas.microsoft.com/office/powerpoint/2010/main" val="110659625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830956"/>
          </a:xfrm>
          <a:prstGeom prst="rect">
            <a:avLst/>
          </a:prstGeom>
          <a:noFill/>
          <a:ln>
            <a:noFill/>
          </a:ln>
        </p:spPr>
        <p:txBody>
          <a:bodyPr spcFirstLastPara="1" wrap="square" lIns="91425" tIns="45700" rIns="91425" bIns="45700" anchor="t" anchorCtr="0">
            <a:spAutoFit/>
          </a:bodyPr>
          <a:lstStyle/>
          <a:p>
            <a:pPr>
              <a:buSzPts val="2000"/>
            </a:pPr>
            <a:r>
              <a:rPr lang="en-US" sz="2400" b="1" dirty="0" smtClean="0">
                <a:solidFill>
                  <a:schemeClr val="bg1"/>
                </a:solidFill>
              </a:rPr>
              <a:t>I. </a:t>
            </a:r>
            <a:r>
              <a:rPr lang="en-US" sz="2400" b="1" dirty="0" smtClean="0">
                <a:solidFill>
                  <a:schemeClr val="bg1"/>
                </a:solidFill>
                <a:ea typeface="Maven Pro"/>
                <a:cs typeface="Maven Pro"/>
                <a:sym typeface="Maven Pro"/>
              </a:rPr>
              <a:t>Chiến </a:t>
            </a:r>
            <a:r>
              <a:rPr lang="en-US" sz="2400" b="1" dirty="0" err="1">
                <a:solidFill>
                  <a:schemeClr val="bg1"/>
                </a:solidFill>
                <a:ea typeface="Maven Pro"/>
                <a:cs typeface="Maven Pro"/>
                <a:sym typeface="Maven Pro"/>
              </a:rPr>
              <a:t>lược</a:t>
            </a:r>
            <a:r>
              <a:rPr lang="en-US" sz="2400" b="1" dirty="0">
                <a:solidFill>
                  <a:schemeClr val="bg1"/>
                </a:solidFill>
                <a:ea typeface="Maven Pro"/>
                <a:cs typeface="Maven Pro"/>
                <a:sym typeface="Maven Pro"/>
              </a:rPr>
              <a:t> </a:t>
            </a:r>
            <a:r>
              <a:rPr lang="en-US" sz="2400" b="1" dirty="0" err="1">
                <a:solidFill>
                  <a:schemeClr val="bg1"/>
                </a:solidFill>
                <a:ea typeface="Maven Pro"/>
                <a:cs typeface="Maven Pro"/>
                <a:sym typeface="Maven Pro"/>
              </a:rPr>
              <a:t>để</a:t>
            </a:r>
            <a:r>
              <a:rPr lang="en-US" sz="2400" b="1" dirty="0">
                <a:solidFill>
                  <a:schemeClr val="bg1"/>
                </a:solidFill>
                <a:ea typeface="Maven Pro"/>
                <a:cs typeface="Maven Pro"/>
                <a:sym typeface="Maven Pro"/>
              </a:rPr>
              <a:t> </a:t>
            </a:r>
            <a:r>
              <a:rPr lang="en-US" sz="2400" b="1" dirty="0" err="1">
                <a:solidFill>
                  <a:schemeClr val="bg1"/>
                </a:solidFill>
                <a:ea typeface="Maven Pro"/>
                <a:cs typeface="Maven Pro"/>
                <a:sym typeface="Maven Pro"/>
              </a:rPr>
              <a:t>vào</a:t>
            </a:r>
            <a:r>
              <a:rPr lang="en-US" sz="2400" b="1" dirty="0">
                <a:solidFill>
                  <a:schemeClr val="bg1"/>
                </a:solidFill>
                <a:ea typeface="Maven Pro"/>
                <a:cs typeface="Maven Pro"/>
                <a:sym typeface="Maven Pro"/>
              </a:rPr>
              <a:t> </a:t>
            </a:r>
            <a:r>
              <a:rPr lang="en-US" sz="2400" b="1" dirty="0" err="1">
                <a:solidFill>
                  <a:schemeClr val="bg1"/>
                </a:solidFill>
                <a:ea typeface="Maven Pro"/>
                <a:cs typeface="Maven Pro"/>
                <a:sym typeface="Maven Pro"/>
              </a:rPr>
              <a:t>lệnh</a:t>
            </a:r>
            <a:endParaRPr lang="en-US" sz="2400" b="1" dirty="0">
              <a:solidFill>
                <a:schemeClr val="bg1"/>
              </a:solidFill>
              <a:ea typeface="Maven Pro"/>
              <a:cs typeface="Maven Pro"/>
              <a:sym typeface="Maven Pro"/>
            </a:endParaRPr>
          </a:p>
          <a:p>
            <a:pPr marL="0" marR="0" lvl="0" indent="0" algn="l" rtl="0">
              <a:lnSpc>
                <a:spcPct val="100000"/>
              </a:lnSpc>
              <a:spcBef>
                <a:spcPts val="0"/>
              </a:spcBef>
              <a:spcAft>
                <a:spcPts val="0"/>
              </a:spcAft>
              <a:buClr>
                <a:srgbClr val="000000"/>
              </a:buClr>
              <a:buSzPts val="2000"/>
              <a:buFont typeface="Arial"/>
              <a:buNone/>
            </a:pPr>
            <a:endParaRPr sz="2400" b="1" i="0" u="none" strike="noStrike" cap="none" dirty="0">
              <a:solidFill>
                <a:schemeClr val="lt1"/>
              </a:solidFill>
              <a:sym typeface="Arial"/>
            </a:endParaRPr>
          </a:p>
        </p:txBody>
      </p:sp>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101600">
              <a:lnSpc>
                <a:spcPct val="115000"/>
              </a:lnSpc>
              <a:spcBef>
                <a:spcPts val="1600"/>
              </a:spcBef>
              <a:buClr>
                <a:schemeClr val="dk1"/>
              </a:buClr>
              <a:buSzPts val="2000"/>
            </a:pPr>
            <a:r>
              <a:rPr lang="en-US" sz="1600" b="1" dirty="0" smtClean="0">
                <a:solidFill>
                  <a:schemeClr val="tx1"/>
                </a:solidFill>
                <a:ea typeface="Maven Pro"/>
                <a:cs typeface="Maven Pro"/>
                <a:sym typeface="Maven Pro"/>
              </a:rPr>
              <a:t>I.2. </a:t>
            </a:r>
            <a:r>
              <a:rPr lang="vi-VN" sz="1600" b="1" dirty="0"/>
              <a:t>Chiến lược giao dịch theo chỉ số biến động</a:t>
            </a:r>
            <a:r>
              <a:rPr lang="en-US" sz="1600" b="1" dirty="0"/>
              <a:t> (</a:t>
            </a:r>
            <a:r>
              <a:rPr lang="en-US" sz="1600" b="1" dirty="0">
                <a:solidFill>
                  <a:schemeClr val="dk1"/>
                </a:solidFill>
                <a:ea typeface="Maven Pro"/>
                <a:cs typeface="Maven Pro"/>
                <a:sym typeface="Maven Pro"/>
              </a:rPr>
              <a:t>Chiến </a:t>
            </a:r>
            <a:r>
              <a:rPr lang="en-US" sz="1600" b="1" dirty="0" err="1">
                <a:solidFill>
                  <a:schemeClr val="dk1"/>
                </a:solidFill>
                <a:ea typeface="Maven Pro"/>
                <a:cs typeface="Maven Pro"/>
                <a:sym typeface="Maven Pro"/>
              </a:rPr>
              <a:t>lược</a:t>
            </a:r>
            <a:r>
              <a:rPr lang="en-US" sz="1600" b="1" dirty="0">
                <a:solidFill>
                  <a:schemeClr val="dk1"/>
                </a:solidFill>
                <a:ea typeface="Maven Pro"/>
                <a:cs typeface="Maven Pro"/>
                <a:sym typeface="Maven Pro"/>
              </a:rPr>
              <a:t> SPY500 – VIX) </a:t>
            </a:r>
          </a:p>
          <a:p>
            <a:pPr marL="444500" indent="-342900" algn="just">
              <a:lnSpc>
                <a:spcPct val="115000"/>
              </a:lnSpc>
              <a:spcBef>
                <a:spcPts val="1600"/>
              </a:spcBef>
              <a:buClr>
                <a:schemeClr val="dk1"/>
              </a:buClr>
              <a:buSzPts val="2000"/>
              <a:buAutoNum type="alphaLcParenR"/>
            </a:pPr>
            <a:r>
              <a:rPr lang="en-US" sz="1600" b="1" dirty="0" err="1" smtClean="0">
                <a:solidFill>
                  <a:schemeClr val="tx1"/>
                </a:solidFill>
                <a:ea typeface="Maven Pro"/>
                <a:cs typeface="Maven Pro"/>
                <a:sym typeface="Maven Pro"/>
              </a:rPr>
              <a:t>Nhận</a:t>
            </a:r>
            <a:r>
              <a:rPr lang="en-US" sz="1600" b="1" dirty="0" smtClean="0">
                <a:solidFill>
                  <a:schemeClr val="tx1"/>
                </a:solidFill>
                <a:ea typeface="Maven Pro"/>
                <a:cs typeface="Maven Pro"/>
                <a:sym typeface="Maven Pro"/>
              </a:rPr>
              <a:t> </a:t>
            </a:r>
            <a:r>
              <a:rPr lang="en-US" sz="1600" b="1" dirty="0" err="1" smtClean="0">
                <a:solidFill>
                  <a:schemeClr val="tx1"/>
                </a:solidFill>
                <a:ea typeface="Maven Pro"/>
                <a:cs typeface="Maven Pro"/>
                <a:sym typeface="Maven Pro"/>
              </a:rPr>
              <a:t>diện</a:t>
            </a:r>
            <a:r>
              <a:rPr lang="en-US" sz="1600" b="1" dirty="0" smtClean="0">
                <a:solidFill>
                  <a:schemeClr val="tx1"/>
                </a:solidFill>
                <a:ea typeface="Maven Pro"/>
                <a:cs typeface="Maven Pro"/>
                <a:sym typeface="Maven Pro"/>
              </a:rPr>
              <a:t> </a:t>
            </a:r>
            <a:r>
              <a:rPr lang="en-US" sz="1600" b="1" dirty="0" err="1" smtClean="0">
                <a:solidFill>
                  <a:schemeClr val="tx1"/>
                </a:solidFill>
                <a:ea typeface="Maven Pro"/>
                <a:cs typeface="Maven Pro"/>
                <a:sym typeface="Maven Pro"/>
              </a:rPr>
              <a:t>chiến</a:t>
            </a:r>
            <a:r>
              <a:rPr lang="en-US" sz="1600" b="1" dirty="0" smtClean="0">
                <a:solidFill>
                  <a:schemeClr val="tx1"/>
                </a:solidFill>
                <a:ea typeface="Maven Pro"/>
                <a:cs typeface="Maven Pro"/>
                <a:sym typeface="Maven Pro"/>
              </a:rPr>
              <a:t> </a:t>
            </a:r>
            <a:r>
              <a:rPr lang="en-US" sz="1600" b="1" dirty="0" err="1" smtClean="0">
                <a:solidFill>
                  <a:schemeClr val="tx1"/>
                </a:solidFill>
                <a:ea typeface="Maven Pro"/>
                <a:cs typeface="Maven Pro"/>
                <a:sym typeface="Maven Pro"/>
              </a:rPr>
              <a:t>lược</a:t>
            </a:r>
            <a:endParaRPr lang="en-US" sz="1600" b="1" dirty="0" smtClean="0">
              <a:solidFill>
                <a:schemeClr val="tx1"/>
              </a:solidFill>
              <a:ea typeface="Maven Pro"/>
              <a:cs typeface="Maven Pro"/>
              <a:sym typeface="Maven Pro"/>
            </a:endParaRPr>
          </a:p>
          <a:p>
            <a:pPr marL="387350" indent="-285750" algn="just">
              <a:lnSpc>
                <a:spcPct val="115000"/>
              </a:lnSpc>
              <a:spcBef>
                <a:spcPts val="1600"/>
              </a:spcBef>
              <a:buClr>
                <a:schemeClr val="dk1"/>
              </a:buClr>
              <a:buSzPts val="2000"/>
              <a:buFontTx/>
              <a:buChar char="-"/>
            </a:pPr>
            <a:r>
              <a:rPr lang="en-US" sz="1600" dirty="0" smtClean="0">
                <a:solidFill>
                  <a:schemeClr val="tx1"/>
                </a:solidFill>
                <a:ea typeface="Maven Pro"/>
                <a:cs typeface="Maven Pro"/>
                <a:sym typeface="Maven Pro"/>
              </a:rPr>
              <a:t>SPY </a:t>
            </a:r>
            <a:r>
              <a:rPr lang="en-US" sz="1600" dirty="0" err="1" smtClean="0">
                <a:solidFill>
                  <a:schemeClr val="tx1"/>
                </a:solidFill>
                <a:ea typeface="Maven Pro"/>
                <a:cs typeface="Maven Pro"/>
                <a:sym typeface="Maven Pro"/>
              </a:rPr>
              <a:t>là</a:t>
            </a:r>
            <a:r>
              <a:rPr lang="en-US" sz="1600" dirty="0" smtClean="0">
                <a:solidFill>
                  <a:schemeClr val="tx1"/>
                </a:solidFill>
                <a:ea typeface="Maven Pro"/>
                <a:cs typeface="Maven Pro"/>
                <a:sym typeface="Maven Pro"/>
              </a:rPr>
              <a:t> </a:t>
            </a:r>
            <a:r>
              <a:rPr lang="en-US" sz="1600" dirty="0" err="1" smtClean="0">
                <a:solidFill>
                  <a:schemeClr val="tx1"/>
                </a:solidFill>
                <a:ea typeface="Maven Pro"/>
                <a:cs typeface="Maven Pro"/>
                <a:sym typeface="Maven Pro"/>
              </a:rPr>
              <a:t>chứng</a:t>
            </a:r>
            <a:r>
              <a:rPr lang="en-US" sz="1600" dirty="0" smtClean="0">
                <a:solidFill>
                  <a:schemeClr val="tx1"/>
                </a:solidFill>
                <a:ea typeface="Maven Pro"/>
                <a:cs typeface="Maven Pro"/>
                <a:sym typeface="Maven Pro"/>
              </a:rPr>
              <a:t> </a:t>
            </a:r>
            <a:r>
              <a:rPr lang="en-US" sz="1600" dirty="0" err="1" smtClean="0">
                <a:solidFill>
                  <a:schemeClr val="tx1"/>
                </a:solidFill>
                <a:ea typeface="Maven Pro"/>
                <a:cs typeface="Maven Pro"/>
                <a:sym typeface="Maven Pro"/>
              </a:rPr>
              <a:t>chỉ</a:t>
            </a:r>
            <a:r>
              <a:rPr lang="en-US" sz="1600" dirty="0" smtClean="0">
                <a:solidFill>
                  <a:schemeClr val="tx1"/>
                </a:solidFill>
                <a:ea typeface="Maven Pro"/>
                <a:cs typeface="Maven Pro"/>
                <a:sym typeface="Maven Pro"/>
              </a:rPr>
              <a:t> </a:t>
            </a:r>
            <a:r>
              <a:rPr lang="en-US" sz="1600" dirty="0" err="1" smtClean="0">
                <a:solidFill>
                  <a:schemeClr val="tx1"/>
                </a:solidFill>
                <a:ea typeface="Maven Pro"/>
                <a:cs typeface="Maven Pro"/>
                <a:sym typeface="Maven Pro"/>
              </a:rPr>
              <a:t>quỹ</a:t>
            </a:r>
            <a:r>
              <a:rPr lang="en-US" sz="1600" dirty="0" smtClean="0">
                <a:solidFill>
                  <a:schemeClr val="tx1"/>
                </a:solidFill>
                <a:ea typeface="Maven Pro"/>
                <a:cs typeface="Maven Pro"/>
                <a:sym typeface="Maven Pro"/>
              </a:rPr>
              <a:t>: </a:t>
            </a:r>
            <a:r>
              <a:rPr lang="vi-VN" sz="1600" dirty="0"/>
              <a:t>S&amp;P 500 ETF (SPY) theo dõi chỉ số S&amp;P 500, một trong những chỉ số chính của thị trường chứng khoán Mỹ, bao gồm cổ phiếu của 500 công ty lớn nhất tại Mỹ. Về lịch sử, S&amp;P 500 thường có xu hướng tăng trưởng trong dài hạn, nhưng không phải mỗi năm đều tăng. Giá trị của SPY, tương tự như S&amp;P 500, biến động dựa trên nhiều yếu tố, bao gồm tình hình kinh tế vĩ mô, chính sách tiền tệ, lợi nhuận của doanh nghiệp, và các sự kiện toàn cầu.</a:t>
            </a:r>
            <a:endParaRPr lang="en-US" sz="1600" dirty="0" smtClean="0">
              <a:solidFill>
                <a:schemeClr val="tx1"/>
              </a:solidFill>
              <a:ea typeface="Maven Pro"/>
              <a:cs typeface="Maven Pro"/>
              <a:sym typeface="Maven Pro"/>
            </a:endParaRPr>
          </a:p>
          <a:p>
            <a:pPr marL="387350" indent="-285750" algn="just">
              <a:lnSpc>
                <a:spcPct val="115000"/>
              </a:lnSpc>
              <a:spcBef>
                <a:spcPts val="1600"/>
              </a:spcBef>
              <a:buClr>
                <a:schemeClr val="dk1"/>
              </a:buClr>
              <a:buSzPts val="2000"/>
              <a:buFontTx/>
              <a:buChar char="-"/>
            </a:pPr>
            <a:r>
              <a:rPr lang="en-US" sz="1600" b="1" dirty="0" err="1" smtClean="0">
                <a:solidFill>
                  <a:schemeClr val="tx1"/>
                </a:solidFill>
                <a:ea typeface="Maven Pro"/>
                <a:cs typeface="Maven Pro"/>
                <a:sym typeface="Maven Pro"/>
              </a:rPr>
              <a:t>Giao</a:t>
            </a:r>
            <a:r>
              <a:rPr lang="en-US" sz="1600" b="1" dirty="0" smtClean="0">
                <a:solidFill>
                  <a:schemeClr val="tx1"/>
                </a:solidFill>
                <a:ea typeface="Maven Pro"/>
                <a:cs typeface="Maven Pro"/>
                <a:sym typeface="Maven Pro"/>
              </a:rPr>
              <a:t> </a:t>
            </a:r>
            <a:r>
              <a:rPr lang="en-US" sz="1600" b="1" dirty="0" err="1" smtClean="0">
                <a:solidFill>
                  <a:schemeClr val="tx1"/>
                </a:solidFill>
                <a:ea typeface="Maven Pro"/>
                <a:cs typeface="Maven Pro"/>
                <a:sym typeface="Maven Pro"/>
              </a:rPr>
              <a:t>dịch</a:t>
            </a:r>
            <a:r>
              <a:rPr lang="en-US" sz="1600" b="1" dirty="0" smtClean="0">
                <a:solidFill>
                  <a:schemeClr val="tx1"/>
                </a:solidFill>
                <a:ea typeface="Maven Pro"/>
                <a:cs typeface="Maven Pro"/>
                <a:sym typeface="Maven Pro"/>
              </a:rPr>
              <a:t> </a:t>
            </a:r>
            <a:r>
              <a:rPr lang="en-US" sz="1600" b="1" dirty="0" smtClean="0"/>
              <a:t>SPY </a:t>
            </a:r>
            <a:r>
              <a:rPr lang="en-US" sz="1600" b="1" dirty="0" err="1" smtClean="0"/>
              <a:t>dựa</a:t>
            </a:r>
            <a:r>
              <a:rPr lang="en-US" sz="1600" b="1" dirty="0" smtClean="0"/>
              <a:t> </a:t>
            </a:r>
            <a:r>
              <a:rPr lang="en-US" sz="1600" b="1" dirty="0" err="1" smtClean="0"/>
              <a:t>vào</a:t>
            </a:r>
            <a:r>
              <a:rPr lang="en-US" sz="1600" b="1" dirty="0" smtClean="0"/>
              <a:t> </a:t>
            </a:r>
            <a:r>
              <a:rPr lang="en-US" sz="1600" b="1" dirty="0" err="1" smtClean="0"/>
              <a:t>chỉ</a:t>
            </a:r>
            <a:r>
              <a:rPr lang="en-US" sz="1600" b="1" dirty="0" smtClean="0"/>
              <a:t> </a:t>
            </a:r>
            <a:r>
              <a:rPr lang="en-US" sz="1600" b="1" dirty="0" err="1" smtClean="0"/>
              <a:t>số</a:t>
            </a:r>
            <a:r>
              <a:rPr lang="en-US" sz="1600" b="1" dirty="0" smtClean="0"/>
              <a:t> </a:t>
            </a:r>
            <a:r>
              <a:rPr lang="en-US" sz="1600" b="1" dirty="0" err="1" smtClean="0"/>
              <a:t>biến</a:t>
            </a:r>
            <a:r>
              <a:rPr lang="en-US" sz="1600" b="1" dirty="0" smtClean="0"/>
              <a:t> </a:t>
            </a:r>
            <a:r>
              <a:rPr lang="en-US" sz="1600" b="1" dirty="0" err="1" smtClean="0"/>
              <a:t>động</a:t>
            </a:r>
            <a:r>
              <a:rPr lang="en-US" sz="1600" b="1" dirty="0" smtClean="0"/>
              <a:t> </a:t>
            </a:r>
            <a:r>
              <a:rPr lang="en-US" sz="1600" b="1" dirty="0" err="1" smtClean="0"/>
              <a:t>thị</a:t>
            </a:r>
            <a:r>
              <a:rPr lang="en-US" sz="1600" b="1" dirty="0" smtClean="0"/>
              <a:t> </a:t>
            </a:r>
            <a:r>
              <a:rPr lang="en-US" sz="1600" b="1" dirty="0" err="1" smtClean="0"/>
              <a:t>trường</a:t>
            </a:r>
            <a:r>
              <a:rPr lang="en-US" sz="1600" b="1" dirty="0" smtClean="0"/>
              <a:t> (</a:t>
            </a:r>
            <a:r>
              <a:rPr lang="en-US" sz="1600" b="1" dirty="0" err="1" smtClean="0"/>
              <a:t>đo</a:t>
            </a:r>
            <a:r>
              <a:rPr lang="en-US" sz="1600" b="1" dirty="0" smtClean="0"/>
              <a:t> </a:t>
            </a:r>
            <a:r>
              <a:rPr lang="en-US" sz="1600" b="1" dirty="0" err="1" smtClean="0"/>
              <a:t>lường</a:t>
            </a:r>
            <a:r>
              <a:rPr lang="en-US" sz="1600" b="1" dirty="0" smtClean="0"/>
              <a:t> </a:t>
            </a:r>
            <a:r>
              <a:rPr lang="en-US" sz="1600" b="1" dirty="0" err="1" smtClean="0"/>
              <a:t>bởi</a:t>
            </a:r>
            <a:r>
              <a:rPr lang="en-US" sz="1600" b="1" dirty="0" smtClean="0"/>
              <a:t> VIX):</a:t>
            </a:r>
          </a:p>
          <a:p>
            <a:pPr marL="101600" algn="just">
              <a:lnSpc>
                <a:spcPct val="115000"/>
              </a:lnSpc>
              <a:spcBef>
                <a:spcPts val="1600"/>
              </a:spcBef>
              <a:buClr>
                <a:schemeClr val="dk1"/>
              </a:buClr>
              <a:buSzPts val="2000"/>
            </a:pPr>
            <a:r>
              <a:rPr lang="en-US" sz="1600" dirty="0"/>
              <a:t> </a:t>
            </a:r>
            <a:r>
              <a:rPr lang="en-US" sz="1600" dirty="0" smtClean="0"/>
              <a:t>    + </a:t>
            </a:r>
            <a:r>
              <a:rPr lang="en-US" sz="1600" dirty="0" err="1" smtClean="0"/>
              <a:t>Mua</a:t>
            </a:r>
            <a:r>
              <a:rPr lang="en-US" sz="1600" dirty="0" smtClean="0"/>
              <a:t> </a:t>
            </a:r>
            <a:r>
              <a:rPr lang="en-US" sz="1600" dirty="0" err="1" smtClean="0"/>
              <a:t>và</a:t>
            </a:r>
            <a:r>
              <a:rPr lang="en-US" sz="1600" dirty="0" smtClean="0"/>
              <a:t> </a:t>
            </a:r>
            <a:r>
              <a:rPr lang="en-US" sz="1600" dirty="0" err="1" smtClean="0"/>
              <a:t>nắm</a:t>
            </a:r>
            <a:r>
              <a:rPr lang="en-US" sz="1600" dirty="0" smtClean="0"/>
              <a:t> </a:t>
            </a:r>
            <a:r>
              <a:rPr lang="en-US" sz="1600" dirty="0" err="1" smtClean="0"/>
              <a:t>giữ</a:t>
            </a:r>
            <a:r>
              <a:rPr lang="en-US" sz="1600" dirty="0" smtClean="0"/>
              <a:t> SPY</a:t>
            </a:r>
          </a:p>
          <a:p>
            <a:pPr marL="101600" algn="just">
              <a:lnSpc>
                <a:spcPct val="115000"/>
              </a:lnSpc>
              <a:spcBef>
                <a:spcPts val="1600"/>
              </a:spcBef>
              <a:buClr>
                <a:schemeClr val="dk1"/>
              </a:buClr>
              <a:buSzPts val="2000"/>
            </a:pPr>
            <a:r>
              <a:rPr lang="en-US" sz="1600" dirty="0"/>
              <a:t> </a:t>
            </a:r>
            <a:r>
              <a:rPr lang="en-US" sz="1600" dirty="0" smtClean="0"/>
              <a:t>    + </a:t>
            </a:r>
            <a:r>
              <a:rPr lang="en-US" sz="1600" dirty="0" err="1" smtClean="0"/>
              <a:t>Khi</a:t>
            </a:r>
            <a:r>
              <a:rPr lang="en-US" sz="1600" dirty="0" smtClean="0"/>
              <a:t> </a:t>
            </a:r>
            <a:r>
              <a:rPr lang="en-US" sz="1600" dirty="0" err="1" smtClean="0"/>
              <a:t>thị</a:t>
            </a:r>
            <a:r>
              <a:rPr lang="en-US" sz="1600" dirty="0" smtClean="0"/>
              <a:t> </a:t>
            </a:r>
            <a:r>
              <a:rPr lang="en-US" sz="1600" dirty="0" err="1" smtClean="0"/>
              <a:t>trường</a:t>
            </a:r>
            <a:r>
              <a:rPr lang="en-US" sz="1600" dirty="0" smtClean="0"/>
              <a:t> </a:t>
            </a:r>
            <a:r>
              <a:rPr lang="en-US" sz="1600" dirty="0" err="1" smtClean="0"/>
              <a:t>có</a:t>
            </a:r>
            <a:r>
              <a:rPr lang="en-US" sz="1600" dirty="0" smtClean="0"/>
              <a:t> </a:t>
            </a:r>
            <a:r>
              <a:rPr lang="en-US" sz="1600" dirty="0" err="1" smtClean="0"/>
              <a:t>biến</a:t>
            </a:r>
            <a:r>
              <a:rPr lang="en-US" sz="1600" dirty="0" smtClean="0"/>
              <a:t> </a:t>
            </a:r>
            <a:r>
              <a:rPr lang="en-US" sz="1600" dirty="0" err="1" smtClean="0"/>
              <a:t>động</a:t>
            </a:r>
            <a:r>
              <a:rPr lang="en-US" sz="1600" dirty="0" smtClean="0"/>
              <a:t> (VIX </a:t>
            </a:r>
            <a:r>
              <a:rPr lang="en-US" sz="1600" dirty="0" err="1" smtClean="0"/>
              <a:t>cao</a:t>
            </a:r>
            <a:r>
              <a:rPr lang="en-US" sz="1600" dirty="0" smtClean="0"/>
              <a:t>), </a:t>
            </a:r>
            <a:r>
              <a:rPr lang="en-US" sz="1600" dirty="0" err="1" smtClean="0"/>
              <a:t>chiến</a:t>
            </a:r>
            <a:r>
              <a:rPr lang="en-US" sz="1600" dirty="0" smtClean="0"/>
              <a:t> </a:t>
            </a:r>
            <a:r>
              <a:rPr lang="en-US" sz="1600" dirty="0" err="1" smtClean="0"/>
              <a:t>lược</a:t>
            </a:r>
            <a:r>
              <a:rPr lang="en-US" sz="1600" dirty="0" smtClean="0"/>
              <a:t> </a:t>
            </a:r>
            <a:r>
              <a:rPr lang="en-US" sz="1600" dirty="0" err="1" smtClean="0"/>
              <a:t>đề</a:t>
            </a:r>
            <a:r>
              <a:rPr lang="en-US" sz="1600" dirty="0" smtClean="0"/>
              <a:t> </a:t>
            </a:r>
            <a:r>
              <a:rPr lang="en-US" sz="1600" dirty="0" err="1" smtClean="0"/>
              <a:t>xuất</a:t>
            </a:r>
            <a:r>
              <a:rPr lang="en-US" sz="1600" dirty="0" smtClean="0"/>
              <a:t> </a:t>
            </a:r>
            <a:r>
              <a:rPr lang="en-US" sz="1600" dirty="0" err="1" smtClean="0"/>
              <a:t>bán</a:t>
            </a:r>
            <a:r>
              <a:rPr lang="en-US" sz="1600" dirty="0" smtClean="0"/>
              <a:t> </a:t>
            </a:r>
            <a:r>
              <a:rPr lang="en-US" sz="1600" dirty="0" err="1" smtClean="0"/>
              <a:t>để</a:t>
            </a:r>
            <a:r>
              <a:rPr lang="en-US" sz="1600" dirty="0" smtClean="0"/>
              <a:t> </a:t>
            </a:r>
            <a:r>
              <a:rPr lang="en-US" sz="1600" dirty="0" err="1" smtClean="0"/>
              <a:t>giữ</a:t>
            </a:r>
            <a:r>
              <a:rPr lang="en-US" sz="1600" dirty="0" smtClean="0"/>
              <a:t> </a:t>
            </a:r>
            <a:r>
              <a:rPr lang="en-US" sz="1600" dirty="0" err="1" smtClean="0"/>
              <a:t>tiền</a:t>
            </a:r>
            <a:r>
              <a:rPr lang="en-US" sz="1600" dirty="0" smtClean="0"/>
              <a:t> </a:t>
            </a:r>
            <a:r>
              <a:rPr lang="en-US" sz="1600" dirty="0" err="1" smtClean="0"/>
              <a:t>mặt</a:t>
            </a:r>
            <a:endParaRPr lang="en-US" sz="1600" dirty="0" smtClean="0"/>
          </a:p>
          <a:p>
            <a:pPr marL="101600" algn="just">
              <a:lnSpc>
                <a:spcPct val="115000"/>
              </a:lnSpc>
              <a:spcBef>
                <a:spcPts val="1600"/>
              </a:spcBef>
              <a:buClr>
                <a:schemeClr val="dk1"/>
              </a:buClr>
              <a:buSzPts val="2000"/>
            </a:pPr>
            <a:r>
              <a:rPr lang="en-US" sz="1600" dirty="0"/>
              <a:t> </a:t>
            </a:r>
            <a:r>
              <a:rPr lang="en-US" sz="1600" dirty="0" smtClean="0"/>
              <a:t>    + </a:t>
            </a:r>
            <a:r>
              <a:rPr lang="vi-VN" sz="1600" dirty="0"/>
              <a:t>Khi thị trường ổn định (VIX thấp), chiến lược lại đề xuất </a:t>
            </a:r>
            <a:r>
              <a:rPr lang="en-US" sz="1600" dirty="0" err="1" smtClean="0"/>
              <a:t>mua</a:t>
            </a:r>
            <a:endParaRPr lang="en-US" sz="1600" dirty="0"/>
          </a:p>
          <a:p>
            <a:pPr marL="387350" lvl="0" indent="-285750">
              <a:lnSpc>
                <a:spcPct val="115000"/>
              </a:lnSpc>
              <a:spcBef>
                <a:spcPts val="1600"/>
              </a:spcBef>
              <a:buClr>
                <a:schemeClr val="dk1"/>
              </a:buClr>
              <a:buSzPts val="2000"/>
              <a:buFontTx/>
              <a:buChar char="-"/>
            </a:pPr>
            <a:endParaRPr lang="en-US" sz="1600" b="1" dirty="0" smtClean="0">
              <a:solidFill>
                <a:schemeClr val="tx1"/>
              </a:solidFill>
              <a:ea typeface="Maven Pro"/>
              <a:cs typeface="Maven Pro"/>
              <a:sym typeface="Maven Pro"/>
            </a:endParaRPr>
          </a:p>
        </p:txBody>
      </p:sp>
    </p:spTree>
    <p:extLst>
      <p:ext uri="{BB962C8B-B14F-4D97-AF65-F5344CB8AC3E}">
        <p14:creationId xmlns:p14="http://schemas.microsoft.com/office/powerpoint/2010/main" val="58087836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830956"/>
          </a:xfrm>
          <a:prstGeom prst="rect">
            <a:avLst/>
          </a:prstGeom>
          <a:noFill/>
          <a:ln>
            <a:noFill/>
          </a:ln>
        </p:spPr>
        <p:txBody>
          <a:bodyPr spcFirstLastPara="1" wrap="square" lIns="91425" tIns="45700" rIns="91425" bIns="45700" anchor="t" anchorCtr="0">
            <a:spAutoFit/>
          </a:bodyPr>
          <a:lstStyle/>
          <a:p>
            <a:pPr>
              <a:buSzPts val="2000"/>
            </a:pPr>
            <a:r>
              <a:rPr lang="en-US" sz="2400" b="1" dirty="0" smtClean="0">
                <a:solidFill>
                  <a:schemeClr val="bg1"/>
                </a:solidFill>
              </a:rPr>
              <a:t>I. </a:t>
            </a:r>
            <a:r>
              <a:rPr lang="en-US" sz="2400" b="1" dirty="0" smtClean="0">
                <a:solidFill>
                  <a:schemeClr val="bg1"/>
                </a:solidFill>
                <a:ea typeface="Maven Pro"/>
                <a:cs typeface="Maven Pro"/>
                <a:sym typeface="Maven Pro"/>
              </a:rPr>
              <a:t>Chiến </a:t>
            </a:r>
            <a:r>
              <a:rPr lang="en-US" sz="2400" b="1" dirty="0" err="1">
                <a:solidFill>
                  <a:schemeClr val="bg1"/>
                </a:solidFill>
                <a:ea typeface="Maven Pro"/>
                <a:cs typeface="Maven Pro"/>
                <a:sym typeface="Maven Pro"/>
              </a:rPr>
              <a:t>lược</a:t>
            </a:r>
            <a:r>
              <a:rPr lang="en-US" sz="2400" b="1" dirty="0">
                <a:solidFill>
                  <a:schemeClr val="bg1"/>
                </a:solidFill>
                <a:ea typeface="Maven Pro"/>
                <a:cs typeface="Maven Pro"/>
                <a:sym typeface="Maven Pro"/>
              </a:rPr>
              <a:t> </a:t>
            </a:r>
            <a:r>
              <a:rPr lang="en-US" sz="2400" b="1" dirty="0" err="1">
                <a:solidFill>
                  <a:schemeClr val="bg1"/>
                </a:solidFill>
                <a:ea typeface="Maven Pro"/>
                <a:cs typeface="Maven Pro"/>
                <a:sym typeface="Maven Pro"/>
              </a:rPr>
              <a:t>để</a:t>
            </a:r>
            <a:r>
              <a:rPr lang="en-US" sz="2400" b="1" dirty="0">
                <a:solidFill>
                  <a:schemeClr val="bg1"/>
                </a:solidFill>
                <a:ea typeface="Maven Pro"/>
                <a:cs typeface="Maven Pro"/>
                <a:sym typeface="Maven Pro"/>
              </a:rPr>
              <a:t> </a:t>
            </a:r>
            <a:r>
              <a:rPr lang="en-US" sz="2400" b="1" dirty="0" err="1">
                <a:solidFill>
                  <a:schemeClr val="bg1"/>
                </a:solidFill>
                <a:ea typeface="Maven Pro"/>
                <a:cs typeface="Maven Pro"/>
                <a:sym typeface="Maven Pro"/>
              </a:rPr>
              <a:t>vào</a:t>
            </a:r>
            <a:r>
              <a:rPr lang="en-US" sz="2400" b="1" dirty="0">
                <a:solidFill>
                  <a:schemeClr val="bg1"/>
                </a:solidFill>
                <a:ea typeface="Maven Pro"/>
                <a:cs typeface="Maven Pro"/>
                <a:sym typeface="Maven Pro"/>
              </a:rPr>
              <a:t> </a:t>
            </a:r>
            <a:r>
              <a:rPr lang="en-US" sz="2400" b="1" dirty="0" err="1">
                <a:solidFill>
                  <a:schemeClr val="bg1"/>
                </a:solidFill>
                <a:ea typeface="Maven Pro"/>
                <a:cs typeface="Maven Pro"/>
                <a:sym typeface="Maven Pro"/>
              </a:rPr>
              <a:t>lệnh</a:t>
            </a:r>
            <a:endParaRPr lang="en-US" sz="2400" b="1" dirty="0">
              <a:solidFill>
                <a:schemeClr val="bg1"/>
              </a:solidFill>
              <a:ea typeface="Maven Pro"/>
              <a:cs typeface="Maven Pro"/>
              <a:sym typeface="Maven Pro"/>
            </a:endParaRPr>
          </a:p>
          <a:p>
            <a:pPr marL="0" marR="0" lvl="0" indent="0" algn="l" rtl="0">
              <a:lnSpc>
                <a:spcPct val="100000"/>
              </a:lnSpc>
              <a:spcBef>
                <a:spcPts val="0"/>
              </a:spcBef>
              <a:spcAft>
                <a:spcPts val="0"/>
              </a:spcAft>
              <a:buClr>
                <a:srgbClr val="000000"/>
              </a:buClr>
              <a:buSzPts val="2000"/>
              <a:buFont typeface="Arial"/>
              <a:buNone/>
            </a:pPr>
            <a:endParaRPr sz="2400" b="1" i="0" u="none" strike="noStrike" cap="none" dirty="0">
              <a:solidFill>
                <a:schemeClr val="lt1"/>
              </a:solidFill>
              <a:sym typeface="Arial"/>
            </a:endParaRPr>
          </a:p>
        </p:txBody>
      </p:sp>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101600">
              <a:lnSpc>
                <a:spcPct val="115000"/>
              </a:lnSpc>
              <a:spcBef>
                <a:spcPts val="1600"/>
              </a:spcBef>
              <a:buClr>
                <a:schemeClr val="dk1"/>
              </a:buClr>
              <a:buSzPts val="2000"/>
            </a:pPr>
            <a:r>
              <a:rPr lang="en-US" sz="1600" b="1" dirty="0" smtClean="0">
                <a:solidFill>
                  <a:schemeClr val="tx1"/>
                </a:solidFill>
                <a:ea typeface="Maven Pro"/>
                <a:cs typeface="Maven Pro"/>
                <a:sym typeface="Maven Pro"/>
              </a:rPr>
              <a:t>I.2. </a:t>
            </a:r>
            <a:r>
              <a:rPr lang="vi-VN" sz="1600" b="1" dirty="0"/>
              <a:t>Chiến lược giao dịch theo chỉ số biến động</a:t>
            </a:r>
            <a:r>
              <a:rPr lang="en-US" sz="1600" b="1" dirty="0"/>
              <a:t> (</a:t>
            </a:r>
            <a:r>
              <a:rPr lang="en-US" sz="1600" b="1" dirty="0">
                <a:solidFill>
                  <a:schemeClr val="dk1"/>
                </a:solidFill>
                <a:ea typeface="Maven Pro"/>
                <a:cs typeface="Maven Pro"/>
                <a:sym typeface="Maven Pro"/>
              </a:rPr>
              <a:t>Chiến </a:t>
            </a:r>
            <a:r>
              <a:rPr lang="en-US" sz="1600" b="1" dirty="0" err="1">
                <a:solidFill>
                  <a:schemeClr val="dk1"/>
                </a:solidFill>
                <a:ea typeface="Maven Pro"/>
                <a:cs typeface="Maven Pro"/>
                <a:sym typeface="Maven Pro"/>
              </a:rPr>
              <a:t>lược</a:t>
            </a:r>
            <a:r>
              <a:rPr lang="en-US" sz="1600" b="1" dirty="0">
                <a:solidFill>
                  <a:schemeClr val="dk1"/>
                </a:solidFill>
                <a:ea typeface="Maven Pro"/>
                <a:cs typeface="Maven Pro"/>
                <a:sym typeface="Maven Pro"/>
              </a:rPr>
              <a:t> SPY500 – VIX) </a:t>
            </a:r>
          </a:p>
          <a:p>
            <a:pPr marL="285750" indent="-285750" algn="just">
              <a:buFontTx/>
              <a:buChar char="-"/>
            </a:pPr>
            <a:r>
              <a:rPr lang="vi-VN" sz="1600" b="1" dirty="0" smtClean="0"/>
              <a:t>Mua </a:t>
            </a:r>
            <a:r>
              <a:rPr lang="vi-VN" sz="1600" b="1" dirty="0"/>
              <a:t>và Nắm Giữ SPY</a:t>
            </a:r>
            <a:r>
              <a:rPr lang="vi-VN" sz="1600" dirty="0"/>
              <a:t>: Chiến lược này dự định mua và nắm giữ SPY, một quỹ đầu tư ETF theo dõi chỉ số S&amp;P 500, trong những điều kiện nhất định của thị trường</a:t>
            </a:r>
            <a:r>
              <a:rPr lang="vi-VN" sz="1600" dirty="0" smtClean="0"/>
              <a:t>.</a:t>
            </a:r>
            <a:endParaRPr lang="en-US" sz="1600" dirty="0" smtClean="0"/>
          </a:p>
          <a:p>
            <a:pPr marL="285750" indent="-285750" algn="just">
              <a:buFontTx/>
              <a:buChar char="-"/>
            </a:pPr>
            <a:r>
              <a:rPr lang="vi-VN" sz="1600" b="1" dirty="0" smtClean="0"/>
              <a:t>Bán </a:t>
            </a:r>
            <a:r>
              <a:rPr lang="vi-VN" sz="1600" b="1" dirty="0"/>
              <a:t>Khi Biến Động Cao (VIX Cao)</a:t>
            </a:r>
            <a:r>
              <a:rPr lang="vi-VN" sz="1600" dirty="0"/>
              <a:t>: Khi chỉ số biến động VIX vượt qua một ngưỡng nhất định (</a:t>
            </a:r>
            <a:r>
              <a:rPr lang="vi-VN" sz="1600" b="1" dirty="0">
                <a:solidFill>
                  <a:srgbClr val="FF0000"/>
                </a:solidFill>
              </a:rPr>
              <a:t>trong trường hợp này là 30</a:t>
            </a:r>
            <a:r>
              <a:rPr lang="vi-VN" sz="1600" dirty="0"/>
              <a:t>), điều này coi như một dấu hiệu của sự biến động cao trong thị trường. Chiến lược này đề xuất việc bán SPY và giữ tiền mặt trong những thời kỳ như vậy. Điều này dựa trên quan điểm rằng khi thị trường biến động mạnh, việc giữ tiền mặt có thể là an toàn hơn so với việc giữ các tài sản có giá biến động lớn</a:t>
            </a:r>
            <a:r>
              <a:rPr lang="vi-VN" sz="1600" dirty="0" smtClean="0"/>
              <a:t>.</a:t>
            </a:r>
            <a:endParaRPr lang="en-US" sz="1600" dirty="0" smtClean="0"/>
          </a:p>
          <a:p>
            <a:pPr marL="285750" indent="-285750" algn="just">
              <a:buFontTx/>
              <a:buChar char="-"/>
            </a:pPr>
            <a:r>
              <a:rPr lang="vi-VN" sz="1600" b="1" dirty="0" smtClean="0"/>
              <a:t>Mua </a:t>
            </a:r>
            <a:r>
              <a:rPr lang="vi-VN" sz="1600" b="1" dirty="0"/>
              <a:t>Khi Thị Trường Ổn Định (</a:t>
            </a:r>
            <a:r>
              <a:rPr lang="vi-VN" sz="1600" b="1" dirty="0">
                <a:solidFill>
                  <a:srgbClr val="FF0000"/>
                </a:solidFill>
              </a:rPr>
              <a:t>VIX Thấp</a:t>
            </a:r>
            <a:r>
              <a:rPr lang="vi-VN" sz="1600" b="1" dirty="0"/>
              <a:t>)</a:t>
            </a:r>
            <a:r>
              <a:rPr lang="vi-VN" sz="1600" dirty="0"/>
              <a:t>: Ngược lại, khi chỉ số VIX thấp, điều này cho thấy thị trường đang ổn định hơn, chiến lược này đề xuất </a:t>
            </a:r>
            <a:r>
              <a:rPr lang="vi-VN" sz="1600" dirty="0">
                <a:solidFill>
                  <a:srgbClr val="FF0000"/>
                </a:solidFill>
              </a:rPr>
              <a:t>mua SPY</a:t>
            </a:r>
            <a:r>
              <a:rPr lang="vi-VN" sz="1600" dirty="0"/>
              <a:t>. Quan điểm ở đây là trong môi trường ít biến động, đầu tư vào thị trường chứng khoán (qua SPY) có thể mang lại lợi nhuận tốt hơn so với việc giữ tiền mặt.</a:t>
            </a:r>
          </a:p>
          <a:p>
            <a:pPr marL="387350" lvl="0" indent="-285750">
              <a:lnSpc>
                <a:spcPct val="115000"/>
              </a:lnSpc>
              <a:spcBef>
                <a:spcPts val="1600"/>
              </a:spcBef>
              <a:buClr>
                <a:schemeClr val="dk1"/>
              </a:buClr>
              <a:buSzPts val="2000"/>
              <a:buFontTx/>
              <a:buChar char="-"/>
            </a:pPr>
            <a:endParaRPr lang="en-US" sz="1600" b="1" dirty="0" smtClean="0">
              <a:solidFill>
                <a:schemeClr val="tx1"/>
              </a:solidFill>
              <a:ea typeface="Maven Pro"/>
              <a:cs typeface="Maven Pro"/>
              <a:sym typeface="Maven Pro"/>
            </a:endParaRPr>
          </a:p>
        </p:txBody>
      </p:sp>
    </p:spTree>
    <p:extLst>
      <p:ext uri="{BB962C8B-B14F-4D97-AF65-F5344CB8AC3E}">
        <p14:creationId xmlns:p14="http://schemas.microsoft.com/office/powerpoint/2010/main" val="57671363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830956"/>
          </a:xfrm>
          <a:prstGeom prst="rect">
            <a:avLst/>
          </a:prstGeom>
          <a:noFill/>
          <a:ln>
            <a:noFill/>
          </a:ln>
        </p:spPr>
        <p:txBody>
          <a:bodyPr spcFirstLastPara="1" wrap="square" lIns="91425" tIns="45700" rIns="91425" bIns="45700" anchor="t" anchorCtr="0">
            <a:spAutoFit/>
          </a:bodyPr>
          <a:lstStyle/>
          <a:p>
            <a:pPr>
              <a:buSzPts val="2000"/>
            </a:pPr>
            <a:r>
              <a:rPr lang="en-US" sz="2400" b="1" dirty="0" smtClean="0">
                <a:solidFill>
                  <a:schemeClr val="bg1"/>
                </a:solidFill>
              </a:rPr>
              <a:t>I. </a:t>
            </a:r>
            <a:r>
              <a:rPr lang="en-US" sz="2400" b="1" dirty="0" smtClean="0">
                <a:solidFill>
                  <a:schemeClr val="bg1"/>
                </a:solidFill>
                <a:ea typeface="Maven Pro"/>
                <a:cs typeface="Maven Pro"/>
                <a:sym typeface="Maven Pro"/>
              </a:rPr>
              <a:t>Chiến </a:t>
            </a:r>
            <a:r>
              <a:rPr lang="en-US" sz="2400" b="1" dirty="0" err="1">
                <a:solidFill>
                  <a:schemeClr val="bg1"/>
                </a:solidFill>
                <a:ea typeface="Maven Pro"/>
                <a:cs typeface="Maven Pro"/>
                <a:sym typeface="Maven Pro"/>
              </a:rPr>
              <a:t>lược</a:t>
            </a:r>
            <a:r>
              <a:rPr lang="en-US" sz="2400" b="1" dirty="0">
                <a:solidFill>
                  <a:schemeClr val="bg1"/>
                </a:solidFill>
                <a:ea typeface="Maven Pro"/>
                <a:cs typeface="Maven Pro"/>
                <a:sym typeface="Maven Pro"/>
              </a:rPr>
              <a:t> </a:t>
            </a:r>
            <a:r>
              <a:rPr lang="en-US" sz="2400" b="1" dirty="0" err="1">
                <a:solidFill>
                  <a:schemeClr val="bg1"/>
                </a:solidFill>
                <a:ea typeface="Maven Pro"/>
                <a:cs typeface="Maven Pro"/>
                <a:sym typeface="Maven Pro"/>
              </a:rPr>
              <a:t>để</a:t>
            </a:r>
            <a:r>
              <a:rPr lang="en-US" sz="2400" b="1" dirty="0">
                <a:solidFill>
                  <a:schemeClr val="bg1"/>
                </a:solidFill>
                <a:ea typeface="Maven Pro"/>
                <a:cs typeface="Maven Pro"/>
                <a:sym typeface="Maven Pro"/>
              </a:rPr>
              <a:t> </a:t>
            </a:r>
            <a:r>
              <a:rPr lang="en-US" sz="2400" b="1" dirty="0" err="1">
                <a:solidFill>
                  <a:schemeClr val="bg1"/>
                </a:solidFill>
                <a:ea typeface="Maven Pro"/>
                <a:cs typeface="Maven Pro"/>
                <a:sym typeface="Maven Pro"/>
              </a:rPr>
              <a:t>vào</a:t>
            </a:r>
            <a:r>
              <a:rPr lang="en-US" sz="2400" b="1" dirty="0">
                <a:solidFill>
                  <a:schemeClr val="bg1"/>
                </a:solidFill>
                <a:ea typeface="Maven Pro"/>
                <a:cs typeface="Maven Pro"/>
                <a:sym typeface="Maven Pro"/>
              </a:rPr>
              <a:t> </a:t>
            </a:r>
            <a:r>
              <a:rPr lang="en-US" sz="2400" b="1" dirty="0" err="1">
                <a:solidFill>
                  <a:schemeClr val="bg1"/>
                </a:solidFill>
                <a:ea typeface="Maven Pro"/>
                <a:cs typeface="Maven Pro"/>
                <a:sym typeface="Maven Pro"/>
              </a:rPr>
              <a:t>lệnh</a:t>
            </a:r>
            <a:endParaRPr lang="en-US" sz="2400" b="1" dirty="0">
              <a:solidFill>
                <a:schemeClr val="bg1"/>
              </a:solidFill>
              <a:ea typeface="Maven Pro"/>
              <a:cs typeface="Maven Pro"/>
              <a:sym typeface="Maven Pro"/>
            </a:endParaRPr>
          </a:p>
          <a:p>
            <a:pPr marL="0" marR="0" lvl="0" indent="0" algn="l" rtl="0">
              <a:lnSpc>
                <a:spcPct val="100000"/>
              </a:lnSpc>
              <a:spcBef>
                <a:spcPts val="0"/>
              </a:spcBef>
              <a:spcAft>
                <a:spcPts val="0"/>
              </a:spcAft>
              <a:buClr>
                <a:srgbClr val="000000"/>
              </a:buClr>
              <a:buSzPts val="2000"/>
              <a:buFont typeface="Arial"/>
              <a:buNone/>
            </a:pPr>
            <a:endParaRPr sz="2400" b="1" i="0" u="none" strike="noStrike" cap="none" dirty="0">
              <a:solidFill>
                <a:schemeClr val="lt1"/>
              </a:solidFill>
              <a:sym typeface="Arial"/>
            </a:endParaRPr>
          </a:p>
        </p:txBody>
      </p:sp>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101600" algn="just">
              <a:lnSpc>
                <a:spcPct val="115000"/>
              </a:lnSpc>
              <a:spcBef>
                <a:spcPts val="1600"/>
              </a:spcBef>
              <a:buClr>
                <a:schemeClr val="dk1"/>
              </a:buClr>
              <a:buSzPts val="2000"/>
            </a:pPr>
            <a:r>
              <a:rPr lang="en-US" sz="1600" b="1" dirty="0" smtClean="0">
                <a:solidFill>
                  <a:schemeClr val="tx1"/>
                </a:solidFill>
                <a:ea typeface="Maven Pro"/>
                <a:cs typeface="Maven Pro"/>
                <a:sym typeface="Maven Pro"/>
              </a:rPr>
              <a:t>I.2. </a:t>
            </a:r>
            <a:r>
              <a:rPr lang="vi-VN" sz="1600" b="1" dirty="0"/>
              <a:t>Chiến lược giao dịch theo chỉ số biến động</a:t>
            </a:r>
            <a:r>
              <a:rPr lang="en-US" sz="1600" b="1" dirty="0"/>
              <a:t> (</a:t>
            </a:r>
            <a:r>
              <a:rPr lang="en-US" sz="1600" b="1" dirty="0">
                <a:solidFill>
                  <a:schemeClr val="dk1"/>
                </a:solidFill>
                <a:ea typeface="Maven Pro"/>
                <a:cs typeface="Maven Pro"/>
                <a:sym typeface="Maven Pro"/>
              </a:rPr>
              <a:t>Chiến </a:t>
            </a:r>
            <a:r>
              <a:rPr lang="en-US" sz="1600" b="1" dirty="0" err="1">
                <a:solidFill>
                  <a:schemeClr val="dk1"/>
                </a:solidFill>
                <a:ea typeface="Maven Pro"/>
                <a:cs typeface="Maven Pro"/>
                <a:sym typeface="Maven Pro"/>
              </a:rPr>
              <a:t>lược</a:t>
            </a:r>
            <a:r>
              <a:rPr lang="en-US" sz="1600" b="1" dirty="0">
                <a:solidFill>
                  <a:schemeClr val="dk1"/>
                </a:solidFill>
                <a:ea typeface="Maven Pro"/>
                <a:cs typeface="Maven Pro"/>
                <a:sym typeface="Maven Pro"/>
              </a:rPr>
              <a:t> SPY500 – VIX) </a:t>
            </a:r>
          </a:p>
          <a:p>
            <a:pPr marL="444500" lvl="0" indent="-342900" algn="just">
              <a:lnSpc>
                <a:spcPct val="115000"/>
              </a:lnSpc>
              <a:spcBef>
                <a:spcPts val="1600"/>
              </a:spcBef>
              <a:buClr>
                <a:schemeClr val="dk1"/>
              </a:buClr>
              <a:buSzPts val="2000"/>
              <a:buFont typeface="+mj-lt"/>
              <a:buAutoNum type="alphaLcParenR" startAt="2"/>
            </a:pPr>
            <a:r>
              <a:rPr lang="en-US" sz="1600" b="1" dirty="0" smtClean="0">
                <a:solidFill>
                  <a:schemeClr val="tx1"/>
                </a:solidFill>
                <a:ea typeface="Maven Pro"/>
                <a:cs typeface="Maven Pro"/>
                <a:sym typeface="Maven Pro"/>
              </a:rPr>
              <a:t>Code </a:t>
            </a:r>
            <a:r>
              <a:rPr lang="en-US" sz="1600" b="1" dirty="0" err="1" smtClean="0">
                <a:solidFill>
                  <a:schemeClr val="tx1"/>
                </a:solidFill>
                <a:ea typeface="Maven Pro"/>
                <a:cs typeface="Maven Pro"/>
                <a:sym typeface="Maven Pro"/>
              </a:rPr>
              <a:t>chiến</a:t>
            </a:r>
            <a:r>
              <a:rPr lang="en-US" sz="1600" b="1" dirty="0" smtClean="0">
                <a:solidFill>
                  <a:schemeClr val="tx1"/>
                </a:solidFill>
                <a:ea typeface="Maven Pro"/>
                <a:cs typeface="Maven Pro"/>
                <a:sym typeface="Maven Pro"/>
              </a:rPr>
              <a:t> </a:t>
            </a:r>
            <a:r>
              <a:rPr lang="en-US" sz="1600" b="1" dirty="0" err="1" smtClean="0">
                <a:solidFill>
                  <a:schemeClr val="tx1"/>
                </a:solidFill>
                <a:ea typeface="Maven Pro"/>
                <a:cs typeface="Maven Pro"/>
                <a:sym typeface="Maven Pro"/>
              </a:rPr>
              <a:t>lược</a:t>
            </a:r>
            <a:r>
              <a:rPr lang="en-US" sz="1600" b="1" dirty="0" smtClean="0">
                <a:solidFill>
                  <a:schemeClr val="tx1"/>
                </a:solidFill>
                <a:ea typeface="Maven Pro"/>
                <a:cs typeface="Maven Pro"/>
                <a:sym typeface="Maven Pro"/>
              </a:rPr>
              <a:t>:</a:t>
            </a:r>
          </a:p>
          <a:p>
            <a:pPr marL="387350" lvl="0" indent="-285750" algn="just">
              <a:lnSpc>
                <a:spcPct val="115000"/>
              </a:lnSpc>
              <a:spcBef>
                <a:spcPts val="1600"/>
              </a:spcBef>
              <a:buClr>
                <a:schemeClr val="dk1"/>
              </a:buClr>
              <a:buSzPts val="2000"/>
              <a:buFontTx/>
              <a:buChar char="-"/>
            </a:pPr>
            <a:r>
              <a:rPr lang="en-US" sz="1600" dirty="0" smtClean="0">
                <a:solidFill>
                  <a:schemeClr val="tx1"/>
                </a:solidFill>
                <a:ea typeface="Maven Pro"/>
                <a:cs typeface="Maven Pro"/>
                <a:sym typeface="Maven Pro"/>
              </a:rPr>
              <a:t>Load data </a:t>
            </a:r>
            <a:r>
              <a:rPr lang="en-US" sz="1600" dirty="0" err="1" smtClean="0">
                <a:solidFill>
                  <a:schemeClr val="tx1"/>
                </a:solidFill>
                <a:ea typeface="Maven Pro"/>
                <a:cs typeface="Maven Pro"/>
                <a:sym typeface="Maven Pro"/>
              </a:rPr>
              <a:t>của</a:t>
            </a:r>
            <a:r>
              <a:rPr lang="en-US" sz="1600" dirty="0" smtClean="0">
                <a:solidFill>
                  <a:schemeClr val="tx1"/>
                </a:solidFill>
                <a:ea typeface="Maven Pro"/>
                <a:cs typeface="Maven Pro"/>
                <a:sym typeface="Maven Pro"/>
              </a:rPr>
              <a:t> 1 </a:t>
            </a:r>
            <a:r>
              <a:rPr lang="en-US" sz="1600" dirty="0" err="1" smtClean="0">
                <a:solidFill>
                  <a:schemeClr val="tx1"/>
                </a:solidFill>
                <a:ea typeface="Maven Pro"/>
                <a:cs typeface="Maven Pro"/>
                <a:sym typeface="Maven Pro"/>
              </a:rPr>
              <a:t>ngày</a:t>
            </a:r>
            <a:r>
              <a:rPr lang="en-US" sz="1600" dirty="0" smtClean="0">
                <a:solidFill>
                  <a:schemeClr val="tx1"/>
                </a:solidFill>
                <a:ea typeface="Maven Pro"/>
                <a:cs typeface="Maven Pro"/>
                <a:sym typeface="Maven Pro"/>
              </a:rPr>
              <a:t> </a:t>
            </a:r>
            <a:r>
              <a:rPr lang="en-US" sz="1600" dirty="0" err="1" smtClean="0">
                <a:solidFill>
                  <a:schemeClr val="tx1"/>
                </a:solidFill>
                <a:ea typeface="Maven Pro"/>
                <a:cs typeface="Maven Pro"/>
                <a:sym typeface="Maven Pro"/>
              </a:rPr>
              <a:t>mới</a:t>
            </a:r>
            <a:r>
              <a:rPr lang="en-US" sz="1600" dirty="0" smtClean="0">
                <a:solidFill>
                  <a:schemeClr val="tx1"/>
                </a:solidFill>
                <a:ea typeface="Maven Pro"/>
                <a:cs typeface="Maven Pro"/>
                <a:sym typeface="Maven Pro"/>
              </a:rPr>
              <a:t> </a:t>
            </a:r>
            <a:r>
              <a:rPr lang="en-US" sz="1600" dirty="0" err="1" smtClean="0">
                <a:solidFill>
                  <a:schemeClr val="tx1"/>
                </a:solidFill>
                <a:ea typeface="Maven Pro"/>
                <a:cs typeface="Maven Pro"/>
                <a:sym typeface="Maven Pro"/>
              </a:rPr>
              <a:t>nhất</a:t>
            </a:r>
            <a:r>
              <a:rPr lang="en-US" sz="1600" dirty="0" smtClean="0">
                <a:solidFill>
                  <a:schemeClr val="tx1"/>
                </a:solidFill>
                <a:ea typeface="Maven Pro"/>
                <a:cs typeface="Maven Pro"/>
                <a:sym typeface="Maven Pro"/>
              </a:rPr>
              <a:t> (</a:t>
            </a:r>
            <a:r>
              <a:rPr lang="en-US" sz="1600" dirty="0" err="1" smtClean="0">
                <a:solidFill>
                  <a:schemeClr val="tx1"/>
                </a:solidFill>
                <a:ea typeface="Maven Pro"/>
                <a:cs typeface="Maven Pro"/>
                <a:sym typeface="Maven Pro"/>
              </a:rPr>
              <a:t>hiện</a:t>
            </a:r>
            <a:r>
              <a:rPr lang="en-US" sz="1600" dirty="0" smtClean="0">
                <a:solidFill>
                  <a:schemeClr val="tx1"/>
                </a:solidFill>
                <a:ea typeface="Maven Pro"/>
                <a:cs typeface="Maven Pro"/>
                <a:sym typeface="Maven Pro"/>
              </a:rPr>
              <a:t> </a:t>
            </a:r>
            <a:r>
              <a:rPr lang="en-US" sz="1600" dirty="0" err="1" smtClean="0">
                <a:solidFill>
                  <a:schemeClr val="tx1"/>
                </a:solidFill>
                <a:ea typeface="Maven Pro"/>
                <a:cs typeface="Maven Pro"/>
                <a:sym typeface="Maven Pro"/>
              </a:rPr>
              <a:t>tại</a:t>
            </a:r>
            <a:r>
              <a:rPr lang="en-US" sz="1600" dirty="0" smtClean="0">
                <a:solidFill>
                  <a:schemeClr val="tx1"/>
                </a:solidFill>
                <a:ea typeface="Maven Pro"/>
                <a:cs typeface="Maven Pro"/>
                <a:sym typeface="Maven Pro"/>
              </a:rPr>
              <a:t>)</a:t>
            </a:r>
          </a:p>
          <a:p>
            <a:pPr marL="387350" lvl="0" indent="-285750" algn="just">
              <a:lnSpc>
                <a:spcPct val="115000"/>
              </a:lnSpc>
              <a:spcBef>
                <a:spcPts val="1600"/>
              </a:spcBef>
              <a:buClr>
                <a:schemeClr val="dk1"/>
              </a:buClr>
              <a:buSzPts val="2000"/>
              <a:buFontTx/>
              <a:buChar char="-"/>
            </a:pPr>
            <a:r>
              <a:rPr lang="en-US" sz="1600" dirty="0" err="1" smtClean="0">
                <a:solidFill>
                  <a:schemeClr val="tx1"/>
                </a:solidFill>
                <a:ea typeface="Maven Pro"/>
                <a:cs typeface="Maven Pro"/>
                <a:sym typeface="Maven Pro"/>
              </a:rPr>
              <a:t>Kiểm</a:t>
            </a:r>
            <a:r>
              <a:rPr lang="en-US" sz="1600" dirty="0" smtClean="0">
                <a:solidFill>
                  <a:schemeClr val="tx1"/>
                </a:solidFill>
                <a:ea typeface="Maven Pro"/>
                <a:cs typeface="Maven Pro"/>
                <a:sym typeface="Maven Pro"/>
              </a:rPr>
              <a:t> </a:t>
            </a:r>
            <a:r>
              <a:rPr lang="en-US" sz="1600" dirty="0" err="1" smtClean="0">
                <a:solidFill>
                  <a:schemeClr val="tx1"/>
                </a:solidFill>
                <a:ea typeface="Maven Pro"/>
                <a:cs typeface="Maven Pro"/>
                <a:sym typeface="Maven Pro"/>
              </a:rPr>
              <a:t>tra</a:t>
            </a:r>
            <a:r>
              <a:rPr lang="en-US" sz="1600" dirty="0" smtClean="0">
                <a:solidFill>
                  <a:schemeClr val="tx1"/>
                </a:solidFill>
                <a:ea typeface="Maven Pro"/>
                <a:cs typeface="Maven Pro"/>
                <a:sym typeface="Maven Pro"/>
              </a:rPr>
              <a:t> </a:t>
            </a:r>
            <a:r>
              <a:rPr lang="en-US" sz="1600" dirty="0" err="1" smtClean="0">
                <a:solidFill>
                  <a:schemeClr val="tx1"/>
                </a:solidFill>
                <a:ea typeface="Maven Pro"/>
                <a:cs typeface="Maven Pro"/>
                <a:sym typeface="Maven Pro"/>
              </a:rPr>
              <a:t>xem</a:t>
            </a:r>
            <a:r>
              <a:rPr lang="en-US" sz="1600" dirty="0" smtClean="0">
                <a:solidFill>
                  <a:schemeClr val="tx1"/>
                </a:solidFill>
                <a:ea typeface="Maven Pro"/>
                <a:cs typeface="Maven Pro"/>
                <a:sym typeface="Maven Pro"/>
              </a:rPr>
              <a:t> </a:t>
            </a:r>
            <a:r>
              <a:rPr lang="en-US" sz="1600" dirty="0" err="1" smtClean="0">
                <a:solidFill>
                  <a:schemeClr val="tx1"/>
                </a:solidFill>
                <a:ea typeface="Maven Pro"/>
                <a:cs typeface="Maven Pro"/>
                <a:sym typeface="Maven Pro"/>
              </a:rPr>
              <a:t>ngưỡng</a:t>
            </a:r>
            <a:r>
              <a:rPr lang="en-US" sz="1600" dirty="0" smtClean="0">
                <a:solidFill>
                  <a:schemeClr val="tx1"/>
                </a:solidFill>
                <a:ea typeface="Maven Pro"/>
                <a:cs typeface="Maven Pro"/>
                <a:sym typeface="Maven Pro"/>
              </a:rPr>
              <a:t> VIX: </a:t>
            </a:r>
            <a:r>
              <a:rPr lang="en-US" sz="1600" b="1" dirty="0" err="1" smtClean="0">
                <a:solidFill>
                  <a:schemeClr val="tx1"/>
                </a:solidFill>
                <a:ea typeface="Maven Pro"/>
                <a:cs typeface="Maven Pro"/>
                <a:sym typeface="Maven Pro"/>
              </a:rPr>
              <a:t>nếu</a:t>
            </a:r>
            <a:r>
              <a:rPr lang="en-US" sz="1600" b="1" dirty="0" smtClean="0">
                <a:solidFill>
                  <a:schemeClr val="tx1"/>
                </a:solidFill>
                <a:ea typeface="Maven Pro"/>
                <a:cs typeface="Maven Pro"/>
                <a:sym typeface="Maven Pro"/>
              </a:rPr>
              <a:t> VIX </a:t>
            </a:r>
            <a:r>
              <a:rPr lang="en-US" sz="1600" b="1" dirty="0" err="1" smtClean="0">
                <a:solidFill>
                  <a:schemeClr val="tx1"/>
                </a:solidFill>
                <a:ea typeface="Maven Pro"/>
                <a:cs typeface="Maven Pro"/>
                <a:sym typeface="Maven Pro"/>
              </a:rPr>
              <a:t>nhỏ</a:t>
            </a:r>
            <a:r>
              <a:rPr lang="en-US" sz="1600" b="1" dirty="0" smtClean="0">
                <a:solidFill>
                  <a:schemeClr val="tx1"/>
                </a:solidFill>
                <a:ea typeface="Maven Pro"/>
                <a:cs typeface="Maven Pro"/>
                <a:sym typeface="Maven Pro"/>
              </a:rPr>
              <a:t> </a:t>
            </a:r>
            <a:r>
              <a:rPr lang="en-US" sz="1600" b="1" dirty="0" err="1" smtClean="0">
                <a:solidFill>
                  <a:schemeClr val="tx1"/>
                </a:solidFill>
                <a:ea typeface="Maven Pro"/>
                <a:cs typeface="Maven Pro"/>
                <a:sym typeface="Maven Pro"/>
              </a:rPr>
              <a:t>hơn</a:t>
            </a:r>
            <a:r>
              <a:rPr lang="en-US" sz="1600" b="1" dirty="0" smtClean="0">
                <a:solidFill>
                  <a:schemeClr val="tx1"/>
                </a:solidFill>
                <a:ea typeface="Maven Pro"/>
                <a:cs typeface="Maven Pro"/>
                <a:sym typeface="Maven Pro"/>
              </a:rPr>
              <a:t> </a:t>
            </a:r>
            <a:r>
              <a:rPr lang="en-US" sz="1600" b="1" dirty="0" err="1" smtClean="0">
                <a:solidFill>
                  <a:schemeClr val="tx1"/>
                </a:solidFill>
                <a:ea typeface="Maven Pro"/>
                <a:cs typeface="Maven Pro"/>
                <a:sym typeface="Maven Pro"/>
              </a:rPr>
              <a:t>ngưỡng</a:t>
            </a:r>
            <a:r>
              <a:rPr lang="en-US" sz="1600" b="1" dirty="0" smtClean="0">
                <a:solidFill>
                  <a:schemeClr val="tx1"/>
                </a:solidFill>
                <a:ea typeface="Maven Pro"/>
                <a:cs typeface="Maven Pro"/>
                <a:sym typeface="Maven Pro"/>
              </a:rPr>
              <a:t> (</a:t>
            </a:r>
            <a:r>
              <a:rPr lang="en-US" sz="1600" b="1" dirty="0" err="1" smtClean="0">
                <a:solidFill>
                  <a:schemeClr val="tx1"/>
                </a:solidFill>
                <a:ea typeface="Maven Pro"/>
                <a:cs typeface="Maven Pro"/>
                <a:sym typeface="Maven Pro"/>
              </a:rPr>
              <a:t>ví</a:t>
            </a:r>
            <a:r>
              <a:rPr lang="en-US" sz="1600" b="1" dirty="0" smtClean="0">
                <a:solidFill>
                  <a:schemeClr val="tx1"/>
                </a:solidFill>
                <a:ea typeface="Maven Pro"/>
                <a:cs typeface="Maven Pro"/>
                <a:sym typeface="Maven Pro"/>
              </a:rPr>
              <a:t> </a:t>
            </a:r>
            <a:r>
              <a:rPr lang="en-US" sz="1600" b="1" dirty="0" err="1" smtClean="0">
                <a:solidFill>
                  <a:schemeClr val="tx1"/>
                </a:solidFill>
                <a:ea typeface="Maven Pro"/>
                <a:cs typeface="Maven Pro"/>
                <a:sym typeface="Maven Pro"/>
              </a:rPr>
              <a:t>dụ</a:t>
            </a:r>
            <a:r>
              <a:rPr lang="en-US" sz="1600" b="1" dirty="0" smtClean="0">
                <a:solidFill>
                  <a:schemeClr val="tx1"/>
                </a:solidFill>
                <a:ea typeface="Maven Pro"/>
                <a:cs typeface="Maven Pro"/>
                <a:sym typeface="Maven Pro"/>
              </a:rPr>
              <a:t> </a:t>
            </a:r>
            <a:r>
              <a:rPr lang="en-US" sz="1600" b="1" dirty="0" err="1" smtClean="0">
                <a:solidFill>
                  <a:schemeClr val="tx1"/>
                </a:solidFill>
                <a:ea typeface="Maven Pro"/>
                <a:cs typeface="Maven Pro"/>
                <a:sym typeface="Maven Pro"/>
              </a:rPr>
              <a:t>như</a:t>
            </a:r>
            <a:r>
              <a:rPr lang="en-US" sz="1600" b="1" dirty="0" smtClean="0">
                <a:solidFill>
                  <a:schemeClr val="tx1"/>
                </a:solidFill>
                <a:ea typeface="Maven Pro"/>
                <a:cs typeface="Maven Pro"/>
                <a:sym typeface="Maven Pro"/>
              </a:rPr>
              <a:t> 30) </a:t>
            </a:r>
            <a:r>
              <a:rPr lang="en-US" sz="1600" b="1" dirty="0" err="1" smtClean="0">
                <a:solidFill>
                  <a:schemeClr val="tx1"/>
                </a:solidFill>
                <a:ea typeface="Maven Pro"/>
                <a:cs typeface="Maven Pro"/>
                <a:sym typeface="Maven Pro"/>
              </a:rPr>
              <a:t>thì</a:t>
            </a:r>
            <a:r>
              <a:rPr lang="en-US" sz="1600" b="1" dirty="0" smtClean="0">
                <a:solidFill>
                  <a:schemeClr val="tx1"/>
                </a:solidFill>
                <a:ea typeface="Maven Pro"/>
                <a:cs typeface="Maven Pro"/>
                <a:sym typeface="Maven Pro"/>
              </a:rPr>
              <a:t> </a:t>
            </a:r>
            <a:r>
              <a:rPr lang="en-US" sz="1600" b="1" dirty="0" err="1" smtClean="0">
                <a:solidFill>
                  <a:schemeClr val="tx1"/>
                </a:solidFill>
                <a:ea typeface="Maven Pro"/>
                <a:cs typeface="Maven Pro"/>
                <a:sym typeface="Maven Pro"/>
              </a:rPr>
              <a:t>mua</a:t>
            </a:r>
            <a:r>
              <a:rPr lang="en-US" sz="1600" dirty="0" smtClean="0">
                <a:solidFill>
                  <a:schemeClr val="tx1"/>
                </a:solidFill>
                <a:ea typeface="Maven Pro"/>
                <a:cs typeface="Maven Pro"/>
                <a:sym typeface="Maven Pro"/>
              </a:rPr>
              <a:t>, </a:t>
            </a:r>
            <a:r>
              <a:rPr lang="en-US" sz="1600" dirty="0" err="1" smtClean="0">
                <a:solidFill>
                  <a:schemeClr val="tx1"/>
                </a:solidFill>
                <a:ea typeface="Maven Pro"/>
                <a:cs typeface="Maven Pro"/>
                <a:sym typeface="Maven Pro"/>
              </a:rPr>
              <a:t>ngược</a:t>
            </a:r>
            <a:r>
              <a:rPr lang="en-US" sz="1600" dirty="0" smtClean="0">
                <a:solidFill>
                  <a:schemeClr val="tx1"/>
                </a:solidFill>
                <a:ea typeface="Maven Pro"/>
                <a:cs typeface="Maven Pro"/>
                <a:sym typeface="Maven Pro"/>
              </a:rPr>
              <a:t> </a:t>
            </a:r>
            <a:r>
              <a:rPr lang="en-US" sz="1600" dirty="0" err="1" smtClean="0">
                <a:solidFill>
                  <a:schemeClr val="tx1"/>
                </a:solidFill>
                <a:ea typeface="Maven Pro"/>
                <a:cs typeface="Maven Pro"/>
                <a:sym typeface="Maven Pro"/>
              </a:rPr>
              <a:t>lại</a:t>
            </a:r>
            <a:r>
              <a:rPr lang="en-US" sz="1600" dirty="0" smtClean="0">
                <a:solidFill>
                  <a:schemeClr val="tx1"/>
                </a:solidFill>
                <a:ea typeface="Maven Pro"/>
                <a:cs typeface="Maven Pro"/>
                <a:sym typeface="Maven Pro"/>
              </a:rPr>
              <a:t> </a:t>
            </a:r>
            <a:r>
              <a:rPr lang="en-US" sz="1600" dirty="0" err="1" smtClean="0">
                <a:solidFill>
                  <a:schemeClr val="tx1"/>
                </a:solidFill>
                <a:ea typeface="Maven Pro"/>
                <a:cs typeface="Maven Pro"/>
                <a:sym typeface="Maven Pro"/>
              </a:rPr>
              <a:t>nếu</a:t>
            </a:r>
            <a:r>
              <a:rPr lang="en-US" sz="1600" dirty="0" smtClean="0">
                <a:solidFill>
                  <a:schemeClr val="tx1"/>
                </a:solidFill>
                <a:ea typeface="Maven Pro"/>
                <a:cs typeface="Maven Pro"/>
                <a:sym typeface="Maven Pro"/>
              </a:rPr>
              <a:t> </a:t>
            </a:r>
            <a:r>
              <a:rPr lang="en-US" sz="1600" b="1" dirty="0" smtClean="0">
                <a:solidFill>
                  <a:schemeClr val="tx1"/>
                </a:solidFill>
                <a:ea typeface="Maven Pro"/>
                <a:cs typeface="Maven Pro"/>
                <a:sym typeface="Maven Pro"/>
              </a:rPr>
              <a:t>VIX </a:t>
            </a:r>
            <a:r>
              <a:rPr lang="en-US" sz="1600" b="1" dirty="0" err="1" smtClean="0">
                <a:solidFill>
                  <a:schemeClr val="tx1"/>
                </a:solidFill>
                <a:ea typeface="Maven Pro"/>
                <a:cs typeface="Maven Pro"/>
                <a:sym typeface="Maven Pro"/>
              </a:rPr>
              <a:t>lớn</a:t>
            </a:r>
            <a:r>
              <a:rPr lang="en-US" sz="1600" b="1" dirty="0" smtClean="0">
                <a:solidFill>
                  <a:schemeClr val="tx1"/>
                </a:solidFill>
                <a:ea typeface="Maven Pro"/>
                <a:cs typeface="Maven Pro"/>
                <a:sym typeface="Maven Pro"/>
              </a:rPr>
              <a:t> </a:t>
            </a:r>
            <a:r>
              <a:rPr lang="en-US" sz="1600" b="1" dirty="0" err="1" smtClean="0">
                <a:solidFill>
                  <a:schemeClr val="tx1"/>
                </a:solidFill>
                <a:ea typeface="Maven Pro"/>
                <a:cs typeface="Maven Pro"/>
                <a:sym typeface="Maven Pro"/>
              </a:rPr>
              <a:t>hơn</a:t>
            </a:r>
            <a:r>
              <a:rPr lang="en-US" sz="1600" b="1" dirty="0" smtClean="0">
                <a:solidFill>
                  <a:schemeClr val="tx1"/>
                </a:solidFill>
                <a:ea typeface="Maven Pro"/>
                <a:cs typeface="Maven Pro"/>
                <a:sym typeface="Maven Pro"/>
              </a:rPr>
              <a:t> </a:t>
            </a:r>
            <a:r>
              <a:rPr lang="en-US" sz="1600" b="1" dirty="0" err="1" smtClean="0">
                <a:solidFill>
                  <a:schemeClr val="tx1"/>
                </a:solidFill>
                <a:ea typeface="Maven Pro"/>
                <a:cs typeface="Maven Pro"/>
                <a:sym typeface="Maven Pro"/>
              </a:rPr>
              <a:t>ngưỡng</a:t>
            </a:r>
            <a:r>
              <a:rPr lang="en-US" sz="1600" b="1" dirty="0" smtClean="0">
                <a:solidFill>
                  <a:schemeClr val="tx1"/>
                </a:solidFill>
                <a:ea typeface="Maven Pro"/>
                <a:cs typeface="Maven Pro"/>
                <a:sym typeface="Maven Pro"/>
              </a:rPr>
              <a:t> </a:t>
            </a:r>
            <a:r>
              <a:rPr lang="en-US" sz="1600" b="1" dirty="0" err="1" smtClean="0">
                <a:solidFill>
                  <a:schemeClr val="tx1"/>
                </a:solidFill>
                <a:ea typeface="Maven Pro"/>
                <a:cs typeface="Maven Pro"/>
                <a:sym typeface="Maven Pro"/>
              </a:rPr>
              <a:t>thì</a:t>
            </a:r>
            <a:r>
              <a:rPr lang="en-US" sz="1600" b="1" dirty="0" smtClean="0">
                <a:solidFill>
                  <a:schemeClr val="tx1"/>
                </a:solidFill>
                <a:ea typeface="Maven Pro"/>
                <a:cs typeface="Maven Pro"/>
                <a:sym typeface="Maven Pro"/>
              </a:rPr>
              <a:t> </a:t>
            </a:r>
            <a:r>
              <a:rPr lang="en-US" sz="1600" b="1" dirty="0" err="1" smtClean="0">
                <a:solidFill>
                  <a:schemeClr val="tx1"/>
                </a:solidFill>
                <a:ea typeface="Maven Pro"/>
                <a:cs typeface="Maven Pro"/>
                <a:sym typeface="Maven Pro"/>
              </a:rPr>
              <a:t>bán</a:t>
            </a:r>
            <a:endParaRPr lang="en-US" sz="1600" b="1" dirty="0" smtClean="0">
              <a:solidFill>
                <a:schemeClr val="tx1"/>
              </a:solidFill>
              <a:ea typeface="Maven Pro"/>
              <a:cs typeface="Maven Pro"/>
              <a:sym typeface="Maven Pro"/>
            </a:endParaRPr>
          </a:p>
        </p:txBody>
      </p:sp>
    </p:spTree>
    <p:extLst>
      <p:ext uri="{BB962C8B-B14F-4D97-AF65-F5344CB8AC3E}">
        <p14:creationId xmlns:p14="http://schemas.microsoft.com/office/powerpoint/2010/main" val="209898251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624"/>
          </a:xfrm>
          <a:prstGeom prst="rect">
            <a:avLst/>
          </a:prstGeom>
          <a:noFill/>
          <a:ln>
            <a:noFill/>
          </a:ln>
        </p:spPr>
        <p:txBody>
          <a:bodyPr spcFirstLastPara="1" wrap="square" lIns="91425" tIns="45700" rIns="91425" bIns="45700" anchor="t" anchorCtr="0">
            <a:spAutoFit/>
          </a:bodyPr>
          <a:lstStyle/>
          <a:p>
            <a:pPr>
              <a:buSzPts val="2000"/>
            </a:pPr>
            <a:r>
              <a:rPr lang="en-US" sz="2400" b="1" dirty="0" smtClean="0">
                <a:solidFill>
                  <a:schemeClr val="bg1"/>
                </a:solidFill>
              </a:rPr>
              <a:t>I. </a:t>
            </a:r>
            <a:r>
              <a:rPr lang="en-US" sz="2400" b="1" dirty="0" err="1" smtClean="0">
                <a:solidFill>
                  <a:schemeClr val="bg1"/>
                </a:solidFill>
              </a:rPr>
              <a:t>Backtest</a:t>
            </a:r>
            <a:r>
              <a:rPr lang="en-US" sz="2400" b="1" dirty="0" smtClean="0">
                <a:solidFill>
                  <a:schemeClr val="bg1"/>
                </a:solidFill>
              </a:rPr>
              <a:t> </a:t>
            </a:r>
            <a:r>
              <a:rPr lang="en-US" sz="2400" b="1" dirty="0" smtClean="0">
                <a:solidFill>
                  <a:schemeClr val="bg1"/>
                </a:solidFill>
                <a:ea typeface="Maven Pro"/>
                <a:cs typeface="Maven Pro"/>
                <a:sym typeface="Maven Pro"/>
              </a:rPr>
              <a:t>Chiến </a:t>
            </a:r>
            <a:r>
              <a:rPr lang="en-US" sz="2400" b="1" dirty="0" err="1">
                <a:solidFill>
                  <a:schemeClr val="bg1"/>
                </a:solidFill>
                <a:ea typeface="Maven Pro"/>
                <a:cs typeface="Maven Pro"/>
                <a:sym typeface="Maven Pro"/>
              </a:rPr>
              <a:t>lược</a:t>
            </a:r>
            <a:r>
              <a:rPr lang="en-US" sz="2400" b="1" dirty="0">
                <a:solidFill>
                  <a:schemeClr val="bg1"/>
                </a:solidFill>
                <a:ea typeface="Maven Pro"/>
                <a:cs typeface="Maven Pro"/>
                <a:sym typeface="Maven Pro"/>
              </a:rPr>
              <a:t> </a:t>
            </a:r>
            <a:r>
              <a:rPr lang="en-US" sz="2400" b="1" dirty="0" err="1">
                <a:solidFill>
                  <a:schemeClr val="bg1"/>
                </a:solidFill>
                <a:ea typeface="Maven Pro"/>
                <a:cs typeface="Maven Pro"/>
                <a:sym typeface="Maven Pro"/>
              </a:rPr>
              <a:t>để</a:t>
            </a:r>
            <a:r>
              <a:rPr lang="en-US" sz="2400" b="1" dirty="0">
                <a:solidFill>
                  <a:schemeClr val="bg1"/>
                </a:solidFill>
                <a:ea typeface="Maven Pro"/>
                <a:cs typeface="Maven Pro"/>
                <a:sym typeface="Maven Pro"/>
              </a:rPr>
              <a:t> </a:t>
            </a:r>
            <a:r>
              <a:rPr lang="en-US" sz="2400" b="1" dirty="0" err="1">
                <a:solidFill>
                  <a:schemeClr val="bg1"/>
                </a:solidFill>
                <a:ea typeface="Maven Pro"/>
                <a:cs typeface="Maven Pro"/>
                <a:sym typeface="Maven Pro"/>
              </a:rPr>
              <a:t>vào</a:t>
            </a:r>
            <a:r>
              <a:rPr lang="en-US" sz="2400" b="1" dirty="0">
                <a:solidFill>
                  <a:schemeClr val="bg1"/>
                </a:solidFill>
                <a:ea typeface="Maven Pro"/>
                <a:cs typeface="Maven Pro"/>
                <a:sym typeface="Maven Pro"/>
              </a:rPr>
              <a:t> </a:t>
            </a:r>
            <a:r>
              <a:rPr lang="en-US" sz="2400" b="1" dirty="0" err="1" smtClean="0">
                <a:solidFill>
                  <a:schemeClr val="bg1"/>
                </a:solidFill>
                <a:ea typeface="Maven Pro"/>
                <a:cs typeface="Maven Pro"/>
                <a:sym typeface="Maven Pro"/>
              </a:rPr>
              <a:t>lệnh</a:t>
            </a:r>
            <a:endParaRPr sz="2400" b="1" i="0" u="none" strike="noStrike" cap="none" dirty="0">
              <a:solidFill>
                <a:schemeClr val="lt1"/>
              </a:solidFill>
              <a:sym typeface="Arial"/>
            </a:endParaRPr>
          </a:p>
        </p:txBody>
      </p:sp>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444500" indent="-342900" algn="just">
              <a:lnSpc>
                <a:spcPct val="115000"/>
              </a:lnSpc>
              <a:spcBef>
                <a:spcPts val="1600"/>
              </a:spcBef>
              <a:buClr>
                <a:schemeClr val="dk1"/>
              </a:buClr>
              <a:buSzPts val="2000"/>
              <a:buAutoNum type="arabicPeriod"/>
            </a:pPr>
            <a:r>
              <a:rPr lang="en-US" sz="1600" b="1" dirty="0" err="1" smtClean="0">
                <a:solidFill>
                  <a:schemeClr val="tx1"/>
                </a:solidFill>
                <a:ea typeface="Maven Pro"/>
                <a:cs typeface="Maven Pro"/>
                <a:sym typeface="Maven Pro"/>
              </a:rPr>
              <a:t>Backtest</a:t>
            </a:r>
            <a:r>
              <a:rPr lang="en-US" sz="1600" b="1" dirty="0" smtClean="0">
                <a:solidFill>
                  <a:schemeClr val="tx1"/>
                </a:solidFill>
                <a:ea typeface="Maven Pro"/>
                <a:cs typeface="Maven Pro"/>
                <a:sym typeface="Maven Pro"/>
              </a:rPr>
              <a:t> </a:t>
            </a:r>
            <a:r>
              <a:rPr lang="en-US" sz="1600" b="1" dirty="0" err="1" smtClean="0">
                <a:solidFill>
                  <a:schemeClr val="tx1"/>
                </a:solidFill>
                <a:ea typeface="Maven Pro"/>
                <a:cs typeface="Maven Pro"/>
                <a:sym typeface="Maven Pro"/>
              </a:rPr>
              <a:t>cho</a:t>
            </a:r>
            <a:r>
              <a:rPr lang="en-US" sz="1600" b="1" dirty="0" smtClean="0">
                <a:solidFill>
                  <a:schemeClr val="tx1"/>
                </a:solidFill>
                <a:ea typeface="Maven Pro"/>
                <a:cs typeface="Maven Pro"/>
                <a:sym typeface="Maven Pro"/>
              </a:rPr>
              <a:t> </a:t>
            </a:r>
            <a:r>
              <a:rPr lang="en-US" sz="1600" b="1" dirty="0" err="1" smtClean="0">
                <a:solidFill>
                  <a:schemeClr val="tx1"/>
                </a:solidFill>
                <a:ea typeface="Maven Pro"/>
                <a:cs typeface="Maven Pro"/>
                <a:sym typeface="Maven Pro"/>
              </a:rPr>
              <a:t>chứng</a:t>
            </a:r>
            <a:r>
              <a:rPr lang="en-US" sz="1600" b="1" dirty="0" smtClean="0">
                <a:solidFill>
                  <a:schemeClr val="tx1"/>
                </a:solidFill>
                <a:ea typeface="Maven Pro"/>
                <a:cs typeface="Maven Pro"/>
                <a:sym typeface="Maven Pro"/>
              </a:rPr>
              <a:t> </a:t>
            </a:r>
            <a:r>
              <a:rPr lang="en-US" sz="1600" b="1" dirty="0" err="1" smtClean="0">
                <a:solidFill>
                  <a:schemeClr val="tx1"/>
                </a:solidFill>
                <a:ea typeface="Maven Pro"/>
                <a:cs typeface="Maven Pro"/>
                <a:sym typeface="Maven Pro"/>
              </a:rPr>
              <a:t>khoán</a:t>
            </a:r>
            <a:endParaRPr lang="en-US" sz="1600" b="1" dirty="0" smtClean="0">
              <a:solidFill>
                <a:schemeClr val="tx1"/>
              </a:solidFill>
              <a:ea typeface="Maven Pro"/>
              <a:cs typeface="Maven Pro"/>
              <a:sym typeface="Maven Pro"/>
            </a:endParaRPr>
          </a:p>
          <a:p>
            <a:pPr marL="387350" indent="-285750" algn="just">
              <a:lnSpc>
                <a:spcPct val="115000"/>
              </a:lnSpc>
              <a:spcBef>
                <a:spcPts val="1600"/>
              </a:spcBef>
              <a:buClr>
                <a:schemeClr val="dk1"/>
              </a:buClr>
              <a:buSzPts val="2000"/>
              <a:buFontTx/>
              <a:buChar char="-"/>
            </a:pPr>
            <a:r>
              <a:rPr lang="en-US" b="1" dirty="0" err="1" smtClean="0"/>
              <a:t>Xác</a:t>
            </a:r>
            <a:r>
              <a:rPr lang="en-US" b="1" dirty="0" smtClean="0"/>
              <a:t> </a:t>
            </a:r>
            <a:r>
              <a:rPr lang="en-US" b="1" dirty="0" err="1"/>
              <a:t>định</a:t>
            </a:r>
            <a:r>
              <a:rPr lang="en-US" b="1" dirty="0"/>
              <a:t> </a:t>
            </a:r>
            <a:r>
              <a:rPr lang="en-US" b="1" dirty="0" err="1"/>
              <a:t>Vị</a:t>
            </a:r>
            <a:r>
              <a:rPr lang="en-US" b="1" dirty="0"/>
              <a:t> </a:t>
            </a:r>
            <a:r>
              <a:rPr lang="en-US" b="1" dirty="0" err="1"/>
              <a:t>Thế</a:t>
            </a:r>
            <a:r>
              <a:rPr lang="en-US" b="1" dirty="0"/>
              <a:t> </a:t>
            </a:r>
            <a:r>
              <a:rPr lang="en-US" b="1" dirty="0" err="1" smtClean="0"/>
              <a:t>Mua</a:t>
            </a:r>
            <a:r>
              <a:rPr lang="en-US" b="1" dirty="0" smtClean="0"/>
              <a:t>/</a:t>
            </a:r>
            <a:r>
              <a:rPr lang="en-US" b="1" dirty="0" err="1" smtClean="0"/>
              <a:t>Bán</a:t>
            </a:r>
            <a:r>
              <a:rPr lang="en-US" b="1" dirty="0" smtClean="0"/>
              <a:t>: </a:t>
            </a:r>
          </a:p>
          <a:p>
            <a:pPr marL="101600" lvl="1" algn="just">
              <a:lnSpc>
                <a:spcPct val="115000"/>
              </a:lnSpc>
              <a:spcBef>
                <a:spcPts val="1600"/>
              </a:spcBef>
              <a:buClr>
                <a:schemeClr val="dk1"/>
              </a:buClr>
              <a:buSzPts val="2000"/>
            </a:pPr>
            <a:r>
              <a:rPr lang="en-US" dirty="0" smtClean="0"/>
              <a:t>	</a:t>
            </a:r>
            <a:r>
              <a:rPr lang="en-US" dirty="0" err="1" smtClean="0"/>
              <a:t>Mua</a:t>
            </a:r>
            <a:r>
              <a:rPr lang="en-US" dirty="0" smtClean="0"/>
              <a:t> </a:t>
            </a:r>
            <a:r>
              <a:rPr lang="en-US" dirty="0" err="1" smtClean="0"/>
              <a:t>khi</a:t>
            </a:r>
            <a:r>
              <a:rPr lang="en-US" dirty="0" smtClean="0"/>
              <a:t> </a:t>
            </a:r>
            <a:r>
              <a:rPr lang="en-US" dirty="0" err="1" smtClean="0"/>
              <a:t>có</a:t>
            </a:r>
            <a:r>
              <a:rPr lang="en-US" dirty="0" smtClean="0"/>
              <a:t> </a:t>
            </a:r>
            <a:r>
              <a:rPr lang="en-US" dirty="0" err="1" smtClean="0"/>
              <a:t>tín</a:t>
            </a:r>
            <a:r>
              <a:rPr lang="en-US" dirty="0" smtClean="0"/>
              <a:t> </a:t>
            </a:r>
            <a:r>
              <a:rPr lang="en-US" dirty="0" err="1" smtClean="0"/>
              <a:t>hiệu</a:t>
            </a:r>
            <a:r>
              <a:rPr lang="en-US" dirty="0" smtClean="0"/>
              <a:t> </a:t>
            </a:r>
            <a:r>
              <a:rPr lang="en-US" dirty="0" err="1" smtClean="0"/>
              <a:t>Buy_Signal</a:t>
            </a:r>
            <a:r>
              <a:rPr lang="en-US" dirty="0" smtClean="0"/>
              <a:t> </a:t>
            </a:r>
            <a:r>
              <a:rPr lang="en-US" dirty="0" err="1" smtClean="0"/>
              <a:t>hoặc</a:t>
            </a:r>
            <a:r>
              <a:rPr lang="en-US" dirty="0" smtClean="0"/>
              <a:t> </a:t>
            </a:r>
            <a:r>
              <a:rPr lang="en-US" dirty="0" err="1" smtClean="0"/>
              <a:t>Sell_Signal</a:t>
            </a:r>
            <a:r>
              <a:rPr lang="en-US" dirty="0" smtClean="0"/>
              <a:t> =&gt; </a:t>
            </a:r>
            <a:r>
              <a:rPr lang="en-US" dirty="0" err="1" smtClean="0"/>
              <a:t>Tức</a:t>
            </a:r>
            <a:r>
              <a:rPr lang="en-US" dirty="0" smtClean="0"/>
              <a:t> </a:t>
            </a:r>
            <a:r>
              <a:rPr lang="en-US" dirty="0" err="1" smtClean="0"/>
              <a:t>là</a:t>
            </a:r>
            <a:r>
              <a:rPr lang="en-US" dirty="0" smtClean="0"/>
              <a:t> </a:t>
            </a:r>
            <a:r>
              <a:rPr lang="en-US" dirty="0" err="1" smtClean="0"/>
              <a:t>mua</a:t>
            </a:r>
            <a:r>
              <a:rPr lang="en-US" dirty="0" smtClean="0"/>
              <a:t> ở </a:t>
            </a:r>
            <a:r>
              <a:rPr lang="en-US" dirty="0" err="1" smtClean="0"/>
              <a:t>dữ</a:t>
            </a:r>
            <a:r>
              <a:rPr lang="en-US" dirty="0" smtClean="0"/>
              <a:t> </a:t>
            </a:r>
            <a:r>
              <a:rPr lang="en-US" dirty="0" err="1" smtClean="0"/>
              <a:t>liệu</a:t>
            </a:r>
            <a:r>
              <a:rPr lang="en-US" dirty="0" smtClean="0"/>
              <a:t> </a:t>
            </a:r>
            <a:r>
              <a:rPr lang="en-US" dirty="0" err="1" smtClean="0"/>
              <a:t>tiếp</a:t>
            </a:r>
            <a:r>
              <a:rPr lang="en-US" dirty="0" smtClean="0"/>
              <a:t> </a:t>
            </a:r>
            <a:r>
              <a:rPr lang="en-US" dirty="0" err="1" smtClean="0"/>
              <a:t>theo</a:t>
            </a:r>
            <a:r>
              <a:rPr lang="en-US" dirty="0" smtClean="0"/>
              <a:t> </a:t>
            </a:r>
            <a:r>
              <a:rPr lang="en-US" dirty="0" err="1" smtClean="0"/>
              <a:t>sau</a:t>
            </a:r>
            <a:r>
              <a:rPr lang="en-US" dirty="0" smtClean="0"/>
              <a:t> </a:t>
            </a:r>
            <a:r>
              <a:rPr lang="en-US" dirty="0" err="1" smtClean="0"/>
              <a:t>tín</a:t>
            </a:r>
            <a:r>
              <a:rPr lang="en-US" dirty="0" smtClean="0"/>
              <a:t> </a:t>
            </a:r>
            <a:r>
              <a:rPr lang="en-US" dirty="0" err="1" smtClean="0"/>
              <a:t>hiệu</a:t>
            </a:r>
            <a:endParaRPr lang="en-US" dirty="0" smtClean="0"/>
          </a:p>
          <a:p>
            <a:pPr marL="387350" indent="-285750" algn="just">
              <a:lnSpc>
                <a:spcPct val="115000"/>
              </a:lnSpc>
              <a:spcBef>
                <a:spcPts val="1600"/>
              </a:spcBef>
              <a:buClr>
                <a:schemeClr val="dk1"/>
              </a:buClr>
              <a:buSzPts val="2000"/>
              <a:buFontTx/>
              <a:buChar char="-"/>
            </a:pPr>
            <a:r>
              <a:rPr lang="vi-VN" b="1" dirty="0" smtClean="0"/>
              <a:t>Giao </a:t>
            </a:r>
            <a:r>
              <a:rPr lang="vi-VN" b="1" dirty="0"/>
              <a:t>Dịch</a:t>
            </a:r>
            <a:r>
              <a:rPr lang="vi-VN" b="1" dirty="0" smtClean="0"/>
              <a:t>:</a:t>
            </a:r>
            <a:endParaRPr lang="en-US" b="1" dirty="0" smtClean="0"/>
          </a:p>
          <a:p>
            <a:pPr algn="just"/>
            <a:r>
              <a:rPr lang="en-US" dirty="0" smtClean="0"/>
              <a:t>	</a:t>
            </a:r>
            <a:r>
              <a:rPr lang="vi-VN" dirty="0" smtClean="0"/>
              <a:t>Khi </a:t>
            </a:r>
            <a:r>
              <a:rPr lang="vi-VN" dirty="0"/>
              <a:t>có tín hiệu mua và nếu có đủ vốn, chiến lược sẽ "mua" một số lượng cố định cổ phiếu ('shares_per_signal') và cập nhật số vốn còn lại.</a:t>
            </a:r>
          </a:p>
          <a:p>
            <a:pPr algn="just"/>
            <a:r>
              <a:rPr lang="en-US" dirty="0" smtClean="0"/>
              <a:t>	</a:t>
            </a:r>
            <a:r>
              <a:rPr lang="vi-VN" dirty="0" smtClean="0"/>
              <a:t>Khi </a:t>
            </a:r>
            <a:r>
              <a:rPr lang="vi-VN" dirty="0"/>
              <a:t>có tín hiệu bán và nếu đang giữ cổ phiếu, chiến lược sẽ "bán" tất cả cổ phiếu đang giữ và cập nhật số vốn</a:t>
            </a:r>
            <a:r>
              <a:rPr lang="vi-VN" dirty="0" smtClean="0"/>
              <a:t>.</a:t>
            </a:r>
            <a:endParaRPr lang="en-US" dirty="0" smtClean="0"/>
          </a:p>
          <a:p>
            <a:pPr marL="387350" indent="-285750" algn="just">
              <a:lnSpc>
                <a:spcPct val="115000"/>
              </a:lnSpc>
              <a:spcBef>
                <a:spcPts val="1600"/>
              </a:spcBef>
              <a:buClr>
                <a:schemeClr val="dk1"/>
              </a:buClr>
              <a:buSzPts val="2000"/>
              <a:buFontTx/>
              <a:buChar char="-"/>
            </a:pPr>
            <a:r>
              <a:rPr lang="vi-VN" b="1" dirty="0" smtClean="0"/>
              <a:t>Tính </a:t>
            </a:r>
            <a:r>
              <a:rPr lang="vi-VN" b="1" dirty="0"/>
              <a:t>Toán và In Lợi Nhuận:</a:t>
            </a:r>
          </a:p>
          <a:p>
            <a:r>
              <a:rPr lang="en-US" dirty="0" smtClean="0"/>
              <a:t>	</a:t>
            </a:r>
            <a:r>
              <a:rPr lang="vi-VN" dirty="0" smtClean="0"/>
              <a:t>Lợi </a:t>
            </a:r>
            <a:r>
              <a:rPr lang="vi-VN" dirty="0"/>
              <a:t>nhuận được tính toán dựa trên giá trị hiện tại của vốn và số cổ phiếu đang giữ.</a:t>
            </a:r>
          </a:p>
          <a:p>
            <a:pPr algn="just"/>
            <a:endParaRPr lang="vi-VN" dirty="0"/>
          </a:p>
          <a:p>
            <a:pPr marL="101600" algn="just">
              <a:lnSpc>
                <a:spcPct val="115000"/>
              </a:lnSpc>
              <a:spcBef>
                <a:spcPts val="1600"/>
              </a:spcBef>
              <a:buClr>
                <a:schemeClr val="dk1"/>
              </a:buClr>
              <a:buSzPts val="2000"/>
            </a:pPr>
            <a:r>
              <a:rPr lang="en-US" sz="1600" b="1" dirty="0" err="1" smtClean="0">
                <a:solidFill>
                  <a:schemeClr val="tx1"/>
                </a:solidFill>
                <a:ea typeface="Maven Pro"/>
                <a:cs typeface="Maven Pro"/>
                <a:sym typeface="Maven Pro"/>
              </a:rPr>
              <a:t>Backtest</a:t>
            </a:r>
            <a:r>
              <a:rPr lang="en-US" sz="1600" b="1" dirty="0" smtClean="0">
                <a:solidFill>
                  <a:schemeClr val="tx1"/>
                </a:solidFill>
                <a:ea typeface="Maven Pro"/>
                <a:cs typeface="Maven Pro"/>
                <a:sym typeface="Maven Pro"/>
              </a:rPr>
              <a:t> </a:t>
            </a:r>
            <a:r>
              <a:rPr lang="en-US" sz="1600" b="1" dirty="0" err="1" smtClean="0">
                <a:solidFill>
                  <a:schemeClr val="tx1"/>
                </a:solidFill>
                <a:ea typeface="Maven Pro"/>
                <a:cs typeface="Maven Pro"/>
                <a:sym typeface="Maven Pro"/>
              </a:rPr>
              <a:t>Doji</a:t>
            </a:r>
            <a:r>
              <a:rPr lang="en-US" sz="1600" b="1" dirty="0" smtClean="0">
                <a:solidFill>
                  <a:schemeClr val="tx1"/>
                </a:solidFill>
                <a:ea typeface="Maven Pro"/>
                <a:cs typeface="Maven Pro"/>
                <a:sym typeface="Maven Pro"/>
              </a:rPr>
              <a:t> </a:t>
            </a:r>
            <a:r>
              <a:rPr lang="en-US" sz="1600" b="1" dirty="0" err="1" smtClean="0">
                <a:solidFill>
                  <a:schemeClr val="tx1"/>
                </a:solidFill>
                <a:ea typeface="Maven Pro"/>
                <a:cs typeface="Maven Pro"/>
                <a:sym typeface="Maven Pro"/>
              </a:rPr>
              <a:t>chân</a:t>
            </a:r>
            <a:r>
              <a:rPr lang="en-US" sz="1600" b="1" dirty="0" smtClean="0">
                <a:solidFill>
                  <a:schemeClr val="tx1"/>
                </a:solidFill>
                <a:ea typeface="Maven Pro"/>
                <a:cs typeface="Maven Pro"/>
                <a:sym typeface="Maven Pro"/>
              </a:rPr>
              <a:t> </a:t>
            </a:r>
            <a:r>
              <a:rPr lang="en-US" sz="1600" b="1" dirty="0" err="1" smtClean="0">
                <a:solidFill>
                  <a:schemeClr val="tx1"/>
                </a:solidFill>
                <a:ea typeface="Maven Pro"/>
                <a:cs typeface="Maven Pro"/>
                <a:sym typeface="Maven Pro"/>
              </a:rPr>
              <a:t>dài</a:t>
            </a:r>
            <a:endParaRPr lang="en-US" sz="1600" b="1" dirty="0">
              <a:solidFill>
                <a:schemeClr val="tx1"/>
              </a:solidFill>
              <a:ea typeface="Maven Pro"/>
              <a:cs typeface="Maven Pro"/>
              <a:sym typeface="Maven Pro"/>
            </a:endParaRPr>
          </a:p>
          <a:p>
            <a:pPr marL="101600" algn="just">
              <a:lnSpc>
                <a:spcPct val="115000"/>
              </a:lnSpc>
              <a:spcBef>
                <a:spcPts val="1600"/>
              </a:spcBef>
              <a:buClr>
                <a:schemeClr val="dk1"/>
              </a:buClr>
              <a:buSzPts val="2000"/>
            </a:pPr>
            <a:r>
              <a:rPr lang="en-US" sz="1600" b="1" dirty="0" err="1" smtClean="0">
                <a:solidFill>
                  <a:schemeClr val="tx1"/>
                </a:solidFill>
                <a:ea typeface="Maven Pro"/>
                <a:cs typeface="Maven Pro"/>
                <a:sym typeface="Maven Pro"/>
              </a:rPr>
              <a:t>Backtest</a:t>
            </a:r>
            <a:r>
              <a:rPr lang="en-US" sz="1600" b="1" dirty="0" smtClean="0">
                <a:solidFill>
                  <a:schemeClr val="tx1"/>
                </a:solidFill>
                <a:ea typeface="Maven Pro"/>
                <a:cs typeface="Maven Pro"/>
                <a:sym typeface="Maven Pro"/>
              </a:rPr>
              <a:t> SPY500, VIX</a:t>
            </a:r>
          </a:p>
          <a:p>
            <a:pPr marL="101600" algn="just">
              <a:lnSpc>
                <a:spcPct val="115000"/>
              </a:lnSpc>
              <a:spcBef>
                <a:spcPts val="1600"/>
              </a:spcBef>
              <a:buClr>
                <a:schemeClr val="dk1"/>
              </a:buClr>
              <a:buSzPts val="2000"/>
            </a:pPr>
            <a:endParaRPr lang="en-US" sz="1600" b="1" dirty="0">
              <a:solidFill>
                <a:schemeClr val="tx1"/>
              </a:solidFill>
              <a:ea typeface="Maven Pro"/>
              <a:cs typeface="Maven Pro"/>
              <a:sym typeface="Maven Pro"/>
            </a:endParaRPr>
          </a:p>
        </p:txBody>
      </p:sp>
    </p:spTree>
    <p:extLst>
      <p:ext uri="{BB962C8B-B14F-4D97-AF65-F5344CB8AC3E}">
        <p14:creationId xmlns:p14="http://schemas.microsoft.com/office/powerpoint/2010/main" val="34701868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624"/>
          </a:xfrm>
          <a:prstGeom prst="rect">
            <a:avLst/>
          </a:prstGeom>
          <a:noFill/>
          <a:ln>
            <a:noFill/>
          </a:ln>
        </p:spPr>
        <p:txBody>
          <a:bodyPr spcFirstLastPara="1" wrap="square" lIns="91425" tIns="45700" rIns="91425" bIns="45700" anchor="t" anchorCtr="0">
            <a:spAutoFit/>
          </a:bodyPr>
          <a:lstStyle/>
          <a:p>
            <a:pPr>
              <a:buSzPts val="2000"/>
            </a:pPr>
            <a:r>
              <a:rPr lang="en-US" sz="2400" b="1" dirty="0" smtClean="0">
                <a:solidFill>
                  <a:schemeClr val="bg1"/>
                </a:solidFill>
              </a:rPr>
              <a:t>I. </a:t>
            </a:r>
            <a:r>
              <a:rPr lang="en-US" sz="2400" b="1" dirty="0" err="1" smtClean="0">
                <a:solidFill>
                  <a:schemeClr val="bg1"/>
                </a:solidFill>
              </a:rPr>
              <a:t>Backtest</a:t>
            </a:r>
            <a:r>
              <a:rPr lang="en-US" sz="2400" b="1" dirty="0" smtClean="0">
                <a:solidFill>
                  <a:schemeClr val="bg1"/>
                </a:solidFill>
              </a:rPr>
              <a:t> </a:t>
            </a:r>
            <a:r>
              <a:rPr lang="en-US" sz="2400" b="1" dirty="0" smtClean="0">
                <a:solidFill>
                  <a:schemeClr val="bg1"/>
                </a:solidFill>
                <a:ea typeface="Maven Pro"/>
                <a:cs typeface="Maven Pro"/>
                <a:sym typeface="Maven Pro"/>
              </a:rPr>
              <a:t>Chiến </a:t>
            </a:r>
            <a:r>
              <a:rPr lang="en-US" sz="2400" b="1" dirty="0" err="1">
                <a:solidFill>
                  <a:schemeClr val="bg1"/>
                </a:solidFill>
                <a:ea typeface="Maven Pro"/>
                <a:cs typeface="Maven Pro"/>
                <a:sym typeface="Maven Pro"/>
              </a:rPr>
              <a:t>lược</a:t>
            </a:r>
            <a:r>
              <a:rPr lang="en-US" sz="2400" b="1" dirty="0">
                <a:solidFill>
                  <a:schemeClr val="bg1"/>
                </a:solidFill>
                <a:ea typeface="Maven Pro"/>
                <a:cs typeface="Maven Pro"/>
                <a:sym typeface="Maven Pro"/>
              </a:rPr>
              <a:t> </a:t>
            </a:r>
            <a:r>
              <a:rPr lang="en-US" sz="2400" b="1" dirty="0" err="1">
                <a:solidFill>
                  <a:schemeClr val="bg1"/>
                </a:solidFill>
                <a:ea typeface="Maven Pro"/>
                <a:cs typeface="Maven Pro"/>
                <a:sym typeface="Maven Pro"/>
              </a:rPr>
              <a:t>để</a:t>
            </a:r>
            <a:r>
              <a:rPr lang="en-US" sz="2400" b="1" dirty="0">
                <a:solidFill>
                  <a:schemeClr val="bg1"/>
                </a:solidFill>
                <a:ea typeface="Maven Pro"/>
                <a:cs typeface="Maven Pro"/>
                <a:sym typeface="Maven Pro"/>
              </a:rPr>
              <a:t> </a:t>
            </a:r>
            <a:r>
              <a:rPr lang="en-US" sz="2400" b="1" dirty="0" err="1">
                <a:solidFill>
                  <a:schemeClr val="bg1"/>
                </a:solidFill>
                <a:ea typeface="Maven Pro"/>
                <a:cs typeface="Maven Pro"/>
                <a:sym typeface="Maven Pro"/>
              </a:rPr>
              <a:t>vào</a:t>
            </a:r>
            <a:r>
              <a:rPr lang="en-US" sz="2400" b="1" dirty="0">
                <a:solidFill>
                  <a:schemeClr val="bg1"/>
                </a:solidFill>
                <a:ea typeface="Maven Pro"/>
                <a:cs typeface="Maven Pro"/>
                <a:sym typeface="Maven Pro"/>
              </a:rPr>
              <a:t> </a:t>
            </a:r>
            <a:r>
              <a:rPr lang="en-US" sz="2400" b="1" dirty="0" err="1" smtClean="0">
                <a:solidFill>
                  <a:schemeClr val="bg1"/>
                </a:solidFill>
                <a:ea typeface="Maven Pro"/>
                <a:cs typeface="Maven Pro"/>
                <a:sym typeface="Maven Pro"/>
              </a:rPr>
              <a:t>lệnh</a:t>
            </a:r>
            <a:endParaRPr sz="2400" b="1" i="0" u="none" strike="noStrike" cap="none" dirty="0">
              <a:solidFill>
                <a:schemeClr val="lt1"/>
              </a:solidFill>
              <a:sym typeface="Arial"/>
            </a:endParaRPr>
          </a:p>
        </p:txBody>
      </p:sp>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444500" indent="-342900" algn="just">
              <a:lnSpc>
                <a:spcPct val="115000"/>
              </a:lnSpc>
              <a:spcBef>
                <a:spcPts val="1600"/>
              </a:spcBef>
              <a:buClr>
                <a:schemeClr val="dk1"/>
              </a:buClr>
              <a:buSzPts val="2000"/>
              <a:buFont typeface="+mj-lt"/>
              <a:buAutoNum type="arabicPeriod" startAt="2"/>
            </a:pPr>
            <a:r>
              <a:rPr lang="en-US" sz="1600" b="1" dirty="0" err="1" smtClean="0">
                <a:solidFill>
                  <a:schemeClr val="tx1"/>
                </a:solidFill>
                <a:ea typeface="Maven Pro"/>
                <a:cs typeface="Maven Pro"/>
                <a:sym typeface="Maven Pro"/>
              </a:rPr>
              <a:t>Backtest</a:t>
            </a:r>
            <a:r>
              <a:rPr lang="en-US" sz="1600" b="1" dirty="0" smtClean="0">
                <a:solidFill>
                  <a:schemeClr val="tx1"/>
                </a:solidFill>
                <a:ea typeface="Maven Pro"/>
                <a:cs typeface="Maven Pro"/>
                <a:sym typeface="Maven Pro"/>
              </a:rPr>
              <a:t> </a:t>
            </a:r>
            <a:r>
              <a:rPr lang="en-US" sz="1600" b="1" dirty="0" err="1">
                <a:solidFill>
                  <a:schemeClr val="tx1"/>
                </a:solidFill>
                <a:ea typeface="Maven Pro"/>
                <a:cs typeface="Maven Pro"/>
                <a:sym typeface="Maven Pro"/>
              </a:rPr>
              <a:t>cho</a:t>
            </a:r>
            <a:r>
              <a:rPr lang="en-US" sz="1600" b="1" dirty="0">
                <a:solidFill>
                  <a:schemeClr val="tx1"/>
                </a:solidFill>
                <a:ea typeface="Maven Pro"/>
                <a:cs typeface="Maven Pro"/>
                <a:sym typeface="Maven Pro"/>
              </a:rPr>
              <a:t> </a:t>
            </a:r>
            <a:r>
              <a:rPr lang="en-US" sz="1600" b="1" dirty="0" smtClean="0">
                <a:solidFill>
                  <a:schemeClr val="tx1"/>
                </a:solidFill>
                <a:ea typeface="Maven Pro"/>
                <a:cs typeface="Maven Pro"/>
                <a:sym typeface="Maven Pro"/>
              </a:rPr>
              <a:t>Forex (</a:t>
            </a:r>
            <a:r>
              <a:rPr lang="en-US" sz="1600" b="1" dirty="0" err="1" smtClean="0">
                <a:solidFill>
                  <a:schemeClr val="tx1"/>
                </a:solidFill>
                <a:ea typeface="Maven Pro"/>
                <a:cs typeface="Maven Pro"/>
                <a:sym typeface="Maven Pro"/>
              </a:rPr>
              <a:t>học</a:t>
            </a:r>
            <a:r>
              <a:rPr lang="en-US" sz="1600" b="1" dirty="0" smtClean="0">
                <a:solidFill>
                  <a:schemeClr val="tx1"/>
                </a:solidFill>
                <a:ea typeface="Maven Pro"/>
                <a:cs typeface="Maven Pro"/>
                <a:sym typeface="Maven Pro"/>
              </a:rPr>
              <a:t> </a:t>
            </a:r>
            <a:r>
              <a:rPr lang="en-US" sz="1600" b="1" dirty="0" err="1" smtClean="0">
                <a:solidFill>
                  <a:schemeClr val="tx1"/>
                </a:solidFill>
                <a:ea typeface="Maven Pro"/>
                <a:cs typeface="Maven Pro"/>
                <a:sym typeface="Maven Pro"/>
              </a:rPr>
              <a:t>sau</a:t>
            </a:r>
            <a:r>
              <a:rPr lang="en-US" sz="1600" b="1" dirty="0" smtClean="0">
                <a:solidFill>
                  <a:schemeClr val="tx1"/>
                </a:solidFill>
                <a:ea typeface="Maven Pro"/>
                <a:cs typeface="Maven Pro"/>
                <a:sym typeface="Maven Pro"/>
              </a:rPr>
              <a:t>)</a:t>
            </a:r>
            <a:endParaRPr lang="en-US" sz="1600" b="1" dirty="0">
              <a:solidFill>
                <a:schemeClr val="tx1"/>
              </a:solidFill>
              <a:ea typeface="Maven Pro"/>
              <a:cs typeface="Maven Pro"/>
              <a:sym typeface="Maven Pro"/>
            </a:endParaRPr>
          </a:p>
          <a:p>
            <a:pPr marL="101600" algn="just">
              <a:lnSpc>
                <a:spcPct val="115000"/>
              </a:lnSpc>
              <a:spcBef>
                <a:spcPts val="1600"/>
              </a:spcBef>
              <a:buClr>
                <a:schemeClr val="dk1"/>
              </a:buClr>
              <a:buSzPts val="2000"/>
            </a:pPr>
            <a:endParaRPr lang="en-US" sz="1600" b="1" dirty="0" smtClean="0">
              <a:solidFill>
                <a:schemeClr val="tx1"/>
              </a:solidFill>
              <a:ea typeface="Maven Pro"/>
              <a:cs typeface="Maven Pro"/>
              <a:sym typeface="Maven Pro"/>
            </a:endParaRPr>
          </a:p>
          <a:p>
            <a:pPr marL="444500" indent="-342900" algn="just">
              <a:lnSpc>
                <a:spcPct val="115000"/>
              </a:lnSpc>
              <a:spcBef>
                <a:spcPts val="1600"/>
              </a:spcBef>
              <a:buClr>
                <a:schemeClr val="dk1"/>
              </a:buClr>
              <a:buSzPts val="2000"/>
              <a:buFont typeface="+mj-lt"/>
              <a:buAutoNum type="arabicPeriod" startAt="3"/>
            </a:pPr>
            <a:r>
              <a:rPr lang="en-US" sz="1600" b="1" dirty="0" err="1" smtClean="0">
                <a:solidFill>
                  <a:schemeClr val="tx1"/>
                </a:solidFill>
                <a:ea typeface="Maven Pro"/>
                <a:cs typeface="Maven Pro"/>
                <a:sym typeface="Maven Pro"/>
              </a:rPr>
              <a:t>Backtest</a:t>
            </a:r>
            <a:r>
              <a:rPr lang="en-US" sz="1600" b="1" dirty="0" smtClean="0">
                <a:solidFill>
                  <a:schemeClr val="tx1"/>
                </a:solidFill>
                <a:ea typeface="Maven Pro"/>
                <a:cs typeface="Maven Pro"/>
                <a:sym typeface="Maven Pro"/>
              </a:rPr>
              <a:t> </a:t>
            </a:r>
            <a:r>
              <a:rPr lang="en-US" sz="1600" b="1" dirty="0" err="1" smtClean="0">
                <a:solidFill>
                  <a:schemeClr val="tx1"/>
                </a:solidFill>
                <a:ea typeface="Maven Pro"/>
                <a:cs typeface="Maven Pro"/>
                <a:sym typeface="Maven Pro"/>
              </a:rPr>
              <a:t>cho</a:t>
            </a:r>
            <a:r>
              <a:rPr lang="en-US" sz="1600" b="1" dirty="0" smtClean="0">
                <a:solidFill>
                  <a:schemeClr val="tx1"/>
                </a:solidFill>
                <a:ea typeface="Maven Pro"/>
                <a:cs typeface="Maven Pro"/>
                <a:sym typeface="Maven Pro"/>
              </a:rPr>
              <a:t> Crypto (</a:t>
            </a:r>
            <a:r>
              <a:rPr lang="en-US" sz="1600" b="1" dirty="0" err="1" smtClean="0">
                <a:solidFill>
                  <a:schemeClr val="tx1"/>
                </a:solidFill>
                <a:ea typeface="Maven Pro"/>
                <a:cs typeface="Maven Pro"/>
                <a:sym typeface="Maven Pro"/>
              </a:rPr>
              <a:t>học</a:t>
            </a:r>
            <a:r>
              <a:rPr lang="en-US" sz="1600" b="1" dirty="0" smtClean="0">
                <a:solidFill>
                  <a:schemeClr val="tx1"/>
                </a:solidFill>
                <a:ea typeface="Maven Pro"/>
                <a:cs typeface="Maven Pro"/>
                <a:sym typeface="Maven Pro"/>
              </a:rPr>
              <a:t> </a:t>
            </a:r>
            <a:r>
              <a:rPr lang="en-US" sz="1600" b="1" dirty="0" err="1" smtClean="0">
                <a:solidFill>
                  <a:schemeClr val="tx1"/>
                </a:solidFill>
                <a:ea typeface="Maven Pro"/>
                <a:cs typeface="Maven Pro"/>
                <a:sym typeface="Maven Pro"/>
              </a:rPr>
              <a:t>sau</a:t>
            </a:r>
            <a:r>
              <a:rPr lang="en-US" sz="1600" b="1" dirty="0" smtClean="0">
                <a:solidFill>
                  <a:schemeClr val="tx1"/>
                </a:solidFill>
                <a:ea typeface="Maven Pro"/>
                <a:cs typeface="Maven Pro"/>
                <a:sym typeface="Maven Pro"/>
              </a:rPr>
              <a:t>)</a:t>
            </a:r>
          </a:p>
        </p:txBody>
      </p:sp>
    </p:spTree>
    <p:extLst>
      <p:ext uri="{BB962C8B-B14F-4D97-AF65-F5344CB8AC3E}">
        <p14:creationId xmlns:p14="http://schemas.microsoft.com/office/powerpoint/2010/main" val="145344890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9"/>
        <p:cNvGrpSpPr/>
        <p:nvPr/>
      </p:nvGrpSpPr>
      <p:grpSpPr>
        <a:xfrm>
          <a:off x="0" y="0"/>
          <a:ext cx="0" cy="0"/>
          <a:chOff x="0" y="0"/>
          <a:chExt cx="0" cy="0"/>
        </a:xfrm>
      </p:grpSpPr>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101600" lvl="0" algn="just">
              <a:lnSpc>
                <a:spcPct val="115000"/>
              </a:lnSpc>
              <a:spcBef>
                <a:spcPts val="1600"/>
              </a:spcBef>
              <a:buClr>
                <a:schemeClr val="dk1"/>
              </a:buClr>
              <a:buSzPts val="2000"/>
            </a:pPr>
            <a:r>
              <a:rPr lang="en-US" sz="1600" b="1" dirty="0" err="1" smtClean="0">
                <a:solidFill>
                  <a:schemeClr val="dk1"/>
                </a:solidFill>
                <a:latin typeface="+mn-lt"/>
                <a:ea typeface="Maven Pro"/>
                <a:cs typeface="Maven Pro"/>
                <a:sym typeface="Maven Pro"/>
              </a:rPr>
              <a:t>Vào</a:t>
            </a:r>
            <a:r>
              <a:rPr lang="en-US" sz="1600" b="1" dirty="0" smtClean="0">
                <a:solidFill>
                  <a:schemeClr val="dk1"/>
                </a:solidFill>
                <a:latin typeface="+mn-lt"/>
                <a:ea typeface="Maven Pro"/>
                <a:cs typeface="Maven Pro"/>
                <a:sym typeface="Maven Pro"/>
              </a:rPr>
              <a:t> </a:t>
            </a:r>
            <a:r>
              <a:rPr lang="en-US" sz="1600" b="1" dirty="0" err="1" smtClean="0">
                <a:solidFill>
                  <a:schemeClr val="dk1"/>
                </a:solidFill>
                <a:latin typeface="+mn-lt"/>
                <a:ea typeface="Maven Pro"/>
                <a:cs typeface="Maven Pro"/>
                <a:sym typeface="Maven Pro"/>
              </a:rPr>
              <a:t>lệnh</a:t>
            </a:r>
            <a:r>
              <a:rPr lang="en-US" sz="1600" b="1" dirty="0" smtClean="0">
                <a:solidFill>
                  <a:schemeClr val="dk1"/>
                </a:solidFill>
                <a:latin typeface="+mn-lt"/>
                <a:ea typeface="Maven Pro"/>
                <a:cs typeface="Maven Pro"/>
                <a:sym typeface="Maven Pro"/>
              </a:rPr>
              <a:t> </a:t>
            </a:r>
            <a:r>
              <a:rPr lang="en-US" sz="1600" b="1" dirty="0" err="1" smtClean="0">
                <a:solidFill>
                  <a:schemeClr val="dk1"/>
                </a:solidFill>
                <a:latin typeface="+mn-lt"/>
                <a:ea typeface="Maven Pro"/>
                <a:cs typeface="Maven Pro"/>
                <a:sym typeface="Maven Pro"/>
              </a:rPr>
              <a:t>bằng</a:t>
            </a:r>
            <a:r>
              <a:rPr lang="en-US" sz="1600" b="1" dirty="0" smtClean="0">
                <a:solidFill>
                  <a:schemeClr val="dk1"/>
                </a:solidFill>
                <a:latin typeface="+mn-lt"/>
                <a:ea typeface="Maven Pro"/>
                <a:cs typeface="Maven Pro"/>
                <a:sym typeface="Maven Pro"/>
              </a:rPr>
              <a:t> manual</a:t>
            </a:r>
          </a:p>
          <a:p>
            <a:pPr marL="387350" lvl="0" indent="-285750" algn="just">
              <a:lnSpc>
                <a:spcPct val="115000"/>
              </a:lnSpc>
              <a:spcBef>
                <a:spcPts val="1600"/>
              </a:spcBef>
              <a:buClr>
                <a:schemeClr val="dk1"/>
              </a:buClr>
              <a:buSzPts val="2000"/>
              <a:buFontTx/>
              <a:buChar char="-"/>
            </a:pPr>
            <a:r>
              <a:rPr lang="en-US" sz="1600" b="1" dirty="0" smtClean="0">
                <a:solidFill>
                  <a:schemeClr val="dk1"/>
                </a:solidFill>
                <a:latin typeface="+mn-lt"/>
                <a:ea typeface="Maven Pro"/>
                <a:cs typeface="Maven Pro"/>
                <a:sym typeface="Maven Pro"/>
              </a:rPr>
              <a:t>Forex: </a:t>
            </a:r>
            <a:r>
              <a:rPr lang="en-US" sz="1600" b="1" dirty="0" err="1" smtClean="0">
                <a:solidFill>
                  <a:schemeClr val="dk1"/>
                </a:solidFill>
                <a:latin typeface="+mn-lt"/>
                <a:ea typeface="Maven Pro"/>
                <a:cs typeface="Maven Pro"/>
                <a:sym typeface="Maven Pro"/>
              </a:rPr>
              <a:t>Vào</a:t>
            </a:r>
            <a:r>
              <a:rPr lang="en-US" sz="1600" b="1" dirty="0" smtClean="0">
                <a:solidFill>
                  <a:schemeClr val="dk1"/>
                </a:solidFill>
                <a:latin typeface="+mn-lt"/>
                <a:ea typeface="Maven Pro"/>
                <a:cs typeface="Maven Pro"/>
                <a:sym typeface="Maven Pro"/>
              </a:rPr>
              <a:t> MT5</a:t>
            </a:r>
          </a:p>
          <a:p>
            <a:pPr marL="387350" lvl="0" indent="-285750" algn="just">
              <a:lnSpc>
                <a:spcPct val="115000"/>
              </a:lnSpc>
              <a:spcBef>
                <a:spcPts val="1600"/>
              </a:spcBef>
              <a:buClr>
                <a:schemeClr val="dk1"/>
              </a:buClr>
              <a:buSzPts val="2000"/>
              <a:buFontTx/>
              <a:buChar char="-"/>
            </a:pPr>
            <a:r>
              <a:rPr lang="en-US" sz="1600" b="1" dirty="0" smtClean="0">
                <a:solidFill>
                  <a:schemeClr val="dk1"/>
                </a:solidFill>
                <a:latin typeface="+mn-lt"/>
                <a:ea typeface="Maven Pro"/>
                <a:cs typeface="Maven Pro"/>
                <a:sym typeface="Maven Pro"/>
              </a:rPr>
              <a:t>Crypto: </a:t>
            </a:r>
            <a:r>
              <a:rPr lang="en-US" sz="1600" b="1" dirty="0" err="1" smtClean="0">
                <a:solidFill>
                  <a:schemeClr val="dk1"/>
                </a:solidFill>
                <a:latin typeface="+mn-lt"/>
                <a:ea typeface="Maven Pro"/>
                <a:cs typeface="Maven Pro"/>
                <a:sym typeface="Maven Pro"/>
              </a:rPr>
              <a:t>Vào</a:t>
            </a:r>
            <a:r>
              <a:rPr lang="en-US" sz="1600" b="1" dirty="0" smtClean="0">
                <a:solidFill>
                  <a:schemeClr val="dk1"/>
                </a:solidFill>
                <a:latin typeface="+mn-lt"/>
                <a:ea typeface="Maven Pro"/>
                <a:cs typeface="Maven Pro"/>
                <a:sym typeface="Maven Pro"/>
              </a:rPr>
              <a:t> </a:t>
            </a:r>
            <a:r>
              <a:rPr lang="en-US" sz="1600" b="1" dirty="0" err="1" smtClean="0">
                <a:solidFill>
                  <a:schemeClr val="dk1"/>
                </a:solidFill>
                <a:latin typeface="+mn-lt"/>
                <a:ea typeface="Maven Pro"/>
                <a:cs typeface="Maven Pro"/>
                <a:sym typeface="Maven Pro"/>
              </a:rPr>
              <a:t>Binance</a:t>
            </a:r>
            <a:endParaRPr lang="en-US" sz="1600" b="1" dirty="0" smtClean="0">
              <a:solidFill>
                <a:schemeClr val="dk1"/>
              </a:solidFill>
              <a:latin typeface="+mn-lt"/>
              <a:ea typeface="Maven Pro"/>
              <a:cs typeface="Maven Pro"/>
              <a:sym typeface="Maven Pro"/>
            </a:endParaRPr>
          </a:p>
          <a:p>
            <a:pPr marL="387350" lvl="0" indent="-285750" algn="just">
              <a:lnSpc>
                <a:spcPct val="115000"/>
              </a:lnSpc>
              <a:spcBef>
                <a:spcPts val="1600"/>
              </a:spcBef>
              <a:buClr>
                <a:schemeClr val="dk1"/>
              </a:buClr>
              <a:buSzPts val="2000"/>
              <a:buFontTx/>
              <a:buChar char="-"/>
            </a:pPr>
            <a:r>
              <a:rPr lang="en-US" sz="1600" b="1" dirty="0" err="1" smtClean="0">
                <a:solidFill>
                  <a:schemeClr val="dk1"/>
                </a:solidFill>
                <a:latin typeface="+mn-lt"/>
                <a:ea typeface="Maven Pro"/>
                <a:cs typeface="Maven Pro"/>
                <a:sym typeface="Maven Pro"/>
              </a:rPr>
              <a:t>Chứng</a:t>
            </a:r>
            <a:r>
              <a:rPr lang="en-US" sz="1600" b="1" dirty="0" smtClean="0">
                <a:solidFill>
                  <a:schemeClr val="dk1"/>
                </a:solidFill>
                <a:latin typeface="+mn-lt"/>
                <a:ea typeface="Maven Pro"/>
                <a:cs typeface="Maven Pro"/>
                <a:sym typeface="Maven Pro"/>
              </a:rPr>
              <a:t> khoan: </a:t>
            </a:r>
            <a:r>
              <a:rPr lang="en-US" sz="1600" b="1" dirty="0" err="1" smtClean="0">
                <a:solidFill>
                  <a:schemeClr val="dk1"/>
                </a:solidFill>
                <a:latin typeface="+mn-lt"/>
                <a:ea typeface="Maven Pro"/>
                <a:cs typeface="Maven Pro"/>
                <a:sym typeface="Maven Pro"/>
              </a:rPr>
              <a:t>Vào</a:t>
            </a:r>
            <a:r>
              <a:rPr lang="en-US" sz="1600" b="1" dirty="0" smtClean="0">
                <a:solidFill>
                  <a:schemeClr val="dk1"/>
                </a:solidFill>
                <a:latin typeface="+mn-lt"/>
                <a:ea typeface="Maven Pro"/>
                <a:cs typeface="Maven Pro"/>
                <a:sym typeface="Maven Pro"/>
              </a:rPr>
              <a:t> SSI</a:t>
            </a:r>
            <a:endParaRPr sz="1600" b="1" dirty="0">
              <a:solidFill>
                <a:schemeClr val="dk1"/>
              </a:solidFill>
              <a:latin typeface="+mn-lt"/>
              <a:ea typeface="Maven Pro"/>
              <a:cs typeface="Maven Pro"/>
              <a:sym typeface="Maven Pro"/>
            </a:endParaRPr>
          </a:p>
        </p:txBody>
      </p:sp>
      <p:sp>
        <p:nvSpPr>
          <p:cNvPr id="4" name="Google Shape;100;p3"/>
          <p:cNvSpPr txBox="1"/>
          <p:nvPr/>
        </p:nvSpPr>
        <p:spPr>
          <a:xfrm>
            <a:off x="304800" y="154525"/>
            <a:ext cx="6865800" cy="461624"/>
          </a:xfrm>
          <a:prstGeom prst="rect">
            <a:avLst/>
          </a:prstGeom>
          <a:noFill/>
          <a:ln>
            <a:noFill/>
          </a:ln>
        </p:spPr>
        <p:txBody>
          <a:bodyPr spcFirstLastPara="1" wrap="square" lIns="91425" tIns="45700" rIns="91425" bIns="45700" anchor="t" anchorCtr="0">
            <a:spAutoFit/>
          </a:bodyPr>
          <a:lstStyle/>
          <a:p>
            <a:pPr>
              <a:buSzPts val="2000"/>
            </a:pPr>
            <a:r>
              <a:rPr lang="en-US" sz="2400" b="1" dirty="0" smtClean="0">
                <a:solidFill>
                  <a:schemeClr val="bg1"/>
                </a:solidFill>
              </a:rPr>
              <a:t>II. </a:t>
            </a:r>
            <a:r>
              <a:rPr lang="en-US" sz="2400" b="1" dirty="0" err="1" smtClean="0">
                <a:solidFill>
                  <a:schemeClr val="bg1"/>
                </a:solidFill>
              </a:rPr>
              <a:t>Vào</a:t>
            </a:r>
            <a:r>
              <a:rPr lang="en-US" sz="2400" b="1" dirty="0" smtClean="0">
                <a:solidFill>
                  <a:schemeClr val="bg1"/>
                </a:solidFill>
              </a:rPr>
              <a:t> </a:t>
            </a:r>
            <a:r>
              <a:rPr lang="en-US" sz="2400" b="1" dirty="0" err="1" smtClean="0">
                <a:solidFill>
                  <a:schemeClr val="bg1"/>
                </a:solidFill>
              </a:rPr>
              <a:t>lệnh</a:t>
            </a:r>
            <a:r>
              <a:rPr lang="en-US" sz="2400" b="1" dirty="0" smtClean="0">
                <a:solidFill>
                  <a:schemeClr val="bg1"/>
                </a:solidFill>
              </a:rPr>
              <a:t> </a:t>
            </a:r>
            <a:r>
              <a:rPr lang="en-US" sz="2400" b="1" dirty="0" err="1" smtClean="0">
                <a:solidFill>
                  <a:schemeClr val="bg1"/>
                </a:solidFill>
              </a:rPr>
              <a:t>bằng</a:t>
            </a:r>
            <a:r>
              <a:rPr lang="en-US" sz="2400" b="1" dirty="0" smtClean="0">
                <a:solidFill>
                  <a:schemeClr val="bg1"/>
                </a:solidFill>
              </a:rPr>
              <a:t> manual</a:t>
            </a:r>
            <a:endParaRPr sz="2400" b="1" i="0" u="none" strike="noStrike" cap="none" dirty="0">
              <a:solidFill>
                <a:schemeClr val="lt1"/>
              </a:solidFill>
              <a:sym typeface="Arial"/>
            </a:endParaRPr>
          </a:p>
        </p:txBody>
      </p:sp>
    </p:spTree>
    <p:extLst>
      <p:ext uri="{BB962C8B-B14F-4D97-AF65-F5344CB8AC3E}">
        <p14:creationId xmlns:p14="http://schemas.microsoft.com/office/powerpoint/2010/main" val="383424581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9"/>
        <p:cNvGrpSpPr/>
        <p:nvPr/>
      </p:nvGrpSpPr>
      <p:grpSpPr>
        <a:xfrm>
          <a:off x="0" y="0"/>
          <a:ext cx="0" cy="0"/>
          <a:chOff x="0" y="0"/>
          <a:chExt cx="0" cy="0"/>
        </a:xfrm>
      </p:grpSpPr>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101600" lvl="0">
              <a:lnSpc>
                <a:spcPct val="115000"/>
              </a:lnSpc>
              <a:spcBef>
                <a:spcPts val="1600"/>
              </a:spcBef>
              <a:buClr>
                <a:schemeClr val="dk1"/>
              </a:buClr>
              <a:buSzPts val="2000"/>
            </a:pPr>
            <a:r>
              <a:rPr lang="en-US" sz="1600" b="1" dirty="0" err="1" smtClean="0">
                <a:solidFill>
                  <a:schemeClr val="dk1"/>
                </a:solidFill>
                <a:latin typeface="+mn-lt"/>
                <a:ea typeface="Maven Pro"/>
                <a:cs typeface="Maven Pro"/>
                <a:sym typeface="Maven Pro"/>
              </a:rPr>
              <a:t>Vào</a:t>
            </a:r>
            <a:r>
              <a:rPr lang="en-US" sz="1600" b="1" dirty="0" smtClean="0">
                <a:solidFill>
                  <a:schemeClr val="dk1"/>
                </a:solidFill>
                <a:latin typeface="+mn-lt"/>
                <a:ea typeface="Maven Pro"/>
                <a:cs typeface="Maven Pro"/>
                <a:sym typeface="Maven Pro"/>
              </a:rPr>
              <a:t> </a:t>
            </a:r>
            <a:r>
              <a:rPr lang="en-US" sz="1600" b="1" dirty="0" err="1" smtClean="0">
                <a:solidFill>
                  <a:schemeClr val="dk1"/>
                </a:solidFill>
                <a:latin typeface="+mn-lt"/>
                <a:ea typeface="Maven Pro"/>
                <a:cs typeface="Maven Pro"/>
                <a:sym typeface="Maven Pro"/>
              </a:rPr>
              <a:t>lệnh</a:t>
            </a:r>
            <a:r>
              <a:rPr lang="en-US" sz="1600" b="1" dirty="0" smtClean="0">
                <a:solidFill>
                  <a:schemeClr val="dk1"/>
                </a:solidFill>
                <a:latin typeface="+mn-lt"/>
                <a:ea typeface="Maven Pro"/>
                <a:cs typeface="Maven Pro"/>
                <a:sym typeface="Maven Pro"/>
              </a:rPr>
              <a:t> </a:t>
            </a:r>
            <a:r>
              <a:rPr lang="en-US" sz="1600" b="1" dirty="0" err="1" smtClean="0">
                <a:solidFill>
                  <a:schemeClr val="dk1"/>
                </a:solidFill>
                <a:latin typeface="+mn-lt"/>
                <a:ea typeface="Maven Pro"/>
                <a:cs typeface="Maven Pro"/>
                <a:sym typeface="Maven Pro"/>
              </a:rPr>
              <a:t>bằng</a:t>
            </a:r>
            <a:r>
              <a:rPr lang="en-US" sz="1600" b="1" dirty="0" smtClean="0">
                <a:solidFill>
                  <a:schemeClr val="dk1"/>
                </a:solidFill>
                <a:latin typeface="+mn-lt"/>
                <a:ea typeface="Maven Pro"/>
                <a:cs typeface="Maven Pro"/>
                <a:sym typeface="Maven Pro"/>
              </a:rPr>
              <a:t> API</a:t>
            </a:r>
          </a:p>
          <a:p>
            <a:pPr marL="387350" lvl="0" indent="-285750">
              <a:lnSpc>
                <a:spcPct val="115000"/>
              </a:lnSpc>
              <a:spcBef>
                <a:spcPts val="1600"/>
              </a:spcBef>
              <a:buClr>
                <a:schemeClr val="dk1"/>
              </a:buClr>
              <a:buSzPts val="2000"/>
              <a:buFontTx/>
              <a:buChar char="-"/>
            </a:pPr>
            <a:r>
              <a:rPr lang="en-US" sz="1600" b="1" dirty="0" smtClean="0">
                <a:solidFill>
                  <a:schemeClr val="dk1"/>
                </a:solidFill>
                <a:latin typeface="+mn-lt"/>
                <a:ea typeface="Maven Pro"/>
                <a:cs typeface="Maven Pro"/>
                <a:sym typeface="Maven Pro"/>
              </a:rPr>
              <a:t>Forex: </a:t>
            </a:r>
            <a:r>
              <a:rPr lang="en-US" sz="1600" b="1" dirty="0" err="1" smtClean="0">
                <a:solidFill>
                  <a:schemeClr val="dk1"/>
                </a:solidFill>
                <a:latin typeface="+mn-lt"/>
                <a:ea typeface="Maven Pro"/>
                <a:cs typeface="Maven Pro"/>
                <a:sym typeface="Maven Pro"/>
              </a:rPr>
              <a:t>Vào</a:t>
            </a:r>
            <a:r>
              <a:rPr lang="en-US" sz="1600" b="1" dirty="0" smtClean="0">
                <a:solidFill>
                  <a:schemeClr val="dk1"/>
                </a:solidFill>
                <a:latin typeface="+mn-lt"/>
                <a:ea typeface="Maven Pro"/>
                <a:cs typeface="Maven Pro"/>
                <a:sym typeface="Maven Pro"/>
              </a:rPr>
              <a:t> MT5</a:t>
            </a:r>
          </a:p>
          <a:p>
            <a:pPr marL="101600" lvl="0">
              <a:lnSpc>
                <a:spcPct val="115000"/>
              </a:lnSpc>
              <a:spcBef>
                <a:spcPts val="1600"/>
              </a:spcBef>
              <a:buClr>
                <a:schemeClr val="dk1"/>
              </a:buClr>
              <a:buSzPts val="2000"/>
            </a:pPr>
            <a:r>
              <a:rPr lang="en-US" sz="1600" dirty="0" smtClean="0">
                <a:solidFill>
                  <a:schemeClr val="dk1"/>
                </a:solidFill>
                <a:latin typeface="+mn-lt"/>
                <a:ea typeface="Maven Pro"/>
                <a:cs typeface="Maven Pro"/>
                <a:sym typeface="Maven Pro"/>
              </a:rPr>
              <a:t>     + </a:t>
            </a:r>
            <a:r>
              <a:rPr lang="en-US" sz="1600" dirty="0" err="1" smtClean="0">
                <a:solidFill>
                  <a:schemeClr val="dk1"/>
                </a:solidFill>
                <a:latin typeface="+mn-lt"/>
                <a:ea typeface="Maven Pro"/>
                <a:cs typeface="Maven Pro"/>
                <a:sym typeface="Maven Pro"/>
              </a:rPr>
              <a:t>Bắt</a:t>
            </a:r>
            <a:r>
              <a:rPr lang="en-US" sz="1600" dirty="0" smtClean="0">
                <a:solidFill>
                  <a:schemeClr val="dk1"/>
                </a:solidFill>
                <a:latin typeface="+mn-lt"/>
                <a:ea typeface="Maven Pro"/>
                <a:cs typeface="Maven Pro"/>
                <a:sym typeface="Maven Pro"/>
              </a:rPr>
              <a:t> </a:t>
            </a:r>
            <a:r>
              <a:rPr lang="en-US" sz="1600" dirty="0" err="1" smtClean="0">
                <a:solidFill>
                  <a:schemeClr val="dk1"/>
                </a:solidFill>
                <a:latin typeface="+mn-lt"/>
                <a:ea typeface="Maven Pro"/>
                <a:cs typeface="Maven Pro"/>
                <a:sym typeface="Maven Pro"/>
              </a:rPr>
              <a:t>đầu</a:t>
            </a:r>
            <a:r>
              <a:rPr lang="en-US" sz="1600" dirty="0" smtClean="0">
                <a:solidFill>
                  <a:schemeClr val="dk1"/>
                </a:solidFill>
                <a:latin typeface="+mn-lt"/>
                <a:ea typeface="Maven Pro"/>
                <a:cs typeface="Maven Pro"/>
                <a:sym typeface="Maven Pro"/>
              </a:rPr>
              <a:t> </a:t>
            </a:r>
            <a:r>
              <a:rPr lang="en-US" sz="1600" dirty="0" err="1" smtClean="0">
                <a:solidFill>
                  <a:schemeClr val="dk1"/>
                </a:solidFill>
                <a:latin typeface="+mn-lt"/>
                <a:ea typeface="Maven Pro"/>
                <a:cs typeface="Maven Pro"/>
                <a:sym typeface="Maven Pro"/>
              </a:rPr>
              <a:t>mở</a:t>
            </a:r>
            <a:r>
              <a:rPr lang="en-US" sz="1600" dirty="0" smtClean="0">
                <a:solidFill>
                  <a:schemeClr val="dk1"/>
                </a:solidFill>
                <a:latin typeface="+mn-lt"/>
                <a:ea typeface="Maven Pro"/>
                <a:cs typeface="Maven Pro"/>
                <a:sym typeface="Maven Pro"/>
              </a:rPr>
              <a:t> MT5 </a:t>
            </a:r>
            <a:r>
              <a:rPr lang="en-US" sz="1600" dirty="0" err="1" smtClean="0">
                <a:solidFill>
                  <a:schemeClr val="dk1"/>
                </a:solidFill>
                <a:latin typeface="+mn-lt"/>
                <a:ea typeface="Maven Pro"/>
                <a:cs typeface="Maven Pro"/>
                <a:sym typeface="Maven Pro"/>
              </a:rPr>
              <a:t>lên</a:t>
            </a:r>
            <a:endParaRPr lang="en-US" sz="1600" dirty="0" smtClean="0">
              <a:solidFill>
                <a:schemeClr val="dk1"/>
              </a:solidFill>
              <a:latin typeface="+mn-lt"/>
              <a:ea typeface="Maven Pro"/>
              <a:cs typeface="Maven Pro"/>
              <a:sym typeface="Maven Pro"/>
            </a:endParaRPr>
          </a:p>
          <a:p>
            <a:pPr marL="101600" lvl="0">
              <a:lnSpc>
                <a:spcPct val="115000"/>
              </a:lnSpc>
              <a:spcBef>
                <a:spcPts val="1600"/>
              </a:spcBef>
              <a:buClr>
                <a:schemeClr val="dk1"/>
              </a:buClr>
              <a:buSzPts val="2000"/>
            </a:pPr>
            <a:r>
              <a:rPr lang="en-US" sz="1600" dirty="0">
                <a:solidFill>
                  <a:schemeClr val="dk1"/>
                </a:solidFill>
                <a:latin typeface="+mn-lt"/>
                <a:ea typeface="Maven Pro"/>
                <a:cs typeface="Maven Pro"/>
                <a:sym typeface="Maven Pro"/>
              </a:rPr>
              <a:t> </a:t>
            </a:r>
            <a:r>
              <a:rPr lang="en-US" sz="1600" dirty="0" smtClean="0">
                <a:solidFill>
                  <a:schemeClr val="dk1"/>
                </a:solidFill>
                <a:latin typeface="+mn-lt"/>
                <a:ea typeface="Maven Pro"/>
                <a:cs typeface="Maven Pro"/>
                <a:sym typeface="Maven Pro"/>
              </a:rPr>
              <a:t>    + </a:t>
            </a:r>
            <a:r>
              <a:rPr lang="en-US" sz="1600" dirty="0" err="1" smtClean="0">
                <a:solidFill>
                  <a:schemeClr val="dk1"/>
                </a:solidFill>
                <a:latin typeface="+mn-lt"/>
                <a:ea typeface="Maven Pro"/>
                <a:cs typeface="Maven Pro"/>
                <a:sym typeface="Maven Pro"/>
              </a:rPr>
              <a:t>Chạy</a:t>
            </a:r>
            <a:r>
              <a:rPr lang="en-US" sz="1600" dirty="0" smtClean="0">
                <a:solidFill>
                  <a:schemeClr val="dk1"/>
                </a:solidFill>
                <a:latin typeface="+mn-lt"/>
                <a:ea typeface="Maven Pro"/>
                <a:cs typeface="Maven Pro"/>
                <a:sym typeface="Maven Pro"/>
              </a:rPr>
              <a:t> code </a:t>
            </a:r>
            <a:r>
              <a:rPr lang="en-US" sz="1600" dirty="0" err="1" smtClean="0">
                <a:solidFill>
                  <a:schemeClr val="dk1"/>
                </a:solidFill>
                <a:latin typeface="+mn-lt"/>
                <a:ea typeface="Maven Pro"/>
                <a:cs typeface="Maven Pro"/>
                <a:sym typeface="Maven Pro"/>
              </a:rPr>
              <a:t>vào</a:t>
            </a:r>
            <a:r>
              <a:rPr lang="en-US" sz="1600" dirty="0" smtClean="0">
                <a:solidFill>
                  <a:schemeClr val="dk1"/>
                </a:solidFill>
                <a:latin typeface="+mn-lt"/>
                <a:ea typeface="Maven Pro"/>
                <a:cs typeface="Maven Pro"/>
                <a:sym typeface="Maven Pro"/>
              </a:rPr>
              <a:t> </a:t>
            </a:r>
            <a:r>
              <a:rPr lang="en-US" sz="1600" dirty="0" err="1" smtClean="0">
                <a:solidFill>
                  <a:schemeClr val="dk1"/>
                </a:solidFill>
                <a:latin typeface="+mn-lt"/>
                <a:ea typeface="Maven Pro"/>
                <a:cs typeface="Maven Pro"/>
                <a:sym typeface="Maven Pro"/>
              </a:rPr>
              <a:t>lệnh</a:t>
            </a:r>
            <a:r>
              <a:rPr lang="en-US" sz="1600" dirty="0" smtClean="0">
                <a:solidFill>
                  <a:schemeClr val="dk1"/>
                </a:solidFill>
                <a:latin typeface="+mn-lt"/>
                <a:ea typeface="Maven Pro"/>
                <a:cs typeface="Maven Pro"/>
                <a:sym typeface="Maven Pro"/>
              </a:rPr>
              <a:t> Forex</a:t>
            </a:r>
          </a:p>
          <a:p>
            <a:pPr marL="387350" lvl="0" indent="-285750">
              <a:lnSpc>
                <a:spcPct val="115000"/>
              </a:lnSpc>
              <a:spcBef>
                <a:spcPts val="1600"/>
              </a:spcBef>
              <a:buClr>
                <a:schemeClr val="dk1"/>
              </a:buClr>
              <a:buSzPts val="2000"/>
              <a:buFontTx/>
              <a:buChar char="-"/>
            </a:pPr>
            <a:r>
              <a:rPr lang="en-US" sz="1600" b="1" dirty="0" smtClean="0">
                <a:solidFill>
                  <a:schemeClr val="dk1"/>
                </a:solidFill>
                <a:latin typeface="+mn-lt"/>
                <a:ea typeface="Maven Pro"/>
                <a:cs typeface="Maven Pro"/>
                <a:sym typeface="Maven Pro"/>
              </a:rPr>
              <a:t>Crypto: </a:t>
            </a:r>
            <a:r>
              <a:rPr lang="en-US" sz="1600" b="1" dirty="0" err="1" smtClean="0">
                <a:solidFill>
                  <a:schemeClr val="dk1"/>
                </a:solidFill>
                <a:latin typeface="+mn-lt"/>
                <a:ea typeface="Maven Pro"/>
                <a:cs typeface="Maven Pro"/>
                <a:sym typeface="Maven Pro"/>
              </a:rPr>
              <a:t>Vào</a:t>
            </a:r>
            <a:r>
              <a:rPr lang="en-US" sz="1600" b="1" dirty="0" smtClean="0">
                <a:solidFill>
                  <a:schemeClr val="dk1"/>
                </a:solidFill>
                <a:latin typeface="+mn-lt"/>
                <a:ea typeface="Maven Pro"/>
                <a:cs typeface="Maven Pro"/>
                <a:sym typeface="Maven Pro"/>
              </a:rPr>
              <a:t> </a:t>
            </a:r>
            <a:r>
              <a:rPr lang="en-US" sz="1600" b="1" dirty="0" err="1" smtClean="0">
                <a:solidFill>
                  <a:schemeClr val="dk1"/>
                </a:solidFill>
                <a:latin typeface="+mn-lt"/>
                <a:ea typeface="Maven Pro"/>
                <a:cs typeface="Maven Pro"/>
                <a:sym typeface="Maven Pro"/>
              </a:rPr>
              <a:t>Binance</a:t>
            </a:r>
            <a:endParaRPr lang="en-US" sz="1600" b="1" dirty="0" smtClean="0">
              <a:solidFill>
                <a:schemeClr val="dk1"/>
              </a:solidFill>
              <a:latin typeface="+mn-lt"/>
              <a:ea typeface="Maven Pro"/>
              <a:cs typeface="Maven Pro"/>
              <a:sym typeface="Maven Pro"/>
            </a:endParaRPr>
          </a:p>
          <a:p>
            <a:pPr marL="101600" lvl="0" algn="just">
              <a:lnSpc>
                <a:spcPct val="115000"/>
              </a:lnSpc>
              <a:spcBef>
                <a:spcPts val="1600"/>
              </a:spcBef>
              <a:buClr>
                <a:schemeClr val="dk1"/>
              </a:buClr>
              <a:buSzPts val="2000"/>
            </a:pPr>
            <a:r>
              <a:rPr lang="en-US" sz="1600" dirty="0">
                <a:solidFill>
                  <a:schemeClr val="dk1"/>
                </a:solidFill>
                <a:latin typeface="+mn-lt"/>
                <a:ea typeface="Maven Pro"/>
                <a:cs typeface="Maven Pro"/>
                <a:sym typeface="Maven Pro"/>
              </a:rPr>
              <a:t> </a:t>
            </a:r>
            <a:r>
              <a:rPr lang="en-US" sz="1600" dirty="0" smtClean="0">
                <a:solidFill>
                  <a:schemeClr val="dk1"/>
                </a:solidFill>
                <a:latin typeface="+mn-lt"/>
                <a:ea typeface="Maven Pro"/>
                <a:cs typeface="Maven Pro"/>
                <a:sym typeface="Maven Pro"/>
              </a:rPr>
              <a:t>    + </a:t>
            </a:r>
            <a:r>
              <a:rPr lang="en-US" sz="1600" dirty="0" err="1" smtClean="0">
                <a:solidFill>
                  <a:schemeClr val="dk1"/>
                </a:solidFill>
                <a:latin typeface="+mn-lt"/>
                <a:ea typeface="Maven Pro"/>
                <a:cs typeface="Maven Pro"/>
                <a:sym typeface="Maven Pro"/>
              </a:rPr>
              <a:t>Khai</a:t>
            </a:r>
            <a:r>
              <a:rPr lang="en-US" sz="1600" dirty="0" smtClean="0">
                <a:solidFill>
                  <a:schemeClr val="dk1"/>
                </a:solidFill>
                <a:latin typeface="+mn-lt"/>
                <a:ea typeface="Maven Pro"/>
                <a:cs typeface="Maven Pro"/>
                <a:sym typeface="Maven Pro"/>
              </a:rPr>
              <a:t> </a:t>
            </a:r>
            <a:r>
              <a:rPr lang="en-US" sz="1600" dirty="0" err="1" smtClean="0">
                <a:solidFill>
                  <a:schemeClr val="dk1"/>
                </a:solidFill>
                <a:latin typeface="+mn-lt"/>
                <a:ea typeface="Maven Pro"/>
                <a:cs typeface="Maven Pro"/>
                <a:sym typeface="Maven Pro"/>
              </a:rPr>
              <a:t>báo</a:t>
            </a:r>
            <a:r>
              <a:rPr lang="en-US" sz="1600" dirty="0" smtClean="0">
                <a:solidFill>
                  <a:schemeClr val="dk1"/>
                </a:solidFill>
                <a:latin typeface="+mn-lt"/>
                <a:ea typeface="Maven Pro"/>
                <a:cs typeface="Maven Pro"/>
                <a:sym typeface="Maven Pro"/>
              </a:rPr>
              <a:t> API: Click Enable Spot, Future, Whitelist </a:t>
            </a:r>
            <a:r>
              <a:rPr lang="en-US" sz="1600" dirty="0" err="1" smtClean="0">
                <a:solidFill>
                  <a:schemeClr val="dk1"/>
                </a:solidFill>
                <a:latin typeface="+mn-lt"/>
                <a:ea typeface="Maven Pro"/>
                <a:cs typeface="Maven Pro"/>
                <a:sym typeface="Maven Pro"/>
              </a:rPr>
              <a:t>mã</a:t>
            </a:r>
            <a:r>
              <a:rPr lang="en-US" sz="1600" dirty="0" smtClean="0">
                <a:solidFill>
                  <a:schemeClr val="dk1"/>
                </a:solidFill>
                <a:latin typeface="+mn-lt"/>
                <a:ea typeface="Maven Pro"/>
                <a:cs typeface="Maven Pro"/>
                <a:sym typeface="Maven Pro"/>
              </a:rPr>
              <a:t> </a:t>
            </a:r>
            <a:r>
              <a:rPr lang="en-US" sz="1600" dirty="0" err="1" smtClean="0">
                <a:solidFill>
                  <a:schemeClr val="dk1"/>
                </a:solidFill>
                <a:latin typeface="+mn-lt"/>
                <a:ea typeface="Maven Pro"/>
                <a:cs typeface="Maven Pro"/>
                <a:sym typeface="Maven Pro"/>
              </a:rPr>
              <a:t>cần</a:t>
            </a:r>
            <a:r>
              <a:rPr lang="en-US" sz="1600" dirty="0" smtClean="0">
                <a:solidFill>
                  <a:schemeClr val="dk1"/>
                </a:solidFill>
                <a:latin typeface="+mn-lt"/>
                <a:ea typeface="Maven Pro"/>
                <a:cs typeface="Maven Pro"/>
                <a:sym typeface="Maven Pro"/>
              </a:rPr>
              <a:t> </a:t>
            </a:r>
            <a:r>
              <a:rPr lang="en-US" sz="1600" dirty="0" err="1" smtClean="0">
                <a:solidFill>
                  <a:schemeClr val="dk1"/>
                </a:solidFill>
                <a:latin typeface="+mn-lt"/>
                <a:ea typeface="Maven Pro"/>
                <a:cs typeface="Maven Pro"/>
                <a:sym typeface="Maven Pro"/>
              </a:rPr>
              <a:t>giao</a:t>
            </a:r>
            <a:r>
              <a:rPr lang="en-US" sz="1600" dirty="0" smtClean="0">
                <a:solidFill>
                  <a:schemeClr val="dk1"/>
                </a:solidFill>
                <a:latin typeface="+mn-lt"/>
                <a:ea typeface="Maven Pro"/>
                <a:cs typeface="Maven Pro"/>
                <a:sym typeface="Maven Pro"/>
              </a:rPr>
              <a:t> </a:t>
            </a:r>
            <a:r>
              <a:rPr lang="en-US" sz="1600" dirty="0" err="1" smtClean="0">
                <a:solidFill>
                  <a:schemeClr val="dk1"/>
                </a:solidFill>
                <a:latin typeface="+mn-lt"/>
                <a:ea typeface="Maven Pro"/>
                <a:cs typeface="Maven Pro"/>
                <a:sym typeface="Maven Pro"/>
              </a:rPr>
              <a:t>dịch</a:t>
            </a:r>
            <a:r>
              <a:rPr lang="en-US" sz="1600" dirty="0" smtClean="0">
                <a:solidFill>
                  <a:schemeClr val="dk1"/>
                </a:solidFill>
                <a:latin typeface="+mn-lt"/>
                <a:ea typeface="Maven Pro"/>
                <a:cs typeface="Maven Pro"/>
                <a:sym typeface="Maven Pro"/>
              </a:rPr>
              <a:t>, trust IP </a:t>
            </a:r>
            <a:r>
              <a:rPr lang="en-US" sz="1600" dirty="0" err="1" smtClean="0">
                <a:solidFill>
                  <a:schemeClr val="dk1"/>
                </a:solidFill>
                <a:latin typeface="+mn-lt"/>
                <a:ea typeface="Maven Pro"/>
                <a:cs typeface="Maven Pro"/>
                <a:sym typeface="Maven Pro"/>
              </a:rPr>
              <a:t>cho</a:t>
            </a:r>
            <a:r>
              <a:rPr lang="en-US" sz="1600" dirty="0" smtClean="0">
                <a:solidFill>
                  <a:schemeClr val="dk1"/>
                </a:solidFill>
                <a:latin typeface="+mn-lt"/>
                <a:ea typeface="Maven Pro"/>
                <a:cs typeface="Maven Pro"/>
                <a:sym typeface="Maven Pro"/>
              </a:rPr>
              <a:t> </a:t>
            </a:r>
            <a:r>
              <a:rPr lang="en-US" sz="1600" dirty="0" err="1" smtClean="0">
                <a:solidFill>
                  <a:schemeClr val="dk1"/>
                </a:solidFill>
                <a:latin typeface="+mn-lt"/>
                <a:ea typeface="Maven Pro"/>
                <a:cs typeface="Maven Pro"/>
                <a:sym typeface="Maven Pro"/>
              </a:rPr>
              <a:t>phép</a:t>
            </a:r>
            <a:r>
              <a:rPr lang="en-US" sz="1600" dirty="0" smtClean="0">
                <a:solidFill>
                  <a:schemeClr val="dk1"/>
                </a:solidFill>
                <a:latin typeface="+mn-lt"/>
                <a:ea typeface="Maven Pro"/>
                <a:cs typeface="Maven Pro"/>
                <a:sym typeface="Maven Pro"/>
              </a:rPr>
              <a:t> </a:t>
            </a:r>
            <a:r>
              <a:rPr lang="en-US" sz="1600" dirty="0" err="1" smtClean="0">
                <a:solidFill>
                  <a:schemeClr val="dk1"/>
                </a:solidFill>
                <a:latin typeface="+mn-lt"/>
                <a:ea typeface="Maven Pro"/>
                <a:cs typeface="Maven Pro"/>
                <a:sym typeface="Maven Pro"/>
              </a:rPr>
              <a:t>giao</a:t>
            </a:r>
            <a:r>
              <a:rPr lang="en-US" sz="1600" dirty="0" smtClean="0">
                <a:solidFill>
                  <a:schemeClr val="dk1"/>
                </a:solidFill>
                <a:latin typeface="+mn-lt"/>
                <a:ea typeface="Maven Pro"/>
                <a:cs typeface="Maven Pro"/>
                <a:sym typeface="Maven Pro"/>
              </a:rPr>
              <a:t> </a:t>
            </a:r>
            <a:r>
              <a:rPr lang="en-US" sz="1600" dirty="0" err="1" smtClean="0">
                <a:solidFill>
                  <a:schemeClr val="dk1"/>
                </a:solidFill>
                <a:latin typeface="+mn-lt"/>
                <a:ea typeface="Maven Pro"/>
                <a:cs typeface="Maven Pro"/>
                <a:sym typeface="Maven Pro"/>
              </a:rPr>
              <a:t>dịch</a:t>
            </a:r>
            <a:endParaRPr lang="en-US" sz="1600" dirty="0" smtClean="0">
              <a:solidFill>
                <a:schemeClr val="dk1"/>
              </a:solidFill>
              <a:latin typeface="+mn-lt"/>
              <a:ea typeface="Maven Pro"/>
              <a:cs typeface="Maven Pro"/>
              <a:sym typeface="Maven Pro"/>
            </a:endParaRPr>
          </a:p>
          <a:p>
            <a:pPr marL="101600" lvl="0" algn="just">
              <a:lnSpc>
                <a:spcPct val="115000"/>
              </a:lnSpc>
              <a:spcBef>
                <a:spcPts val="1600"/>
              </a:spcBef>
              <a:buClr>
                <a:schemeClr val="dk1"/>
              </a:buClr>
              <a:buSzPts val="2000"/>
            </a:pPr>
            <a:r>
              <a:rPr lang="en-US" sz="1600" dirty="0" smtClean="0">
                <a:solidFill>
                  <a:schemeClr val="dk1"/>
                </a:solidFill>
                <a:ea typeface="Maven Pro"/>
                <a:cs typeface="Maven Pro"/>
                <a:sym typeface="Maven Pro"/>
              </a:rPr>
              <a:t>     </a:t>
            </a:r>
            <a:r>
              <a:rPr lang="en-US" sz="1600" dirty="0">
                <a:solidFill>
                  <a:schemeClr val="dk1"/>
                </a:solidFill>
                <a:ea typeface="Maven Pro"/>
                <a:cs typeface="Maven Pro"/>
                <a:sym typeface="Maven Pro"/>
              </a:rPr>
              <a:t>+ </a:t>
            </a:r>
            <a:r>
              <a:rPr lang="en-US" sz="1600" dirty="0" err="1">
                <a:solidFill>
                  <a:schemeClr val="dk1"/>
                </a:solidFill>
                <a:ea typeface="Maven Pro"/>
                <a:cs typeface="Maven Pro"/>
                <a:sym typeface="Maven Pro"/>
              </a:rPr>
              <a:t>Chạy</a:t>
            </a:r>
            <a:r>
              <a:rPr lang="en-US" sz="1600" dirty="0">
                <a:solidFill>
                  <a:schemeClr val="dk1"/>
                </a:solidFill>
                <a:ea typeface="Maven Pro"/>
                <a:cs typeface="Maven Pro"/>
                <a:sym typeface="Maven Pro"/>
              </a:rPr>
              <a:t> code </a:t>
            </a:r>
            <a:r>
              <a:rPr lang="en-US" sz="1600" dirty="0" err="1">
                <a:solidFill>
                  <a:schemeClr val="dk1"/>
                </a:solidFill>
                <a:ea typeface="Maven Pro"/>
                <a:cs typeface="Maven Pro"/>
                <a:sym typeface="Maven Pro"/>
              </a:rPr>
              <a:t>vào</a:t>
            </a:r>
            <a:r>
              <a:rPr lang="en-US" sz="1600" dirty="0">
                <a:solidFill>
                  <a:schemeClr val="dk1"/>
                </a:solidFill>
                <a:ea typeface="Maven Pro"/>
                <a:cs typeface="Maven Pro"/>
                <a:sym typeface="Maven Pro"/>
              </a:rPr>
              <a:t> </a:t>
            </a:r>
            <a:r>
              <a:rPr lang="en-US" sz="1600" dirty="0" err="1">
                <a:solidFill>
                  <a:schemeClr val="dk1"/>
                </a:solidFill>
                <a:ea typeface="Maven Pro"/>
                <a:cs typeface="Maven Pro"/>
                <a:sym typeface="Maven Pro"/>
              </a:rPr>
              <a:t>lệnh</a:t>
            </a:r>
            <a:r>
              <a:rPr lang="en-US" sz="1600" dirty="0">
                <a:solidFill>
                  <a:schemeClr val="dk1"/>
                </a:solidFill>
                <a:ea typeface="Maven Pro"/>
                <a:cs typeface="Maven Pro"/>
                <a:sym typeface="Maven Pro"/>
              </a:rPr>
              <a:t> </a:t>
            </a:r>
            <a:r>
              <a:rPr lang="en-US" sz="1600" dirty="0" smtClean="0">
                <a:solidFill>
                  <a:schemeClr val="dk1"/>
                </a:solidFill>
                <a:ea typeface="Maven Pro"/>
                <a:cs typeface="Maven Pro"/>
                <a:sym typeface="Maven Pro"/>
              </a:rPr>
              <a:t>Spot, Future</a:t>
            </a:r>
          </a:p>
          <a:p>
            <a:pPr marL="387350" indent="-285750">
              <a:lnSpc>
                <a:spcPct val="115000"/>
              </a:lnSpc>
              <a:spcBef>
                <a:spcPts val="1600"/>
              </a:spcBef>
              <a:buClr>
                <a:schemeClr val="dk1"/>
              </a:buClr>
              <a:buSzPts val="2000"/>
              <a:buFontTx/>
              <a:buChar char="-"/>
            </a:pPr>
            <a:r>
              <a:rPr lang="en-US" sz="1600" b="1" dirty="0" err="1" smtClean="0">
                <a:solidFill>
                  <a:schemeClr val="dk1"/>
                </a:solidFill>
                <a:latin typeface="+mn-lt"/>
                <a:ea typeface="Maven Pro"/>
                <a:cs typeface="Maven Pro"/>
                <a:sym typeface="Maven Pro"/>
              </a:rPr>
              <a:t>Chứng</a:t>
            </a:r>
            <a:r>
              <a:rPr lang="en-US" sz="1600" b="1" dirty="0" smtClean="0">
                <a:solidFill>
                  <a:schemeClr val="dk1"/>
                </a:solidFill>
                <a:latin typeface="+mn-lt"/>
                <a:ea typeface="Maven Pro"/>
                <a:cs typeface="Maven Pro"/>
                <a:sym typeface="Maven Pro"/>
              </a:rPr>
              <a:t> </a:t>
            </a:r>
            <a:r>
              <a:rPr lang="en-US" sz="1600" b="1" dirty="0">
                <a:solidFill>
                  <a:schemeClr val="dk1"/>
                </a:solidFill>
                <a:latin typeface="+mn-lt"/>
                <a:ea typeface="Maven Pro"/>
                <a:cs typeface="Maven Pro"/>
                <a:sym typeface="Maven Pro"/>
              </a:rPr>
              <a:t>khoan: </a:t>
            </a:r>
            <a:r>
              <a:rPr lang="en-US" sz="1600" b="1" dirty="0" err="1">
                <a:solidFill>
                  <a:schemeClr val="dk1"/>
                </a:solidFill>
                <a:latin typeface="+mn-lt"/>
                <a:ea typeface="Maven Pro"/>
                <a:cs typeface="Maven Pro"/>
                <a:sym typeface="Maven Pro"/>
              </a:rPr>
              <a:t>Vào</a:t>
            </a:r>
            <a:r>
              <a:rPr lang="en-US" sz="1600" b="1" dirty="0">
                <a:solidFill>
                  <a:schemeClr val="dk1"/>
                </a:solidFill>
                <a:latin typeface="+mn-lt"/>
                <a:ea typeface="Maven Pro"/>
                <a:cs typeface="Maven Pro"/>
                <a:sym typeface="Maven Pro"/>
              </a:rPr>
              <a:t> </a:t>
            </a:r>
            <a:r>
              <a:rPr lang="en-US" sz="1600" b="1" dirty="0" smtClean="0">
                <a:solidFill>
                  <a:schemeClr val="dk1"/>
                </a:solidFill>
                <a:latin typeface="+mn-lt"/>
                <a:ea typeface="Maven Pro"/>
                <a:cs typeface="Maven Pro"/>
                <a:sym typeface="Maven Pro"/>
              </a:rPr>
              <a:t>SSI</a:t>
            </a:r>
          </a:p>
          <a:p>
            <a:pPr marL="101600">
              <a:lnSpc>
                <a:spcPct val="115000"/>
              </a:lnSpc>
              <a:spcBef>
                <a:spcPts val="1600"/>
              </a:spcBef>
              <a:buClr>
                <a:schemeClr val="dk1"/>
              </a:buClr>
              <a:buSzPts val="2000"/>
            </a:pPr>
            <a:r>
              <a:rPr lang="en-US" sz="1600" dirty="0" smtClean="0">
                <a:solidFill>
                  <a:schemeClr val="dk1"/>
                </a:solidFill>
                <a:latin typeface="+mn-lt"/>
                <a:ea typeface="Maven Pro"/>
                <a:cs typeface="Maven Pro"/>
                <a:sym typeface="Maven Pro"/>
              </a:rPr>
              <a:t>     + </a:t>
            </a:r>
            <a:r>
              <a:rPr lang="en-US" sz="1600" dirty="0" err="1" smtClean="0">
                <a:solidFill>
                  <a:schemeClr val="dk1"/>
                </a:solidFill>
                <a:latin typeface="+mn-lt"/>
                <a:ea typeface="Maven Pro"/>
                <a:cs typeface="Maven Pro"/>
                <a:sym typeface="Maven Pro"/>
              </a:rPr>
              <a:t>Chạy</a:t>
            </a:r>
            <a:r>
              <a:rPr lang="en-US" sz="1600" dirty="0" smtClean="0">
                <a:solidFill>
                  <a:schemeClr val="dk1"/>
                </a:solidFill>
                <a:latin typeface="+mn-lt"/>
                <a:ea typeface="Maven Pro"/>
                <a:cs typeface="Maven Pro"/>
                <a:sym typeface="Maven Pro"/>
              </a:rPr>
              <a:t> API </a:t>
            </a:r>
            <a:r>
              <a:rPr lang="en-US" sz="1600" dirty="0" err="1" smtClean="0">
                <a:solidFill>
                  <a:schemeClr val="dk1"/>
                </a:solidFill>
                <a:latin typeface="+mn-lt"/>
                <a:ea typeface="Maven Pro"/>
                <a:cs typeface="Maven Pro"/>
                <a:sym typeface="Maven Pro"/>
              </a:rPr>
              <a:t>RestFul</a:t>
            </a:r>
            <a:r>
              <a:rPr lang="en-US" sz="1600" dirty="0" smtClean="0">
                <a:solidFill>
                  <a:schemeClr val="dk1"/>
                </a:solidFill>
                <a:latin typeface="+mn-lt"/>
                <a:ea typeface="Maven Pro"/>
                <a:cs typeface="Maven Pro"/>
                <a:sym typeface="Maven Pro"/>
              </a:rPr>
              <a:t> API </a:t>
            </a:r>
            <a:r>
              <a:rPr lang="en-US" sz="1600" dirty="0" err="1" smtClean="0">
                <a:solidFill>
                  <a:schemeClr val="dk1"/>
                </a:solidFill>
                <a:latin typeface="+mn-lt"/>
                <a:ea typeface="Maven Pro"/>
                <a:cs typeface="Maven Pro"/>
                <a:sym typeface="Maven Pro"/>
              </a:rPr>
              <a:t>lên</a:t>
            </a:r>
            <a:endParaRPr lang="en-US" sz="1600" dirty="0" smtClean="0">
              <a:solidFill>
                <a:schemeClr val="dk1"/>
              </a:solidFill>
              <a:latin typeface="+mn-lt"/>
              <a:ea typeface="Maven Pro"/>
              <a:cs typeface="Maven Pro"/>
              <a:sym typeface="Maven Pro"/>
            </a:endParaRPr>
          </a:p>
          <a:p>
            <a:pPr marL="101600">
              <a:lnSpc>
                <a:spcPct val="115000"/>
              </a:lnSpc>
              <a:spcBef>
                <a:spcPts val="1600"/>
              </a:spcBef>
              <a:buClr>
                <a:schemeClr val="dk1"/>
              </a:buClr>
              <a:buSzPts val="2000"/>
            </a:pPr>
            <a:r>
              <a:rPr lang="en-US" sz="1600" dirty="0">
                <a:solidFill>
                  <a:schemeClr val="dk1"/>
                </a:solidFill>
                <a:latin typeface="+mn-lt"/>
                <a:ea typeface="Maven Pro"/>
                <a:cs typeface="Maven Pro"/>
                <a:sym typeface="Maven Pro"/>
              </a:rPr>
              <a:t> </a:t>
            </a:r>
            <a:r>
              <a:rPr lang="en-US" sz="1600" dirty="0" smtClean="0">
                <a:solidFill>
                  <a:schemeClr val="dk1"/>
                </a:solidFill>
                <a:latin typeface="+mn-lt"/>
                <a:ea typeface="Maven Pro"/>
                <a:cs typeface="Maven Pro"/>
                <a:sym typeface="Maven Pro"/>
              </a:rPr>
              <a:t>    + </a:t>
            </a:r>
            <a:r>
              <a:rPr lang="en-US" sz="1600" dirty="0" err="1" smtClean="0">
                <a:solidFill>
                  <a:schemeClr val="dk1"/>
                </a:solidFill>
                <a:latin typeface="+mn-lt"/>
                <a:ea typeface="Maven Pro"/>
                <a:cs typeface="Maven Pro"/>
                <a:sym typeface="Maven Pro"/>
              </a:rPr>
              <a:t>Chayj</a:t>
            </a:r>
            <a:r>
              <a:rPr lang="en-US" sz="1600" dirty="0" smtClean="0">
                <a:solidFill>
                  <a:schemeClr val="dk1"/>
                </a:solidFill>
                <a:latin typeface="+mn-lt"/>
                <a:ea typeface="Maven Pro"/>
                <a:cs typeface="Maven Pro"/>
                <a:sym typeface="Maven Pro"/>
              </a:rPr>
              <a:t> code </a:t>
            </a:r>
            <a:r>
              <a:rPr lang="en-US" sz="1600" dirty="0" err="1" smtClean="0">
                <a:solidFill>
                  <a:schemeClr val="dk1"/>
                </a:solidFill>
                <a:latin typeface="+mn-lt"/>
                <a:ea typeface="Maven Pro"/>
                <a:cs typeface="Maven Pro"/>
                <a:sym typeface="Maven Pro"/>
              </a:rPr>
              <a:t>vào</a:t>
            </a:r>
            <a:r>
              <a:rPr lang="en-US" sz="1600" dirty="0" smtClean="0">
                <a:solidFill>
                  <a:schemeClr val="dk1"/>
                </a:solidFill>
                <a:latin typeface="+mn-lt"/>
                <a:ea typeface="Maven Pro"/>
                <a:cs typeface="Maven Pro"/>
                <a:sym typeface="Maven Pro"/>
              </a:rPr>
              <a:t> </a:t>
            </a:r>
            <a:r>
              <a:rPr lang="en-US" sz="1600" dirty="0" err="1" smtClean="0">
                <a:solidFill>
                  <a:schemeClr val="dk1"/>
                </a:solidFill>
                <a:latin typeface="+mn-lt"/>
                <a:ea typeface="Maven Pro"/>
                <a:cs typeface="Maven Pro"/>
                <a:sym typeface="Maven Pro"/>
              </a:rPr>
              <a:t>lệnh</a:t>
            </a:r>
            <a:r>
              <a:rPr lang="en-US" sz="1600" dirty="0" smtClean="0">
                <a:solidFill>
                  <a:schemeClr val="dk1"/>
                </a:solidFill>
                <a:latin typeface="+mn-lt"/>
                <a:ea typeface="Maven Pro"/>
                <a:cs typeface="Maven Pro"/>
                <a:sym typeface="Maven Pro"/>
              </a:rPr>
              <a:t> SSI</a:t>
            </a:r>
            <a:endParaRPr lang="en-US" sz="1600" dirty="0">
              <a:solidFill>
                <a:schemeClr val="dk1"/>
              </a:solidFill>
              <a:latin typeface="+mn-lt"/>
              <a:ea typeface="Maven Pro"/>
              <a:cs typeface="Maven Pro"/>
              <a:sym typeface="Maven Pro"/>
            </a:endParaRPr>
          </a:p>
          <a:p>
            <a:pPr marL="101600" lvl="0">
              <a:lnSpc>
                <a:spcPct val="115000"/>
              </a:lnSpc>
              <a:spcBef>
                <a:spcPts val="1600"/>
              </a:spcBef>
              <a:buClr>
                <a:schemeClr val="dk1"/>
              </a:buClr>
              <a:buSzPts val="2000"/>
            </a:pPr>
            <a:r>
              <a:rPr lang="en-US" sz="1600" b="1" dirty="0">
                <a:solidFill>
                  <a:schemeClr val="dk1"/>
                </a:solidFill>
                <a:latin typeface="+mn-lt"/>
                <a:ea typeface="Maven Pro"/>
                <a:cs typeface="Maven Pro"/>
                <a:sym typeface="Maven Pro"/>
              </a:rPr>
              <a:t> </a:t>
            </a:r>
            <a:r>
              <a:rPr lang="en-US" sz="1600" b="1" dirty="0" smtClean="0">
                <a:solidFill>
                  <a:schemeClr val="dk1"/>
                </a:solidFill>
                <a:latin typeface="+mn-lt"/>
                <a:ea typeface="Maven Pro"/>
                <a:cs typeface="Maven Pro"/>
                <a:sym typeface="Maven Pro"/>
              </a:rPr>
              <a:t>    </a:t>
            </a:r>
            <a:endParaRPr sz="1600" b="1" dirty="0">
              <a:solidFill>
                <a:schemeClr val="dk1"/>
              </a:solidFill>
              <a:latin typeface="+mn-lt"/>
              <a:ea typeface="Maven Pro"/>
              <a:cs typeface="Maven Pro"/>
              <a:sym typeface="Maven Pro"/>
            </a:endParaRPr>
          </a:p>
        </p:txBody>
      </p:sp>
      <p:sp>
        <p:nvSpPr>
          <p:cNvPr id="4" name="Google Shape;100;p3"/>
          <p:cNvSpPr txBox="1"/>
          <p:nvPr/>
        </p:nvSpPr>
        <p:spPr>
          <a:xfrm>
            <a:off x="304800" y="154525"/>
            <a:ext cx="6865800" cy="461624"/>
          </a:xfrm>
          <a:prstGeom prst="rect">
            <a:avLst/>
          </a:prstGeom>
          <a:noFill/>
          <a:ln>
            <a:noFill/>
          </a:ln>
        </p:spPr>
        <p:txBody>
          <a:bodyPr spcFirstLastPara="1" wrap="square" lIns="91425" tIns="45700" rIns="91425" bIns="45700" anchor="t" anchorCtr="0">
            <a:spAutoFit/>
          </a:bodyPr>
          <a:lstStyle/>
          <a:p>
            <a:pPr>
              <a:buSzPts val="2000"/>
            </a:pPr>
            <a:r>
              <a:rPr lang="en-US" sz="2400" b="1" dirty="0" smtClean="0">
                <a:solidFill>
                  <a:schemeClr val="bg1"/>
                </a:solidFill>
              </a:rPr>
              <a:t>III. </a:t>
            </a:r>
            <a:r>
              <a:rPr lang="en-US" sz="2400" b="1" dirty="0" err="1" smtClean="0">
                <a:solidFill>
                  <a:schemeClr val="bg1"/>
                </a:solidFill>
              </a:rPr>
              <a:t>Vào</a:t>
            </a:r>
            <a:r>
              <a:rPr lang="en-US" sz="2400" b="1" dirty="0" smtClean="0">
                <a:solidFill>
                  <a:schemeClr val="bg1"/>
                </a:solidFill>
              </a:rPr>
              <a:t> </a:t>
            </a:r>
            <a:r>
              <a:rPr lang="en-US" sz="2400" b="1" dirty="0" err="1" smtClean="0">
                <a:solidFill>
                  <a:schemeClr val="bg1"/>
                </a:solidFill>
              </a:rPr>
              <a:t>lệnh</a:t>
            </a:r>
            <a:r>
              <a:rPr lang="en-US" sz="2400" b="1" dirty="0" smtClean="0">
                <a:solidFill>
                  <a:schemeClr val="bg1"/>
                </a:solidFill>
              </a:rPr>
              <a:t> </a:t>
            </a:r>
            <a:r>
              <a:rPr lang="en-US" sz="2400" b="1" dirty="0" err="1" smtClean="0">
                <a:solidFill>
                  <a:schemeClr val="bg1"/>
                </a:solidFill>
              </a:rPr>
              <a:t>bằng</a:t>
            </a:r>
            <a:r>
              <a:rPr lang="en-US" sz="2400" b="1" dirty="0" smtClean="0">
                <a:solidFill>
                  <a:schemeClr val="bg1"/>
                </a:solidFill>
              </a:rPr>
              <a:t> API</a:t>
            </a:r>
            <a:endParaRPr sz="2400" b="1" i="0" u="none" strike="noStrike" cap="none" dirty="0">
              <a:solidFill>
                <a:schemeClr val="lt1"/>
              </a:solidFill>
              <a:sym typeface="Arial"/>
            </a:endParaRPr>
          </a:p>
        </p:txBody>
      </p:sp>
    </p:spTree>
    <p:extLst>
      <p:ext uri="{BB962C8B-B14F-4D97-AF65-F5344CB8AC3E}">
        <p14:creationId xmlns:p14="http://schemas.microsoft.com/office/powerpoint/2010/main" val="297166101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9"/>
        <p:cNvGrpSpPr/>
        <p:nvPr/>
      </p:nvGrpSpPr>
      <p:grpSpPr>
        <a:xfrm>
          <a:off x="0" y="0"/>
          <a:ext cx="0" cy="0"/>
          <a:chOff x="0" y="0"/>
          <a:chExt cx="0" cy="0"/>
        </a:xfrm>
      </p:grpSpPr>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101600" lvl="0">
              <a:lnSpc>
                <a:spcPct val="115000"/>
              </a:lnSpc>
              <a:spcBef>
                <a:spcPts val="1600"/>
              </a:spcBef>
              <a:buClr>
                <a:schemeClr val="dk1"/>
              </a:buClr>
              <a:buSzPts val="2000"/>
            </a:pPr>
            <a:r>
              <a:rPr lang="en-US" sz="1600" b="1" dirty="0" err="1" smtClean="0">
                <a:solidFill>
                  <a:schemeClr val="dk1"/>
                </a:solidFill>
                <a:latin typeface="+mn-lt"/>
                <a:ea typeface="Maven Pro"/>
                <a:cs typeface="Maven Pro"/>
                <a:sym typeface="Maven Pro"/>
              </a:rPr>
              <a:t>Dự</a:t>
            </a:r>
            <a:r>
              <a:rPr lang="en-US" sz="1600" b="1" dirty="0" smtClean="0">
                <a:solidFill>
                  <a:schemeClr val="dk1"/>
                </a:solidFill>
                <a:latin typeface="+mn-lt"/>
                <a:ea typeface="Maven Pro"/>
                <a:cs typeface="Maven Pro"/>
                <a:sym typeface="Maven Pro"/>
              </a:rPr>
              <a:t> </a:t>
            </a:r>
            <a:r>
              <a:rPr lang="en-US" sz="1600" b="1" dirty="0" err="1" smtClean="0">
                <a:solidFill>
                  <a:schemeClr val="dk1"/>
                </a:solidFill>
                <a:latin typeface="+mn-lt"/>
                <a:ea typeface="Maven Pro"/>
                <a:cs typeface="Maven Pro"/>
                <a:sym typeface="Maven Pro"/>
              </a:rPr>
              <a:t>án</a:t>
            </a:r>
            <a:r>
              <a:rPr lang="en-US" sz="1600" b="1" smtClean="0">
                <a:solidFill>
                  <a:schemeClr val="dk1"/>
                </a:solidFill>
                <a:latin typeface="+mn-lt"/>
                <a:ea typeface="Maven Pro"/>
                <a:cs typeface="Maven Pro"/>
                <a:sym typeface="Maven Pro"/>
              </a:rPr>
              <a:t> 1</a:t>
            </a:r>
            <a:endParaRPr lang="en-US" sz="1600" dirty="0">
              <a:solidFill>
                <a:schemeClr val="dk1"/>
              </a:solidFill>
              <a:latin typeface="+mn-lt"/>
              <a:ea typeface="Maven Pro"/>
              <a:cs typeface="Maven Pro"/>
              <a:sym typeface="Maven Pro"/>
            </a:endParaRPr>
          </a:p>
          <a:p>
            <a:pPr marL="101600" lvl="0">
              <a:lnSpc>
                <a:spcPct val="115000"/>
              </a:lnSpc>
              <a:spcBef>
                <a:spcPts val="1600"/>
              </a:spcBef>
              <a:buClr>
                <a:schemeClr val="dk1"/>
              </a:buClr>
              <a:buSzPts val="2000"/>
            </a:pPr>
            <a:r>
              <a:rPr lang="en-US" sz="1600" b="1" dirty="0">
                <a:solidFill>
                  <a:schemeClr val="dk1"/>
                </a:solidFill>
                <a:latin typeface="+mn-lt"/>
                <a:ea typeface="Maven Pro"/>
                <a:cs typeface="Maven Pro"/>
                <a:sym typeface="Maven Pro"/>
              </a:rPr>
              <a:t> </a:t>
            </a:r>
            <a:r>
              <a:rPr lang="en-US" sz="1600" b="1" dirty="0" smtClean="0">
                <a:solidFill>
                  <a:schemeClr val="dk1"/>
                </a:solidFill>
                <a:latin typeface="+mn-lt"/>
                <a:ea typeface="Maven Pro"/>
                <a:cs typeface="Maven Pro"/>
                <a:sym typeface="Maven Pro"/>
              </a:rPr>
              <a:t>    </a:t>
            </a:r>
            <a:endParaRPr sz="1600" b="1" dirty="0">
              <a:solidFill>
                <a:schemeClr val="dk1"/>
              </a:solidFill>
              <a:latin typeface="+mn-lt"/>
              <a:ea typeface="Maven Pro"/>
              <a:cs typeface="Maven Pro"/>
              <a:sym typeface="Maven Pro"/>
            </a:endParaRPr>
          </a:p>
        </p:txBody>
      </p:sp>
      <p:sp>
        <p:nvSpPr>
          <p:cNvPr id="4" name="Google Shape;100;p3"/>
          <p:cNvSpPr txBox="1"/>
          <p:nvPr/>
        </p:nvSpPr>
        <p:spPr>
          <a:xfrm>
            <a:off x="304800" y="154525"/>
            <a:ext cx="6865800" cy="461624"/>
          </a:xfrm>
          <a:prstGeom prst="rect">
            <a:avLst/>
          </a:prstGeom>
          <a:noFill/>
          <a:ln>
            <a:noFill/>
          </a:ln>
        </p:spPr>
        <p:txBody>
          <a:bodyPr spcFirstLastPara="1" wrap="square" lIns="91425" tIns="45700" rIns="91425" bIns="45700" anchor="t" anchorCtr="0">
            <a:spAutoFit/>
          </a:bodyPr>
          <a:lstStyle/>
          <a:p>
            <a:pPr>
              <a:buSzPts val="2000"/>
            </a:pPr>
            <a:r>
              <a:rPr lang="en-US" sz="2400" b="1" dirty="0" smtClean="0">
                <a:solidFill>
                  <a:schemeClr val="bg1"/>
                </a:solidFill>
              </a:rPr>
              <a:t>IV. </a:t>
            </a:r>
            <a:r>
              <a:rPr lang="en-US" sz="2400" b="1" dirty="0" err="1" smtClean="0">
                <a:solidFill>
                  <a:schemeClr val="bg1"/>
                </a:solidFill>
              </a:rPr>
              <a:t>Hướng</a:t>
            </a:r>
            <a:r>
              <a:rPr lang="en-US" sz="2400" b="1" dirty="0" smtClean="0">
                <a:solidFill>
                  <a:schemeClr val="bg1"/>
                </a:solidFill>
              </a:rPr>
              <a:t> </a:t>
            </a:r>
            <a:r>
              <a:rPr lang="en-US" sz="2400" b="1" dirty="0" err="1" smtClean="0">
                <a:solidFill>
                  <a:schemeClr val="bg1"/>
                </a:solidFill>
              </a:rPr>
              <a:t>dẫn</a:t>
            </a:r>
            <a:r>
              <a:rPr lang="en-US" sz="2400" b="1" dirty="0" smtClean="0">
                <a:solidFill>
                  <a:schemeClr val="bg1"/>
                </a:solidFill>
              </a:rPr>
              <a:t> </a:t>
            </a:r>
            <a:r>
              <a:rPr lang="en-US" sz="2400" b="1" dirty="0" err="1" smtClean="0">
                <a:solidFill>
                  <a:schemeClr val="bg1"/>
                </a:solidFill>
              </a:rPr>
              <a:t>xây</a:t>
            </a:r>
            <a:r>
              <a:rPr lang="en-US" sz="2400" b="1" dirty="0" smtClean="0">
                <a:solidFill>
                  <a:schemeClr val="bg1"/>
                </a:solidFill>
              </a:rPr>
              <a:t> </a:t>
            </a:r>
            <a:r>
              <a:rPr lang="en-US" sz="2400" b="1" dirty="0" err="1" smtClean="0">
                <a:solidFill>
                  <a:schemeClr val="bg1"/>
                </a:solidFill>
              </a:rPr>
              <a:t>dựng</a:t>
            </a:r>
            <a:r>
              <a:rPr lang="en-US" sz="2400" b="1" dirty="0" smtClean="0">
                <a:solidFill>
                  <a:schemeClr val="bg1"/>
                </a:solidFill>
              </a:rPr>
              <a:t> </a:t>
            </a:r>
            <a:r>
              <a:rPr lang="en-US" sz="2400" b="1" dirty="0" err="1" smtClean="0">
                <a:solidFill>
                  <a:schemeClr val="bg1"/>
                </a:solidFill>
              </a:rPr>
              <a:t>các</a:t>
            </a:r>
            <a:r>
              <a:rPr lang="en-US" sz="2400" b="1" dirty="0" smtClean="0">
                <a:solidFill>
                  <a:schemeClr val="bg1"/>
                </a:solidFill>
              </a:rPr>
              <a:t> </a:t>
            </a:r>
            <a:r>
              <a:rPr lang="en-US" sz="2400" b="1" dirty="0" err="1" smtClean="0">
                <a:solidFill>
                  <a:schemeClr val="bg1"/>
                </a:solidFill>
              </a:rPr>
              <a:t>hàm</a:t>
            </a:r>
            <a:r>
              <a:rPr lang="en-US" sz="2400" b="1" dirty="0" smtClean="0">
                <a:solidFill>
                  <a:schemeClr val="bg1"/>
                </a:solidFill>
              </a:rPr>
              <a:t> common</a:t>
            </a:r>
            <a:endParaRPr sz="2400" b="1" i="0" u="none" strike="noStrike" cap="none" dirty="0">
              <a:solidFill>
                <a:schemeClr val="lt1"/>
              </a:solidFill>
              <a:sym typeface="Arial"/>
            </a:endParaRPr>
          </a:p>
        </p:txBody>
      </p:sp>
    </p:spTree>
    <p:extLst>
      <p:ext uri="{BB962C8B-B14F-4D97-AF65-F5344CB8AC3E}">
        <p14:creationId xmlns:p14="http://schemas.microsoft.com/office/powerpoint/2010/main" val="333188535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52"/>
        <p:cNvGrpSpPr/>
        <p:nvPr/>
      </p:nvGrpSpPr>
      <p:grpSpPr>
        <a:xfrm>
          <a:off x="0" y="0"/>
          <a:ext cx="0" cy="0"/>
          <a:chOff x="0" y="0"/>
          <a:chExt cx="0" cy="0"/>
        </a:xfrm>
      </p:grpSpPr>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1880</TotalTime>
  <Words>2688</Words>
  <Application>Microsoft Office PowerPoint</Application>
  <PresentationFormat>On-screen Show (4:3)</PresentationFormat>
  <Paragraphs>228</Paragraphs>
  <Slides>31</Slides>
  <Notes>31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Arial (body)</vt:lpstr>
      <vt:lpstr>Calibri</vt:lpstr>
      <vt:lpstr>Maven Pro</vt:lpstr>
      <vt:lpstr>Open Sans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Huy</dc:creator>
  <cp:lastModifiedBy>PC-DELL-CU</cp:lastModifiedBy>
  <cp:revision>165</cp:revision>
  <dcterms:created xsi:type="dcterms:W3CDTF">2021-10-18T16:01:56Z</dcterms:created>
  <dcterms:modified xsi:type="dcterms:W3CDTF">2024-03-14T03:00:01Z</dcterms:modified>
</cp:coreProperties>
</file>