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314" r:id="rId6"/>
    <p:sldId id="316" r:id="rId7"/>
    <p:sldId id="317" r:id="rId8"/>
    <p:sldId id="318" r:id="rId9"/>
    <p:sldId id="319" r:id="rId10"/>
    <p:sldId id="320" r:id="rId11"/>
    <p:sldId id="321" r:id="rId12"/>
    <p:sldId id="322" r:id="rId13"/>
    <p:sldId id="323" r:id="rId14"/>
    <p:sldId id="324" r:id="rId15"/>
    <p:sldId id="325" r:id="rId16"/>
    <p:sldId id="315" r:id="rId17"/>
    <p:sldId id="258" r:id="rId18"/>
    <p:sldId id="299" r:id="rId19"/>
    <p:sldId id="301" r:id="rId20"/>
    <p:sldId id="303" r:id="rId21"/>
    <p:sldId id="304" r:id="rId22"/>
    <p:sldId id="305" r:id="rId23"/>
    <p:sldId id="306" r:id="rId24"/>
    <p:sldId id="307" r:id="rId25"/>
    <p:sldId id="309" r:id="rId26"/>
    <p:sldId id="310" r:id="rId27"/>
    <p:sldId id="311" r:id="rId28"/>
    <p:sldId id="326" r:id="rId29"/>
    <p:sldId id="327" r:id="rId30"/>
    <p:sldId id="312" r:id="rId31"/>
    <p:sldId id="313" r:id="rId32"/>
    <p:sldId id="328" r:id="rId33"/>
    <p:sldId id="298" r:id="rId34"/>
  </p:sldIdLst>
  <p:sldSz cx="9144000" cy="6858000" type="screen4x3"/>
  <p:notesSz cx="6858000" cy="9144000"/>
  <p:embeddedFontLst>
    <p:embeddedFont>
      <p:font typeface="Calibri" panose="020F0502020204030204"/>
      <p:regular r:id="rId38"/>
      <p:bold r:id="rId39"/>
      <p:italic r:id="rId40"/>
      <p:boldItalic r:id="rId41"/>
    </p:embeddedFont>
    <p:embeddedFont>
      <p:font typeface="Maven Pro"/>
      <p:regular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47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font" Target="fonts/font5.fntdata"/><Relationship Id="rId41" Type="http://schemas.openxmlformats.org/officeDocument/2006/relationships/font" Target="fonts/font4.fntdata"/><Relationship Id="rId40" Type="http://schemas.openxmlformats.org/officeDocument/2006/relationships/font" Target="fonts/font3.fntdata"/><Relationship Id="rId4" Type="http://schemas.openxmlformats.org/officeDocument/2006/relationships/notesMaster" Target="notesMasters/notesMaster1.xml"/><Relationship Id="rId39" Type="http://schemas.openxmlformats.org/officeDocument/2006/relationships/font" Target="fonts/font2.fntdata"/><Relationship Id="rId38" Type="http://schemas.openxmlformats.org/officeDocument/2006/relationships/font" Target="fonts/font1.fntdata"/><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9"/>
        <p:cNvGrpSpPr/>
        <p:nvPr/>
      </p:nvGrpSpPr>
      <p:grpSpPr>
        <a:xfrm>
          <a:off x="0" y="0"/>
          <a:ext cx="0" cy="0"/>
          <a:chOff x="0" y="0"/>
          <a:chExt cx="0" cy="0"/>
        </a:xfrm>
      </p:grpSpPr>
      <p:sp>
        <p:nvSpPr>
          <p:cNvPr id="350" name="Google Shape;35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1" name="Google Shape;351;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13823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dirty="0" err="1">
                <a:solidFill>
                  <a:srgbClr val="FF0000"/>
                </a:solidFill>
              </a:rPr>
              <a:t>Chiến lược vào</a:t>
            </a:r>
            <a:r>
              <a:rPr lang="en-US" sz="2800" b="1" i="1" dirty="0">
                <a:solidFill>
                  <a:srgbClr val="FF0000"/>
                </a:solidFill>
              </a:rPr>
              <a:t> </a:t>
            </a:r>
            <a:r>
              <a:rPr lang="en-US" sz="2800" b="1" i="1" dirty="0" err="1">
                <a:solidFill>
                  <a:srgbClr val="FF0000"/>
                </a:solidFill>
              </a:rPr>
              <a:t>lệnh</a:t>
            </a:r>
            <a:r>
              <a:rPr lang="en-US" sz="2800" b="1" i="1" dirty="0">
                <a:solidFill>
                  <a:srgbClr val="FF0000"/>
                </a:solidFill>
              </a:rPr>
              <a:t> </a:t>
            </a:r>
            <a:r>
              <a:rPr lang="en-US" sz="2800" b="1" i="1" dirty="0" err="1">
                <a:solidFill>
                  <a:srgbClr val="FF0000"/>
                </a:solidFill>
              </a:rPr>
              <a:t>giao</a:t>
            </a:r>
            <a:r>
              <a:rPr lang="en-US" sz="2800" b="1" i="1" dirty="0">
                <a:solidFill>
                  <a:srgbClr val="FF0000"/>
                </a:solidFill>
              </a:rPr>
              <a:t> </a:t>
            </a:r>
            <a:r>
              <a:rPr lang="en-US" sz="2800" b="1" i="1" dirty="0" err="1">
                <a:solidFill>
                  <a:srgbClr val="FF0000"/>
                </a:solidFill>
              </a:rPr>
              <a:t>dịch</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2800" b="1" i="1" u="none" strike="noStrike" cap="none" dirty="0">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482536" y="4841005"/>
            <a:ext cx="3402846" cy="9518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G</a:t>
            </a:r>
            <a:r>
              <a:rPr lang="vi-VN"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V.</a:t>
            </a:r>
            <a:r>
              <a:rPr lang="en-US" sz="2800" i="1" dirty="0">
                <a:solidFill>
                  <a:schemeClr val="dk1"/>
                </a:solidFill>
              </a:rPr>
              <a:t>Đặng Trí Thanh</a:t>
            </a:r>
            <a:endParaRPr lang="en-US" sz="2800" i="1" dirty="0">
              <a:solidFill>
                <a:schemeClr val="dk1"/>
              </a:solidFill>
            </a:endParaRPr>
          </a:p>
          <a:p>
            <a:pPr marL="0" marR="0" lvl="0" indent="0" algn="l" rtl="0">
              <a:lnSpc>
                <a:spcPct val="100000"/>
              </a:lnSpc>
              <a:spcBef>
                <a:spcPts val="0"/>
              </a:spcBef>
              <a:spcAft>
                <a:spcPts val="0"/>
              </a:spcAft>
              <a:buClr>
                <a:srgbClr val="000000"/>
              </a:buClr>
              <a:buSzPts val="2800"/>
              <a:buFont typeface="Arial" panose="020B0604020202020204"/>
              <a:buNone/>
            </a:pPr>
            <a:r>
              <a:rPr lang="en-US"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2867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Đặt</a:t>
            </a:r>
            <a:r>
              <a:rPr kumimoji="0" lang="en-US"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câu</a:t>
            </a:r>
            <a:r>
              <a:rPr kumimoji="0" lang="en-US"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hỏi</a:t>
            </a:r>
            <a:r>
              <a:rPr kumimoji="0" lang="en-US"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1: </a:t>
            </a:r>
            <a:r>
              <a:rPr kumimoji="0" lang="en-US" sz="2400" b="1"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Trên</a:t>
            </a:r>
            <a:r>
              <a:rPr kumimoji="0" lang="en-US" sz="2400" b="1" i="0" u="none" strike="noStrike" kern="0" cap="none" spc="0" normalizeH="0" noProof="0" dirty="0">
                <a:ln>
                  <a:noFill/>
                </a:ln>
                <a:solidFill>
                  <a:srgbClr val="FFFFFF"/>
                </a:solidFill>
                <a:effectLst/>
                <a:uLnTx/>
                <a:uFillTx/>
                <a:latin typeface="Arial" panose="020B0604020202020204"/>
                <a:cs typeface="Arial" panose="020B0604020202020204"/>
                <a:sym typeface="Arial" panose="020B0604020202020204"/>
              </a:rPr>
              <a:t> Crypto </a:t>
            </a:r>
            <a:r>
              <a:rPr kumimoji="0" lang="en-US" sz="2400" b="1" i="0" u="none" strike="noStrike" kern="0" cap="none" spc="0" normalizeH="0" noProof="0" dirty="0" err="1">
                <a:ln>
                  <a:noFill/>
                </a:ln>
                <a:solidFill>
                  <a:srgbClr val="FFFFFF"/>
                </a:solidFill>
                <a:effectLst/>
                <a:uLnTx/>
                <a:uFillTx/>
                <a:latin typeface="Arial" panose="020B0604020202020204"/>
                <a:cs typeface="Arial" panose="020B0604020202020204"/>
                <a:sym typeface="Arial" panose="020B0604020202020204"/>
              </a:rPr>
              <a:t>Binance, Bitgrt, MEXC,</a:t>
            </a:r>
            <a:endParaRPr kumimoji="0"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Chúng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ta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có</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như</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sau</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a:ln>
                  <a:noFill/>
                </a:ln>
                <a:solidFill>
                  <a:srgbClr val="FF0000"/>
                </a:solidFill>
                <a:effectLst/>
                <a:uLnTx/>
                <a:uFillTx/>
                <a:latin typeface="Arial" panose="020B0604020202020204"/>
                <a:ea typeface="Arial" panose="020B0604020202020204"/>
                <a:cs typeface="Arial" panose="020B0604020202020204"/>
                <a:sym typeface="Arial" panose="020B0604020202020204"/>
              </a:rPr>
              <a:t>ML, Momentum, RSI</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hoặc</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a:ln>
                  <a:noFill/>
                </a:ln>
                <a:solidFill>
                  <a:srgbClr val="FF0000"/>
                </a:solidFill>
                <a:effectLst/>
                <a:uLnTx/>
                <a:uFillTx/>
                <a:latin typeface="Arial" panose="020B0604020202020204"/>
                <a:ea typeface="Arial" panose="020B0604020202020204"/>
                <a:cs typeface="Arial" panose="020B0604020202020204"/>
                <a:sym typeface="Arial" panose="020B0604020202020204"/>
              </a:rPr>
              <a:t>MA, ATR</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a:t>
            </a:r>
            <a:endPar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làm</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sao</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thực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thi</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ML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này</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tự</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động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pic>
        <p:nvPicPr>
          <p:cNvPr id="5" name="Picture 4"/>
          <p:cNvPicPr>
            <a:picLocks noChangeAspect="1"/>
          </p:cNvPicPr>
          <p:nvPr/>
        </p:nvPicPr>
        <p:blipFill>
          <a:blip r:embed="rId2"/>
          <a:stretch>
            <a:fillRect/>
          </a:stretch>
        </p:blipFill>
        <p:spPr>
          <a:xfrm>
            <a:off x="574099" y="2352242"/>
            <a:ext cx="3499137" cy="1745619"/>
          </a:xfrm>
          <a:prstGeom prst="rect">
            <a:avLst/>
          </a:prstGeom>
        </p:spPr>
      </p:pic>
      <p:pic>
        <p:nvPicPr>
          <p:cNvPr id="6" name="Picture 5"/>
          <p:cNvPicPr>
            <a:picLocks noChangeAspect="1"/>
          </p:cNvPicPr>
          <p:nvPr/>
        </p:nvPicPr>
        <p:blipFill>
          <a:blip r:embed="rId3"/>
          <a:stretch>
            <a:fillRect/>
          </a:stretch>
        </p:blipFill>
        <p:spPr>
          <a:xfrm>
            <a:off x="4806093" y="2287997"/>
            <a:ext cx="3765254" cy="1874108"/>
          </a:xfrm>
          <a:prstGeom prst="rect">
            <a:avLst/>
          </a:prstGeom>
        </p:spPr>
      </p:pic>
      <p:pic>
        <p:nvPicPr>
          <p:cNvPr id="7" name="Picture 6"/>
          <p:cNvPicPr>
            <a:picLocks noChangeAspect="1"/>
          </p:cNvPicPr>
          <p:nvPr/>
        </p:nvPicPr>
        <p:blipFill>
          <a:blip r:embed="rId4"/>
          <a:stretch>
            <a:fillRect/>
          </a:stretch>
        </p:blipFill>
        <p:spPr>
          <a:xfrm>
            <a:off x="574099" y="4171373"/>
            <a:ext cx="3981450" cy="1914525"/>
          </a:xfrm>
          <a:prstGeom prst="rect">
            <a:avLst/>
          </a:prstGeom>
        </p:spPr>
      </p:pic>
      <p:pic>
        <p:nvPicPr>
          <p:cNvPr id="8" name="Picture 7"/>
          <p:cNvPicPr>
            <a:picLocks noChangeAspect="1"/>
          </p:cNvPicPr>
          <p:nvPr/>
        </p:nvPicPr>
        <p:blipFill>
          <a:blip r:embed="rId5"/>
          <a:stretch>
            <a:fillRect/>
          </a:stretch>
        </p:blipFill>
        <p:spPr>
          <a:xfrm>
            <a:off x="4806093" y="4287119"/>
            <a:ext cx="4337907" cy="20401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err="1">
                <a:ln>
                  <a:noFill/>
                </a:ln>
                <a:solidFill>
                  <a:srgbClr val="FFFFFF"/>
                </a:solidFill>
                <a:effectLst/>
                <a:uLnTx/>
                <a:uFillTx/>
                <a:latin typeface="Arial (body)"/>
                <a:sym typeface="Arial" panose="020B0604020202020204"/>
              </a:rPr>
              <a:t>Đặt</a:t>
            </a:r>
            <a:r>
              <a:rPr kumimoji="0" lang="en-US" sz="2400" b="1" i="0" u="none" strike="noStrike" kern="0" cap="none" spc="0" normalizeH="0" baseline="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baseline="0" noProof="0" dirty="0" err="1">
                <a:ln>
                  <a:noFill/>
                </a:ln>
                <a:solidFill>
                  <a:srgbClr val="FFFFFF"/>
                </a:solidFill>
                <a:effectLst/>
                <a:uLnTx/>
                <a:uFillTx/>
                <a:latin typeface="Arial (body)"/>
                <a:sym typeface="Arial" panose="020B0604020202020204"/>
              </a:rPr>
              <a:t>câu</a:t>
            </a:r>
            <a:r>
              <a:rPr kumimoji="0" lang="en-US" sz="2400" b="1" i="0" u="none" strike="noStrike" kern="0" cap="none" spc="0" normalizeH="0" baseline="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baseline="0" noProof="0" dirty="0" err="1">
                <a:ln>
                  <a:noFill/>
                </a:ln>
                <a:solidFill>
                  <a:srgbClr val="FFFFFF"/>
                </a:solidFill>
                <a:effectLst/>
                <a:uLnTx/>
                <a:uFillTx/>
                <a:latin typeface="Arial (body)"/>
                <a:sym typeface="Arial" panose="020B0604020202020204"/>
              </a:rPr>
              <a:t>hỏi</a:t>
            </a:r>
            <a:r>
              <a:rPr kumimoji="0" lang="en-US" sz="2400" b="1" i="0" u="none" strike="noStrike" kern="0" cap="none" spc="0" normalizeH="0" baseline="0" noProof="0" dirty="0">
                <a:ln>
                  <a:noFill/>
                </a:ln>
                <a:solidFill>
                  <a:srgbClr val="FFFFFF"/>
                </a:solidFill>
                <a:effectLst/>
                <a:uLnTx/>
                <a:uFillTx/>
                <a:latin typeface="Arial (body)"/>
                <a:sym typeface="Arial" panose="020B0604020202020204"/>
              </a:rPr>
              <a:t> 2,</a:t>
            </a:r>
            <a:r>
              <a:rPr kumimoji="0" lang="en-US" sz="2400" b="1" i="0" u="none" strike="noStrike" kern="0" cap="none" spc="0" normalizeH="0" noProof="0" dirty="0">
                <a:ln>
                  <a:noFill/>
                </a:ln>
                <a:solidFill>
                  <a:srgbClr val="FFFFFF"/>
                </a:solidFill>
                <a:effectLst/>
                <a:uLnTx/>
                <a:uFillTx/>
                <a:latin typeface="Arial (body)"/>
                <a:sym typeface="Arial" panose="020B0604020202020204"/>
              </a:rPr>
              <a:t> 3: </a:t>
            </a:r>
            <a:r>
              <a:rPr kumimoji="0" lang="en-US" sz="2400" b="1" i="0" u="none" strike="noStrike" kern="0" cap="none" spc="0" normalizeH="0" noProof="0" dirty="0" err="1">
                <a:ln>
                  <a:noFill/>
                </a:ln>
                <a:solidFill>
                  <a:srgbClr val="FFFFFF"/>
                </a:solidFill>
                <a:effectLst/>
                <a:uLnTx/>
                <a:uFillTx/>
                <a:latin typeface="Arial (body)"/>
                <a:sym typeface="Arial" panose="020B0604020202020204"/>
              </a:rPr>
              <a:t>Trên</a:t>
            </a:r>
            <a:r>
              <a:rPr kumimoji="0" lang="en-US" sz="2400" b="1" i="0" u="none" strike="noStrike" kern="0" cap="none" spc="0" normalizeH="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noProof="0" dirty="0" err="1">
                <a:ln>
                  <a:noFill/>
                </a:ln>
                <a:solidFill>
                  <a:srgbClr val="FFFFFF"/>
                </a:solidFill>
                <a:effectLst/>
                <a:uLnTx/>
                <a:uFillTx/>
                <a:latin typeface="Arial (body)"/>
                <a:sym typeface="Arial" panose="020B0604020202020204"/>
              </a:rPr>
              <a:t>Chứng</a:t>
            </a:r>
            <a:r>
              <a:rPr kumimoji="0" lang="en-US" sz="2400" b="1" i="0" u="none" strike="noStrike" kern="0" cap="none" spc="0" normalizeH="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noProof="0" dirty="0" err="1">
                <a:ln>
                  <a:noFill/>
                </a:ln>
                <a:solidFill>
                  <a:srgbClr val="FFFFFF"/>
                </a:solidFill>
                <a:effectLst/>
                <a:uLnTx/>
                <a:uFillTx/>
                <a:latin typeface="Arial (body)"/>
                <a:sym typeface="Arial" panose="020B0604020202020204"/>
              </a:rPr>
              <a:t>khoán</a:t>
            </a:r>
            <a:r>
              <a:rPr lang="en-US" sz="2400" b="1" dirty="0">
                <a:solidFill>
                  <a:srgbClr val="FFFFFF"/>
                </a:solidFill>
                <a:latin typeface="Arial (body)"/>
              </a:rPr>
              <a:t> </a:t>
            </a:r>
            <a:r>
              <a:rPr lang="en-US" sz="2400" b="1" dirty="0" err="1">
                <a:solidFill>
                  <a:srgbClr val="FFFFFF"/>
                </a:solidFill>
                <a:latin typeface="Arial (body)"/>
              </a:rPr>
              <a:t>và</a:t>
            </a:r>
            <a:r>
              <a:rPr lang="en-US" sz="2400" b="1" dirty="0">
                <a:solidFill>
                  <a:srgbClr val="FFFFFF"/>
                </a:solidFill>
                <a:latin typeface="Arial (body)"/>
              </a:rPr>
              <a:t> Forex</a:t>
            </a:r>
            <a:endParaRPr kumimoji="0" sz="2400" b="1" i="0" u="none" strike="noStrike" kern="0" cap="none" spc="0" normalizeH="0" baseline="0" noProof="0" dirty="0">
              <a:ln>
                <a:noFill/>
              </a:ln>
              <a:solidFill>
                <a:srgbClr val="FFFFFF"/>
              </a:solidFill>
              <a:effectLst/>
              <a:uLnTx/>
              <a:uFillTx/>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Chúng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ta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có</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như</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sau</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a:ln>
                  <a:noFill/>
                </a:ln>
                <a:solidFill>
                  <a:srgbClr val="FF0000"/>
                </a:solidFill>
                <a:effectLst/>
                <a:uLnTx/>
                <a:uFillTx/>
                <a:latin typeface="Arial" panose="020B0604020202020204"/>
                <a:ea typeface="Arial" panose="020B0604020202020204"/>
                <a:cs typeface="Arial" panose="020B0604020202020204"/>
                <a:sym typeface="Arial" panose="020B0604020202020204"/>
              </a:rPr>
              <a:t>ML, Momentum, RSI</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hoặc</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a:ln>
                  <a:noFill/>
                </a:ln>
                <a:solidFill>
                  <a:srgbClr val="FF0000"/>
                </a:solidFill>
                <a:effectLst/>
                <a:uLnTx/>
                <a:uFillTx/>
                <a:latin typeface="Arial" panose="020B0604020202020204"/>
                <a:ea typeface="Arial" panose="020B0604020202020204"/>
                <a:cs typeface="Arial" panose="020B0604020202020204"/>
                <a:sym typeface="Arial" panose="020B0604020202020204"/>
              </a:rPr>
              <a:t>Bollinger Bands, RSI</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a:t>
            </a:r>
            <a:endPar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làm</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sao</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thực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thi</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ML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này</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tự</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động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89986" y="2482406"/>
            <a:ext cx="3438669" cy="1697916"/>
          </a:xfrm>
          <a:prstGeom prst="rect">
            <a:avLst/>
          </a:prstGeom>
        </p:spPr>
      </p:pic>
      <p:pic>
        <p:nvPicPr>
          <p:cNvPr id="5" name="Picture 4"/>
          <p:cNvPicPr>
            <a:picLocks noChangeAspect="1"/>
          </p:cNvPicPr>
          <p:nvPr/>
        </p:nvPicPr>
        <p:blipFill>
          <a:blip r:embed="rId3"/>
          <a:stretch>
            <a:fillRect/>
          </a:stretch>
        </p:blipFill>
        <p:spPr>
          <a:xfrm>
            <a:off x="4878280" y="2421181"/>
            <a:ext cx="3831695" cy="18959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err="1">
                <a:ln>
                  <a:noFill/>
                </a:ln>
                <a:solidFill>
                  <a:srgbClr val="FFFFFF"/>
                </a:solidFill>
                <a:effectLst/>
                <a:uLnTx/>
                <a:uFillTx/>
                <a:latin typeface="Arial (body)"/>
                <a:sym typeface="Arial" panose="020B0604020202020204"/>
              </a:rPr>
              <a:t>Các</a:t>
            </a:r>
            <a:r>
              <a:rPr kumimoji="0" lang="en-US" sz="2400" b="1" i="0" u="none" strike="noStrike" kern="0" cap="none" spc="0" normalizeH="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noProof="0" dirty="0" err="1">
                <a:ln>
                  <a:noFill/>
                </a:ln>
                <a:solidFill>
                  <a:srgbClr val="FFFFFF"/>
                </a:solidFill>
                <a:effectLst/>
                <a:uLnTx/>
                <a:uFillTx/>
                <a:latin typeface="Arial (body)"/>
                <a:sym typeface="Arial" panose="020B0604020202020204"/>
              </a:rPr>
              <a:t>chiến</a:t>
            </a:r>
            <a:r>
              <a:rPr kumimoji="0" lang="en-US" sz="2400" b="1" i="0" u="none" strike="noStrike" kern="0" cap="none" spc="0" normalizeH="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noProof="0" dirty="0" err="1">
                <a:ln>
                  <a:noFill/>
                </a:ln>
                <a:solidFill>
                  <a:srgbClr val="FFFFFF"/>
                </a:solidFill>
                <a:effectLst/>
                <a:uLnTx/>
                <a:uFillTx/>
                <a:latin typeface="Arial (body)"/>
                <a:sym typeface="Arial" panose="020B0604020202020204"/>
              </a:rPr>
              <a:t>lược</a:t>
            </a:r>
            <a:r>
              <a:rPr kumimoji="0" lang="en-US" sz="2400" b="1" i="0" u="none" strike="noStrike" kern="0" cap="none" spc="0" normalizeH="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noProof="0" dirty="0" err="1">
                <a:ln>
                  <a:noFill/>
                </a:ln>
                <a:solidFill>
                  <a:srgbClr val="FFFFFF"/>
                </a:solidFill>
                <a:effectLst/>
                <a:uLnTx/>
                <a:uFillTx/>
                <a:latin typeface="Arial (body)"/>
                <a:sym typeface="Arial" panose="020B0604020202020204"/>
              </a:rPr>
              <a:t>trong</a:t>
            </a:r>
            <a:r>
              <a:rPr kumimoji="0" lang="en-US" sz="2400" b="1" i="0" u="none" strike="noStrike" kern="0" cap="none" spc="0" normalizeH="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noProof="0" dirty="0" err="1">
                <a:ln>
                  <a:noFill/>
                </a:ln>
                <a:solidFill>
                  <a:srgbClr val="FFFFFF"/>
                </a:solidFill>
                <a:effectLst/>
                <a:uLnTx/>
                <a:uFillTx/>
                <a:latin typeface="Arial (body)"/>
                <a:sym typeface="Arial" panose="020B0604020202020204"/>
              </a:rPr>
              <a:t>phần</a:t>
            </a:r>
            <a:r>
              <a:rPr kumimoji="0" lang="en-US" sz="2400" b="1" i="0" u="none" strike="noStrike" kern="0" cap="none" spc="0" normalizeH="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noProof="0" dirty="0" err="1">
                <a:ln>
                  <a:noFill/>
                </a:ln>
                <a:solidFill>
                  <a:srgbClr val="FFFFFF"/>
                </a:solidFill>
                <a:effectLst/>
                <a:uLnTx/>
                <a:uFillTx/>
                <a:latin typeface="Arial (body)"/>
                <a:sym typeface="Arial" panose="020B0604020202020204"/>
              </a:rPr>
              <a:t>đặt</a:t>
            </a:r>
            <a:r>
              <a:rPr kumimoji="0" lang="en-US" sz="2400" b="1" i="0" u="none" strike="noStrike" kern="0" cap="none" spc="0" normalizeH="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noProof="0" dirty="0" err="1">
                <a:ln>
                  <a:noFill/>
                </a:ln>
                <a:solidFill>
                  <a:srgbClr val="FFFFFF"/>
                </a:solidFill>
                <a:effectLst/>
                <a:uLnTx/>
                <a:uFillTx/>
                <a:latin typeface="Arial (body)"/>
                <a:sym typeface="Arial" panose="020B0604020202020204"/>
              </a:rPr>
              <a:t>câu</a:t>
            </a:r>
            <a:r>
              <a:rPr kumimoji="0" lang="en-US" sz="2400" b="1" i="0" u="none" strike="noStrike" kern="0" cap="none" spc="0" normalizeH="0" noProof="0" dirty="0">
                <a:ln>
                  <a:noFill/>
                </a:ln>
                <a:solidFill>
                  <a:srgbClr val="FFFFFF"/>
                </a:solidFill>
                <a:effectLst/>
                <a:uLnTx/>
                <a:uFillTx/>
                <a:latin typeface="Arial (body)"/>
                <a:sym typeface="Arial" panose="020B0604020202020204"/>
              </a:rPr>
              <a:t> </a:t>
            </a:r>
            <a:r>
              <a:rPr kumimoji="0" lang="en-US" sz="2400" b="1" i="0" u="none" strike="noStrike" kern="0" cap="none" spc="0" normalizeH="0" noProof="0" dirty="0" err="1">
                <a:ln>
                  <a:noFill/>
                </a:ln>
                <a:solidFill>
                  <a:srgbClr val="FFFFFF"/>
                </a:solidFill>
                <a:effectLst/>
                <a:uLnTx/>
                <a:uFillTx/>
                <a:latin typeface="Arial (body)"/>
                <a:sym typeface="Arial" panose="020B0604020202020204"/>
              </a:rPr>
              <a:t>hỏi</a:t>
            </a:r>
            <a:endParaRPr kumimoji="0" sz="2400" b="1" i="0" u="none" strike="noStrike" kern="0" cap="none" spc="0" normalizeH="0" baseline="0" noProof="0" dirty="0">
              <a:ln>
                <a:noFill/>
              </a:ln>
              <a:solidFill>
                <a:srgbClr val="FFFFFF"/>
              </a:solidFill>
              <a:effectLst/>
              <a:uLnTx/>
              <a:uFillTx/>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444500" marR="0" lvl="0" indent="-342900" algn="just" defTabSz="914400" rtl="0" eaLnBrk="1" fontAlgn="auto" latinLnBrk="0" hangingPunct="1">
              <a:lnSpc>
                <a:spcPct val="115000"/>
              </a:lnSpc>
              <a:spcBef>
                <a:spcPts val="1600"/>
              </a:spcBef>
              <a:spcAft>
                <a:spcPts val="0"/>
              </a:spcAft>
              <a:buClr>
                <a:srgbClr val="000000"/>
              </a:buClr>
              <a:buSzTx/>
              <a:buFont typeface="Arial" panose="020B0604020202020204"/>
              <a:buAutoNum type="arabicPeriod"/>
              <a:defRPr/>
            </a:pPr>
            <a:r>
              <a:rPr lang="en-US" sz="1800" b="1" dirty="0" err="1"/>
              <a:t>Chiến</a:t>
            </a:r>
            <a:r>
              <a:rPr lang="en-US" sz="1800" b="1" dirty="0"/>
              <a:t> </a:t>
            </a:r>
            <a:r>
              <a:rPr lang="en-US" sz="1800" b="1" dirty="0" err="1"/>
              <a:t>lược</a:t>
            </a:r>
            <a:r>
              <a:rPr lang="en-US" sz="1800" b="1" dirty="0"/>
              <a:t> ML, Momentum, RSI (</a:t>
            </a:r>
            <a:r>
              <a:rPr lang="en-US" sz="1800" b="1" dirty="0" err="1"/>
              <a:t>học</a:t>
            </a:r>
            <a:r>
              <a:rPr lang="en-US" sz="1800" b="1" dirty="0"/>
              <a:t> </a:t>
            </a:r>
            <a:r>
              <a:rPr lang="en-US" sz="1800" b="1" dirty="0" err="1"/>
              <a:t>sau</a:t>
            </a:r>
            <a:r>
              <a:rPr lang="en-US" sz="1800" b="1" dirty="0"/>
              <a:t> </a:t>
            </a:r>
            <a:r>
              <a:rPr lang="en-US" sz="1800" b="1" dirty="0" err="1"/>
              <a:t>khi</a:t>
            </a:r>
            <a:r>
              <a:rPr lang="en-US" sz="1800" b="1" dirty="0"/>
              <a:t> </a:t>
            </a:r>
            <a:r>
              <a:rPr lang="en-US" sz="1800" b="1" dirty="0" err="1"/>
              <a:t>học</a:t>
            </a:r>
            <a:r>
              <a:rPr lang="en-US" sz="1800" b="1" dirty="0"/>
              <a:t> ML </a:t>
            </a:r>
            <a:r>
              <a:rPr lang="en-US" sz="1800" b="1" dirty="0" err="1"/>
              <a:t>mô</a:t>
            </a:r>
            <a:r>
              <a:rPr lang="en-US" sz="1800" b="1" dirty="0"/>
              <a:t> </a:t>
            </a:r>
            <a:r>
              <a:rPr lang="en-US" sz="1800" b="1" dirty="0" err="1"/>
              <a:t>hình</a:t>
            </a:r>
            <a:r>
              <a:rPr lang="en-US" sz="1800" b="1" dirty="0"/>
              <a:t>)</a:t>
            </a:r>
            <a:endParaRPr lang="en-US" sz="1800" b="1" dirty="0"/>
          </a:p>
          <a:p>
            <a:pPr marL="444500" marR="0" lvl="0" indent="-342900" algn="just" defTabSz="914400" rtl="0" eaLnBrk="1" fontAlgn="auto" latinLnBrk="0" hangingPunct="1">
              <a:lnSpc>
                <a:spcPct val="115000"/>
              </a:lnSpc>
              <a:spcBef>
                <a:spcPts val="1600"/>
              </a:spcBef>
              <a:spcAft>
                <a:spcPts val="0"/>
              </a:spcAft>
              <a:buClr>
                <a:srgbClr val="000000"/>
              </a:buClr>
              <a:buSzTx/>
              <a:buFont typeface="Arial" panose="020B0604020202020204"/>
              <a:buAutoNum type="arabicPeriod"/>
              <a:defRPr/>
            </a:pPr>
            <a:r>
              <a:rPr lang="en-US" sz="1800" b="1" dirty="0" err="1"/>
              <a:t>Chiến</a:t>
            </a:r>
            <a:r>
              <a:rPr lang="en-US" sz="1800" b="1" dirty="0"/>
              <a:t> </a:t>
            </a:r>
            <a:r>
              <a:rPr lang="en-US" sz="1800" b="1" dirty="0" err="1"/>
              <a:t>lược</a:t>
            </a:r>
            <a:r>
              <a:rPr lang="en-US" sz="1800" b="1" dirty="0"/>
              <a:t> MA, ATR</a:t>
            </a:r>
            <a:endParaRPr lang="en-US" sz="1800" b="1" dirty="0"/>
          </a:p>
          <a:p>
            <a:pPr marL="444500" marR="0" lvl="0" indent="-342900" algn="just" defTabSz="914400" rtl="0" eaLnBrk="1" fontAlgn="auto" latinLnBrk="0" hangingPunct="1">
              <a:lnSpc>
                <a:spcPct val="115000"/>
              </a:lnSpc>
              <a:spcBef>
                <a:spcPts val="1600"/>
              </a:spcBef>
              <a:spcAft>
                <a:spcPts val="0"/>
              </a:spcAft>
              <a:buClr>
                <a:srgbClr val="000000"/>
              </a:buClr>
              <a:buSzTx/>
              <a:buFont typeface="Arial" panose="020B0604020202020204"/>
              <a:buAutoNum type="arabicPeriod"/>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noProof="0" dirty="0">
                <a:ln>
                  <a:noFill/>
                </a:ln>
                <a:solidFill>
                  <a:srgbClr val="000000"/>
                </a:solidFill>
                <a:effectLst/>
                <a:uLnTx/>
                <a:uFillTx/>
                <a:latin typeface="Arial" panose="020B0604020202020204"/>
                <a:cs typeface="Arial" panose="020B0604020202020204"/>
                <a:sym typeface="Arial" panose="020B0604020202020204"/>
              </a:rPr>
              <a:t> Bollinger Bands, RSI</a:t>
            </a:r>
            <a:endParaRPr kumimoji="0" lang="en-US" sz="1800" b="1" i="0" u="none" strike="noStrike" kern="0" cap="none" spc="0" normalizeH="0" noProof="0" dirty="0">
              <a:ln>
                <a:noFill/>
              </a:ln>
              <a:solidFill>
                <a:srgbClr val="000000"/>
              </a:solidFill>
              <a:effectLst/>
              <a:uLnTx/>
              <a:uFillTx/>
              <a:latin typeface="Arial" panose="020B0604020202020204"/>
              <a:cs typeface="Arial" panose="020B0604020202020204"/>
              <a:sym typeface="Arial" panose="020B0604020202020204"/>
            </a:endParaRPr>
          </a:p>
          <a:p>
            <a:pPr marL="444500" marR="0" lvl="0" indent="-342900" algn="just" defTabSz="914400" rtl="0" eaLnBrk="1" fontAlgn="auto" latinLnBrk="0" hangingPunct="1">
              <a:lnSpc>
                <a:spcPct val="115000"/>
              </a:lnSpc>
              <a:spcBef>
                <a:spcPts val="1600"/>
              </a:spcBef>
              <a:spcAft>
                <a:spcPts val="0"/>
              </a:spcAft>
              <a:buClr>
                <a:srgbClr val="000000"/>
              </a:buClr>
              <a:buSzTx/>
              <a:buFont typeface="Arial" panose="020B0604020202020204"/>
              <a:buAutoNum type="arabicPeriod"/>
              <a:defRPr/>
            </a:pPr>
            <a:r>
              <a:rPr lang="en-US" sz="1800" b="1" baseline="0" dirty="0" err="1"/>
              <a:t>Chiến</a:t>
            </a:r>
            <a:r>
              <a:rPr lang="en-US" sz="1800" b="1" dirty="0"/>
              <a:t> </a:t>
            </a:r>
            <a:r>
              <a:rPr lang="en-US" sz="1800" b="1" dirty="0" err="1"/>
              <a:t>lược</a:t>
            </a:r>
            <a:r>
              <a:rPr lang="en-US" sz="1800" b="1" dirty="0"/>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Doji</a:t>
            </a:r>
            <a:r>
              <a:rPr kumimoji="0" lang="en-US" sz="1800" b="1" i="0" u="none" strike="noStrike" kern="0" cap="none" spc="0" normalizeH="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noProof="0" dirty="0" err="1">
                <a:ln>
                  <a:noFill/>
                </a:ln>
                <a:solidFill>
                  <a:srgbClr val="000000"/>
                </a:solidFill>
                <a:effectLst/>
                <a:uLnTx/>
                <a:uFillTx/>
                <a:latin typeface="Arial" panose="020B0604020202020204"/>
                <a:cs typeface="Arial" panose="020B0604020202020204"/>
                <a:sym typeface="Arial" panose="020B0604020202020204"/>
              </a:rPr>
              <a:t>chân</a:t>
            </a:r>
            <a:r>
              <a:rPr kumimoji="0" lang="en-US" sz="1800" b="1" i="0" u="none" strike="noStrike" kern="0" cap="none" spc="0" normalizeH="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noProof="0" dirty="0" err="1">
                <a:ln>
                  <a:noFill/>
                </a:ln>
                <a:solidFill>
                  <a:srgbClr val="000000"/>
                </a:solidFill>
                <a:effectLst/>
                <a:uLnTx/>
                <a:uFillTx/>
                <a:latin typeface="Arial" panose="020B0604020202020204"/>
                <a:cs typeface="Arial" panose="020B0604020202020204"/>
                <a:sym typeface="Arial" panose="020B0604020202020204"/>
              </a:rPr>
              <a:t>dài</a:t>
            </a:r>
            <a:endParaRPr kumimoji="0" lang="en-US" sz="1800" b="1" i="0" u="none" strike="noStrike" kern="0" cap="none" spc="0" normalizeH="0" noProof="0" dirty="0">
              <a:ln>
                <a:noFill/>
              </a:ln>
              <a:solidFill>
                <a:srgbClr val="000000"/>
              </a:solidFill>
              <a:effectLst/>
              <a:uLnTx/>
              <a:uFillTx/>
              <a:latin typeface="Arial" panose="020B0604020202020204"/>
              <a:cs typeface="Arial" panose="020B0604020202020204"/>
              <a:sym typeface="Arial" panose="020B0604020202020204"/>
            </a:endParaRPr>
          </a:p>
          <a:p>
            <a:pPr marL="444500" marR="0" lvl="0" indent="-342900" algn="just" defTabSz="914400" rtl="0" eaLnBrk="1" fontAlgn="auto" latinLnBrk="0" hangingPunct="1">
              <a:lnSpc>
                <a:spcPct val="115000"/>
              </a:lnSpc>
              <a:spcBef>
                <a:spcPts val="1600"/>
              </a:spcBef>
              <a:spcAft>
                <a:spcPts val="0"/>
              </a:spcAft>
              <a:buClr>
                <a:srgbClr val="000000"/>
              </a:buClr>
              <a:buSzTx/>
              <a:buFont typeface="Arial" panose="020B0604020202020204"/>
              <a:buAutoNum type="arabicPeriod"/>
              <a:defRPr/>
            </a:pPr>
            <a:r>
              <a:rPr lang="en-US" sz="1800" b="1" baseline="0" dirty="0" err="1">
                <a:ea typeface="Arial" panose="020B0604020202020204"/>
              </a:rPr>
              <a:t>Chiến</a:t>
            </a:r>
            <a:r>
              <a:rPr lang="en-US" sz="1800" b="1" dirty="0">
                <a:ea typeface="Arial" panose="020B0604020202020204"/>
              </a:rPr>
              <a:t> </a:t>
            </a:r>
            <a:r>
              <a:rPr lang="en-US" sz="1800" b="1" dirty="0" err="1">
                <a:ea typeface="Arial" panose="020B0604020202020204"/>
              </a:rPr>
              <a:t>lược</a:t>
            </a:r>
            <a:r>
              <a:rPr lang="en-US" sz="1800" b="1" dirty="0">
                <a:ea typeface="Arial" panose="020B0604020202020204"/>
              </a:rPr>
              <a:t> SPY 500, VIX </a:t>
            </a: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endParaRPr lang="vi-VN" sz="2400" b="1" dirty="0">
              <a:solidFill>
                <a:srgbClr val="FFFFFF"/>
              </a:solidFill>
              <a:latin typeface="Arial (body)"/>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defRPr/>
            </a:pPr>
            <a:r>
              <a:rPr lang="en-US" sz="1800" b="1" dirty="0" err="1"/>
              <a:t>Chiến</a:t>
            </a:r>
            <a:r>
              <a:rPr lang="en-US" sz="1800" b="1" dirty="0"/>
              <a:t> </a:t>
            </a:r>
            <a:r>
              <a:rPr lang="en-US" sz="1800" b="1" dirty="0" err="1"/>
              <a:t>lược</a:t>
            </a:r>
            <a:r>
              <a:rPr lang="en-US" sz="1800" b="1" dirty="0"/>
              <a:t> MA, ATR:</a:t>
            </a:r>
            <a:endParaRPr lang="en-US" sz="1800" b="1" dirty="0"/>
          </a:p>
          <a:p>
            <a:pPr algn="just"/>
            <a:r>
              <a:rPr lang="vi-VN" b="1" dirty="0"/>
              <a:t>Tín Hiệu Mua (Buy Signal):</a:t>
            </a:r>
            <a:r>
              <a:rPr lang="vi-VN" dirty="0"/>
              <a:t> Một tín hiệu mua được </a:t>
            </a:r>
            <a:r>
              <a:rPr lang="vi-VN" b="1" dirty="0"/>
              <a:t>xác định khi MA nhanh</a:t>
            </a:r>
            <a:r>
              <a:rPr lang="vi-VN" dirty="0"/>
              <a:t> (</a:t>
            </a:r>
            <a:r>
              <a:rPr lang="vi-VN" b="1" dirty="0"/>
              <a:t>MA_Fast)</a:t>
            </a:r>
            <a:r>
              <a:rPr lang="vi-VN" dirty="0"/>
              <a:t> cao hơn hoặc bằng MA chậm (</a:t>
            </a:r>
            <a:r>
              <a:rPr lang="vi-VN" b="1" dirty="0"/>
              <a:t>MA_Slow)</a:t>
            </a:r>
            <a:r>
              <a:rPr lang="vi-VN" dirty="0"/>
              <a:t>, và ATR hiện tại nhỏ hơn hoặc bằng ngưỡng ATR đã đặt. </a:t>
            </a:r>
            <a:endParaRPr lang="vi-VN" dirty="0"/>
          </a:p>
          <a:p>
            <a:pPr algn="just"/>
            <a:r>
              <a:rPr lang="vi-VN" b="1" dirty="0"/>
              <a:t>Tín Hiệu Bán (Sell Signal):</a:t>
            </a:r>
            <a:r>
              <a:rPr lang="vi-VN" dirty="0"/>
              <a:t> Một tín hiệu bán được xác định khi MA nhanh thấp hơn MA chậm, và ATR hiện tại cũng nhỏ hơn hoặc bằng ngưỡng ATR đã đặt.</a:t>
            </a:r>
            <a:endParaRPr lang="en-US" dirty="0"/>
          </a:p>
          <a:p>
            <a:pPr algn="just"/>
            <a:endParaRPr lang="en-US" dirty="0"/>
          </a:p>
          <a:p>
            <a:pPr algn="just"/>
            <a:r>
              <a:rPr lang="vi-VN" b="1" dirty="0"/>
              <a:t>Moving Average (MA) </a:t>
            </a:r>
            <a:r>
              <a:rPr lang="vi-VN" dirty="0"/>
              <a:t>là một trong những công cụ phân tích kỹ thuật phổ biến nhất, dùng để làm mịn dữ liệu giá trong một khoảng thời gian cụ thể để xác định xu hướng thị trường. Mục đích của MA là giảm bớt "tiếng ồn" ngẫu nhiên và làm nổi bật xu hướng giá rõ ràng hơn.</a:t>
            </a:r>
            <a:endParaRPr lang="en-US" dirty="0"/>
          </a:p>
          <a:p>
            <a:pPr algn="just"/>
            <a:r>
              <a:rPr lang="en-US" b="1" dirty="0" err="1"/>
              <a:t>Tính</a:t>
            </a:r>
            <a:r>
              <a:rPr lang="en-US" b="1" dirty="0"/>
              <a:t> </a:t>
            </a:r>
            <a:r>
              <a:rPr lang="en-US" b="1" dirty="0" err="1"/>
              <a:t>toán</a:t>
            </a:r>
            <a:r>
              <a:rPr lang="en-US" b="1" dirty="0"/>
              <a:t> </a:t>
            </a:r>
            <a:r>
              <a:rPr lang="en-US" b="1" dirty="0" err="1"/>
              <a:t>bằng</a:t>
            </a:r>
            <a:r>
              <a:rPr lang="en-US" b="1" dirty="0"/>
              <a:t> </a:t>
            </a:r>
            <a:r>
              <a:rPr lang="en-US" b="1" dirty="0" err="1"/>
              <a:t>cách</a:t>
            </a:r>
            <a:r>
              <a:rPr lang="en-US" b="1" dirty="0"/>
              <a:t> </a:t>
            </a:r>
            <a:r>
              <a:rPr lang="en-US" b="1" dirty="0" err="1"/>
              <a:t>lấy</a:t>
            </a:r>
            <a:r>
              <a:rPr lang="en-US" b="1" dirty="0"/>
              <a:t> </a:t>
            </a:r>
            <a:r>
              <a:rPr lang="en-US" b="1" dirty="0" err="1"/>
              <a:t>trung</a:t>
            </a:r>
            <a:r>
              <a:rPr lang="en-US" b="1" dirty="0"/>
              <a:t> </a:t>
            </a:r>
            <a:r>
              <a:rPr lang="en-US" b="1" dirty="0" err="1"/>
              <a:t>bình</a:t>
            </a:r>
            <a:r>
              <a:rPr lang="en-US" b="1" dirty="0"/>
              <a:t> </a:t>
            </a:r>
            <a:r>
              <a:rPr lang="en-US" b="1" dirty="0" err="1"/>
              <a:t>cộng</a:t>
            </a:r>
            <a:r>
              <a:rPr lang="en-US" b="1" dirty="0"/>
              <a:t> </a:t>
            </a:r>
            <a:r>
              <a:rPr lang="en-US" b="1" dirty="0" err="1"/>
              <a:t>của</a:t>
            </a:r>
            <a:r>
              <a:rPr lang="en-US" b="1" dirty="0"/>
              <a:t> </a:t>
            </a:r>
            <a:r>
              <a:rPr lang="en-US" b="1" dirty="0" err="1"/>
              <a:t>một</a:t>
            </a:r>
            <a:r>
              <a:rPr lang="en-US" b="1" dirty="0"/>
              <a:t> </a:t>
            </a:r>
            <a:r>
              <a:rPr lang="en-US" b="1" dirty="0" err="1"/>
              <a:t>tập</a:t>
            </a:r>
            <a:r>
              <a:rPr lang="en-US" b="1" dirty="0"/>
              <a:t> </a:t>
            </a:r>
            <a:r>
              <a:rPr lang="en-US" b="1" dirty="0" err="1"/>
              <a:t>hợp</a:t>
            </a:r>
            <a:r>
              <a:rPr lang="en-US" b="1" dirty="0"/>
              <a:t> </a:t>
            </a:r>
            <a:r>
              <a:rPr lang="en-US" b="1" dirty="0" err="1"/>
              <a:t>các</a:t>
            </a:r>
            <a:r>
              <a:rPr lang="en-US" b="1" dirty="0"/>
              <a:t> </a:t>
            </a:r>
            <a:r>
              <a:rPr lang="en-US" b="1" dirty="0" err="1"/>
              <a:t>giá</a:t>
            </a:r>
            <a:r>
              <a:rPr lang="en-US" b="1" dirty="0"/>
              <a:t> </a:t>
            </a:r>
            <a:r>
              <a:rPr lang="en-US" b="1" dirty="0" err="1"/>
              <a:t>trong</a:t>
            </a:r>
            <a:r>
              <a:rPr lang="en-US" b="1" dirty="0"/>
              <a:t> </a:t>
            </a:r>
            <a:r>
              <a:rPr lang="en-US" b="1" dirty="0" err="1"/>
              <a:t>một</a:t>
            </a:r>
            <a:r>
              <a:rPr lang="en-US" b="1" dirty="0"/>
              <a:t> </a:t>
            </a:r>
            <a:r>
              <a:rPr lang="en-US" b="1" dirty="0" err="1"/>
              <a:t>khoảng</a:t>
            </a:r>
            <a:r>
              <a:rPr lang="en-US" b="1" dirty="0"/>
              <a:t> </a:t>
            </a:r>
            <a:r>
              <a:rPr lang="en-US" b="1" dirty="0" err="1"/>
              <a:t>thời</a:t>
            </a:r>
            <a:r>
              <a:rPr lang="en-US" b="1" dirty="0"/>
              <a:t> </a:t>
            </a:r>
            <a:r>
              <a:rPr lang="en-US" b="1" dirty="0" err="1"/>
              <a:t>gian</a:t>
            </a:r>
            <a:r>
              <a:rPr lang="en-US" b="1" dirty="0"/>
              <a:t> </a:t>
            </a:r>
            <a:r>
              <a:rPr lang="en-US" b="1" dirty="0" err="1"/>
              <a:t>nhất</a:t>
            </a:r>
            <a:r>
              <a:rPr lang="en-US" b="1" dirty="0"/>
              <a:t> </a:t>
            </a:r>
            <a:r>
              <a:rPr lang="en-US" b="1" dirty="0" err="1"/>
              <a:t>định</a:t>
            </a:r>
            <a:r>
              <a:rPr lang="en-US" dirty="0"/>
              <a:t>. </a:t>
            </a:r>
            <a:r>
              <a:rPr lang="en-US" dirty="0" err="1"/>
              <a:t>Ví</a:t>
            </a:r>
            <a:r>
              <a:rPr lang="en-US" dirty="0"/>
              <a:t> </a:t>
            </a:r>
            <a:r>
              <a:rPr lang="en-US" dirty="0" err="1"/>
              <a:t>dụ</a:t>
            </a:r>
            <a:r>
              <a:rPr lang="en-US" dirty="0"/>
              <a:t>: </a:t>
            </a:r>
            <a:r>
              <a:rPr lang="en-US" b="1" dirty="0"/>
              <a:t>MA 50</a:t>
            </a:r>
            <a:r>
              <a:rPr lang="en-US" dirty="0"/>
              <a:t> </a:t>
            </a:r>
            <a:r>
              <a:rPr lang="en-US" dirty="0" err="1"/>
              <a:t>ngày</a:t>
            </a:r>
            <a:r>
              <a:rPr lang="en-US" dirty="0"/>
              <a:t> </a:t>
            </a:r>
            <a:r>
              <a:rPr lang="en-US" dirty="0" err="1"/>
              <a:t>sẽ</a:t>
            </a:r>
            <a:r>
              <a:rPr lang="en-US" dirty="0"/>
              <a:t> </a:t>
            </a:r>
            <a:r>
              <a:rPr lang="en-US" dirty="0" err="1"/>
              <a:t>là</a:t>
            </a:r>
            <a:r>
              <a:rPr lang="en-US" dirty="0"/>
              <a:t> </a:t>
            </a:r>
            <a:r>
              <a:rPr lang="en-US" dirty="0" err="1"/>
              <a:t>trung</a:t>
            </a:r>
            <a:r>
              <a:rPr lang="en-US" dirty="0"/>
              <a:t> </a:t>
            </a:r>
            <a:r>
              <a:rPr lang="en-US" dirty="0" err="1"/>
              <a:t>bình</a:t>
            </a:r>
            <a:r>
              <a:rPr lang="en-US" dirty="0"/>
              <a:t> </a:t>
            </a:r>
            <a:r>
              <a:rPr lang="en-US" dirty="0" err="1"/>
              <a:t>cộng</a:t>
            </a:r>
            <a:r>
              <a:rPr lang="en-US" dirty="0"/>
              <a:t> </a:t>
            </a:r>
            <a:r>
              <a:rPr lang="en-US" dirty="0" err="1"/>
              <a:t>của</a:t>
            </a:r>
            <a:r>
              <a:rPr lang="en-US" dirty="0"/>
              <a:t> </a:t>
            </a:r>
            <a:r>
              <a:rPr lang="en-US" dirty="0" err="1"/>
              <a:t>giá</a:t>
            </a:r>
            <a:r>
              <a:rPr lang="en-US" dirty="0"/>
              <a:t> </a:t>
            </a:r>
            <a:r>
              <a:rPr lang="en-US" dirty="0" err="1"/>
              <a:t>đóng</a:t>
            </a:r>
            <a:r>
              <a:rPr lang="en-US" dirty="0"/>
              <a:t> </a:t>
            </a:r>
            <a:r>
              <a:rPr lang="en-US" dirty="0" err="1"/>
              <a:t>cửa</a:t>
            </a:r>
            <a:r>
              <a:rPr lang="en-US" dirty="0"/>
              <a:t> </a:t>
            </a:r>
            <a:r>
              <a:rPr lang="en-US" dirty="0" err="1"/>
              <a:t>trong</a:t>
            </a:r>
            <a:r>
              <a:rPr lang="en-US" dirty="0"/>
              <a:t> </a:t>
            </a:r>
            <a:r>
              <a:rPr lang="en-US" b="1" dirty="0"/>
              <a:t>50 </a:t>
            </a:r>
            <a:r>
              <a:rPr lang="en-US" b="1" dirty="0" err="1"/>
              <a:t>ngày</a:t>
            </a:r>
            <a:r>
              <a:rPr lang="en-US" dirty="0"/>
              <a:t> qua.</a:t>
            </a:r>
            <a:endParaRPr lang="en-US" dirty="0"/>
          </a:p>
          <a:p>
            <a:pPr algn="just"/>
            <a:endParaRPr lang="en-US" dirty="0"/>
          </a:p>
          <a:p>
            <a:pPr algn="just"/>
            <a:r>
              <a:rPr lang="vi-VN" b="1" dirty="0"/>
              <a:t>Average True Range (ATR) </a:t>
            </a:r>
            <a:r>
              <a:rPr lang="vi-VN" dirty="0"/>
              <a:t>là một chỉ báo kỹ thuật được sử dụng để đo lường biến động thị trường. ATR không cung cấp thông tin về hướng của giá, mà thay vào đó nó đo lường mức độ biến động giá của một tài sản trong một khoảng thời gian nhất định.</a:t>
            </a:r>
            <a:endParaRPr lang="en-US" dirty="0"/>
          </a:p>
          <a:p>
            <a:pPr algn="just"/>
            <a:r>
              <a:rPr lang="vi-VN" dirty="0"/>
              <a:t>ATR được tính dựa trên "true range" </a:t>
            </a:r>
            <a:r>
              <a:rPr lang="vi-VN" b="1" dirty="0"/>
              <a:t>(TR)</a:t>
            </a:r>
            <a:r>
              <a:rPr lang="vi-VN" dirty="0"/>
              <a:t>, mà là giá trị lớn nhất trong ba khoảng giá sau:</a:t>
            </a:r>
            <a:endParaRPr lang="vi-VN" dirty="0"/>
          </a:p>
          <a:p>
            <a:pPr algn="just"/>
            <a:r>
              <a:rPr lang="en-US" dirty="0"/>
              <a:t>- </a:t>
            </a:r>
            <a:r>
              <a:rPr lang="vi-VN" dirty="0"/>
              <a:t>Hiệu số giữa giá cao nhất và thấp nhất của ngày </a:t>
            </a:r>
            <a:r>
              <a:rPr lang="vi-VN" b="1" dirty="0"/>
              <a:t>hiện tại.</a:t>
            </a:r>
            <a:endParaRPr lang="vi-VN" dirty="0"/>
          </a:p>
          <a:p>
            <a:pPr algn="just"/>
            <a:r>
              <a:rPr lang="en-US" dirty="0"/>
              <a:t>- </a:t>
            </a:r>
            <a:r>
              <a:rPr lang="vi-VN" dirty="0"/>
              <a:t>Hiệu số giữa giá cao nhất của ngày </a:t>
            </a:r>
            <a:r>
              <a:rPr lang="vi-VN" b="1" dirty="0"/>
              <a:t>hiện tại</a:t>
            </a:r>
            <a:r>
              <a:rPr lang="vi-VN" dirty="0"/>
              <a:t> và giá đóng cửa của ngày </a:t>
            </a:r>
            <a:r>
              <a:rPr lang="vi-VN" b="1" dirty="0"/>
              <a:t>trước đó</a:t>
            </a:r>
            <a:r>
              <a:rPr lang="vi-VN" dirty="0"/>
              <a:t>.</a:t>
            </a:r>
            <a:endParaRPr lang="vi-VN" dirty="0"/>
          </a:p>
          <a:p>
            <a:pPr algn="just"/>
            <a:r>
              <a:rPr lang="en-US" dirty="0"/>
              <a:t>- </a:t>
            </a:r>
            <a:r>
              <a:rPr lang="vi-VN" dirty="0"/>
              <a:t>Hiệu số giữa giá thấp nhất của ngày </a:t>
            </a:r>
            <a:r>
              <a:rPr lang="vi-VN" b="1" dirty="0"/>
              <a:t>hiện tại</a:t>
            </a:r>
            <a:r>
              <a:rPr lang="vi-VN" dirty="0"/>
              <a:t> và giá đóng cửa của ngày </a:t>
            </a:r>
            <a:r>
              <a:rPr lang="vi-VN" b="1" dirty="0"/>
              <a:t>trước đó.</a:t>
            </a:r>
            <a:endParaRPr lang="vi-VN" dirty="0"/>
          </a:p>
          <a:p>
            <a:pPr algn="just"/>
            <a:r>
              <a:rPr lang="vi-VN" dirty="0"/>
              <a:t>ATR là trung bình của true range</a:t>
            </a:r>
            <a:r>
              <a:rPr lang="en-US" dirty="0"/>
              <a:t> (TR)</a:t>
            </a:r>
            <a:r>
              <a:rPr lang="vi-VN" dirty="0"/>
              <a:t> qua một số lượng ngày nhất định, </a:t>
            </a:r>
            <a:r>
              <a:rPr lang="vi-VN" b="1" dirty="0"/>
              <a:t>thường là 14 ngày</a:t>
            </a:r>
            <a:r>
              <a:rPr lang="vi-VN" dirty="0"/>
              <a:t>. </a:t>
            </a:r>
            <a:r>
              <a:rPr lang="vi-VN" b="1" dirty="0"/>
              <a:t>Giá trị ATR cao hơn cho thấy biến động lớn hơn và ngược lại, giá trị ATR thấp cho thấy biến động thấp.</a:t>
            </a:r>
            <a:endParaRPr lang="vi-VN" b="1" dirty="0"/>
          </a:p>
          <a:p>
            <a:pPr algn="just"/>
            <a:r>
              <a:rPr lang="vi-VN" dirty="0"/>
              <a:t> </a:t>
            </a:r>
            <a:endParaRPr lang="en-US" sz="18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endParaRPr lang="vi-VN" sz="2400" b="1" dirty="0">
              <a:solidFill>
                <a:srgbClr val="FFFFFF"/>
              </a:solidFill>
              <a:latin typeface="Arial (body)"/>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defRPr/>
            </a:pPr>
            <a:r>
              <a:rPr lang="en-US" sz="1800" b="1" dirty="0" err="1"/>
              <a:t>Chiến</a:t>
            </a:r>
            <a:r>
              <a:rPr lang="en-US" sz="1800" b="1" dirty="0"/>
              <a:t> </a:t>
            </a:r>
            <a:r>
              <a:rPr lang="en-US" sz="1800" b="1" dirty="0" err="1"/>
              <a:t>lược</a:t>
            </a:r>
            <a:r>
              <a:rPr lang="en-US" sz="1800" b="1" dirty="0"/>
              <a:t> MA, ATR:</a:t>
            </a:r>
            <a:endParaRPr lang="en-US" sz="1800" b="1" dirty="0"/>
          </a:p>
        </p:txBody>
      </p:sp>
      <p:pic>
        <p:nvPicPr>
          <p:cNvPr id="2" name="Picture 1"/>
          <p:cNvPicPr>
            <a:picLocks noChangeAspect="1"/>
          </p:cNvPicPr>
          <p:nvPr/>
        </p:nvPicPr>
        <p:blipFill>
          <a:blip r:embed="rId2"/>
          <a:stretch>
            <a:fillRect/>
          </a:stretch>
        </p:blipFill>
        <p:spPr>
          <a:xfrm>
            <a:off x="510023" y="1274904"/>
            <a:ext cx="8467725" cy="1419225"/>
          </a:xfrm>
          <a:prstGeom prst="rect">
            <a:avLst/>
          </a:prstGeom>
        </p:spPr>
      </p:pic>
      <p:pic>
        <p:nvPicPr>
          <p:cNvPr id="3" name="Picture 2"/>
          <p:cNvPicPr>
            <a:picLocks noChangeAspect="1"/>
          </p:cNvPicPr>
          <p:nvPr/>
        </p:nvPicPr>
        <p:blipFill>
          <a:blip r:embed="rId3"/>
          <a:stretch>
            <a:fillRect/>
          </a:stretch>
        </p:blipFill>
        <p:spPr>
          <a:xfrm>
            <a:off x="2440771" y="2772787"/>
            <a:ext cx="5851677" cy="35358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endParaRPr lang="vi-VN" sz="2400" b="1" dirty="0">
              <a:solidFill>
                <a:srgbClr val="FFFFFF"/>
              </a:solidFill>
              <a:latin typeface="Arial (body)"/>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defRPr/>
            </a:pPr>
            <a:r>
              <a:rPr lang="en-US" sz="1800" b="1" dirty="0" err="1"/>
              <a:t>Chiến</a:t>
            </a:r>
            <a:r>
              <a:rPr lang="en-US" sz="1800" b="1" dirty="0"/>
              <a:t> </a:t>
            </a:r>
            <a:r>
              <a:rPr lang="en-US" sz="1800" b="1" dirty="0" err="1"/>
              <a:t>lược</a:t>
            </a:r>
            <a:r>
              <a:rPr lang="en-US" sz="1800" b="1" dirty="0"/>
              <a:t> Bollinger Bands </a:t>
            </a:r>
            <a:r>
              <a:rPr lang="en-US" sz="1800" b="1" dirty="0" err="1"/>
              <a:t>và</a:t>
            </a:r>
            <a:r>
              <a:rPr lang="en-US" sz="1800" b="1" dirty="0"/>
              <a:t> RSI:</a:t>
            </a:r>
            <a:endParaRPr lang="en-US" sz="1800" b="1" dirty="0"/>
          </a:p>
          <a:p>
            <a:pPr algn="just"/>
            <a:r>
              <a:rPr lang="vi-VN" b="1" dirty="0"/>
              <a:t>Tín Hiệu Mua (Buy Signal):</a:t>
            </a:r>
            <a:r>
              <a:rPr lang="vi-VN" dirty="0"/>
              <a:t> Một cơ hội mua xuất hiện khi giá cổ phiếu chạm vào hoặc tiệm cận Lower Bollinger Band, đồng thời RSI ở dưới </a:t>
            </a:r>
            <a:r>
              <a:rPr lang="en-US" dirty="0"/>
              <a:t>30</a:t>
            </a:r>
            <a:r>
              <a:rPr lang="vi-VN" dirty="0"/>
              <a:t>.</a:t>
            </a:r>
            <a:endParaRPr lang="vi-VN" dirty="0"/>
          </a:p>
          <a:p>
            <a:pPr algn="just"/>
            <a:r>
              <a:rPr lang="vi-VN" b="1" dirty="0"/>
              <a:t>Tín Hiệu Bán (Sell Signal):</a:t>
            </a:r>
            <a:r>
              <a:rPr lang="vi-VN" dirty="0"/>
              <a:t> Một cơ hội bán xuất hiện khi giá chạm vào hoặc tiệm cận Upper Bollinger Band đồng thời RSI ở trên </a:t>
            </a:r>
            <a:r>
              <a:rPr lang="en-US" dirty="0"/>
              <a:t>70</a:t>
            </a:r>
            <a:r>
              <a:rPr lang="vi-VN" dirty="0"/>
              <a:t>.</a:t>
            </a:r>
            <a:endParaRPr lang="en-US" dirty="0"/>
          </a:p>
          <a:p>
            <a:pPr algn="just"/>
            <a:endParaRPr lang="en-US" sz="1310" dirty="0"/>
          </a:p>
          <a:p>
            <a:pPr algn="just"/>
            <a:r>
              <a:rPr lang="vi-VN" sz="1310" b="1" dirty="0"/>
              <a:t>Bollinger Bands (BB)</a:t>
            </a:r>
            <a:endParaRPr lang="vi-VN" sz="1310" b="1" dirty="0"/>
          </a:p>
          <a:p>
            <a:pPr algn="just"/>
            <a:r>
              <a:rPr lang="vi-VN" sz="1310" dirty="0"/>
              <a:t>Bollinger Bands là một công cụ phân tích kỹ thuật được phát triển bởi John Bollinger vào đầu những năm 1980. Bollinger Bands bao gồm ba đường:</a:t>
            </a:r>
            <a:endParaRPr lang="vi-VN" sz="1310" dirty="0"/>
          </a:p>
          <a:p>
            <a:pPr algn="just"/>
            <a:r>
              <a:rPr lang="en-US" sz="1310" b="1" dirty="0"/>
              <a:t>- </a:t>
            </a:r>
            <a:r>
              <a:rPr lang="vi-VN" sz="1310" b="1" dirty="0"/>
              <a:t>Đường giữa:</a:t>
            </a:r>
            <a:r>
              <a:rPr lang="vi-VN" sz="1310" dirty="0"/>
              <a:t> Đường Moving Average đơn giản (MA) thường là MA của 20 ngày.</a:t>
            </a:r>
            <a:endParaRPr lang="vi-VN" sz="1310" dirty="0"/>
          </a:p>
          <a:p>
            <a:pPr algn="just"/>
            <a:r>
              <a:rPr lang="en-US" sz="1310" b="1" dirty="0"/>
              <a:t>- </a:t>
            </a:r>
            <a:r>
              <a:rPr lang="vi-VN" sz="1310" b="1" dirty="0"/>
              <a:t>Upper Bollinger Band:</a:t>
            </a:r>
            <a:r>
              <a:rPr lang="vi-VN" sz="1310" dirty="0"/>
              <a:t> Được tính toán bằng cách cộng độ lệch chuẩn (thường là 2) của giá với đường MA</a:t>
            </a:r>
            <a:r>
              <a:rPr lang="en-US" sz="1310" dirty="0"/>
              <a:t> (MA + 2 * </a:t>
            </a:r>
            <a:r>
              <a:rPr lang="en-US" sz="1310" dirty="0" err="1"/>
              <a:t>std</a:t>
            </a:r>
            <a:r>
              <a:rPr lang="en-US" sz="1310" dirty="0"/>
              <a:t>)</a:t>
            </a:r>
            <a:endParaRPr lang="vi-VN" sz="1310" dirty="0"/>
          </a:p>
          <a:p>
            <a:pPr algn="just"/>
            <a:r>
              <a:rPr lang="en-US" sz="1310" b="1" dirty="0"/>
              <a:t>- </a:t>
            </a:r>
            <a:r>
              <a:rPr lang="vi-VN" sz="1310" b="1" dirty="0"/>
              <a:t>Lower Bollinger Band:</a:t>
            </a:r>
            <a:r>
              <a:rPr lang="vi-VN" sz="1310" dirty="0"/>
              <a:t> Được tính toán bằng cách trừ độ lệch chuẩn (thường là 2) của giá khỏi đường MA</a:t>
            </a:r>
            <a:r>
              <a:rPr lang="en-US" sz="1310" dirty="0"/>
              <a:t> (MA – 2 * </a:t>
            </a:r>
            <a:r>
              <a:rPr lang="en-US" sz="1310" dirty="0" err="1"/>
              <a:t>std</a:t>
            </a:r>
            <a:r>
              <a:rPr lang="en-US" sz="1310" dirty="0"/>
              <a:t>)</a:t>
            </a:r>
            <a:endParaRPr lang="vi-VN" sz="1310" dirty="0"/>
          </a:p>
          <a:p>
            <a:pPr algn="just"/>
            <a:r>
              <a:rPr lang="vi-VN" sz="1310" b="1" dirty="0"/>
              <a:t>Bollinger Bands thể hiện mức độ biến động giá: càng rộng cho thấy biến động càng lớn và càng hẹp cho thấy biến động càng thấp. Khi giá tiếp cận hoặc vượt qua các band, nó có thể chỉ ra các điểm mua hoặc bán.</a:t>
            </a:r>
            <a:endParaRPr lang="vi-VN" sz="1310" b="1" dirty="0"/>
          </a:p>
          <a:p>
            <a:pPr algn="just"/>
            <a:endParaRPr lang="en-US" sz="1310" b="1" dirty="0"/>
          </a:p>
          <a:p>
            <a:pPr algn="just"/>
            <a:r>
              <a:rPr lang="vi-VN" sz="1310" b="1" dirty="0"/>
              <a:t>Relative Strength Index (RSI)</a:t>
            </a:r>
            <a:endParaRPr lang="vi-VN" sz="1310" b="1" dirty="0"/>
          </a:p>
          <a:p>
            <a:pPr algn="just"/>
            <a:r>
              <a:rPr lang="vi-VN" sz="1310" dirty="0"/>
              <a:t>Relative Strength Index (RSI) là một chỉ báo động lượng được phát triển bởi J. Welles Wilder và thường được sử dụng để xác định tình trạng quá mua (overbought) hoặc quá bán (oversold) của tài sản. RSI được tính từ tỉ lệ của các biến động giá lên và giá xuống và được biểu diễn trong một phạm vi từ 0 đến 100.</a:t>
            </a:r>
            <a:endParaRPr lang="vi-VN" sz="1310" dirty="0"/>
          </a:p>
          <a:p>
            <a:pPr algn="just"/>
            <a:r>
              <a:rPr lang="vi-VN" sz="1310" dirty="0"/>
              <a:t>Một giá trị RSI dưới 30 thường được coi là cho thấy tài sản đang ở trong tình trạng quá bán, và đây có thể là một tín hiệu mua.</a:t>
            </a:r>
            <a:endParaRPr lang="vi-VN" sz="1310" dirty="0"/>
          </a:p>
          <a:p>
            <a:pPr algn="just"/>
            <a:r>
              <a:rPr lang="vi-VN" sz="1310" dirty="0"/>
              <a:t>Một giá trị RSI trên 70 thường được coi là cho thấy tài sản đang ở trong tình trạng quá mua, và đây có thể là một tín hiệu bán.</a:t>
            </a:r>
            <a:endParaRPr lang="vi-VN" sz="1310" dirty="0"/>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defRPr/>
            </a:pPr>
            <a:endParaRPr lang="en-US" sz="1800" b="1" dirty="0"/>
          </a:p>
          <a:p>
            <a:pPr algn="just"/>
            <a:r>
              <a:rPr lang="vi-VN" dirty="0"/>
              <a:t> </a:t>
            </a:r>
            <a:endParaRPr lang="en-US" sz="1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endParaRPr lang="vi-VN" sz="2400" b="1" dirty="0">
              <a:solidFill>
                <a:srgbClr val="FFFFFF"/>
              </a:solidFill>
              <a:latin typeface="Arial (body)"/>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defRPr/>
            </a:pPr>
            <a:r>
              <a:rPr lang="en-US" sz="1800" b="1" dirty="0" err="1"/>
              <a:t>Chiến</a:t>
            </a:r>
            <a:r>
              <a:rPr lang="en-US" sz="1800" b="1" dirty="0"/>
              <a:t> </a:t>
            </a:r>
            <a:r>
              <a:rPr lang="en-US" sz="1800" b="1" dirty="0" err="1"/>
              <a:t>lược</a:t>
            </a:r>
            <a:r>
              <a:rPr lang="en-US" sz="1800" b="1" dirty="0"/>
              <a:t> Bollinger Bands </a:t>
            </a:r>
            <a:r>
              <a:rPr lang="en-US" sz="1800" b="1" dirty="0" err="1"/>
              <a:t>và</a:t>
            </a:r>
            <a:r>
              <a:rPr lang="en-US" sz="1800" b="1" dirty="0"/>
              <a:t> RSI:</a:t>
            </a:r>
            <a:endParaRPr lang="en-US" sz="1800" b="1" dirty="0"/>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defRPr/>
            </a:pPr>
            <a:endParaRPr lang="en-US" sz="1800" b="1" dirty="0"/>
          </a:p>
          <a:p>
            <a:pPr algn="just"/>
            <a:r>
              <a:rPr lang="vi-VN" dirty="0"/>
              <a:t> </a:t>
            </a:r>
            <a:endParaRPr lang="en-US" sz="1800" b="1" dirty="0"/>
          </a:p>
        </p:txBody>
      </p:sp>
      <p:pic>
        <p:nvPicPr>
          <p:cNvPr id="2" name="Picture 1"/>
          <p:cNvPicPr>
            <a:picLocks noChangeAspect="1"/>
          </p:cNvPicPr>
          <p:nvPr/>
        </p:nvPicPr>
        <p:blipFill>
          <a:blip r:embed="rId2"/>
          <a:stretch>
            <a:fillRect/>
          </a:stretch>
        </p:blipFill>
        <p:spPr>
          <a:xfrm>
            <a:off x="613352" y="1289483"/>
            <a:ext cx="7677150" cy="1304925"/>
          </a:xfrm>
          <a:prstGeom prst="rect">
            <a:avLst/>
          </a:prstGeom>
        </p:spPr>
      </p:pic>
      <p:pic>
        <p:nvPicPr>
          <p:cNvPr id="3" name="Picture 2"/>
          <p:cNvPicPr>
            <a:picLocks noChangeAspect="1"/>
          </p:cNvPicPr>
          <p:nvPr/>
        </p:nvPicPr>
        <p:blipFill>
          <a:blip r:embed="rId3"/>
          <a:stretch>
            <a:fillRect/>
          </a:stretch>
        </p:blipFill>
        <p:spPr>
          <a:xfrm>
            <a:off x="2139885" y="2702801"/>
            <a:ext cx="7004115" cy="40238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endParaRPr lang="vi-VN" sz="2400" b="1" dirty="0">
              <a:solidFill>
                <a:srgbClr val="FFFFFF"/>
              </a:solidFill>
              <a:latin typeface="Arial (body)"/>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defRPr/>
            </a:pPr>
            <a:r>
              <a:rPr lang="en-US" sz="1800" b="1" dirty="0" err="1"/>
              <a:t>Chiến</a:t>
            </a:r>
            <a:r>
              <a:rPr lang="en-US" sz="1800" b="1" dirty="0"/>
              <a:t> </a:t>
            </a:r>
            <a:r>
              <a:rPr lang="en-US" sz="1800" b="1" dirty="0" err="1"/>
              <a:t>lược</a:t>
            </a:r>
            <a:r>
              <a:rPr lang="en-US" sz="1800" b="1" dirty="0"/>
              <a:t> </a:t>
            </a:r>
            <a:r>
              <a:rPr lang="en-US" sz="1800" b="1" dirty="0" err="1"/>
              <a:t>Doji</a:t>
            </a:r>
            <a:r>
              <a:rPr lang="en-US" sz="1800" b="1" dirty="0"/>
              <a:t> </a:t>
            </a:r>
            <a:r>
              <a:rPr lang="en-US" sz="1800" b="1" dirty="0" err="1"/>
              <a:t>chân</a:t>
            </a:r>
            <a:r>
              <a:rPr lang="en-US" sz="1800" b="1" dirty="0"/>
              <a:t> </a:t>
            </a:r>
            <a:r>
              <a:rPr lang="en-US" sz="1800" b="1" dirty="0" err="1"/>
              <a:t>dài</a:t>
            </a:r>
            <a:r>
              <a:rPr lang="en-US" sz="1800" b="1" dirty="0"/>
              <a:t>:</a:t>
            </a:r>
            <a:endParaRPr lang="en-US" sz="1800" b="1" dirty="0"/>
          </a:p>
          <a:p>
            <a:pPr algn="just"/>
            <a:r>
              <a:rPr lang="vi-VN" b="1" dirty="0"/>
              <a:t>Tín Hiệu Mua (Buy Signal):</a:t>
            </a:r>
            <a:r>
              <a:rPr lang="vi-VN" dirty="0"/>
              <a:t> Một cơ hội mua xuất hiện khi </a:t>
            </a:r>
            <a:r>
              <a:rPr lang="en-US" dirty="0" err="1"/>
              <a:t>nến</a:t>
            </a:r>
            <a:r>
              <a:rPr lang="en-US" dirty="0"/>
              <a:t> </a:t>
            </a:r>
            <a:r>
              <a:rPr lang="en-US" dirty="0" err="1"/>
              <a:t>là</a:t>
            </a:r>
            <a:r>
              <a:rPr lang="en-US" dirty="0"/>
              <a:t> </a:t>
            </a:r>
            <a:r>
              <a:rPr lang="en-US" dirty="0" err="1"/>
              <a:t>nến</a:t>
            </a:r>
            <a:r>
              <a:rPr lang="en-US" dirty="0"/>
              <a:t> </a:t>
            </a:r>
            <a:r>
              <a:rPr lang="en-US" dirty="0" err="1"/>
              <a:t>Doji</a:t>
            </a:r>
            <a:r>
              <a:rPr lang="en-US" dirty="0"/>
              <a:t> </a:t>
            </a:r>
            <a:r>
              <a:rPr lang="en-US" dirty="0" err="1"/>
              <a:t>chân</a:t>
            </a:r>
            <a:r>
              <a:rPr lang="en-US" dirty="0"/>
              <a:t> </a:t>
            </a:r>
            <a:r>
              <a:rPr lang="en-US" dirty="0" err="1"/>
              <a:t>dài</a:t>
            </a:r>
            <a:r>
              <a:rPr lang="en-US" dirty="0"/>
              <a:t> </a:t>
            </a:r>
            <a:r>
              <a:rPr lang="en-US" dirty="0" err="1"/>
              <a:t>và</a:t>
            </a:r>
            <a:r>
              <a:rPr lang="en-US" dirty="0"/>
              <a:t> </a:t>
            </a:r>
            <a:r>
              <a:rPr lang="en-US" dirty="0" err="1"/>
              <a:t>nến</a:t>
            </a:r>
            <a:r>
              <a:rPr lang="en-US" dirty="0"/>
              <a:t> </a:t>
            </a:r>
            <a:r>
              <a:rPr lang="en-US" dirty="0" err="1"/>
              <a:t>sau</a:t>
            </a:r>
            <a:r>
              <a:rPr lang="en-US" dirty="0"/>
              <a:t> (</a:t>
            </a:r>
            <a:r>
              <a:rPr lang="en-US" dirty="0" err="1"/>
              <a:t>nến</a:t>
            </a:r>
            <a:r>
              <a:rPr lang="en-US" dirty="0"/>
              <a:t> </a:t>
            </a:r>
            <a:r>
              <a:rPr lang="en-US" dirty="0" err="1"/>
              <a:t>tiếp</a:t>
            </a:r>
            <a:r>
              <a:rPr lang="en-US" dirty="0"/>
              <a:t> </a:t>
            </a:r>
            <a:r>
              <a:rPr lang="en-US" dirty="0" err="1"/>
              <a:t>theo</a:t>
            </a:r>
            <a:r>
              <a:rPr lang="en-US" dirty="0"/>
              <a:t> </a:t>
            </a:r>
            <a:r>
              <a:rPr lang="en-US" dirty="0" err="1"/>
              <a:t>để</a:t>
            </a:r>
            <a:r>
              <a:rPr lang="en-US" dirty="0"/>
              <a:t> </a:t>
            </a:r>
            <a:r>
              <a:rPr lang="en-US" dirty="0" err="1"/>
              <a:t>xác</a:t>
            </a:r>
            <a:r>
              <a:rPr lang="en-US" dirty="0"/>
              <a:t> </a:t>
            </a:r>
            <a:r>
              <a:rPr lang="en-US" dirty="0" err="1"/>
              <a:t>nhận</a:t>
            </a:r>
            <a:r>
              <a:rPr lang="en-US" dirty="0"/>
              <a:t> </a:t>
            </a:r>
            <a:r>
              <a:rPr lang="en-US" dirty="0" err="1"/>
              <a:t>xu</a:t>
            </a:r>
            <a:r>
              <a:rPr lang="en-US" dirty="0"/>
              <a:t> </a:t>
            </a:r>
            <a:r>
              <a:rPr lang="en-US" dirty="0" err="1"/>
              <a:t>hướng</a:t>
            </a:r>
            <a:r>
              <a:rPr lang="en-US" dirty="0"/>
              <a:t> </a:t>
            </a:r>
            <a:r>
              <a:rPr lang="en-US" dirty="0" err="1"/>
              <a:t>là</a:t>
            </a:r>
            <a:r>
              <a:rPr lang="en-US" dirty="0"/>
              <a:t> </a:t>
            </a:r>
            <a:r>
              <a:rPr lang="en-US" dirty="0" err="1"/>
              <a:t>nến</a:t>
            </a:r>
            <a:r>
              <a:rPr lang="en-US" dirty="0"/>
              <a:t> </a:t>
            </a:r>
            <a:r>
              <a:rPr lang="en-US" dirty="0" err="1"/>
              <a:t>tăng</a:t>
            </a:r>
            <a:r>
              <a:rPr lang="en-US" dirty="0"/>
              <a:t>)</a:t>
            </a:r>
            <a:r>
              <a:rPr lang="vi-VN" dirty="0"/>
              <a:t>.</a:t>
            </a:r>
            <a:endParaRPr lang="vi-VN" dirty="0"/>
          </a:p>
          <a:p>
            <a:pPr algn="just"/>
            <a:r>
              <a:rPr lang="vi-VN" b="1" dirty="0"/>
              <a:t>Tín Hiệu Bán (Sell Signal):</a:t>
            </a:r>
            <a:r>
              <a:rPr lang="vi-VN" dirty="0"/>
              <a:t> Một cơ hội bán xuất hiện khi </a:t>
            </a:r>
            <a:r>
              <a:rPr lang="en-US" dirty="0" err="1"/>
              <a:t>nến</a:t>
            </a:r>
            <a:r>
              <a:rPr lang="en-US" dirty="0"/>
              <a:t> </a:t>
            </a:r>
            <a:r>
              <a:rPr lang="en-US" dirty="0" err="1"/>
              <a:t>là</a:t>
            </a:r>
            <a:r>
              <a:rPr lang="en-US" dirty="0"/>
              <a:t> </a:t>
            </a:r>
            <a:r>
              <a:rPr lang="en-US" dirty="0" err="1"/>
              <a:t>nến</a:t>
            </a:r>
            <a:r>
              <a:rPr lang="en-US" dirty="0"/>
              <a:t> </a:t>
            </a:r>
            <a:r>
              <a:rPr lang="en-US" dirty="0" err="1"/>
              <a:t>Doji</a:t>
            </a:r>
            <a:r>
              <a:rPr lang="en-US" dirty="0"/>
              <a:t> </a:t>
            </a:r>
            <a:r>
              <a:rPr lang="en-US" dirty="0" err="1"/>
              <a:t>chân</a:t>
            </a:r>
            <a:r>
              <a:rPr lang="en-US" dirty="0"/>
              <a:t> </a:t>
            </a:r>
            <a:r>
              <a:rPr lang="en-US" dirty="0" err="1"/>
              <a:t>dài</a:t>
            </a:r>
            <a:r>
              <a:rPr lang="en-US" dirty="0"/>
              <a:t> </a:t>
            </a:r>
            <a:r>
              <a:rPr lang="en-US" dirty="0" err="1"/>
              <a:t>và</a:t>
            </a:r>
            <a:r>
              <a:rPr lang="en-US" dirty="0"/>
              <a:t> </a:t>
            </a:r>
            <a:r>
              <a:rPr lang="en-US" dirty="0" err="1"/>
              <a:t>nến</a:t>
            </a:r>
            <a:r>
              <a:rPr lang="en-US" dirty="0"/>
              <a:t> </a:t>
            </a:r>
            <a:r>
              <a:rPr lang="en-US" dirty="0" err="1"/>
              <a:t>sau</a:t>
            </a:r>
            <a:r>
              <a:rPr lang="en-US" dirty="0"/>
              <a:t> (</a:t>
            </a:r>
            <a:r>
              <a:rPr lang="en-US" dirty="0" err="1"/>
              <a:t>nến</a:t>
            </a:r>
            <a:r>
              <a:rPr lang="en-US" dirty="0"/>
              <a:t> </a:t>
            </a:r>
            <a:r>
              <a:rPr lang="en-US" dirty="0" err="1"/>
              <a:t>tiếp</a:t>
            </a:r>
            <a:r>
              <a:rPr lang="en-US" dirty="0"/>
              <a:t> </a:t>
            </a:r>
            <a:r>
              <a:rPr lang="en-US" dirty="0" err="1"/>
              <a:t>theo</a:t>
            </a:r>
            <a:r>
              <a:rPr lang="en-US" dirty="0"/>
              <a:t> </a:t>
            </a:r>
            <a:r>
              <a:rPr lang="en-US" dirty="0" err="1"/>
              <a:t>để</a:t>
            </a:r>
            <a:r>
              <a:rPr lang="en-US" dirty="0"/>
              <a:t> </a:t>
            </a:r>
            <a:r>
              <a:rPr lang="en-US" dirty="0" err="1"/>
              <a:t>xác</a:t>
            </a:r>
            <a:r>
              <a:rPr lang="en-US" dirty="0"/>
              <a:t> </a:t>
            </a:r>
            <a:r>
              <a:rPr lang="en-US" dirty="0" err="1"/>
              <a:t>nhận</a:t>
            </a:r>
            <a:r>
              <a:rPr lang="en-US" dirty="0"/>
              <a:t> </a:t>
            </a:r>
            <a:r>
              <a:rPr lang="en-US" dirty="0" err="1"/>
              <a:t>xu</a:t>
            </a:r>
            <a:r>
              <a:rPr lang="en-US" dirty="0"/>
              <a:t> </a:t>
            </a:r>
            <a:r>
              <a:rPr lang="en-US" dirty="0" err="1"/>
              <a:t>hướng</a:t>
            </a:r>
            <a:r>
              <a:rPr lang="en-US" dirty="0"/>
              <a:t> </a:t>
            </a:r>
            <a:r>
              <a:rPr lang="en-US" dirty="0" err="1"/>
              <a:t>là</a:t>
            </a:r>
            <a:r>
              <a:rPr lang="en-US" dirty="0"/>
              <a:t> </a:t>
            </a:r>
            <a:r>
              <a:rPr lang="en-US" dirty="0" err="1"/>
              <a:t>nến</a:t>
            </a:r>
            <a:r>
              <a:rPr lang="en-US" dirty="0"/>
              <a:t> </a:t>
            </a:r>
            <a:r>
              <a:rPr lang="en-US" dirty="0" err="1"/>
              <a:t>giảm</a:t>
            </a:r>
            <a:r>
              <a:rPr lang="en-US" dirty="0"/>
              <a:t>)</a:t>
            </a:r>
            <a:r>
              <a:rPr lang="vi-VN" dirty="0"/>
              <a:t>.</a:t>
            </a:r>
            <a:endParaRPr lang="en-US" dirty="0"/>
          </a:p>
          <a:p>
            <a:pPr algn="just"/>
            <a:endParaRPr lang="en-US" sz="1310" dirty="0"/>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defRPr/>
            </a:pPr>
            <a:endParaRPr lang="en-US" sz="1800" b="1" dirty="0"/>
          </a:p>
          <a:p>
            <a:pPr algn="just"/>
            <a:r>
              <a:rPr lang="vi-VN" dirty="0"/>
              <a:t> </a:t>
            </a:r>
            <a:endParaRPr lang="en-US" sz="18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endParaRPr lang="vi-VN" sz="2400" b="1" dirty="0">
              <a:solidFill>
                <a:srgbClr val="FFFFFF"/>
              </a:solidFill>
              <a:latin typeface="Arial (body)"/>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defRPr/>
            </a:pPr>
            <a:r>
              <a:rPr lang="en-US" sz="1800" b="1" dirty="0" err="1"/>
              <a:t>Chiến</a:t>
            </a:r>
            <a:r>
              <a:rPr lang="en-US" sz="1800" b="1" dirty="0"/>
              <a:t> </a:t>
            </a:r>
            <a:r>
              <a:rPr lang="en-US" sz="1800" b="1" dirty="0" err="1"/>
              <a:t>lược</a:t>
            </a:r>
            <a:r>
              <a:rPr lang="en-US" sz="1800" b="1" dirty="0"/>
              <a:t> </a:t>
            </a:r>
            <a:r>
              <a:rPr lang="en-US" sz="1800" b="1" dirty="0" err="1"/>
              <a:t>Doji</a:t>
            </a:r>
            <a:r>
              <a:rPr lang="en-US" sz="1800" b="1" dirty="0"/>
              <a:t> </a:t>
            </a:r>
            <a:r>
              <a:rPr lang="en-US" sz="1800" b="1" dirty="0" err="1"/>
              <a:t>chân</a:t>
            </a:r>
            <a:r>
              <a:rPr lang="en-US" sz="1800" b="1" dirty="0"/>
              <a:t> </a:t>
            </a:r>
            <a:r>
              <a:rPr lang="en-US" sz="1800" b="1" dirty="0" err="1"/>
              <a:t>dài</a:t>
            </a:r>
            <a:r>
              <a:rPr lang="en-US" sz="1800" b="1" dirty="0"/>
              <a:t>:</a:t>
            </a:r>
            <a:endParaRPr lang="en-US" sz="1800" b="1" dirty="0"/>
          </a:p>
          <a:p>
            <a:pPr algn="just"/>
            <a:endParaRPr lang="en-US" sz="1310" dirty="0"/>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defRPr/>
            </a:pPr>
            <a:endParaRPr lang="en-US" sz="1800" b="1" dirty="0"/>
          </a:p>
          <a:p>
            <a:pPr algn="just"/>
            <a:r>
              <a:rPr lang="vi-VN" dirty="0"/>
              <a:t> </a:t>
            </a:r>
            <a:endParaRPr lang="en-US" sz="1800" b="1" dirty="0"/>
          </a:p>
        </p:txBody>
      </p:sp>
      <p:pic>
        <p:nvPicPr>
          <p:cNvPr id="2" name="Picture 1"/>
          <p:cNvPicPr>
            <a:picLocks noChangeAspect="1"/>
          </p:cNvPicPr>
          <p:nvPr/>
        </p:nvPicPr>
        <p:blipFill>
          <a:blip r:embed="rId2"/>
          <a:stretch>
            <a:fillRect/>
          </a:stretch>
        </p:blipFill>
        <p:spPr>
          <a:xfrm>
            <a:off x="581977" y="1328811"/>
            <a:ext cx="6474605" cy="2444011"/>
          </a:xfrm>
          <a:prstGeom prst="rect">
            <a:avLst/>
          </a:prstGeom>
        </p:spPr>
      </p:pic>
      <p:pic>
        <p:nvPicPr>
          <p:cNvPr id="3" name="Picture 2"/>
          <p:cNvPicPr>
            <a:picLocks noChangeAspect="1"/>
          </p:cNvPicPr>
          <p:nvPr/>
        </p:nvPicPr>
        <p:blipFill>
          <a:blip r:embed="rId3"/>
          <a:stretch>
            <a:fillRect/>
          </a:stretch>
        </p:blipFill>
        <p:spPr>
          <a:xfrm>
            <a:off x="2341377" y="3859362"/>
            <a:ext cx="6802623" cy="24584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endParaRPr lang="vi-VN" sz="2400" b="1" dirty="0">
              <a:solidFill>
                <a:srgbClr val="FFFFFF"/>
              </a:solidFill>
              <a:latin typeface="Arial (body)"/>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defRPr/>
            </a:pPr>
            <a:r>
              <a:rPr lang="en-US" sz="1800" b="1" dirty="0" err="1"/>
              <a:t>Chiến</a:t>
            </a:r>
            <a:r>
              <a:rPr lang="en-US" sz="1800" b="1" dirty="0"/>
              <a:t> </a:t>
            </a:r>
            <a:r>
              <a:rPr lang="en-US" sz="1800" b="1" dirty="0" err="1"/>
              <a:t>lược</a:t>
            </a:r>
            <a:r>
              <a:rPr lang="en-US" sz="1800" b="1" dirty="0"/>
              <a:t> SPY 500, VIX:</a:t>
            </a:r>
            <a:endParaRPr lang="en-US" sz="1800" b="1" dirty="0"/>
          </a:p>
          <a:p>
            <a:pPr algn="just"/>
            <a:r>
              <a:rPr lang="vi-VN" b="1" dirty="0"/>
              <a:t>Tín Hiệu Mua (Buy Signal):</a:t>
            </a:r>
            <a:r>
              <a:rPr lang="vi-VN" dirty="0"/>
              <a:t> Một cơ hội mua xuất hiện </a:t>
            </a:r>
            <a:r>
              <a:rPr lang="en-US" dirty="0" err="1"/>
              <a:t>khi</a:t>
            </a:r>
            <a:r>
              <a:rPr lang="en-US" dirty="0"/>
              <a:t> VIX &gt; 15 (</a:t>
            </a:r>
            <a:r>
              <a:rPr lang="en-US" dirty="0" err="1"/>
              <a:t>hoặc</a:t>
            </a:r>
            <a:r>
              <a:rPr lang="en-US" dirty="0"/>
              <a:t> 1 </a:t>
            </a:r>
            <a:r>
              <a:rPr lang="en-US" dirty="0" err="1"/>
              <a:t>ngưỡng</a:t>
            </a:r>
            <a:r>
              <a:rPr lang="en-US" dirty="0"/>
              <a:t> </a:t>
            </a:r>
            <a:r>
              <a:rPr lang="en-US" dirty="0" err="1"/>
              <a:t>nào</a:t>
            </a:r>
            <a:r>
              <a:rPr lang="en-US" dirty="0"/>
              <a:t> </a:t>
            </a:r>
            <a:r>
              <a:rPr lang="en-US" dirty="0" err="1"/>
              <a:t>đó</a:t>
            </a:r>
            <a:r>
              <a:rPr lang="en-US" dirty="0"/>
              <a:t>)</a:t>
            </a:r>
            <a:endParaRPr lang="vi-VN" dirty="0"/>
          </a:p>
          <a:p>
            <a:pPr algn="just"/>
            <a:r>
              <a:rPr lang="vi-VN" b="1" dirty="0"/>
              <a:t>Tín Hiệu Bán (Sell Signal):</a:t>
            </a:r>
            <a:r>
              <a:rPr lang="vi-VN" dirty="0"/>
              <a:t> Một cơ hội bán xuất hiện khi</a:t>
            </a:r>
            <a:r>
              <a:rPr lang="en-US" dirty="0"/>
              <a:t> VIX &lt; 10 (</a:t>
            </a:r>
            <a:r>
              <a:rPr lang="en-US" dirty="0" err="1"/>
              <a:t>hoặc</a:t>
            </a:r>
            <a:r>
              <a:rPr lang="en-US" dirty="0"/>
              <a:t> 1 </a:t>
            </a:r>
            <a:r>
              <a:rPr lang="en-US" dirty="0" err="1"/>
              <a:t>ngưỡng</a:t>
            </a:r>
            <a:r>
              <a:rPr lang="en-US" dirty="0"/>
              <a:t> </a:t>
            </a:r>
            <a:r>
              <a:rPr lang="en-US" dirty="0" err="1"/>
              <a:t>nào</a:t>
            </a:r>
            <a:r>
              <a:rPr lang="en-US" dirty="0"/>
              <a:t> </a:t>
            </a:r>
            <a:r>
              <a:rPr lang="en-US" dirty="0" err="1"/>
              <a:t>đó</a:t>
            </a:r>
            <a:r>
              <a:rPr lang="en-US" dirty="0"/>
              <a:t>)</a:t>
            </a:r>
            <a:endParaRPr lang="en-US" dirty="0"/>
          </a:p>
          <a:p>
            <a:pPr algn="just"/>
            <a:endParaRPr lang="en-US" sz="1310" dirty="0"/>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defRPr/>
            </a:pPr>
            <a:endParaRPr lang="en-US" sz="1800" b="1" dirty="0"/>
          </a:p>
          <a:p>
            <a:pPr algn="just"/>
            <a:r>
              <a:rPr lang="vi-VN" dirty="0"/>
              <a:t> </a:t>
            </a:r>
            <a:endParaRPr lang="en-US" sz="18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endParaRPr lang="vi-VN" sz="2400" b="1" dirty="0">
              <a:solidFill>
                <a:srgbClr val="FFFFFF"/>
              </a:solidFill>
              <a:latin typeface="Arial (body)"/>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defRPr/>
            </a:pPr>
            <a:r>
              <a:rPr lang="en-US" sz="1800" b="1" dirty="0" err="1"/>
              <a:t>Chiến</a:t>
            </a:r>
            <a:r>
              <a:rPr lang="en-US" sz="1800" b="1" dirty="0"/>
              <a:t> </a:t>
            </a:r>
            <a:r>
              <a:rPr lang="en-US" sz="1800" b="1" dirty="0" err="1"/>
              <a:t>lược</a:t>
            </a:r>
            <a:r>
              <a:rPr lang="en-US" sz="1800" b="1" dirty="0"/>
              <a:t> SPY 500, VIX:</a:t>
            </a:r>
            <a:endParaRPr lang="en-US" sz="1800" b="1" dirty="0"/>
          </a:p>
          <a:p>
            <a:pPr algn="just"/>
            <a:endParaRPr lang="en-US" sz="1310" dirty="0"/>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defRPr/>
            </a:pPr>
            <a:endParaRPr lang="en-US" sz="1800" b="1" dirty="0"/>
          </a:p>
          <a:p>
            <a:pPr algn="just"/>
            <a:r>
              <a:rPr lang="vi-VN" dirty="0"/>
              <a:t> </a:t>
            </a:r>
            <a:endParaRPr lang="en-US" sz="1800" b="1" dirty="0"/>
          </a:p>
        </p:txBody>
      </p:sp>
      <p:pic>
        <p:nvPicPr>
          <p:cNvPr id="7" name="Picture 6"/>
          <p:cNvPicPr>
            <a:picLocks noChangeAspect="1"/>
          </p:cNvPicPr>
          <p:nvPr/>
        </p:nvPicPr>
        <p:blipFill>
          <a:blip r:embed="rId2"/>
          <a:stretch>
            <a:fillRect/>
          </a:stretch>
        </p:blipFill>
        <p:spPr>
          <a:xfrm>
            <a:off x="648734" y="1337888"/>
            <a:ext cx="8144372" cy="2100462"/>
          </a:xfrm>
          <a:prstGeom prst="rect">
            <a:avLst/>
          </a:prstGeom>
        </p:spPr>
      </p:pic>
      <p:pic>
        <p:nvPicPr>
          <p:cNvPr id="8" name="Picture 7"/>
          <p:cNvPicPr>
            <a:picLocks noChangeAspect="1"/>
          </p:cNvPicPr>
          <p:nvPr/>
        </p:nvPicPr>
        <p:blipFill>
          <a:blip r:embed="rId3"/>
          <a:stretch>
            <a:fillRect/>
          </a:stretch>
        </p:blipFill>
        <p:spPr>
          <a:xfrm>
            <a:off x="2336801" y="3529649"/>
            <a:ext cx="6807200" cy="260150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vi-VN" sz="2400" b="1"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rPr>
              <a:t>Nội dung chính</a:t>
            </a:r>
            <a:endParaRPr kumimoji="0" sz="2400" b="1"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vi-VN"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Thực hành tại lớp</a:t>
            </a: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defRPr/>
            </a:pPr>
            <a:r>
              <a:rPr kumimoji="0" lang="vi-VN"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API</a:t>
            </a: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defRPr/>
            </a:pPr>
            <a:r>
              <a:rPr kumimoji="0" lang="vi-VN"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Tạo key, get data</a:t>
            </a:r>
            <a:endParaRPr kumimoji="0"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defRPr/>
            </a:pPr>
            <a:r>
              <a:rPr kumimoji="0" lang="vi-VN"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Get dat &amp; Clean &amp; chuẩn hóa data</a:t>
            </a:r>
            <a:endPar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endPar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defRPr/>
            </a:pP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Vào</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lệnh</a:t>
            </a:r>
            <a:endPar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defRPr/>
            </a:pPr>
            <a:r>
              <a:rPr lang="en-US" sz="1800" b="1" dirty="0" err="1"/>
              <a:t>Cách</a:t>
            </a:r>
            <a:r>
              <a:rPr lang="en-US" sz="1800" b="1" dirty="0"/>
              <a:t> </a:t>
            </a:r>
            <a:r>
              <a:rPr lang="en-US" sz="1800" b="1" dirty="0" err="1"/>
              <a:t>xây</a:t>
            </a:r>
            <a:r>
              <a:rPr lang="en-US" sz="1800" b="1" dirty="0"/>
              <a:t> </a:t>
            </a:r>
            <a:r>
              <a:rPr lang="en-US" sz="1800" b="1" dirty="0" err="1"/>
              <a:t>dựng</a:t>
            </a:r>
            <a:r>
              <a:rPr lang="en-US" sz="1800" b="1" dirty="0"/>
              <a:t> common</a:t>
            </a:r>
            <a:endPar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Tx/>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dirty="0">
                <a:solidFill>
                  <a:schemeClr val="lt1"/>
                </a:solidFill>
              </a:rPr>
              <a:t>Nội dung chính</a:t>
            </a:r>
            <a:endParaRPr sz="2400" b="1" i="0" u="none" strike="noStrike" cap="none" dirty="0">
              <a:solidFill>
                <a:schemeClr val="lt1"/>
              </a:solidFill>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501650" lvl="0" indent="-400050">
              <a:lnSpc>
                <a:spcPct val="115000"/>
              </a:lnSpc>
              <a:spcBef>
                <a:spcPts val="1600"/>
              </a:spcBef>
              <a:buClr>
                <a:schemeClr val="dk1"/>
              </a:buClr>
              <a:buSzPts val="2000"/>
              <a:buAutoNum type="romanUcPeriod"/>
            </a:pPr>
            <a:r>
              <a:rPr lang="en-US" b="1" u="sng" dirty="0">
                <a:solidFill>
                  <a:schemeClr val="dk1"/>
                </a:solidFill>
                <a:latin typeface="+mn-lt"/>
                <a:ea typeface="Maven Pro"/>
                <a:cs typeface="Maven Pro"/>
                <a:sym typeface="Maven Pro"/>
              </a:rPr>
              <a:t>Chiến </a:t>
            </a:r>
            <a:r>
              <a:rPr lang="en-US" b="1" u="sng" dirty="0" err="1">
                <a:solidFill>
                  <a:schemeClr val="dk1"/>
                </a:solidFill>
                <a:latin typeface="+mn-lt"/>
                <a:ea typeface="Maven Pro"/>
                <a:cs typeface="Maven Pro"/>
                <a:sym typeface="Maven Pro"/>
              </a:rPr>
              <a:t>lược</a:t>
            </a:r>
            <a:r>
              <a:rPr lang="en-US" b="1" u="sng" dirty="0">
                <a:solidFill>
                  <a:schemeClr val="dk1"/>
                </a:solidFill>
                <a:latin typeface="+mn-lt"/>
                <a:ea typeface="Maven Pro"/>
                <a:cs typeface="Maven Pro"/>
                <a:sym typeface="Maven Pro"/>
              </a:rPr>
              <a:t> </a:t>
            </a:r>
            <a:r>
              <a:rPr lang="en-US" b="1" u="sng" dirty="0" err="1">
                <a:solidFill>
                  <a:schemeClr val="dk1"/>
                </a:solidFill>
                <a:latin typeface="+mn-lt"/>
                <a:ea typeface="Maven Pro"/>
                <a:cs typeface="Maven Pro"/>
                <a:sym typeface="Maven Pro"/>
              </a:rPr>
              <a:t>để</a:t>
            </a:r>
            <a:r>
              <a:rPr lang="en-US" b="1" u="sng" dirty="0">
                <a:solidFill>
                  <a:schemeClr val="dk1"/>
                </a:solidFill>
                <a:latin typeface="+mn-lt"/>
                <a:ea typeface="Maven Pro"/>
                <a:cs typeface="Maven Pro"/>
                <a:sym typeface="Maven Pro"/>
              </a:rPr>
              <a:t> </a:t>
            </a:r>
            <a:r>
              <a:rPr lang="en-US" b="1" u="sng" dirty="0" err="1">
                <a:solidFill>
                  <a:schemeClr val="dk1"/>
                </a:solidFill>
                <a:latin typeface="+mn-lt"/>
                <a:ea typeface="Maven Pro"/>
                <a:cs typeface="Maven Pro"/>
                <a:sym typeface="Maven Pro"/>
              </a:rPr>
              <a:t>vào</a:t>
            </a:r>
            <a:r>
              <a:rPr lang="en-US" b="1" u="sng" dirty="0">
                <a:solidFill>
                  <a:schemeClr val="dk1"/>
                </a:solidFill>
                <a:latin typeface="+mn-lt"/>
                <a:ea typeface="Maven Pro"/>
                <a:cs typeface="Maven Pro"/>
                <a:sym typeface="Maven Pro"/>
              </a:rPr>
              <a:t> </a:t>
            </a:r>
            <a:r>
              <a:rPr lang="en-US" b="1" u="sng" dirty="0" err="1">
                <a:solidFill>
                  <a:schemeClr val="dk1"/>
                </a:solidFill>
                <a:latin typeface="+mn-lt"/>
                <a:ea typeface="Maven Pro"/>
                <a:cs typeface="Maven Pro"/>
                <a:sym typeface="Maven Pro"/>
              </a:rPr>
              <a:t>lệnh</a:t>
            </a:r>
            <a:endParaRPr lang="en-US" b="1" u="sng"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r>
              <a:rPr lang="en-US" b="1" dirty="0">
                <a:solidFill>
                  <a:schemeClr val="tx1"/>
                </a:solidFill>
                <a:latin typeface="+mn-lt"/>
                <a:ea typeface="Maven Pro"/>
                <a:cs typeface="Maven Pro"/>
                <a:sym typeface="Maven Pro"/>
              </a:rPr>
              <a:t>      I.1. </a:t>
            </a:r>
            <a:r>
              <a:rPr lang="en-US" b="1" dirty="0">
                <a:solidFill>
                  <a:schemeClr val="tx1"/>
                </a:solidFill>
                <a:ea typeface="Maven Pro"/>
                <a:cs typeface="Maven Pro"/>
                <a:sym typeface="Maven Pro"/>
              </a:rPr>
              <a:t>Chiến </a:t>
            </a:r>
            <a:r>
              <a:rPr lang="en-US" b="1" dirty="0" err="1">
                <a:solidFill>
                  <a:schemeClr val="tx1"/>
                </a:solidFill>
                <a:ea typeface="Maven Pro"/>
                <a:cs typeface="Maven Pro"/>
                <a:sym typeface="Maven Pro"/>
              </a:rPr>
              <a:t>lược</a:t>
            </a:r>
            <a:r>
              <a:rPr lang="en-US" b="1" dirty="0">
                <a:solidFill>
                  <a:schemeClr val="tx1"/>
                </a:solidFill>
                <a:ea typeface="Maven Pro"/>
                <a:cs typeface="Maven Pro"/>
                <a:sym typeface="Maven Pro"/>
              </a:rPr>
              <a:t> </a:t>
            </a:r>
            <a:r>
              <a:rPr lang="en-US" b="1" dirty="0" err="1">
                <a:solidFill>
                  <a:schemeClr val="tx1"/>
                </a:solidFill>
                <a:ea typeface="Maven Pro"/>
                <a:cs typeface="Maven Pro"/>
                <a:sym typeface="Maven Pro"/>
              </a:rPr>
              <a:t>nến</a:t>
            </a:r>
            <a:r>
              <a:rPr lang="en-US" b="1" dirty="0">
                <a:solidFill>
                  <a:schemeClr val="tx1"/>
                </a:solidFill>
                <a:ea typeface="Maven Pro"/>
                <a:cs typeface="Maven Pro"/>
                <a:sym typeface="Maven Pro"/>
              </a:rPr>
              <a:t> </a:t>
            </a:r>
            <a:r>
              <a:rPr lang="en-US" b="1" dirty="0" err="1">
                <a:solidFill>
                  <a:srgbClr val="FF0000"/>
                </a:solidFill>
                <a:ea typeface="Maven Pro"/>
                <a:cs typeface="Maven Pro"/>
                <a:sym typeface="Maven Pro"/>
              </a:rPr>
              <a:t>Doji</a:t>
            </a:r>
            <a:r>
              <a:rPr lang="en-US" b="1" dirty="0">
                <a:solidFill>
                  <a:srgbClr val="FF0000"/>
                </a:solidFill>
                <a:ea typeface="Maven Pro"/>
                <a:cs typeface="Maven Pro"/>
                <a:sym typeface="Maven Pro"/>
              </a:rPr>
              <a:t> – </a:t>
            </a:r>
            <a:r>
              <a:rPr lang="en-US" b="1" dirty="0" err="1">
                <a:solidFill>
                  <a:srgbClr val="FF0000"/>
                </a:solidFill>
                <a:ea typeface="Maven Pro"/>
                <a:cs typeface="Maven Pro"/>
                <a:sym typeface="Maven Pro"/>
              </a:rPr>
              <a:t>Doji</a:t>
            </a:r>
            <a:r>
              <a:rPr lang="en-US" b="1" dirty="0">
                <a:solidFill>
                  <a:srgbClr val="FF0000"/>
                </a:solidFill>
                <a:ea typeface="Maven Pro"/>
                <a:cs typeface="Maven Pro"/>
                <a:sym typeface="Maven Pro"/>
              </a:rPr>
              <a:t> </a:t>
            </a:r>
            <a:r>
              <a:rPr lang="en-US" b="1" dirty="0" err="1">
                <a:solidFill>
                  <a:srgbClr val="FF0000"/>
                </a:solidFill>
                <a:ea typeface="Maven Pro"/>
                <a:cs typeface="Maven Pro"/>
                <a:sym typeface="Maven Pro"/>
              </a:rPr>
              <a:t>chân</a:t>
            </a:r>
            <a:r>
              <a:rPr lang="en-US" b="1" dirty="0">
                <a:solidFill>
                  <a:srgbClr val="FF0000"/>
                </a:solidFill>
                <a:ea typeface="Maven Pro"/>
                <a:cs typeface="Maven Pro"/>
                <a:sym typeface="Maven Pro"/>
              </a:rPr>
              <a:t> </a:t>
            </a:r>
            <a:r>
              <a:rPr lang="en-US" b="1" dirty="0" err="1">
                <a:solidFill>
                  <a:srgbClr val="FF0000"/>
                </a:solidFill>
                <a:ea typeface="Maven Pro"/>
                <a:cs typeface="Maven Pro"/>
                <a:sym typeface="Maven Pro"/>
              </a:rPr>
              <a:t>dài</a:t>
            </a:r>
            <a:endParaRPr lang="en-US" b="1" dirty="0">
              <a:solidFill>
                <a:srgbClr val="FF0000"/>
              </a:solidFill>
              <a:ea typeface="Maven Pro"/>
              <a:cs typeface="Maven Pro"/>
              <a:sym typeface="Maven Pro"/>
            </a:endParaRPr>
          </a:p>
          <a:p>
            <a:pPr marL="101600" lvl="0">
              <a:lnSpc>
                <a:spcPct val="115000"/>
              </a:lnSpc>
              <a:spcBef>
                <a:spcPts val="1600"/>
              </a:spcBef>
              <a:buClr>
                <a:schemeClr val="dk1"/>
              </a:buClr>
              <a:buSzPts val="2000"/>
            </a:pPr>
            <a:r>
              <a:rPr lang="en-US" b="1" dirty="0">
                <a:solidFill>
                  <a:schemeClr val="tx1"/>
                </a:solidFill>
                <a:ea typeface="Maven Pro"/>
                <a:cs typeface="Maven Pro"/>
                <a:sym typeface="Maven Pro"/>
              </a:rPr>
              <a:t>      I.2. </a:t>
            </a:r>
            <a:r>
              <a:rPr lang="vi-VN" b="1" dirty="0">
                <a:solidFill>
                  <a:schemeClr val="tx1"/>
                </a:solidFill>
              </a:rPr>
              <a:t>Chiến lược giao dịch theo chỉ số biến động</a:t>
            </a:r>
            <a:r>
              <a:rPr lang="en-US" b="1" dirty="0">
                <a:solidFill>
                  <a:schemeClr val="tx1"/>
                </a:solidFill>
              </a:rPr>
              <a:t> (</a:t>
            </a:r>
            <a:r>
              <a:rPr lang="en-US" b="1" dirty="0">
                <a:solidFill>
                  <a:srgbClr val="FF0000"/>
                </a:solidFill>
                <a:ea typeface="Maven Pro"/>
                <a:cs typeface="Maven Pro"/>
                <a:sym typeface="Maven Pro"/>
              </a:rPr>
              <a:t>Chiến </a:t>
            </a:r>
            <a:r>
              <a:rPr lang="en-US" b="1" dirty="0" err="1">
                <a:solidFill>
                  <a:srgbClr val="FF0000"/>
                </a:solidFill>
                <a:ea typeface="Maven Pro"/>
                <a:cs typeface="Maven Pro"/>
                <a:sym typeface="Maven Pro"/>
              </a:rPr>
              <a:t>lược</a:t>
            </a:r>
            <a:r>
              <a:rPr lang="en-US" b="1" dirty="0">
                <a:solidFill>
                  <a:srgbClr val="FF0000"/>
                </a:solidFill>
                <a:ea typeface="Maven Pro"/>
                <a:cs typeface="Maven Pro"/>
                <a:sym typeface="Maven Pro"/>
              </a:rPr>
              <a:t> SPY500 – VIX</a:t>
            </a:r>
            <a:r>
              <a:rPr lang="en-US" b="1" dirty="0">
                <a:solidFill>
                  <a:schemeClr val="tx1"/>
                </a:solidFill>
                <a:ea typeface="Maven Pro"/>
                <a:cs typeface="Maven Pro"/>
                <a:sym typeface="Maven Pro"/>
              </a:rPr>
              <a:t>)</a:t>
            </a:r>
            <a:endParaRPr lang="en-US" b="1" dirty="0">
              <a:solidFill>
                <a:schemeClr val="tx1"/>
              </a:solidFill>
              <a:ea typeface="Maven Pro"/>
              <a:cs typeface="Maven Pro"/>
              <a:sym typeface="Maven Pro"/>
            </a:endParaRPr>
          </a:p>
          <a:p>
            <a:pPr marL="101600">
              <a:lnSpc>
                <a:spcPct val="115000"/>
              </a:lnSpc>
              <a:spcBef>
                <a:spcPts val="1600"/>
              </a:spcBef>
              <a:buClr>
                <a:schemeClr val="dk1"/>
              </a:buClr>
              <a:buSzPts val="2000"/>
            </a:pPr>
            <a:r>
              <a:rPr lang="en-US" b="1" dirty="0">
                <a:solidFill>
                  <a:schemeClr val="tx1"/>
                </a:solidFill>
                <a:ea typeface="Maven Pro"/>
                <a:cs typeface="Maven Pro"/>
                <a:sym typeface="Maven Pro"/>
              </a:rPr>
              <a:t>      I.3. </a:t>
            </a:r>
            <a:r>
              <a:rPr lang="en-US" b="1" dirty="0" err="1">
                <a:solidFill>
                  <a:schemeClr val="tx1"/>
                </a:solidFill>
                <a:ea typeface="Maven Pro"/>
                <a:cs typeface="Maven Pro"/>
                <a:sym typeface="Maven Pro"/>
              </a:rPr>
              <a:t>Chiến</a:t>
            </a:r>
            <a:r>
              <a:rPr lang="en-US" b="1" dirty="0">
                <a:solidFill>
                  <a:schemeClr val="tx1"/>
                </a:solidFill>
                <a:ea typeface="Maven Pro"/>
                <a:cs typeface="Maven Pro"/>
                <a:sym typeface="Maven Pro"/>
              </a:rPr>
              <a:t> </a:t>
            </a:r>
            <a:r>
              <a:rPr lang="en-US" b="1" dirty="0" err="1">
                <a:solidFill>
                  <a:schemeClr val="tx1"/>
                </a:solidFill>
                <a:ea typeface="Maven Pro"/>
                <a:cs typeface="Maven Pro"/>
                <a:sym typeface="Maven Pro"/>
              </a:rPr>
              <a:t>lược</a:t>
            </a:r>
            <a:r>
              <a:rPr lang="en-US" b="1" dirty="0">
                <a:solidFill>
                  <a:schemeClr val="tx1"/>
                </a:solidFill>
                <a:ea typeface="Maven Pro"/>
                <a:cs typeface="Maven Pro"/>
                <a:sym typeface="Maven Pro"/>
              </a:rPr>
              <a:t> </a:t>
            </a:r>
            <a:r>
              <a:rPr lang="en-US" b="1" dirty="0" err="1">
                <a:solidFill>
                  <a:schemeClr val="tx1"/>
                </a:solidFill>
                <a:ea typeface="Maven Pro"/>
                <a:cs typeface="Maven Pro"/>
                <a:sym typeface="Maven Pro"/>
              </a:rPr>
              <a:t>của</a:t>
            </a:r>
            <a:r>
              <a:rPr lang="en-US" b="1" dirty="0">
                <a:solidFill>
                  <a:schemeClr val="tx1"/>
                </a:solidFill>
                <a:ea typeface="Maven Pro"/>
                <a:cs typeface="Maven Pro"/>
                <a:sym typeface="Maven Pro"/>
              </a:rPr>
              <a:t> 1 </a:t>
            </a:r>
            <a:r>
              <a:rPr lang="en-US" b="1" dirty="0" err="1">
                <a:solidFill>
                  <a:schemeClr val="tx1"/>
                </a:solidFill>
                <a:ea typeface="Maven Pro"/>
                <a:cs typeface="Maven Pro"/>
                <a:sym typeface="Maven Pro"/>
              </a:rPr>
              <a:t>học</a:t>
            </a:r>
            <a:r>
              <a:rPr lang="en-US" b="1" dirty="0">
                <a:solidFill>
                  <a:schemeClr val="tx1"/>
                </a:solidFill>
                <a:ea typeface="Maven Pro"/>
                <a:cs typeface="Maven Pro"/>
                <a:sym typeface="Maven Pro"/>
              </a:rPr>
              <a:t> </a:t>
            </a:r>
            <a:r>
              <a:rPr lang="en-US" b="1" dirty="0" err="1">
                <a:solidFill>
                  <a:schemeClr val="tx1"/>
                </a:solidFill>
                <a:ea typeface="Maven Pro"/>
                <a:cs typeface="Maven Pro"/>
                <a:sym typeface="Maven Pro"/>
              </a:rPr>
              <a:t>viên</a:t>
            </a:r>
            <a:r>
              <a:rPr lang="en-US" b="1" dirty="0">
                <a:solidFill>
                  <a:schemeClr val="tx1"/>
                </a:solidFill>
                <a:ea typeface="Maven Pro"/>
                <a:cs typeface="Maven Pro"/>
                <a:sym typeface="Maven Pro"/>
              </a:rPr>
              <a:t> </a:t>
            </a:r>
            <a:endParaRPr lang="en-US" b="1" dirty="0">
              <a:solidFill>
                <a:schemeClr val="tx1"/>
              </a:solidFill>
              <a:ea typeface="Maven Pro"/>
              <a:cs typeface="Maven Pro"/>
              <a:sym typeface="Maven Pro"/>
            </a:endParaRPr>
          </a:p>
          <a:p>
            <a:pPr marL="501650" lvl="0" indent="-400050">
              <a:lnSpc>
                <a:spcPct val="115000"/>
              </a:lnSpc>
              <a:spcBef>
                <a:spcPts val="1600"/>
              </a:spcBef>
              <a:buClr>
                <a:schemeClr val="dk1"/>
              </a:buClr>
              <a:buSzPts val="2000"/>
              <a:buFont typeface="+mj-lt"/>
              <a:buAutoNum type="romanUcPeriod" startAt="2"/>
            </a:pPr>
            <a:r>
              <a:rPr lang="en-US" b="1" u="sng" dirty="0" err="1">
                <a:solidFill>
                  <a:schemeClr val="dk1"/>
                </a:solidFill>
                <a:latin typeface="+mn-lt"/>
                <a:ea typeface="Maven Pro"/>
                <a:cs typeface="Maven Pro"/>
                <a:sym typeface="Maven Pro"/>
              </a:rPr>
              <a:t>Vào</a:t>
            </a:r>
            <a:r>
              <a:rPr lang="en-US" b="1" u="sng" dirty="0">
                <a:solidFill>
                  <a:schemeClr val="dk1"/>
                </a:solidFill>
                <a:latin typeface="+mn-lt"/>
                <a:ea typeface="Maven Pro"/>
                <a:cs typeface="Maven Pro"/>
                <a:sym typeface="Maven Pro"/>
              </a:rPr>
              <a:t> </a:t>
            </a:r>
            <a:r>
              <a:rPr lang="en-US" b="1" u="sng" dirty="0" err="1">
                <a:solidFill>
                  <a:schemeClr val="dk1"/>
                </a:solidFill>
                <a:latin typeface="+mn-lt"/>
                <a:ea typeface="Maven Pro"/>
                <a:cs typeface="Maven Pro"/>
                <a:sym typeface="Maven Pro"/>
              </a:rPr>
              <a:t>lệnh</a:t>
            </a:r>
            <a:r>
              <a:rPr lang="en-US" b="1" u="sng" dirty="0">
                <a:solidFill>
                  <a:schemeClr val="dk1"/>
                </a:solidFill>
                <a:latin typeface="+mn-lt"/>
                <a:ea typeface="Maven Pro"/>
                <a:cs typeface="Maven Pro"/>
                <a:sym typeface="Maven Pro"/>
              </a:rPr>
              <a:t> </a:t>
            </a:r>
            <a:r>
              <a:rPr lang="en-US" b="1" u="sng" dirty="0" err="1">
                <a:solidFill>
                  <a:schemeClr val="dk1"/>
                </a:solidFill>
                <a:latin typeface="+mn-lt"/>
                <a:ea typeface="Maven Pro"/>
                <a:cs typeface="Maven Pro"/>
                <a:sym typeface="Maven Pro"/>
              </a:rPr>
              <a:t>bằng</a:t>
            </a:r>
            <a:r>
              <a:rPr lang="en-US" b="1" u="sng" dirty="0">
                <a:solidFill>
                  <a:schemeClr val="dk1"/>
                </a:solidFill>
                <a:latin typeface="+mn-lt"/>
                <a:ea typeface="Maven Pro"/>
                <a:cs typeface="Maven Pro"/>
                <a:sym typeface="Maven Pro"/>
              </a:rPr>
              <a:t> </a:t>
            </a:r>
            <a:r>
              <a:rPr lang="en-US" b="1" u="sng" dirty="0">
                <a:solidFill>
                  <a:srgbClr val="FF0000"/>
                </a:solidFill>
                <a:latin typeface="+mn-lt"/>
                <a:ea typeface="Maven Pro"/>
                <a:cs typeface="Maven Pro"/>
                <a:sym typeface="Maven Pro"/>
              </a:rPr>
              <a:t>manual</a:t>
            </a:r>
            <a:endParaRPr lang="en-US" b="1" u="sng" dirty="0">
              <a:solidFill>
                <a:srgbClr val="FF0000"/>
              </a:solidFill>
              <a:latin typeface="+mn-lt"/>
              <a:ea typeface="Maven Pro"/>
              <a:cs typeface="Maven Pro"/>
              <a:sym typeface="Maven Pro"/>
            </a:endParaRPr>
          </a:p>
          <a:p>
            <a:pPr marL="101600" lvl="0">
              <a:lnSpc>
                <a:spcPct val="115000"/>
              </a:lnSpc>
              <a:spcBef>
                <a:spcPts val="1600"/>
              </a:spcBef>
              <a:buClr>
                <a:schemeClr val="dk1"/>
              </a:buClr>
              <a:buSzPts val="2000"/>
            </a:pPr>
            <a:r>
              <a:rPr lang="en-US" b="1" dirty="0">
                <a:solidFill>
                  <a:schemeClr val="dk1"/>
                </a:solidFill>
                <a:latin typeface="+mn-lt"/>
                <a:ea typeface="Maven Pro"/>
                <a:cs typeface="Maven Pro"/>
                <a:sym typeface="Maven Pro"/>
              </a:rPr>
              <a:t>      </a:t>
            </a:r>
            <a:r>
              <a:rPr lang="en-US" b="1" dirty="0">
                <a:solidFill>
                  <a:schemeClr val="dk1"/>
                </a:solidFill>
                <a:ea typeface="Maven Pro"/>
                <a:cs typeface="Maven Pro"/>
                <a:sym typeface="Maven Pro"/>
              </a:rPr>
              <a:t>II.1. </a:t>
            </a:r>
            <a:r>
              <a:rPr lang="vi-VN" b="1" dirty="0">
                <a:solidFill>
                  <a:schemeClr val="dk1"/>
                </a:solidFill>
                <a:ea typeface="Maven Pro"/>
                <a:cs typeface="Maven Pro"/>
                <a:sym typeface="Maven Pro"/>
              </a:rPr>
              <a:t>Vào lệnh bằng SSI</a:t>
            </a:r>
            <a:endParaRPr lang="vi-VN" b="1" dirty="0">
              <a:solidFill>
                <a:schemeClr val="dk1"/>
              </a:solidFill>
              <a:ea typeface="Maven Pro"/>
              <a:cs typeface="Maven Pro"/>
              <a:sym typeface="Maven Pro"/>
            </a:endParaRPr>
          </a:p>
          <a:p>
            <a:pPr marL="101600" lvl="0">
              <a:lnSpc>
                <a:spcPct val="115000"/>
              </a:lnSpc>
              <a:spcBef>
                <a:spcPts val="1600"/>
              </a:spcBef>
              <a:buClr>
                <a:schemeClr val="dk1"/>
              </a:buClr>
              <a:buSzPts val="2000"/>
            </a:pPr>
            <a:r>
              <a:rPr lang="en-US" b="1" dirty="0">
                <a:solidFill>
                  <a:schemeClr val="dk1"/>
                </a:solidFill>
                <a:ea typeface="Maven Pro"/>
                <a:cs typeface="Maven Pro"/>
                <a:sym typeface="Maven Pro"/>
              </a:rPr>
              <a:t>      II.2. </a:t>
            </a:r>
            <a:r>
              <a:rPr lang="vi-VN" b="1" dirty="0">
                <a:solidFill>
                  <a:schemeClr val="dk1"/>
                </a:solidFill>
                <a:ea typeface="Maven Pro"/>
                <a:cs typeface="Maven Pro"/>
                <a:sym typeface="Maven Pro"/>
              </a:rPr>
              <a:t>Vào lệnh bằng </a:t>
            </a:r>
            <a:r>
              <a:rPr lang="vi-VN" b="1" dirty="0">
                <a:solidFill>
                  <a:srgbClr val="FF0000"/>
                </a:solidFill>
                <a:ea typeface="Maven Pro"/>
                <a:cs typeface="Maven Pro"/>
                <a:sym typeface="Maven Pro"/>
              </a:rPr>
              <a:t>Binance</a:t>
            </a:r>
            <a:endParaRPr lang="vi-VN" b="1" dirty="0">
              <a:solidFill>
                <a:srgbClr val="FF0000"/>
              </a:solidFill>
              <a:ea typeface="Maven Pro"/>
              <a:cs typeface="Maven Pro"/>
              <a:sym typeface="Maven Pro"/>
            </a:endParaRPr>
          </a:p>
          <a:p>
            <a:pPr marL="101600" lvl="0">
              <a:lnSpc>
                <a:spcPct val="115000"/>
              </a:lnSpc>
              <a:spcBef>
                <a:spcPts val="1600"/>
              </a:spcBef>
              <a:buClr>
                <a:schemeClr val="dk1"/>
              </a:buClr>
              <a:buSzPts val="2000"/>
            </a:pPr>
            <a:r>
              <a:rPr lang="en-US" b="1" dirty="0">
                <a:solidFill>
                  <a:schemeClr val="dk1"/>
                </a:solidFill>
                <a:ea typeface="Maven Pro"/>
                <a:cs typeface="Maven Pro"/>
                <a:sym typeface="Maven Pro"/>
              </a:rPr>
              <a:t>      II.3. </a:t>
            </a:r>
            <a:r>
              <a:rPr lang="vi-VN" b="1" dirty="0">
                <a:solidFill>
                  <a:schemeClr val="dk1"/>
                </a:solidFill>
                <a:ea typeface="Maven Pro"/>
                <a:cs typeface="Maven Pro"/>
                <a:sym typeface="Maven Pro"/>
              </a:rPr>
              <a:t>Vào lệnh bằng</a:t>
            </a:r>
            <a:r>
              <a:rPr lang="en-US" b="1" dirty="0">
                <a:solidFill>
                  <a:schemeClr val="dk1"/>
                </a:solidFill>
                <a:ea typeface="Maven Pro"/>
                <a:cs typeface="Maven Pro"/>
                <a:sym typeface="Maven Pro"/>
              </a:rPr>
              <a:t> Forex</a:t>
            </a:r>
            <a:r>
              <a:rPr lang="vi-VN" b="1" dirty="0">
                <a:solidFill>
                  <a:schemeClr val="dk1"/>
                </a:solidFill>
                <a:ea typeface="Maven Pro"/>
                <a:cs typeface="Maven Pro"/>
                <a:sym typeface="Maven Pro"/>
              </a:rPr>
              <a:t> </a:t>
            </a:r>
            <a:r>
              <a:rPr lang="vi-VN" b="1" dirty="0">
                <a:solidFill>
                  <a:srgbClr val="FF0000"/>
                </a:solidFill>
                <a:ea typeface="Maven Pro"/>
                <a:cs typeface="Maven Pro"/>
                <a:sym typeface="Maven Pro"/>
              </a:rPr>
              <a:t>MT5</a:t>
            </a:r>
            <a:endParaRPr lang="en-US" b="1" dirty="0">
              <a:solidFill>
                <a:srgbClr val="FF0000"/>
              </a:solidFill>
              <a:latin typeface="+mn-lt"/>
              <a:ea typeface="Maven Pro"/>
              <a:cs typeface="Maven Pro"/>
              <a:sym typeface="Maven Pro"/>
            </a:endParaRPr>
          </a:p>
          <a:p>
            <a:pPr marL="501650" indent="-400050">
              <a:lnSpc>
                <a:spcPct val="115000"/>
              </a:lnSpc>
              <a:spcBef>
                <a:spcPts val="1600"/>
              </a:spcBef>
              <a:buClr>
                <a:schemeClr val="dk1"/>
              </a:buClr>
              <a:buSzPts val="2000"/>
              <a:buFont typeface="+mj-lt"/>
              <a:buAutoNum type="romanUcPeriod" startAt="3"/>
            </a:pPr>
            <a:r>
              <a:rPr lang="en-US" b="1" u="sng" dirty="0" err="1">
                <a:solidFill>
                  <a:schemeClr val="dk1"/>
                </a:solidFill>
                <a:latin typeface="+mn-lt"/>
                <a:ea typeface="Maven Pro"/>
                <a:cs typeface="Maven Pro"/>
                <a:sym typeface="Maven Pro"/>
              </a:rPr>
              <a:t>Vào</a:t>
            </a:r>
            <a:r>
              <a:rPr lang="en-US" b="1" u="sng" dirty="0">
                <a:solidFill>
                  <a:schemeClr val="dk1"/>
                </a:solidFill>
                <a:latin typeface="+mn-lt"/>
                <a:ea typeface="Maven Pro"/>
                <a:cs typeface="Maven Pro"/>
                <a:sym typeface="Maven Pro"/>
              </a:rPr>
              <a:t> </a:t>
            </a:r>
            <a:r>
              <a:rPr lang="en-US" b="1" u="sng" dirty="0" err="1">
                <a:solidFill>
                  <a:schemeClr val="dk1"/>
                </a:solidFill>
                <a:latin typeface="+mn-lt"/>
                <a:ea typeface="Maven Pro"/>
                <a:cs typeface="Maven Pro"/>
                <a:sym typeface="Maven Pro"/>
              </a:rPr>
              <a:t>lệnh</a:t>
            </a:r>
            <a:r>
              <a:rPr lang="en-US" b="1" u="sng" dirty="0">
                <a:solidFill>
                  <a:schemeClr val="dk1"/>
                </a:solidFill>
                <a:latin typeface="+mn-lt"/>
                <a:ea typeface="Maven Pro"/>
                <a:cs typeface="Maven Pro"/>
                <a:sym typeface="Maven Pro"/>
              </a:rPr>
              <a:t> </a:t>
            </a:r>
            <a:r>
              <a:rPr lang="en-US" b="1" u="sng" dirty="0" err="1">
                <a:solidFill>
                  <a:schemeClr val="dk1"/>
                </a:solidFill>
                <a:latin typeface="+mn-lt"/>
                <a:ea typeface="Maven Pro"/>
                <a:cs typeface="Maven Pro"/>
                <a:sym typeface="Maven Pro"/>
              </a:rPr>
              <a:t>bằng</a:t>
            </a:r>
            <a:r>
              <a:rPr lang="en-US" b="1" u="sng" dirty="0">
                <a:solidFill>
                  <a:schemeClr val="dk1"/>
                </a:solidFill>
                <a:latin typeface="+mn-lt"/>
                <a:ea typeface="Maven Pro"/>
                <a:cs typeface="Maven Pro"/>
                <a:sym typeface="Maven Pro"/>
              </a:rPr>
              <a:t> </a:t>
            </a:r>
            <a:r>
              <a:rPr lang="en-US" b="1" u="sng" dirty="0">
                <a:solidFill>
                  <a:srgbClr val="FF0000"/>
                </a:solidFill>
                <a:latin typeface="+mn-lt"/>
                <a:ea typeface="Maven Pro"/>
                <a:cs typeface="Maven Pro"/>
                <a:sym typeface="Maven Pro"/>
              </a:rPr>
              <a:t>API</a:t>
            </a:r>
            <a:endParaRPr lang="en-US" b="1" u="sng" dirty="0">
              <a:solidFill>
                <a:srgbClr val="FF0000"/>
              </a:solidFill>
              <a:latin typeface="+mn-lt"/>
              <a:ea typeface="Maven Pro"/>
              <a:cs typeface="Maven Pro"/>
              <a:sym typeface="Maven Pro"/>
            </a:endParaRPr>
          </a:p>
          <a:p>
            <a:pPr marL="101600" lvl="0">
              <a:lnSpc>
                <a:spcPct val="115000"/>
              </a:lnSpc>
              <a:spcBef>
                <a:spcPts val="1600"/>
              </a:spcBef>
              <a:buClr>
                <a:schemeClr val="dk1"/>
              </a:buClr>
              <a:buSzPts val="2000"/>
            </a:pPr>
            <a:r>
              <a:rPr lang="en-US" b="1" dirty="0">
                <a:solidFill>
                  <a:schemeClr val="dk1"/>
                </a:solidFill>
                <a:latin typeface="+mn-lt"/>
                <a:ea typeface="Maven Pro"/>
                <a:cs typeface="Maven Pro"/>
                <a:sym typeface="Maven Pro"/>
              </a:rPr>
              <a:t>      III.1. </a:t>
            </a:r>
            <a:r>
              <a:rPr lang="vi-VN" b="1" dirty="0">
                <a:solidFill>
                  <a:schemeClr val="dk1"/>
                </a:solidFill>
                <a:latin typeface="+mn-lt"/>
                <a:ea typeface="Maven Pro"/>
                <a:cs typeface="Maven Pro"/>
                <a:sym typeface="Maven Pro"/>
              </a:rPr>
              <a:t>Vào lệnh bằng API SSI</a:t>
            </a:r>
            <a:endParaRPr lang="vi-VN" b="1"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r>
              <a:rPr lang="en-US" b="1" dirty="0">
                <a:solidFill>
                  <a:schemeClr val="dk1"/>
                </a:solidFill>
                <a:latin typeface="+mn-lt"/>
                <a:ea typeface="Maven Pro"/>
                <a:cs typeface="Maven Pro"/>
                <a:sym typeface="Maven Pro"/>
              </a:rPr>
              <a:t>      III.2. </a:t>
            </a:r>
            <a:r>
              <a:rPr lang="vi-VN" b="1" dirty="0">
                <a:solidFill>
                  <a:schemeClr val="dk1"/>
                </a:solidFill>
                <a:latin typeface="+mn-lt"/>
                <a:ea typeface="Maven Pro"/>
                <a:cs typeface="Maven Pro"/>
                <a:sym typeface="Maven Pro"/>
              </a:rPr>
              <a:t>Vào lệnh bằng </a:t>
            </a:r>
            <a:r>
              <a:rPr lang="vi-VN" b="1" dirty="0">
                <a:solidFill>
                  <a:srgbClr val="FF0000"/>
                </a:solidFill>
                <a:latin typeface="+mn-lt"/>
                <a:ea typeface="Maven Pro"/>
                <a:cs typeface="Maven Pro"/>
                <a:sym typeface="Maven Pro"/>
              </a:rPr>
              <a:t>API Binance</a:t>
            </a:r>
            <a:endParaRPr lang="vi-VN" b="1" dirty="0">
              <a:solidFill>
                <a:srgbClr val="FF0000"/>
              </a:solidFill>
              <a:latin typeface="+mn-lt"/>
              <a:ea typeface="Maven Pro"/>
              <a:cs typeface="Maven Pro"/>
              <a:sym typeface="Maven Pro"/>
            </a:endParaRPr>
          </a:p>
          <a:p>
            <a:pPr marL="101600" lvl="0">
              <a:lnSpc>
                <a:spcPct val="115000"/>
              </a:lnSpc>
              <a:spcBef>
                <a:spcPts val="1600"/>
              </a:spcBef>
              <a:buClr>
                <a:schemeClr val="dk1"/>
              </a:buClr>
              <a:buSzPts val="2000"/>
            </a:pPr>
            <a:r>
              <a:rPr lang="en-US" b="1" dirty="0">
                <a:solidFill>
                  <a:schemeClr val="dk1"/>
                </a:solidFill>
                <a:latin typeface="+mn-lt"/>
                <a:ea typeface="Maven Pro"/>
                <a:cs typeface="Maven Pro"/>
                <a:sym typeface="Maven Pro"/>
              </a:rPr>
              <a:t>      III.3. </a:t>
            </a:r>
            <a:r>
              <a:rPr lang="vi-VN" b="1" dirty="0">
                <a:solidFill>
                  <a:schemeClr val="dk1"/>
                </a:solidFill>
                <a:latin typeface="+mn-lt"/>
                <a:ea typeface="Maven Pro"/>
                <a:cs typeface="Maven Pro"/>
                <a:sym typeface="Maven Pro"/>
              </a:rPr>
              <a:t>Vào lệnh bằng </a:t>
            </a:r>
            <a:r>
              <a:rPr lang="vi-VN" b="1" dirty="0">
                <a:solidFill>
                  <a:srgbClr val="FF0000"/>
                </a:solidFill>
                <a:latin typeface="+mn-lt"/>
                <a:ea typeface="Maven Pro"/>
                <a:cs typeface="Maven Pro"/>
                <a:sym typeface="Maven Pro"/>
              </a:rPr>
              <a:t>API MT5</a:t>
            </a:r>
            <a:endParaRPr lang="en-US" b="1" dirty="0">
              <a:solidFill>
                <a:srgbClr val="FF0000"/>
              </a:solidFill>
              <a:latin typeface="+mn-lt"/>
              <a:ea typeface="Maven Pro"/>
              <a:cs typeface="Maven Pro"/>
              <a:sym typeface="Maven Pro"/>
            </a:endParaRPr>
          </a:p>
          <a:p>
            <a:pPr marL="101600" lvl="0">
              <a:lnSpc>
                <a:spcPct val="115000"/>
              </a:lnSpc>
              <a:spcBef>
                <a:spcPts val="1600"/>
              </a:spcBef>
              <a:buClr>
                <a:schemeClr val="dk1"/>
              </a:buClr>
              <a:buSzPts val="2000"/>
            </a:pPr>
            <a:endParaRPr b="1" dirty="0">
              <a:solidFill>
                <a:schemeClr val="dk1"/>
              </a:solidFill>
              <a:latin typeface="+mn-lt"/>
              <a:ea typeface="Maven Pro"/>
              <a:cs typeface="Maven Pro"/>
              <a:sym typeface="Maven Pr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tx1"/>
                </a:solidFill>
              </a:rPr>
              <a:t>I</a:t>
            </a:r>
            <a:r>
              <a:rPr lang="en-US" sz="2400" dirty="0">
                <a:solidFill>
                  <a:schemeClr val="tx1"/>
                </a:solidFill>
              </a:rPr>
              <a:t>. </a:t>
            </a:r>
            <a:r>
              <a:rPr lang="en-US" sz="2400" b="1" dirty="0">
                <a:solidFill>
                  <a:schemeClr val="tx1"/>
                </a:solidFill>
                <a:ea typeface="Maven Pro"/>
                <a:cs typeface="Maven Pro"/>
                <a:sym typeface="Maven Pro"/>
              </a:rPr>
              <a:t>Chiến </a:t>
            </a:r>
            <a:r>
              <a:rPr lang="en-US" sz="2400" b="1" dirty="0" err="1">
                <a:solidFill>
                  <a:schemeClr val="tx1"/>
                </a:solidFill>
                <a:ea typeface="Maven Pro"/>
                <a:cs typeface="Maven Pro"/>
                <a:sym typeface="Maven Pro"/>
              </a:rPr>
              <a:t>lược</a:t>
            </a:r>
            <a:r>
              <a:rPr lang="en-US" sz="2400" b="1" dirty="0">
                <a:solidFill>
                  <a:schemeClr val="tx1"/>
                </a:solidFill>
                <a:ea typeface="Maven Pro"/>
                <a:cs typeface="Maven Pro"/>
                <a:sym typeface="Maven Pro"/>
              </a:rPr>
              <a:t> </a:t>
            </a:r>
            <a:r>
              <a:rPr lang="en-US" sz="2400" b="1" dirty="0" err="1">
                <a:solidFill>
                  <a:schemeClr val="tx1"/>
                </a:solidFill>
                <a:ea typeface="Maven Pro"/>
                <a:cs typeface="Maven Pro"/>
                <a:sym typeface="Maven Pro"/>
              </a:rPr>
              <a:t>để</a:t>
            </a:r>
            <a:r>
              <a:rPr lang="en-US" sz="2400" b="1" dirty="0">
                <a:solidFill>
                  <a:schemeClr val="tx1"/>
                </a:solidFill>
                <a:ea typeface="Maven Pro"/>
                <a:cs typeface="Maven Pro"/>
                <a:sym typeface="Maven Pro"/>
              </a:rPr>
              <a:t> </a:t>
            </a:r>
            <a:r>
              <a:rPr lang="en-US" sz="2400" b="1" dirty="0" err="1">
                <a:solidFill>
                  <a:schemeClr val="tx1"/>
                </a:solidFill>
                <a:ea typeface="Maven Pro"/>
                <a:cs typeface="Maven Pro"/>
                <a:sym typeface="Maven Pro"/>
              </a:rPr>
              <a:t>vào</a:t>
            </a:r>
            <a:r>
              <a:rPr lang="en-US" sz="2400" b="1" dirty="0">
                <a:solidFill>
                  <a:schemeClr val="tx1"/>
                </a:solidFill>
                <a:ea typeface="Maven Pro"/>
                <a:cs typeface="Maven Pro"/>
                <a:sym typeface="Maven Pro"/>
              </a:rPr>
              <a:t> </a:t>
            </a:r>
            <a:r>
              <a:rPr lang="en-US" sz="2400" b="1" dirty="0" err="1">
                <a:solidFill>
                  <a:schemeClr val="tx1"/>
                </a:solidFill>
                <a:ea typeface="Maven Pro"/>
                <a:cs typeface="Maven Pro"/>
                <a:sym typeface="Maven Pro"/>
              </a:rPr>
              <a:t>lệnh</a:t>
            </a:r>
            <a:endParaRPr lang="en-US" sz="2400" b="1" dirty="0">
              <a:solidFill>
                <a:schemeClr val="tx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a:t>
            </a:r>
            <a:r>
              <a:rPr lang="en-US" sz="2400" dirty="0">
                <a:solidFill>
                  <a:schemeClr val="bg1"/>
                </a:solidFill>
              </a:rPr>
              <a:t>.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I.1. </a:t>
            </a:r>
            <a:r>
              <a:rPr lang="en-US" sz="1600" b="1" dirty="0">
                <a:solidFill>
                  <a:srgbClr val="FF0000"/>
                </a:solidFill>
                <a:ea typeface="Maven Pro"/>
                <a:cs typeface="Maven Pro"/>
                <a:sym typeface="Maven Pro"/>
              </a:rPr>
              <a:t>Chiến </a:t>
            </a:r>
            <a:r>
              <a:rPr lang="en-US" sz="1600" b="1" dirty="0" err="1">
                <a:solidFill>
                  <a:srgbClr val="FF0000"/>
                </a:solidFill>
                <a:ea typeface="Maven Pro"/>
                <a:cs typeface="Maven Pro"/>
                <a:sym typeface="Maven Pro"/>
              </a:rPr>
              <a:t>lược</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nến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Doji</a:t>
            </a:r>
            <a:r>
              <a:rPr lang="en-US" sz="1600" b="1" dirty="0">
                <a:solidFill>
                  <a:srgbClr val="FF0000"/>
                </a:solidFill>
                <a:ea typeface="Maven Pro"/>
                <a:cs typeface="Maven Pro"/>
                <a:sym typeface="Maven Pro"/>
              </a:rPr>
              <a:t> – </a:t>
            </a:r>
            <a:r>
              <a:rPr lang="en-US" sz="1600" b="1" dirty="0" err="1">
                <a:solidFill>
                  <a:srgbClr val="FF0000"/>
                </a:solidFill>
                <a:ea typeface="Maven Pro"/>
                <a:cs typeface="Maven Pro"/>
                <a:sym typeface="Maven Pro"/>
              </a:rPr>
              <a:t>Doji</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chân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dài</a:t>
            </a:r>
            <a:endParaRPr lang="en-US" sz="1600" b="1" dirty="0">
              <a:solidFill>
                <a:srgbClr val="FF0000"/>
              </a:solidFill>
              <a:ea typeface="Maven Pro"/>
              <a:cs typeface="Maven Pro"/>
              <a:sym typeface="Maven Pro"/>
            </a:endParaRPr>
          </a:p>
          <a:p>
            <a:pPr marL="444500" lvl="0" indent="-342900">
              <a:lnSpc>
                <a:spcPct val="115000"/>
              </a:lnSpc>
              <a:spcBef>
                <a:spcPts val="1600"/>
              </a:spcBef>
              <a:buClr>
                <a:schemeClr val="dk1"/>
              </a:buClr>
              <a:buSzPts val="2000"/>
              <a:buAutoNum type="alphaLcParenR"/>
            </a:pPr>
            <a:r>
              <a:rPr lang="en-US" sz="1600" b="1" u="sng" dirty="0" err="1">
                <a:solidFill>
                  <a:schemeClr val="tx1"/>
                </a:solidFill>
                <a:ea typeface="Maven Pro"/>
                <a:cs typeface="Maven Pro"/>
                <a:sym typeface="Maven Pro"/>
              </a:rPr>
              <a:t>Nhận</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diện</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nến</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Doji</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chân</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dài</a:t>
            </a:r>
            <a:r>
              <a:rPr lang="en-US" sz="1600" b="1" u="sng" dirty="0">
                <a:solidFill>
                  <a:schemeClr val="tx1"/>
                </a:solidFill>
                <a:ea typeface="Maven Pro"/>
                <a:cs typeface="Maven Pro"/>
                <a:sym typeface="Maven Pro"/>
              </a:rPr>
              <a:t>: </a:t>
            </a:r>
            <a:endParaRPr lang="en-US" sz="1600" b="1" u="sng" dirty="0">
              <a:solidFill>
                <a:schemeClr val="tx1"/>
              </a:solidFill>
              <a:ea typeface="Maven Pro"/>
              <a:cs typeface="Maven Pro"/>
              <a:sym typeface="Maven Pro"/>
            </a:endParaRPr>
          </a:p>
          <a:p>
            <a:pPr marL="387350" lvl="0" indent="-285750" algn="just">
              <a:lnSpc>
                <a:spcPct val="115000"/>
              </a:lnSpc>
              <a:spcBef>
                <a:spcPts val="1600"/>
              </a:spcBef>
              <a:buClr>
                <a:schemeClr val="dk1"/>
              </a:buClr>
              <a:buSzPts val="2000"/>
              <a:buFontTx/>
              <a:buChar char="-"/>
            </a:pPr>
            <a:r>
              <a:rPr lang="en-US" sz="1600" b="1" dirty="0" err="1">
                <a:solidFill>
                  <a:schemeClr val="tx1"/>
                </a:solidFill>
                <a:ea typeface="Maven Pro"/>
                <a:cs typeface="Maven Pro"/>
                <a:sym typeface="Maven Pro"/>
              </a:rPr>
              <a:t>Là</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là</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có</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giá</a:t>
            </a:r>
            <a:r>
              <a:rPr lang="en-US" sz="1600" b="1" dirty="0">
                <a:solidFill>
                  <a:schemeClr val="tx1"/>
                </a:solidFill>
                <a:ea typeface="Maven Pro"/>
                <a:cs typeface="Maven Pro"/>
                <a:sym typeface="Maven Pro"/>
              </a:rPr>
              <a:t> </a:t>
            </a:r>
            <a:r>
              <a:rPr lang="en-US" sz="1600" b="1" dirty="0" err="1">
                <a:solidFill>
                  <a:srgbClr val="FF0000"/>
                </a:solidFill>
                <a:ea typeface="Maven Pro"/>
                <a:cs typeface="Maven Pro"/>
                <a:sym typeface="Maven Pro"/>
              </a:rPr>
              <a:t>mở</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cửa</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và</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đóng</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cửa</a:t>
            </a:r>
            <a:r>
              <a:rPr lang="en-US" sz="1600" b="1" dirty="0">
                <a:solidFill>
                  <a:srgbClr val="FF0000"/>
                </a:solidFill>
                <a:ea typeface="Maven Pro"/>
                <a:cs typeface="Maven Pro"/>
                <a:sym typeface="Maven Pro"/>
              </a:rPr>
              <a:t> </a:t>
            </a:r>
            <a:r>
              <a:rPr lang="en-US" sz="1600" b="1" dirty="0" err="1">
                <a:solidFill>
                  <a:srgbClr val="FFC000"/>
                </a:solidFill>
                <a:ea typeface="Maven Pro"/>
                <a:cs typeface="Maven Pro"/>
                <a:sym typeface="Maven Pro"/>
              </a:rPr>
              <a:t>gần</a:t>
            </a:r>
            <a:r>
              <a:rPr lang="en-US" sz="1600" b="1" dirty="0">
                <a:solidFill>
                  <a:srgbClr val="FFC000"/>
                </a:solidFill>
                <a:ea typeface="Maven Pro"/>
                <a:cs typeface="Maven Pro"/>
                <a:sym typeface="Maven Pro"/>
              </a:rPr>
              <a:t> </a:t>
            </a:r>
            <a:r>
              <a:rPr lang="en-US" sz="1600" b="1" dirty="0" err="1">
                <a:solidFill>
                  <a:srgbClr val="FFC000"/>
                </a:solidFill>
                <a:ea typeface="Maven Pro"/>
                <a:cs typeface="Maven Pro"/>
                <a:sym typeface="Maven Pro"/>
              </a:rPr>
              <a:t>bằng</a:t>
            </a:r>
            <a:r>
              <a:rPr lang="en-US" sz="1600" b="1" dirty="0">
                <a:solidFill>
                  <a:srgbClr val="FFC000"/>
                </a:solidFill>
                <a:ea typeface="Maven Pro"/>
                <a:cs typeface="Maven Pro"/>
                <a:sym typeface="Maven Pro"/>
              </a:rPr>
              <a:t> </a:t>
            </a:r>
            <a:r>
              <a:rPr lang="en-US" sz="1600" b="1" dirty="0" err="1">
                <a:solidFill>
                  <a:srgbClr val="FFC000"/>
                </a:solidFill>
                <a:ea typeface="Maven Pro"/>
                <a:cs typeface="Maven Pro"/>
                <a:sym typeface="Maven Pro"/>
              </a:rPr>
              <a:t>nhau</a:t>
            </a:r>
            <a:r>
              <a:rPr lang="en-US" sz="1600" b="1" dirty="0">
                <a:solidFill>
                  <a:srgbClr val="FFC000"/>
                </a:solidFill>
                <a:ea typeface="Maven Pro"/>
                <a:cs typeface="Maven Pro"/>
                <a:sym typeface="Maven Pro"/>
              </a:rPr>
              <a:t> </a:t>
            </a:r>
            <a:r>
              <a:rPr lang="en-US" sz="1600" b="1" dirty="0">
                <a:solidFill>
                  <a:schemeClr val="tx1"/>
                </a:solidFill>
                <a:ea typeface="Maven Pro"/>
                <a:cs typeface="Maven Pro"/>
                <a:sym typeface="Maven Pro"/>
              </a:rPr>
              <a:t>(</a:t>
            </a:r>
            <a:r>
              <a:rPr lang="en-US" sz="1600" b="1" dirty="0" err="1">
                <a:solidFill>
                  <a:schemeClr val="tx1"/>
                </a:solidFill>
                <a:ea typeface="Maven Pro"/>
                <a:cs typeface="Maven Pro"/>
                <a:sym typeface="Maven Pro"/>
              </a:rPr>
              <a:t>không</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quan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trọng</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giá</a:t>
            </a:r>
            <a:r>
              <a:rPr lang="en-US" sz="1600" b="1" dirty="0">
                <a:solidFill>
                  <a:schemeClr val="tx1"/>
                </a:solidFill>
                <a:ea typeface="Maven Pro"/>
                <a:cs typeface="Maven Pro"/>
                <a:sym typeface="Maven Pro"/>
              </a:rPr>
              <a:t> </a:t>
            </a:r>
            <a:r>
              <a:rPr lang="en-US" sz="1600" b="1" dirty="0">
                <a:solidFill>
                  <a:srgbClr val="FF0000"/>
                </a:solidFill>
                <a:ea typeface="Maven Pro"/>
                <a:cs typeface="Maven Pro"/>
                <a:sym typeface="Maven Pro"/>
              </a:rPr>
              <a:t>Open &gt; </a:t>
            </a:r>
            <a:r>
              <a:rPr lang="en-US" sz="1600" b="1" dirty="0" err="1">
                <a:solidFill>
                  <a:srgbClr val="FF0000"/>
                </a:solidFill>
                <a:ea typeface="Maven Pro"/>
                <a:cs typeface="Maven Pro"/>
                <a:sym typeface="Maven Pro"/>
              </a:rPr>
              <a:t>hơn</a:t>
            </a:r>
            <a:r>
              <a:rPr lang="en-US" sz="1600" b="1" dirty="0">
                <a:solidFill>
                  <a:srgbClr val="FF0000"/>
                </a:solidFill>
                <a:ea typeface="Maven Pro"/>
                <a:cs typeface="Maven Pro"/>
                <a:sym typeface="Maven Pro"/>
              </a:rPr>
              <a:t> hay &lt; </a:t>
            </a:r>
            <a:r>
              <a:rPr lang="en-US" sz="1600" b="1" dirty="0" err="1">
                <a:solidFill>
                  <a:srgbClr val="FF0000"/>
                </a:solidFill>
                <a:ea typeface="Maven Pro"/>
                <a:cs typeface="Maven Pro"/>
                <a:sym typeface="Maven Pro"/>
              </a:rPr>
              <a:t>giá</a:t>
            </a:r>
            <a:r>
              <a:rPr lang="en-US" sz="1600" b="1" dirty="0">
                <a:solidFill>
                  <a:srgbClr val="FF0000"/>
                </a:solidFill>
                <a:ea typeface="Maven Pro"/>
                <a:cs typeface="Maven Pro"/>
                <a:sym typeface="Maven Pro"/>
              </a:rPr>
              <a:t> Close</a:t>
            </a:r>
            <a:r>
              <a:rPr lang="en-US" sz="1600" b="1" dirty="0">
                <a:solidFill>
                  <a:schemeClr val="tx1"/>
                </a:solidFill>
                <a:ea typeface="Maven Pro"/>
                <a:cs typeface="Maven Pro"/>
                <a:sym typeface="Maven Pro"/>
              </a:rPr>
              <a:t>)</a:t>
            </a:r>
            <a:endParaRPr lang="en-US" sz="1600" b="1" dirty="0">
              <a:solidFill>
                <a:schemeClr val="tx1"/>
              </a:solidFill>
              <a:ea typeface="Maven Pro"/>
              <a:cs typeface="Maven Pro"/>
              <a:sym typeface="Maven Pro"/>
            </a:endParaRPr>
          </a:p>
          <a:p>
            <a:pPr marL="387350" lvl="0" indent="-285750" algn="just">
              <a:lnSpc>
                <a:spcPct val="115000"/>
              </a:lnSpc>
              <a:spcBef>
                <a:spcPts val="1600"/>
              </a:spcBef>
              <a:buClr>
                <a:schemeClr val="dk1"/>
              </a:buClr>
              <a:buSzPts val="2000"/>
              <a:buFontTx/>
              <a:buChar char="-"/>
            </a:pPr>
            <a:r>
              <a:rPr lang="en-US" sz="1600" dirty="0" err="1">
                <a:solidFill>
                  <a:schemeClr val="tx1"/>
                </a:solidFill>
                <a:ea typeface="Maven Pro"/>
                <a:cs typeface="Maven Pro"/>
                <a:sym typeface="Maven Pro"/>
              </a:rPr>
              <a:t>Là</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Doji</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có</a:t>
            </a:r>
            <a:r>
              <a:rPr lang="en-US" sz="1600" dirty="0">
                <a:solidFill>
                  <a:schemeClr val="tx1"/>
                </a:solidFill>
                <a:ea typeface="Maven Pro"/>
                <a:cs typeface="Maven Pro"/>
                <a:sym typeface="Maven Pro"/>
              </a:rPr>
              <a:t>      </a:t>
            </a:r>
            <a:endParaRPr lang="en-US" sz="1600" dirty="0">
              <a:solidFill>
                <a:schemeClr val="tx1"/>
              </a:solidFill>
              <a:ea typeface="Maven Pro"/>
              <a:cs typeface="Maven Pro"/>
              <a:sym typeface="Maven Pro"/>
            </a:endParaRPr>
          </a:p>
          <a:p>
            <a:pPr marL="101600" lvl="0" algn="just">
              <a:lnSpc>
                <a:spcPct val="115000"/>
              </a:lnSpc>
              <a:spcBef>
                <a:spcPts val="1600"/>
              </a:spcBef>
              <a:buClr>
                <a:schemeClr val="dk1"/>
              </a:buClr>
              <a:buSzPts val="2000"/>
            </a:pPr>
            <a:r>
              <a:rPr lang="en-US" sz="1600" dirty="0">
                <a:solidFill>
                  <a:schemeClr val="tx1"/>
                </a:solidFill>
                <a:ea typeface="Maven Pro"/>
                <a:cs typeface="Maven Pro"/>
                <a:sym typeface="Maven Pro"/>
              </a:rPr>
              <a:t>     + </a:t>
            </a:r>
            <a:r>
              <a:rPr lang="en-US" sz="1600" b="1" dirty="0" err="1">
                <a:solidFill>
                  <a:srgbClr val="FF0000"/>
                </a:solidFill>
                <a:ea typeface="Maven Pro"/>
                <a:cs typeface="Maven Pro"/>
                <a:sym typeface="Maven Pro"/>
              </a:rPr>
              <a:t>Bóng</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nến</a:t>
            </a:r>
            <a:r>
              <a:rPr lang="en-US" sz="1600" b="1" dirty="0">
                <a:solidFill>
                  <a:srgbClr val="FF0000"/>
                </a:solidFill>
                <a:ea typeface="Maven Pro"/>
                <a:cs typeface="Maven Pro"/>
                <a:sym typeface="Maven Pro"/>
              </a:rPr>
              <a:t> </a:t>
            </a:r>
            <a:r>
              <a:rPr lang="en-US" sz="1600" b="1" dirty="0" err="1">
                <a:solidFill>
                  <a:schemeClr val="tx1"/>
                </a:solidFill>
                <a:ea typeface="Maven Pro"/>
                <a:cs typeface="Maven Pro"/>
                <a:sym typeface="Maven Pro"/>
              </a:rPr>
              <a:t>trên</a:t>
            </a:r>
            <a:r>
              <a:rPr lang="en-US" sz="1600" b="1" dirty="0">
                <a:solidFill>
                  <a:schemeClr val="tx1"/>
                </a:solidFill>
                <a:ea typeface="Maven Pro"/>
                <a:cs typeface="Maven Pro"/>
                <a:sym typeface="Maven Pro"/>
              </a:rPr>
              <a:t> &gt;= 2 </a:t>
            </a:r>
            <a:r>
              <a:rPr lang="en-US" sz="1600" b="1" dirty="0" err="1">
                <a:solidFill>
                  <a:schemeClr val="tx1"/>
                </a:solidFill>
                <a:ea typeface="Maven Pro"/>
                <a:cs typeface="Maven Pro"/>
                <a:sym typeface="Maven Pro"/>
              </a:rPr>
              <a:t>lần</a:t>
            </a:r>
            <a:r>
              <a:rPr lang="en-US" sz="1600" b="1" dirty="0">
                <a:solidFill>
                  <a:schemeClr val="tx1"/>
                </a:solidFill>
                <a:ea typeface="Maven Pro"/>
                <a:cs typeface="Maven Pro"/>
                <a:sym typeface="Maven Pro"/>
              </a:rPr>
              <a:t> </a:t>
            </a:r>
            <a:r>
              <a:rPr lang="en-US" sz="1600" b="1" dirty="0" err="1">
                <a:solidFill>
                  <a:srgbClr val="FF0000"/>
                </a:solidFill>
                <a:ea typeface="Maven Pro"/>
                <a:cs typeface="Maven Pro"/>
                <a:sym typeface="Maven Pro"/>
              </a:rPr>
              <a:t>thân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nến</a:t>
            </a:r>
            <a:r>
              <a:rPr lang="en-US" sz="1600" b="1" dirty="0">
                <a:solidFill>
                  <a:srgbClr val="FF0000"/>
                </a:solidFill>
                <a:ea typeface="Maven Pro"/>
                <a:cs typeface="Maven Pro"/>
                <a:sym typeface="Maven Pro"/>
              </a:rPr>
              <a:t> </a:t>
            </a:r>
            <a:r>
              <a:rPr lang="en-US" sz="1600" b="1" dirty="0" err="1">
                <a:solidFill>
                  <a:schemeClr val="tx1"/>
                </a:solidFill>
                <a:ea typeface="Maven Pro"/>
                <a:cs typeface="Maven Pro"/>
                <a:sym typeface="Maven Pro"/>
              </a:rPr>
              <a:t>và</a:t>
            </a:r>
            <a:r>
              <a:rPr lang="en-US" sz="1600" b="1" dirty="0">
                <a:solidFill>
                  <a:schemeClr val="tx1"/>
                </a:solidFill>
                <a:ea typeface="Maven Pro"/>
                <a:cs typeface="Maven Pro"/>
                <a:sym typeface="Maven Pro"/>
              </a:rPr>
              <a:t> </a:t>
            </a:r>
            <a:r>
              <a:rPr lang="en-US" sz="1600" b="1" dirty="0" err="1">
                <a:solidFill>
                  <a:srgbClr val="FF0000"/>
                </a:solidFill>
                <a:ea typeface="Maven Pro"/>
                <a:cs typeface="Maven Pro"/>
                <a:sym typeface="Maven Pro"/>
              </a:rPr>
              <a:t>bóng</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nến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dưới</a:t>
            </a:r>
            <a:r>
              <a:rPr lang="en-US" sz="1600" b="1" dirty="0">
                <a:solidFill>
                  <a:srgbClr val="FF0000"/>
                </a:solidFill>
                <a:ea typeface="Maven Pro"/>
                <a:cs typeface="Maven Pro"/>
                <a:sym typeface="Maven Pro"/>
              </a:rPr>
              <a:t> &gt;= 2 </a:t>
            </a:r>
            <a:r>
              <a:rPr lang="en-US" sz="1600" b="1" dirty="0" err="1">
                <a:solidFill>
                  <a:srgbClr val="FF0000"/>
                </a:solidFill>
                <a:ea typeface="Maven Pro"/>
                <a:cs typeface="Maven Pro"/>
                <a:sym typeface="Maven Pro"/>
              </a:rPr>
              <a:t>lần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thân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nến</a:t>
            </a:r>
            <a:r>
              <a:rPr lang="en-US" sz="1600" b="1" dirty="0">
                <a:solidFill>
                  <a:srgbClr val="FF0000"/>
                </a:solidFill>
                <a:ea typeface="Maven Pro"/>
                <a:cs typeface="Maven Pro"/>
                <a:sym typeface="Maven Pro"/>
              </a:rPr>
              <a:t> </a:t>
            </a:r>
            <a:endParaRPr lang="en-US" sz="1600" b="1" dirty="0">
              <a:solidFill>
                <a:srgbClr val="FF0000"/>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pic>
        <p:nvPicPr>
          <p:cNvPr id="5" name="Google Shape;124;p4"/>
          <p:cNvPicPr preferRelativeResize="0"/>
          <p:nvPr/>
        </p:nvPicPr>
        <p:blipFill>
          <a:blip r:embed="rId2"/>
          <a:stretch>
            <a:fillRect/>
          </a:stretch>
        </p:blipFill>
        <p:spPr>
          <a:xfrm>
            <a:off x="708791" y="3526971"/>
            <a:ext cx="5803976" cy="1464908"/>
          </a:xfrm>
          <a:prstGeom prst="rect">
            <a:avLst/>
          </a:prstGeom>
          <a:noFill/>
          <a:ln>
            <a:noFill/>
          </a:ln>
        </p:spPr>
      </p:pic>
      <p:sp>
        <p:nvSpPr>
          <p:cNvPr id="6" name="Google Shape;125;p4"/>
          <p:cNvSpPr txBox="1"/>
          <p:nvPr/>
        </p:nvSpPr>
        <p:spPr>
          <a:xfrm>
            <a:off x="1260739" y="5203844"/>
            <a:ext cx="7415700" cy="36929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panose="020B0604020202020204"/>
              <a:buNone/>
            </a:pPr>
            <a:r>
              <a:rPr lang="vi-VN" sz="1800" b="1" dirty="0">
                <a:solidFill>
                  <a:srgbClr val="00B050"/>
                </a:solidFill>
              </a:rPr>
              <a:t>GIÁ MỞ CỦA &amp; GIÁ ĐÓNG CỬA GẦN NHƯ NẰM TẠI CÙNG 1 ĐIỂM</a:t>
            </a:r>
            <a:endParaRPr sz="1800" b="1" dirty="0">
              <a:solidFill>
                <a:schemeClr val="dk1"/>
              </a:solidFill>
            </a:endParaRPr>
          </a:p>
        </p:txBody>
      </p:sp>
      <p:pic>
        <p:nvPicPr>
          <p:cNvPr id="7" name="Google Shape;126;p4"/>
          <p:cNvPicPr preferRelativeResize="0"/>
          <p:nvPr/>
        </p:nvPicPr>
        <p:blipFill>
          <a:blip r:embed="rId3"/>
          <a:stretch>
            <a:fillRect/>
          </a:stretch>
        </p:blipFill>
        <p:spPr>
          <a:xfrm>
            <a:off x="304800" y="5050507"/>
            <a:ext cx="833200" cy="689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a:t>
            </a:r>
            <a:r>
              <a:rPr lang="en-US" sz="2400" dirty="0">
                <a:solidFill>
                  <a:schemeClr val="bg1"/>
                </a:solidFill>
              </a:rPr>
              <a:t>.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I.1. 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endParaRPr lang="en-US" sz="1600" b="1" dirty="0">
              <a:solidFill>
                <a:schemeClr val="tx1"/>
              </a:solidFill>
              <a:ea typeface="Maven Pro"/>
              <a:cs typeface="Maven Pro"/>
              <a:sym typeface="Maven Pro"/>
            </a:endParaRPr>
          </a:p>
          <a:p>
            <a:pPr marL="387350" lvl="0" indent="-285750">
              <a:lnSpc>
                <a:spcPct val="115000"/>
              </a:lnSpc>
              <a:spcBef>
                <a:spcPts val="1600"/>
              </a:spcBef>
              <a:buClr>
                <a:schemeClr val="dk1"/>
              </a:buClr>
              <a:buSzPts val="2000"/>
              <a:buFontTx/>
              <a:buChar char="-"/>
            </a:pPr>
            <a:r>
              <a:rPr lang="en-US" sz="1600" dirty="0" err="1">
                <a:solidFill>
                  <a:schemeClr val="tx1"/>
                </a:solidFill>
                <a:ea typeface="Maven Pro"/>
                <a:cs typeface="Maven Pro"/>
                <a:sym typeface="Maven Pro"/>
              </a:rPr>
              <a:t>Nhận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diện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Doji</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chân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dài</a:t>
            </a:r>
            <a:endParaRPr lang="en-US" sz="1600" dirty="0">
              <a:solidFill>
                <a:schemeClr val="tx1"/>
              </a:solidFill>
              <a:ea typeface="Maven Pro"/>
              <a:cs typeface="Maven Pro"/>
              <a:sym typeface="Maven Pro"/>
            </a:endParaRPr>
          </a:p>
          <a:p>
            <a:pPr marL="387350" lvl="0" indent="-285750">
              <a:lnSpc>
                <a:spcPct val="115000"/>
              </a:lnSpc>
              <a:spcBef>
                <a:spcPts val="1600"/>
              </a:spcBef>
              <a:buClr>
                <a:schemeClr val="dk1"/>
              </a:buClr>
              <a:buSzPts val="2000"/>
              <a:buFontTx/>
              <a:buChar char="-"/>
            </a:pPr>
            <a:endParaRPr lang="en-US" sz="1600" b="1"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
        <p:nvSpPr>
          <p:cNvPr id="6" name="Google Shape;125;p4"/>
          <p:cNvSpPr txBox="1"/>
          <p:nvPr/>
        </p:nvSpPr>
        <p:spPr>
          <a:xfrm>
            <a:off x="1260739" y="5539751"/>
            <a:ext cx="7415700" cy="36929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panose="020B0604020202020204"/>
              <a:buNone/>
            </a:pPr>
            <a:r>
              <a:rPr lang="vi-VN" sz="1800" b="1" dirty="0">
                <a:solidFill>
                  <a:srgbClr val="00B050"/>
                </a:solidFill>
              </a:rPr>
              <a:t>GIÁ MỞ CỦA &amp; GIÁ ĐÓNG CỬA GẦN NHƯ NẰM TẠI CÙNG 1 ĐIỂM</a:t>
            </a:r>
            <a:endParaRPr sz="1800" b="1" dirty="0">
              <a:solidFill>
                <a:schemeClr val="dk1"/>
              </a:solidFill>
            </a:endParaRPr>
          </a:p>
        </p:txBody>
      </p:sp>
      <p:pic>
        <p:nvPicPr>
          <p:cNvPr id="7" name="Google Shape;126;p4"/>
          <p:cNvPicPr preferRelativeResize="0"/>
          <p:nvPr/>
        </p:nvPicPr>
        <p:blipFill>
          <a:blip r:embed="rId2"/>
          <a:stretch>
            <a:fillRect/>
          </a:stretch>
        </p:blipFill>
        <p:spPr>
          <a:xfrm>
            <a:off x="304800" y="5386414"/>
            <a:ext cx="833200" cy="689000"/>
          </a:xfrm>
          <a:prstGeom prst="rect">
            <a:avLst/>
          </a:prstGeom>
          <a:noFill/>
          <a:ln>
            <a:noFill/>
          </a:ln>
        </p:spPr>
      </p:pic>
      <p:pic>
        <p:nvPicPr>
          <p:cNvPr id="3" name="Picture 2"/>
          <p:cNvPicPr>
            <a:picLocks noChangeAspect="1"/>
          </p:cNvPicPr>
          <p:nvPr/>
        </p:nvPicPr>
        <p:blipFill>
          <a:blip r:embed="rId3"/>
          <a:stretch>
            <a:fillRect/>
          </a:stretch>
        </p:blipFill>
        <p:spPr>
          <a:xfrm>
            <a:off x="424876" y="1726628"/>
            <a:ext cx="5994586" cy="36423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I.1. 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endParaRPr lang="en-US" sz="1600" b="1" dirty="0">
              <a:solidFill>
                <a:schemeClr val="tx1"/>
              </a:solidFill>
              <a:ea typeface="Maven Pro"/>
              <a:cs typeface="Maven Pro"/>
              <a:sym typeface="Maven Pro"/>
            </a:endParaRPr>
          </a:p>
          <a:p>
            <a:pPr marL="387350" lvl="0" indent="-285750">
              <a:lnSpc>
                <a:spcPct val="115000"/>
              </a:lnSpc>
              <a:spcBef>
                <a:spcPts val="1600"/>
              </a:spcBef>
              <a:buClr>
                <a:schemeClr val="dk1"/>
              </a:buClr>
              <a:buSzPts val="2000"/>
              <a:buFontTx/>
              <a:buChar char="-"/>
            </a:pPr>
            <a:r>
              <a:rPr lang="en-US" sz="1600" b="1" dirty="0">
                <a:solidFill>
                  <a:srgbClr val="FF0000"/>
                </a:solidFill>
                <a:ea typeface="Maven Pro"/>
                <a:cs typeface="Maven Pro"/>
                <a:sym typeface="Maven Pro"/>
              </a:rPr>
              <a:t>Code </a:t>
            </a:r>
            <a:r>
              <a:rPr lang="en-US" sz="1600" b="1" dirty="0" err="1">
                <a:solidFill>
                  <a:srgbClr val="FF0000"/>
                </a:solidFill>
                <a:ea typeface="Maven Pro"/>
                <a:cs typeface="Maven Pro"/>
                <a:sym typeface="Maven Pro"/>
              </a:rPr>
              <a:t>nhận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diện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nến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Doji</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chân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dài</a:t>
            </a:r>
            <a:r>
              <a:rPr lang="en-US" sz="1600" b="1" dirty="0">
                <a:solidFill>
                  <a:srgbClr val="FF0000"/>
                </a:solidFill>
                <a:ea typeface="Maven Pro"/>
                <a:cs typeface="Maven Pro"/>
                <a:sym typeface="Maven Pro"/>
              </a:rPr>
              <a:t>: </a:t>
            </a:r>
            <a:r>
              <a:rPr lang="en-US" sz="1600" dirty="0" err="1">
                <a:solidFill>
                  <a:schemeClr val="tx1"/>
                </a:solidFill>
                <a:ea typeface="Maven Pro"/>
                <a:cs typeface="Maven Pro"/>
                <a:sym typeface="Maven Pro"/>
              </a:rPr>
              <a:t>Vậy</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nếu</a:t>
            </a:r>
            <a:r>
              <a:rPr lang="en-US" sz="1600" dirty="0">
                <a:solidFill>
                  <a:schemeClr val="tx1"/>
                </a:solidFill>
                <a:ea typeface="Maven Pro"/>
                <a:cs typeface="Maven Pro"/>
                <a:sym typeface="Maven Pro"/>
              </a:rPr>
              <a:t> code </a:t>
            </a:r>
            <a:r>
              <a:rPr lang="en-US" sz="1600" dirty="0" err="1">
                <a:solidFill>
                  <a:schemeClr val="tx1"/>
                </a:solidFill>
                <a:ea typeface="Maven Pro"/>
                <a:cs typeface="Maven Pro"/>
                <a:sym typeface="Maven Pro"/>
              </a:rPr>
              <a:t>để</a:t>
            </a:r>
            <a:r>
              <a:rPr lang="en-US" sz="1600"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nhận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diện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r>
              <a:rPr lang="en-US" sz="1600" b="1" dirty="0">
                <a:solidFill>
                  <a:schemeClr val="tx1"/>
                </a:solidFill>
                <a:ea typeface="Maven Pro"/>
                <a:cs typeface="Maven Pro"/>
                <a:sym typeface="Maven Pro"/>
              </a:rPr>
              <a:t> </a:t>
            </a:r>
            <a:r>
              <a:rPr lang="en-US" sz="1600" dirty="0" err="1">
                <a:solidFill>
                  <a:schemeClr val="tx1"/>
                </a:solidFill>
                <a:ea typeface="Maven Pro"/>
                <a:cs typeface="Maven Pro"/>
                <a:sym typeface="Maven Pro"/>
              </a:rPr>
              <a:t>thì</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chúng</a:t>
            </a:r>
            <a:r>
              <a:rPr lang="en-US" sz="1600" dirty="0">
                <a:solidFill>
                  <a:schemeClr val="tx1"/>
                </a:solidFill>
                <a:ea typeface="Maven Pro"/>
                <a:cs typeface="Maven Pro"/>
                <a:sym typeface="Maven Pro"/>
              </a:rPr>
              <a:t> ta </a:t>
            </a:r>
            <a:r>
              <a:rPr lang="en-US" sz="1600" dirty="0" err="1">
                <a:solidFill>
                  <a:schemeClr val="tx1"/>
                </a:solidFill>
                <a:ea typeface="Maven Pro"/>
                <a:cs typeface="Maven Pro"/>
                <a:sym typeface="Maven Pro"/>
              </a:rPr>
              <a:t>sẽ</a:t>
            </a:r>
            <a:r>
              <a:rPr lang="en-US" sz="1600" dirty="0">
                <a:solidFill>
                  <a:schemeClr val="tx1"/>
                </a:solidFill>
                <a:ea typeface="Maven Pro"/>
                <a:cs typeface="Maven Pro"/>
                <a:sym typeface="Maven Pro"/>
              </a:rPr>
              <a:t> code </a:t>
            </a:r>
            <a:r>
              <a:rPr lang="en-US" sz="1600" dirty="0" err="1">
                <a:solidFill>
                  <a:schemeClr val="tx1"/>
                </a:solidFill>
                <a:ea typeface="Maven Pro"/>
                <a:cs typeface="Maven Pro"/>
                <a:sym typeface="Maven Pro"/>
              </a:rPr>
              <a:t>gì</a:t>
            </a:r>
            <a:r>
              <a:rPr lang="en-US" sz="1600" dirty="0">
                <a:solidFill>
                  <a:schemeClr val="tx1"/>
                </a:solidFill>
                <a:ea typeface="Maven Pro"/>
                <a:cs typeface="Maven Pro"/>
                <a:sym typeface="Maven Pro"/>
              </a:rPr>
              <a:t>?</a:t>
            </a: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dirty="0">
                <a:solidFill>
                  <a:schemeClr val="tx1"/>
                </a:solidFill>
                <a:ea typeface="Maven Pro"/>
                <a:cs typeface="Maven Pro"/>
                <a:sym typeface="Maven Pro"/>
              </a:rPr>
              <a:t>     + </a:t>
            </a:r>
            <a:r>
              <a:rPr lang="en-US" sz="1600" dirty="0" err="1">
                <a:solidFill>
                  <a:srgbClr val="FF0000"/>
                </a:solidFill>
                <a:ea typeface="Maven Pro"/>
                <a:cs typeface="Maven Pro"/>
                <a:sym typeface="Maven Pro"/>
              </a:rPr>
              <a:t>Kiểm</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tra</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giá</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mở</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cửa</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và</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đóng</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cửa</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có</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gần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bằng</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nhau</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không</a:t>
            </a:r>
            <a:r>
              <a:rPr lang="en-US" sz="1600" dirty="0">
                <a:solidFill>
                  <a:srgbClr val="FF0000"/>
                </a:solidFill>
                <a:ea typeface="Maven Pro"/>
                <a:cs typeface="Maven Pro"/>
                <a:sym typeface="Maven Pro"/>
              </a:rPr>
              <a:t>?</a:t>
            </a:r>
            <a:endParaRPr lang="en-US" sz="1600" dirty="0">
              <a:solidFill>
                <a:srgbClr val="FF0000"/>
              </a:solidFill>
              <a:ea typeface="Maven Pro"/>
              <a:cs typeface="Maven Pro"/>
              <a:sym typeface="Maven Pro"/>
            </a:endParaRPr>
          </a:p>
          <a:p>
            <a:pPr marL="101600" lvl="0">
              <a:lnSpc>
                <a:spcPct val="115000"/>
              </a:lnSpc>
              <a:spcBef>
                <a:spcPts val="1600"/>
              </a:spcBef>
              <a:buClr>
                <a:schemeClr val="dk1"/>
              </a:buClr>
              <a:buSzPts val="2000"/>
            </a:pPr>
            <a:r>
              <a:rPr lang="en-US" sz="1600" dirty="0">
                <a:solidFill>
                  <a:schemeClr val="tx1"/>
                </a:solidFill>
                <a:ea typeface="Maven Pro"/>
                <a:cs typeface="Maven Pro"/>
                <a:sym typeface="Maven Pro"/>
              </a:rPr>
              <a:t>     + </a:t>
            </a:r>
            <a:r>
              <a:rPr lang="en-US" sz="1600" dirty="0" err="1">
                <a:solidFill>
                  <a:srgbClr val="FF0000"/>
                </a:solidFill>
                <a:ea typeface="Maven Pro"/>
                <a:cs typeface="Maven Pro"/>
                <a:sym typeface="Maven Pro"/>
              </a:rPr>
              <a:t>Kiểm</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tra</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bóng</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nến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trên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có</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lớn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hơn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hoặc</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bằng</a:t>
            </a:r>
            <a:r>
              <a:rPr lang="en-US" sz="1600" dirty="0">
                <a:solidFill>
                  <a:srgbClr val="FF0000"/>
                </a:solidFill>
                <a:ea typeface="Maven Pro"/>
                <a:cs typeface="Maven Pro"/>
                <a:sym typeface="Maven Pro"/>
              </a:rPr>
              <a:t> 2 </a:t>
            </a:r>
            <a:r>
              <a:rPr lang="en-US" sz="1600" dirty="0" err="1">
                <a:solidFill>
                  <a:srgbClr val="FF0000"/>
                </a:solidFill>
                <a:ea typeface="Maven Pro"/>
                <a:cs typeface="Maven Pro"/>
                <a:sym typeface="Maven Pro"/>
              </a:rPr>
              <a:t>lần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thân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nến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không</a:t>
            </a:r>
            <a:r>
              <a:rPr lang="en-US" sz="1600" dirty="0">
                <a:solidFill>
                  <a:srgbClr val="FF0000"/>
                </a:solidFill>
                <a:ea typeface="Maven Pro"/>
                <a:cs typeface="Maven Pro"/>
                <a:sym typeface="Maven Pro"/>
              </a:rPr>
              <a:t>?</a:t>
            </a:r>
            <a:endParaRPr lang="en-US" sz="1600" dirty="0">
              <a:solidFill>
                <a:srgbClr val="FF0000"/>
              </a:solidFill>
              <a:ea typeface="Maven Pro"/>
              <a:cs typeface="Maven Pro"/>
              <a:sym typeface="Maven Pro"/>
            </a:endParaRPr>
          </a:p>
          <a:p>
            <a:pPr marL="101600" lvl="0">
              <a:lnSpc>
                <a:spcPct val="115000"/>
              </a:lnSpc>
              <a:spcBef>
                <a:spcPts val="1600"/>
              </a:spcBef>
              <a:buClr>
                <a:schemeClr val="dk1"/>
              </a:buClr>
              <a:buSzPts val="2000"/>
            </a:pPr>
            <a:r>
              <a:rPr lang="en-US" sz="1600" dirty="0">
                <a:solidFill>
                  <a:schemeClr val="tx1"/>
                </a:solidFill>
                <a:ea typeface="Maven Pro"/>
                <a:cs typeface="Maven Pro"/>
                <a:sym typeface="Maven Pro"/>
              </a:rPr>
              <a:t>     + </a:t>
            </a:r>
            <a:r>
              <a:rPr lang="en-US" sz="1600" dirty="0" err="1">
                <a:solidFill>
                  <a:srgbClr val="FF0000"/>
                </a:solidFill>
                <a:ea typeface="Maven Pro"/>
                <a:cs typeface="Maven Pro"/>
                <a:sym typeface="Maven Pro"/>
              </a:rPr>
              <a:t>Kiểm</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tra</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bóng</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nến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dưới</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có</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lớn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hơn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hoặc</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bằng</a:t>
            </a:r>
            <a:r>
              <a:rPr lang="en-US" sz="1600" dirty="0">
                <a:solidFill>
                  <a:srgbClr val="FF0000"/>
                </a:solidFill>
                <a:ea typeface="Maven Pro"/>
                <a:cs typeface="Maven Pro"/>
                <a:sym typeface="Maven Pro"/>
              </a:rPr>
              <a:t> 2 </a:t>
            </a:r>
            <a:r>
              <a:rPr lang="en-US" sz="1600" dirty="0" err="1">
                <a:solidFill>
                  <a:srgbClr val="FF0000"/>
                </a:solidFill>
                <a:ea typeface="Maven Pro"/>
                <a:cs typeface="Maven Pro"/>
                <a:sym typeface="Maven Pro"/>
              </a:rPr>
              <a:t>lần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thân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nến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không</a:t>
            </a:r>
            <a:r>
              <a:rPr lang="en-US" sz="1600" dirty="0">
                <a:solidFill>
                  <a:srgbClr val="FF0000"/>
                </a:solidFill>
                <a:ea typeface="Maven Pro"/>
                <a:cs typeface="Maven Pro"/>
                <a:sym typeface="Maven Pro"/>
              </a:rPr>
              <a:t>?</a:t>
            </a:r>
            <a:endParaRPr lang="en-US" sz="1600" dirty="0">
              <a:solidFill>
                <a:srgbClr val="FF0000"/>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  </a:t>
            </a:r>
            <a:endParaRPr lang="en-US" sz="1600" b="1"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
        <p:nvSpPr>
          <p:cNvPr id="6" name="Google Shape;125;p4"/>
          <p:cNvSpPr txBox="1"/>
          <p:nvPr/>
        </p:nvSpPr>
        <p:spPr>
          <a:xfrm>
            <a:off x="1260739" y="5539751"/>
            <a:ext cx="7415700" cy="36929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panose="020B0604020202020204"/>
              <a:buNone/>
            </a:pPr>
            <a:r>
              <a:rPr lang="vi-VN" sz="1800" b="1" dirty="0">
                <a:solidFill>
                  <a:srgbClr val="00B050"/>
                </a:solidFill>
              </a:rPr>
              <a:t>GIÁ MỞ CỦA &amp; GIÁ ĐÓNG CỬA GẦN NHƯ NẰM TẠI CÙNG 1 ĐIỂM</a:t>
            </a:r>
            <a:endParaRPr sz="1800" b="1" dirty="0">
              <a:solidFill>
                <a:schemeClr val="dk1"/>
              </a:solidFill>
            </a:endParaRPr>
          </a:p>
        </p:txBody>
      </p:sp>
      <p:pic>
        <p:nvPicPr>
          <p:cNvPr id="7" name="Google Shape;126;p4"/>
          <p:cNvPicPr preferRelativeResize="0"/>
          <p:nvPr/>
        </p:nvPicPr>
        <p:blipFill>
          <a:blip r:embed="rId2"/>
          <a:stretch>
            <a:fillRect/>
          </a:stretch>
        </p:blipFill>
        <p:spPr>
          <a:xfrm>
            <a:off x="304800" y="5386414"/>
            <a:ext cx="833200" cy="689000"/>
          </a:xfrm>
          <a:prstGeom prst="rect">
            <a:avLst/>
          </a:prstGeom>
          <a:noFill/>
          <a:ln>
            <a:noFill/>
          </a:ln>
        </p:spPr>
      </p:pic>
      <p:pic>
        <p:nvPicPr>
          <p:cNvPr id="8" name="Picture 7"/>
          <p:cNvPicPr>
            <a:picLocks noChangeAspect="1"/>
          </p:cNvPicPr>
          <p:nvPr/>
        </p:nvPicPr>
        <p:blipFill>
          <a:blip r:embed="rId3"/>
          <a:stretch>
            <a:fillRect/>
          </a:stretch>
        </p:blipFill>
        <p:spPr>
          <a:xfrm>
            <a:off x="954668" y="3398253"/>
            <a:ext cx="3524461" cy="214149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1" i="0" u="none" strike="noStrike" cap="none" dirty="0">
              <a:solidFill>
                <a:schemeClr val="lt1"/>
              </a:solidFill>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I.1. 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endParaRPr lang="en-US" sz="1600" b="1" dirty="0">
              <a:solidFill>
                <a:schemeClr val="tx1"/>
              </a:solidFill>
              <a:ea typeface="Maven Pro"/>
              <a:cs typeface="Maven Pro"/>
              <a:sym typeface="Maven Pro"/>
            </a:endParaRPr>
          </a:p>
          <a:p>
            <a:pPr marL="444500" indent="-342900" algn="just">
              <a:lnSpc>
                <a:spcPct val="115000"/>
              </a:lnSpc>
              <a:spcBef>
                <a:spcPts val="1600"/>
              </a:spcBef>
              <a:buClr>
                <a:schemeClr val="dk1"/>
              </a:buClr>
              <a:buSzPts val="2000"/>
              <a:buFont typeface="+mj-lt"/>
              <a:buAutoNum type="alphaLcParenR" startAt="2"/>
            </a:pPr>
            <a:r>
              <a:rPr lang="en-US" sz="1600" b="1" u="sng" dirty="0" err="1">
                <a:solidFill>
                  <a:schemeClr val="tx1"/>
                </a:solidFill>
                <a:ea typeface="Maven Pro"/>
                <a:cs typeface="Maven Pro"/>
                <a:sym typeface="Maven Pro"/>
              </a:rPr>
              <a:t>Cần</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nến</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xác</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nhận</a:t>
            </a:r>
            <a:r>
              <a:rPr lang="en-US" sz="1600" b="1" u="sng" dirty="0">
                <a:solidFill>
                  <a:schemeClr val="tx1"/>
                </a:solidFill>
                <a:ea typeface="Maven Pro"/>
                <a:cs typeface="Maven Pro"/>
                <a:sym typeface="Maven Pro"/>
              </a:rPr>
              <a:t>:</a:t>
            </a:r>
            <a:r>
              <a:rPr lang="en-US" sz="1600" b="1" dirty="0">
                <a:solidFill>
                  <a:schemeClr val="tx1"/>
                </a:solidFill>
                <a:ea typeface="Maven Pro"/>
                <a:cs typeface="Maven Pro"/>
                <a:sym typeface="Maven Pro"/>
              </a:rPr>
              <a:t> </a:t>
            </a:r>
            <a:r>
              <a:rPr lang="en-US" sz="1600" dirty="0" err="1">
                <a:solidFill>
                  <a:schemeClr val="tx1"/>
                </a:solidFill>
                <a:ea typeface="Maven Pro"/>
                <a:cs typeface="Maven Pro"/>
                <a:sym typeface="Maven Pro"/>
              </a:rPr>
              <a:t>Sau</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khi</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xuất</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hiện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Doji</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chân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dài</a:t>
            </a:r>
            <a:r>
              <a:rPr lang="en-US" sz="1600" dirty="0">
                <a:solidFill>
                  <a:schemeClr val="tx1"/>
                </a:solidFill>
                <a:ea typeface="Maven Pro"/>
                <a:cs typeface="Maven Pro"/>
                <a:sym typeface="Maven Pro"/>
              </a:rPr>
              <a:t> =&gt; </a:t>
            </a:r>
            <a:r>
              <a:rPr lang="en-US" sz="1600" dirty="0" err="1">
                <a:solidFill>
                  <a:schemeClr val="tx1"/>
                </a:solidFill>
                <a:ea typeface="Maven Pro"/>
                <a:cs typeface="Maven Pro"/>
                <a:sym typeface="Maven Pro"/>
              </a:rPr>
              <a:t>Cần</a:t>
            </a:r>
            <a:r>
              <a:rPr lang="en-US" sz="1600" dirty="0">
                <a:solidFill>
                  <a:schemeClr val="tx1"/>
                </a:solidFill>
                <a:ea typeface="Maven Pro"/>
                <a:cs typeface="Maven Pro"/>
                <a:sym typeface="Maven Pro"/>
              </a:rPr>
              <a:t> 1 </a:t>
            </a:r>
            <a:r>
              <a:rPr lang="en-US" sz="1600" dirty="0" err="1">
                <a:solidFill>
                  <a:schemeClr val="tx1"/>
                </a:solidFill>
                <a:ea typeface="Maven Pro"/>
                <a:cs typeface="Maven Pro"/>
                <a:sym typeface="Maven Pro"/>
              </a:rPr>
              <a:t>nến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xác</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nhận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xu</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hướng</a:t>
            </a:r>
            <a:r>
              <a:rPr lang="en-US" sz="1600" b="1" dirty="0">
                <a:solidFill>
                  <a:schemeClr val="tx1"/>
                </a:solidFill>
                <a:ea typeface="Maven Pro"/>
                <a:cs typeface="Maven Pro"/>
                <a:sym typeface="Maven Pro"/>
              </a:rPr>
              <a:t> </a:t>
            </a:r>
            <a:endParaRPr lang="en-US" sz="1600" b="1" dirty="0">
              <a:solidFill>
                <a:schemeClr val="tx1"/>
              </a:solidFill>
              <a:ea typeface="Maven Pro"/>
              <a:cs typeface="Maven Pro"/>
              <a:sym typeface="Maven Pro"/>
            </a:endParaRPr>
          </a:p>
          <a:p>
            <a:pPr marL="101600" algn="just">
              <a:lnSpc>
                <a:spcPct val="115000"/>
              </a:lnSpc>
              <a:spcBef>
                <a:spcPts val="1600"/>
              </a:spcBef>
              <a:buClr>
                <a:schemeClr val="dk1"/>
              </a:buClr>
              <a:buSzPts val="2000"/>
            </a:pPr>
            <a:r>
              <a:rPr lang="vi-VN" sz="1600" b="1" dirty="0"/>
              <a:t>Quan sát nến tiếp theo:</a:t>
            </a:r>
            <a:endParaRPr lang="vi-VN" sz="1600" dirty="0"/>
          </a:p>
          <a:p>
            <a:pPr lvl="1" algn="just"/>
            <a:r>
              <a:rPr lang="en-US" sz="1600" dirty="0"/>
              <a:t>  + </a:t>
            </a:r>
            <a:r>
              <a:rPr lang="vi-VN" sz="1600" dirty="0"/>
              <a:t>Nếu nến tiếp theo sau Doji là một nến giảm (màu đỏ hoặc đen) và đóng cửa dưới thân nến của Doji, điều này có thể được coi là một nến xác nhận giảm giá.</a:t>
            </a:r>
            <a:endParaRPr lang="vi-VN" sz="1600" dirty="0"/>
          </a:p>
          <a:p>
            <a:pPr lvl="1" algn="just"/>
            <a:r>
              <a:rPr lang="en-US" sz="1600" dirty="0"/>
              <a:t>  + </a:t>
            </a:r>
            <a:r>
              <a:rPr lang="vi-VN" sz="1600" dirty="0"/>
              <a:t>Ngược lại, nếu nến tiếp theo là một nến tăng (màu xanh lá hoặc trắng) và </a:t>
            </a:r>
            <a:r>
              <a:rPr lang="vi-VN" sz="1600" dirty="0">
                <a:solidFill>
                  <a:srgbClr val="FF0000"/>
                </a:solidFill>
              </a:rPr>
              <a:t>đóng cửa trên thân nến của Doji</a:t>
            </a:r>
            <a:r>
              <a:rPr lang="vi-VN" sz="1600" dirty="0"/>
              <a:t>, nó có thể là một nến xác nhận tăng giá.</a:t>
            </a:r>
            <a:endParaRPr lang="vi-VN" sz="1600" dirty="0"/>
          </a:p>
          <a:p>
            <a:pPr marL="101600" lvl="0" algn="just">
              <a:lnSpc>
                <a:spcPct val="115000"/>
              </a:lnSpc>
              <a:spcBef>
                <a:spcPts val="1600"/>
              </a:spcBef>
              <a:buClr>
                <a:schemeClr val="dk1"/>
              </a:buClr>
              <a:buSzPts val="2000"/>
            </a:pPr>
            <a:r>
              <a:rPr lang="en-US" sz="1600" b="1" dirty="0">
                <a:solidFill>
                  <a:schemeClr val="tx1"/>
                </a:solidFill>
                <a:ea typeface="Maven Pro"/>
                <a:cs typeface="Maven Pro"/>
                <a:sym typeface="Maven Pro"/>
              </a:rPr>
              <a:t>Code </a:t>
            </a:r>
            <a:r>
              <a:rPr lang="en-US" sz="1600" b="1" dirty="0" err="1">
                <a:solidFill>
                  <a:schemeClr val="tx1"/>
                </a:solidFill>
                <a:ea typeface="Maven Pro"/>
                <a:cs typeface="Maven Pro"/>
                <a:sym typeface="Maven Pro"/>
              </a:rPr>
              <a:t>kiểm</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tra</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xác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nhận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sau</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r>
              <a:rPr lang="en-US" sz="1600" b="1" dirty="0">
                <a:solidFill>
                  <a:schemeClr val="tx1"/>
                </a:solidFill>
                <a:ea typeface="Maven Pro"/>
                <a:cs typeface="Maven Pro"/>
                <a:sym typeface="Maven Pro"/>
              </a:rPr>
              <a:t> 1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dirty="0" err="1">
                <a:solidFill>
                  <a:schemeClr val="tx1"/>
                </a:solidFill>
                <a:ea typeface="Maven Pro"/>
                <a:cs typeface="Maven Pro"/>
                <a:sym typeface="Maven Pro"/>
              </a:rPr>
              <a:t>Vậy</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nếu</a:t>
            </a:r>
            <a:r>
              <a:rPr lang="en-US" sz="1600" dirty="0">
                <a:solidFill>
                  <a:schemeClr val="tx1"/>
                </a:solidFill>
                <a:ea typeface="Maven Pro"/>
                <a:cs typeface="Maven Pro"/>
                <a:sym typeface="Maven Pro"/>
              </a:rPr>
              <a:t> code </a:t>
            </a:r>
            <a:r>
              <a:rPr lang="en-US" sz="1600" dirty="0" err="1">
                <a:solidFill>
                  <a:schemeClr val="tx1"/>
                </a:solidFill>
                <a:ea typeface="Maven Pro"/>
                <a:cs typeface="Maven Pro"/>
                <a:sym typeface="Maven Pro"/>
              </a:rPr>
              <a:t>để</a:t>
            </a:r>
            <a:r>
              <a:rPr lang="en-US" sz="1600"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kiểm</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tra</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xác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nhận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sau</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r>
              <a:rPr lang="en-US" sz="1600" b="1" dirty="0">
                <a:solidFill>
                  <a:schemeClr val="tx1"/>
                </a:solidFill>
                <a:ea typeface="Maven Pro"/>
                <a:cs typeface="Maven Pro"/>
                <a:sym typeface="Maven Pro"/>
              </a:rPr>
              <a:t> 1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dirty="0" err="1">
                <a:solidFill>
                  <a:schemeClr val="tx1"/>
                </a:solidFill>
                <a:ea typeface="Maven Pro"/>
                <a:cs typeface="Maven Pro"/>
                <a:sym typeface="Maven Pro"/>
              </a:rPr>
              <a:t>thì</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chúng</a:t>
            </a:r>
            <a:r>
              <a:rPr lang="en-US" sz="1600" dirty="0">
                <a:solidFill>
                  <a:schemeClr val="tx1"/>
                </a:solidFill>
                <a:ea typeface="Maven Pro"/>
                <a:cs typeface="Maven Pro"/>
                <a:sym typeface="Maven Pro"/>
              </a:rPr>
              <a:t> ta </a:t>
            </a:r>
            <a:r>
              <a:rPr lang="en-US" sz="1600" dirty="0" err="1">
                <a:solidFill>
                  <a:schemeClr val="tx1"/>
                </a:solidFill>
                <a:ea typeface="Maven Pro"/>
                <a:cs typeface="Maven Pro"/>
                <a:sym typeface="Maven Pro"/>
              </a:rPr>
              <a:t>sẽ</a:t>
            </a:r>
            <a:r>
              <a:rPr lang="en-US" sz="1600" dirty="0">
                <a:solidFill>
                  <a:schemeClr val="tx1"/>
                </a:solidFill>
                <a:ea typeface="Maven Pro"/>
                <a:cs typeface="Maven Pro"/>
                <a:sym typeface="Maven Pro"/>
              </a:rPr>
              <a:t> code </a:t>
            </a:r>
            <a:r>
              <a:rPr lang="en-US" sz="1600" dirty="0" err="1">
                <a:solidFill>
                  <a:schemeClr val="tx1"/>
                </a:solidFill>
                <a:ea typeface="Maven Pro"/>
                <a:cs typeface="Maven Pro"/>
                <a:sym typeface="Maven Pro"/>
              </a:rPr>
              <a:t>gì</a:t>
            </a:r>
            <a:r>
              <a:rPr lang="en-US" sz="1600" dirty="0">
                <a:solidFill>
                  <a:schemeClr val="tx1"/>
                </a:solidFill>
                <a:ea typeface="Maven Pro"/>
                <a:cs typeface="Maven Pro"/>
                <a:sym typeface="Maven Pro"/>
              </a:rPr>
              <a:t>?</a:t>
            </a:r>
            <a:endParaRPr lang="en-US" sz="1600" dirty="0">
              <a:solidFill>
                <a:schemeClr val="tx1"/>
              </a:solidFill>
              <a:ea typeface="Maven Pro"/>
              <a:cs typeface="Maven Pro"/>
              <a:sym typeface="Maven Pro"/>
            </a:endParaRPr>
          </a:p>
          <a:p>
            <a:pPr marL="101600" lvl="1">
              <a:lnSpc>
                <a:spcPct val="115000"/>
              </a:lnSpc>
              <a:spcBef>
                <a:spcPts val="1600"/>
              </a:spcBef>
              <a:buClr>
                <a:schemeClr val="dk1"/>
              </a:buClr>
              <a:buSzPts val="2000"/>
            </a:pPr>
            <a:r>
              <a:rPr lang="en-US" sz="1600" dirty="0">
                <a:solidFill>
                  <a:schemeClr val="tx1"/>
                </a:solidFill>
                <a:ea typeface="Maven Pro"/>
                <a:cs typeface="Maven Pro"/>
                <a:sym typeface="Maven Pro"/>
              </a:rPr>
              <a:t>+ </a:t>
            </a:r>
            <a:r>
              <a:rPr lang="en-US" sz="1600" dirty="0">
                <a:ea typeface="Maven Pro"/>
              </a:rPr>
              <a:t>N</a:t>
            </a:r>
            <a:r>
              <a:rPr lang="vi-VN" sz="1600" dirty="0"/>
              <a:t>ếu nến tiếp theo là một nến tăng (màu xanh lá hoặc trắng) và đóng cửa trên thân nến của Doji, nó có thể là một nến xác nhận tăng giá.</a:t>
            </a:r>
            <a:r>
              <a:rPr lang="en-US" sz="1600" dirty="0"/>
              <a:t> =&gt; </a:t>
            </a:r>
            <a:r>
              <a:rPr lang="en-US" sz="1600" b="1" dirty="0" err="1"/>
              <a:t>Thực</a:t>
            </a:r>
            <a:r>
              <a:rPr lang="en-US" sz="1600" b="1" dirty="0"/>
              <a:t> </a:t>
            </a:r>
            <a:r>
              <a:rPr lang="en-US" sz="1600" b="1" dirty="0" err="1"/>
              <a:t>hiện</a:t>
            </a:r>
            <a:r>
              <a:rPr lang="en-US" sz="1600" b="1" dirty="0"/>
              <a:t> </a:t>
            </a:r>
            <a:r>
              <a:rPr lang="en-US" sz="1600" b="1" dirty="0" err="1"/>
              <a:t>chiến</a:t>
            </a:r>
            <a:r>
              <a:rPr lang="en-US" sz="1600" b="1" dirty="0"/>
              <a:t> </a:t>
            </a:r>
            <a:r>
              <a:rPr lang="en-US" sz="1600" b="1" dirty="0" err="1"/>
              <a:t>lược</a:t>
            </a:r>
            <a:r>
              <a:rPr lang="en-US" sz="1600" b="1" dirty="0"/>
              <a:t> </a:t>
            </a:r>
            <a:r>
              <a:rPr lang="en-US" sz="1600" b="1" dirty="0" err="1"/>
              <a:t>mua</a:t>
            </a:r>
            <a:r>
              <a:rPr lang="en-US" sz="1600" b="1" dirty="0"/>
              <a:t> </a:t>
            </a:r>
            <a:r>
              <a:rPr lang="en-US" sz="1600" b="1" dirty="0" err="1"/>
              <a:t>vào</a:t>
            </a:r>
            <a:endParaRPr lang="vi-VN" sz="1600" b="1" dirty="0"/>
          </a:p>
          <a:p>
            <a:pPr marL="10160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  </a:t>
            </a:r>
            <a:endParaRPr lang="en-US" sz="1600" b="1"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1" i="0" u="none" strike="noStrike" cap="none" dirty="0">
              <a:solidFill>
                <a:schemeClr val="lt1"/>
              </a:solidFill>
              <a:sym typeface="Arial" panose="020B0604020202020204"/>
            </a:endParaRPr>
          </a:p>
        </p:txBody>
      </p:sp>
      <p:sp>
        <p:nvSpPr>
          <p:cNvPr id="101" name="Google Shape;101;p3"/>
          <p:cNvSpPr txBox="1"/>
          <p:nvPr/>
        </p:nvSpPr>
        <p:spPr>
          <a:xfrm>
            <a:off x="424875" y="616224"/>
            <a:ext cx="8285017" cy="5327376"/>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I.1. 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endParaRPr lang="en-US" sz="1600" b="1" dirty="0">
              <a:solidFill>
                <a:schemeClr val="tx1"/>
              </a:solidFill>
              <a:ea typeface="Maven Pro"/>
              <a:cs typeface="Maven Pro"/>
              <a:sym typeface="Maven Pro"/>
            </a:endParaRPr>
          </a:p>
          <a:p>
            <a:pPr marL="444500" indent="-342900">
              <a:lnSpc>
                <a:spcPct val="115000"/>
              </a:lnSpc>
              <a:spcBef>
                <a:spcPts val="1600"/>
              </a:spcBef>
              <a:buClr>
                <a:schemeClr val="dk1"/>
              </a:buClr>
              <a:buSzPts val="2000"/>
              <a:buFont typeface="+mj-lt"/>
              <a:buAutoNum type="alphaLcParenR" startAt="3"/>
            </a:pPr>
            <a:r>
              <a:rPr lang="en-US" sz="1600" b="1" u="sng" dirty="0" err="1">
                <a:solidFill>
                  <a:schemeClr val="tx1"/>
                </a:solidFill>
                <a:sym typeface="Maven Pro"/>
              </a:rPr>
              <a:t>Tổng</a:t>
            </a:r>
            <a:r>
              <a:rPr lang="en-US" sz="1600" b="1" u="sng" dirty="0">
                <a:solidFill>
                  <a:schemeClr val="tx1"/>
                </a:solidFill>
                <a:sym typeface="Maven Pro"/>
              </a:rPr>
              <a:t> </a:t>
            </a:r>
            <a:r>
              <a:rPr lang="en-US" sz="1600" b="1" u="sng" dirty="0" err="1">
                <a:solidFill>
                  <a:schemeClr val="tx1"/>
                </a:solidFill>
                <a:sym typeface="Maven Pro"/>
              </a:rPr>
              <a:t>hợp</a:t>
            </a:r>
            <a:r>
              <a:rPr lang="en-US" sz="1600" b="1" u="sng" dirty="0">
                <a:solidFill>
                  <a:schemeClr val="tx1"/>
                </a:solidFill>
                <a:sym typeface="Maven Pro"/>
              </a:rPr>
              <a:t> </a:t>
            </a:r>
            <a:r>
              <a:rPr lang="en-US" sz="1600" b="1" u="sng" dirty="0" err="1">
                <a:solidFill>
                  <a:schemeClr val="tx1"/>
                </a:solidFill>
                <a:sym typeface="Maven Pro"/>
              </a:rPr>
              <a:t>tư</a:t>
            </a:r>
            <a:r>
              <a:rPr lang="en-US" sz="1600" b="1" u="sng" dirty="0">
                <a:solidFill>
                  <a:schemeClr val="tx1"/>
                </a:solidFill>
                <a:sym typeface="Maven Pro"/>
              </a:rPr>
              <a:t> </a:t>
            </a:r>
            <a:r>
              <a:rPr lang="en-US" sz="1600" b="1" u="sng" dirty="0" err="1">
                <a:solidFill>
                  <a:schemeClr val="tx1"/>
                </a:solidFill>
                <a:sym typeface="Maven Pro"/>
              </a:rPr>
              <a:t>duy</a:t>
            </a:r>
            <a:r>
              <a:rPr lang="en-US" sz="1600" b="1" u="sng" dirty="0">
                <a:solidFill>
                  <a:schemeClr val="tx1"/>
                </a:solidFill>
                <a:sym typeface="Maven Pro"/>
              </a:rPr>
              <a:t> code</a:t>
            </a:r>
            <a:endParaRPr lang="vi-VN" sz="1600" b="1" dirty="0"/>
          </a:p>
          <a:p>
            <a:pPr marL="101600" algn="just">
              <a:lnSpc>
                <a:spcPct val="115000"/>
              </a:lnSpc>
              <a:spcBef>
                <a:spcPts val="1600"/>
              </a:spcBef>
              <a:buClr>
                <a:schemeClr val="dk1"/>
              </a:buClr>
              <a:buSzPts val="2000"/>
            </a:pPr>
            <a:r>
              <a:rPr lang="vi-VN" sz="1600" dirty="0"/>
              <a:t>1/ Code nhận diện nến Doji chân dài: Vậy nếu code để nhận diện nến Doji chân dài thì chúng ta sẽ code gì?</a:t>
            </a:r>
            <a:endParaRPr lang="vi-VN" sz="1600" dirty="0"/>
          </a:p>
          <a:p>
            <a:pPr marL="101600" algn="just">
              <a:lnSpc>
                <a:spcPct val="115000"/>
              </a:lnSpc>
              <a:spcBef>
                <a:spcPts val="1600"/>
              </a:spcBef>
              <a:buClr>
                <a:schemeClr val="dk1"/>
              </a:buClr>
              <a:buSzPts val="2000"/>
            </a:pPr>
            <a:r>
              <a:rPr lang="vi-VN" sz="1600" dirty="0"/>
              <a:t>     + </a:t>
            </a:r>
            <a:r>
              <a:rPr lang="vi-VN" sz="1600" b="1" dirty="0"/>
              <a:t>Kiểm tra giá mở cửa và đóng cửa có gần bằng nhau không?</a:t>
            </a:r>
            <a:endParaRPr lang="vi-VN" sz="1600" b="1" dirty="0"/>
          </a:p>
          <a:p>
            <a:pPr marL="101600" algn="just">
              <a:lnSpc>
                <a:spcPct val="115000"/>
              </a:lnSpc>
              <a:spcBef>
                <a:spcPts val="1600"/>
              </a:spcBef>
              <a:buClr>
                <a:schemeClr val="dk1"/>
              </a:buClr>
              <a:buSzPts val="2000"/>
            </a:pPr>
            <a:r>
              <a:rPr lang="vi-VN" sz="1600" b="1" dirty="0"/>
              <a:t>     + Kiểm tra bóng nến trên có lớn hơn hoặc bằng 2 lần thân nến không?</a:t>
            </a:r>
            <a:endParaRPr lang="vi-VN" sz="1600" b="1" dirty="0"/>
          </a:p>
          <a:p>
            <a:pPr marL="101600" algn="just">
              <a:lnSpc>
                <a:spcPct val="115000"/>
              </a:lnSpc>
              <a:spcBef>
                <a:spcPts val="1600"/>
              </a:spcBef>
              <a:buClr>
                <a:schemeClr val="dk1"/>
              </a:buClr>
              <a:buSzPts val="2000"/>
            </a:pPr>
            <a:r>
              <a:rPr lang="vi-VN" sz="1600" b="1" dirty="0"/>
              <a:t>     + Kiểm tra bóng nến dưới có lớn hơn hoặc bằng 2 lần thân nến không?</a:t>
            </a:r>
            <a:endParaRPr lang="vi-VN" sz="1600" b="1" dirty="0"/>
          </a:p>
          <a:p>
            <a:pPr marL="101600" algn="just">
              <a:lnSpc>
                <a:spcPct val="115000"/>
              </a:lnSpc>
              <a:spcBef>
                <a:spcPts val="1600"/>
              </a:spcBef>
              <a:buClr>
                <a:schemeClr val="dk1"/>
              </a:buClr>
              <a:buSzPts val="2000"/>
            </a:pPr>
            <a:r>
              <a:rPr lang="vi-VN" sz="1600" dirty="0"/>
              <a:t>2/ </a:t>
            </a:r>
            <a:r>
              <a:rPr lang="vi-VN" sz="1600" dirty="0">
                <a:solidFill>
                  <a:schemeClr val="tx1"/>
                </a:solidFill>
              </a:rPr>
              <a:t>Code kiểm tra nến xác </a:t>
            </a:r>
            <a:r>
              <a:rPr lang="vi-VN" sz="1600" b="1" dirty="0">
                <a:solidFill>
                  <a:schemeClr val="tx1"/>
                </a:solidFill>
              </a:rPr>
              <a:t>nhận sau nến Doji chân dài 1 nến</a:t>
            </a:r>
            <a:r>
              <a:rPr lang="vi-VN" sz="1600" dirty="0">
                <a:solidFill>
                  <a:schemeClr val="tx1"/>
                </a:solidFill>
              </a:rPr>
              <a:t>: </a:t>
            </a:r>
            <a:r>
              <a:rPr lang="vi-VN" sz="1600" b="1" dirty="0"/>
              <a:t>Vậy nếu code để kiểm tra nến xác nhận sau nến Doji chân dài 1 nến thì chúng ta sẽ code gì?</a:t>
            </a:r>
            <a:endParaRPr lang="vi-VN" sz="1600" b="1" dirty="0"/>
          </a:p>
          <a:p>
            <a:pPr marL="101600" algn="just">
              <a:lnSpc>
                <a:spcPct val="115000"/>
              </a:lnSpc>
              <a:spcBef>
                <a:spcPts val="1600"/>
              </a:spcBef>
              <a:buClr>
                <a:schemeClr val="dk1"/>
              </a:buClr>
              <a:buSzPts val="2000"/>
            </a:pPr>
            <a:r>
              <a:rPr lang="vi-VN" sz="1600" dirty="0"/>
              <a:t>+ </a:t>
            </a:r>
            <a:r>
              <a:rPr lang="vi-VN" sz="1600" b="1" dirty="0"/>
              <a:t>Nếu nến tiếp theo là một nến tăng (màu xanh lá hoặc trắng) và đóng cửa trên thân nến của Doji, nó có thể là một nến xác nhận tăng giá. </a:t>
            </a:r>
            <a:r>
              <a:rPr lang="en-US" sz="1600" b="1" dirty="0"/>
              <a:t>=&gt; </a:t>
            </a:r>
            <a:r>
              <a:rPr lang="vi-VN" sz="1600" b="1" dirty="0"/>
              <a:t>Thực hiện chiến lược mua vào</a:t>
            </a:r>
            <a:endParaRPr lang="vi-VN" sz="1600" b="1" dirty="0"/>
          </a:p>
          <a:p>
            <a:pPr marL="10160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  </a:t>
            </a:r>
            <a:endParaRPr lang="en-US" sz="1600" b="1"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1" i="0" u="none" strike="noStrike" cap="none" dirty="0">
              <a:solidFill>
                <a:schemeClr val="lt1"/>
              </a:solidFill>
              <a:sym typeface="Arial" panose="020B0604020202020204"/>
            </a:endParaRPr>
          </a:p>
        </p:txBody>
      </p:sp>
      <p:sp>
        <p:nvSpPr>
          <p:cNvPr id="101" name="Google Shape;101;p3"/>
          <p:cNvSpPr txBox="1"/>
          <p:nvPr/>
        </p:nvSpPr>
        <p:spPr>
          <a:xfrm>
            <a:off x="424875" y="616224"/>
            <a:ext cx="8285017" cy="5327376"/>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I.1. 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endParaRPr lang="en-US" sz="1600" b="1" dirty="0">
              <a:solidFill>
                <a:schemeClr val="tx1"/>
              </a:solidFill>
              <a:ea typeface="Maven Pro"/>
              <a:cs typeface="Maven Pro"/>
              <a:sym typeface="Maven Pro"/>
            </a:endParaRPr>
          </a:p>
          <a:p>
            <a:pPr marL="444500" indent="-342900">
              <a:lnSpc>
                <a:spcPct val="115000"/>
              </a:lnSpc>
              <a:spcBef>
                <a:spcPts val="1600"/>
              </a:spcBef>
              <a:buClr>
                <a:schemeClr val="dk1"/>
              </a:buClr>
              <a:buSzPts val="2000"/>
              <a:buFont typeface="+mj-lt"/>
              <a:buAutoNum type="alphaLcParenR" startAt="4"/>
            </a:pPr>
            <a:r>
              <a:rPr lang="en-US" sz="1600" b="1" u="sng" dirty="0">
                <a:solidFill>
                  <a:schemeClr val="tx1"/>
                </a:solidFill>
                <a:sym typeface="Maven Pro"/>
              </a:rPr>
              <a:t>Code </a:t>
            </a:r>
            <a:r>
              <a:rPr lang="en-US" sz="1600" b="1" u="sng" dirty="0" err="1">
                <a:solidFill>
                  <a:schemeClr val="tx1"/>
                </a:solidFill>
                <a:sym typeface="Maven Pro"/>
              </a:rPr>
              <a:t>chiến</a:t>
            </a:r>
            <a:r>
              <a:rPr lang="en-US" sz="1600" b="1" u="sng" dirty="0">
                <a:solidFill>
                  <a:schemeClr val="tx1"/>
                </a:solidFill>
                <a:sym typeface="Maven Pro"/>
              </a:rPr>
              <a:t> </a:t>
            </a:r>
            <a:r>
              <a:rPr lang="en-US" sz="1600" b="1" u="sng" dirty="0" err="1">
                <a:solidFill>
                  <a:schemeClr val="tx1"/>
                </a:solidFill>
                <a:sym typeface="Maven Pro"/>
              </a:rPr>
              <a:t>lược</a:t>
            </a:r>
            <a:r>
              <a:rPr lang="en-US" sz="1600" b="1" u="sng" dirty="0">
                <a:solidFill>
                  <a:schemeClr val="tx1"/>
                </a:solidFill>
                <a:sym typeface="Maven Pro"/>
              </a:rPr>
              <a:t>: </a:t>
            </a:r>
            <a:endParaRPr lang="en-US" sz="1600" b="1" u="sng" dirty="0">
              <a:solidFill>
                <a:schemeClr val="tx1"/>
              </a:solidFill>
              <a:sym typeface="Maven Pro"/>
            </a:endParaRPr>
          </a:p>
          <a:p>
            <a:pPr marL="387350" indent="-285750" algn="just">
              <a:lnSpc>
                <a:spcPct val="115000"/>
              </a:lnSpc>
              <a:spcBef>
                <a:spcPts val="1600"/>
              </a:spcBef>
              <a:buClr>
                <a:schemeClr val="dk1"/>
              </a:buClr>
              <a:buSzPts val="2000"/>
              <a:buFontTx/>
              <a:buChar char="-"/>
            </a:pPr>
            <a:r>
              <a:rPr lang="en-US" sz="1600" dirty="0" err="1">
                <a:solidFill>
                  <a:schemeClr val="tx1"/>
                </a:solidFill>
                <a:sym typeface="Maven Pro"/>
              </a:rPr>
              <a:t>Vậy</a:t>
            </a:r>
            <a:r>
              <a:rPr lang="en-US" sz="1600" dirty="0">
                <a:solidFill>
                  <a:schemeClr val="tx1"/>
                </a:solidFill>
                <a:sym typeface="Maven Pro"/>
              </a:rPr>
              <a:t> </a:t>
            </a:r>
            <a:r>
              <a:rPr lang="en-US" sz="1600" dirty="0" err="1">
                <a:solidFill>
                  <a:schemeClr val="tx1"/>
                </a:solidFill>
                <a:sym typeface="Maven Pro"/>
              </a:rPr>
              <a:t>kiểm</a:t>
            </a:r>
            <a:r>
              <a:rPr lang="en-US" sz="1600" dirty="0">
                <a:solidFill>
                  <a:schemeClr val="tx1"/>
                </a:solidFill>
                <a:sym typeface="Maven Pro"/>
              </a:rPr>
              <a:t> </a:t>
            </a:r>
            <a:r>
              <a:rPr lang="en-US" sz="1600" dirty="0" err="1">
                <a:solidFill>
                  <a:schemeClr val="tx1"/>
                </a:solidFill>
                <a:sym typeface="Maven Pro"/>
              </a:rPr>
              <a:t>tra</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hiện</a:t>
            </a:r>
            <a:r>
              <a:rPr lang="en-US" sz="1600" dirty="0">
                <a:solidFill>
                  <a:schemeClr val="tx1"/>
                </a:solidFill>
                <a:sym typeface="Maven Pro"/>
              </a:rPr>
              <a:t> </a:t>
            </a:r>
            <a:r>
              <a:rPr lang="en-US" sz="1600" dirty="0" err="1">
                <a:solidFill>
                  <a:schemeClr val="tx1"/>
                </a:solidFill>
                <a:sym typeface="Maven Pro"/>
              </a:rPr>
              <a:t>tại</a:t>
            </a:r>
            <a:r>
              <a:rPr lang="en-US" sz="1600" dirty="0">
                <a:solidFill>
                  <a:schemeClr val="tx1"/>
                </a:solidFill>
                <a:sym typeface="Maven Pro"/>
              </a:rPr>
              <a:t> </a:t>
            </a:r>
            <a:r>
              <a:rPr lang="en-US" sz="1600" dirty="0" err="1">
                <a:solidFill>
                  <a:schemeClr val="tx1"/>
                </a:solidFill>
                <a:sym typeface="Maven Pro"/>
              </a:rPr>
              <a:t>có</a:t>
            </a:r>
            <a:r>
              <a:rPr lang="en-US" sz="1600" dirty="0">
                <a:solidFill>
                  <a:schemeClr val="tx1"/>
                </a:solidFill>
                <a:sym typeface="Maven Pro"/>
              </a:rPr>
              <a:t> </a:t>
            </a:r>
            <a:r>
              <a:rPr lang="en-US" sz="1600" dirty="0" err="1">
                <a:solidFill>
                  <a:schemeClr val="tx1"/>
                </a:solidFill>
                <a:sym typeface="Maven Pro"/>
              </a:rPr>
              <a:t>phải</a:t>
            </a:r>
            <a:r>
              <a:rPr lang="en-US" sz="1600" dirty="0">
                <a:solidFill>
                  <a:schemeClr val="tx1"/>
                </a:solidFill>
                <a:sym typeface="Maven Pro"/>
              </a:rPr>
              <a:t> </a:t>
            </a:r>
            <a:r>
              <a:rPr lang="en-US" sz="1600" dirty="0" err="1">
                <a:solidFill>
                  <a:schemeClr val="tx1"/>
                </a:solidFill>
                <a:sym typeface="Maven Pro"/>
              </a:rPr>
              <a:t>là</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tăng</a:t>
            </a:r>
            <a:r>
              <a:rPr lang="en-US" sz="1600" dirty="0">
                <a:solidFill>
                  <a:schemeClr val="tx1"/>
                </a:solidFill>
                <a:sym typeface="Maven Pro"/>
              </a:rPr>
              <a:t> hay </a:t>
            </a:r>
            <a:r>
              <a:rPr lang="en-US" sz="1600" dirty="0" err="1">
                <a:solidFill>
                  <a:schemeClr val="tx1"/>
                </a:solidFill>
                <a:sym typeface="Maven Pro"/>
              </a:rPr>
              <a:t>không</a:t>
            </a:r>
            <a:r>
              <a:rPr lang="en-US" sz="1600" dirty="0">
                <a:solidFill>
                  <a:schemeClr val="tx1"/>
                </a:solidFill>
                <a:sym typeface="Maven Pro"/>
              </a:rPr>
              <a:t> =&gt; </a:t>
            </a:r>
            <a:r>
              <a:rPr lang="en-US" sz="1600" dirty="0" err="1">
                <a:solidFill>
                  <a:schemeClr val="tx1"/>
                </a:solidFill>
                <a:sym typeface="Maven Pro"/>
              </a:rPr>
              <a:t>Nếu</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tăng</a:t>
            </a:r>
            <a:r>
              <a:rPr lang="en-US" sz="1600" dirty="0">
                <a:solidFill>
                  <a:schemeClr val="tx1"/>
                </a:solidFill>
                <a:sym typeface="Maven Pro"/>
              </a:rPr>
              <a:t> </a:t>
            </a:r>
            <a:r>
              <a:rPr lang="en-US" sz="1600" dirty="0" err="1">
                <a:solidFill>
                  <a:schemeClr val="tx1"/>
                </a:solidFill>
                <a:sym typeface="Maven Pro"/>
              </a:rPr>
              <a:t>thì</a:t>
            </a:r>
            <a:r>
              <a:rPr lang="en-US" sz="1600" dirty="0">
                <a:solidFill>
                  <a:schemeClr val="tx1"/>
                </a:solidFill>
                <a:sym typeface="Maven Pro"/>
              </a:rPr>
              <a:t> </a:t>
            </a:r>
            <a:r>
              <a:rPr lang="en-US" sz="1600" dirty="0" err="1">
                <a:solidFill>
                  <a:schemeClr val="tx1"/>
                </a:solidFill>
                <a:sym typeface="Maven Pro"/>
              </a:rPr>
              <a:t>kiểm</a:t>
            </a:r>
            <a:r>
              <a:rPr lang="en-US" sz="1600" dirty="0">
                <a:solidFill>
                  <a:schemeClr val="tx1"/>
                </a:solidFill>
                <a:sym typeface="Maven Pro"/>
              </a:rPr>
              <a:t> </a:t>
            </a:r>
            <a:r>
              <a:rPr lang="en-US" sz="1600" dirty="0" err="1">
                <a:solidFill>
                  <a:schemeClr val="tx1"/>
                </a:solidFill>
                <a:sym typeface="Maven Pro"/>
              </a:rPr>
              <a:t>tra</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trước</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hiện</a:t>
            </a:r>
            <a:r>
              <a:rPr lang="en-US" sz="1600" dirty="0">
                <a:solidFill>
                  <a:schemeClr val="tx1"/>
                </a:solidFill>
                <a:sym typeface="Maven Pro"/>
              </a:rPr>
              <a:t> </a:t>
            </a:r>
            <a:r>
              <a:rPr lang="en-US" sz="1600" dirty="0" err="1">
                <a:solidFill>
                  <a:schemeClr val="tx1"/>
                </a:solidFill>
                <a:sym typeface="Maven Pro"/>
              </a:rPr>
              <a:t>tại</a:t>
            </a:r>
            <a:r>
              <a:rPr lang="en-US" sz="1600" dirty="0">
                <a:solidFill>
                  <a:schemeClr val="tx1"/>
                </a:solidFill>
                <a:sym typeface="Maven Pro"/>
              </a:rPr>
              <a:t> 1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có</a:t>
            </a:r>
            <a:r>
              <a:rPr lang="en-US" sz="1600" dirty="0">
                <a:solidFill>
                  <a:schemeClr val="tx1"/>
                </a:solidFill>
                <a:sym typeface="Maven Pro"/>
              </a:rPr>
              <a:t> </a:t>
            </a:r>
            <a:r>
              <a:rPr lang="en-US" sz="1600" dirty="0" err="1">
                <a:solidFill>
                  <a:schemeClr val="tx1"/>
                </a:solidFill>
                <a:sym typeface="Maven Pro"/>
              </a:rPr>
              <a:t>phải</a:t>
            </a:r>
            <a:r>
              <a:rPr lang="en-US" sz="1600" dirty="0">
                <a:solidFill>
                  <a:schemeClr val="tx1"/>
                </a:solidFill>
                <a:sym typeface="Maven Pro"/>
              </a:rPr>
              <a:t> </a:t>
            </a:r>
            <a:r>
              <a:rPr lang="en-US" sz="1600" dirty="0" err="1">
                <a:solidFill>
                  <a:schemeClr val="tx1"/>
                </a:solidFill>
                <a:sym typeface="Maven Pro"/>
              </a:rPr>
              <a:t>là</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Doji</a:t>
            </a:r>
            <a:r>
              <a:rPr lang="en-US" sz="1600" dirty="0">
                <a:solidFill>
                  <a:schemeClr val="tx1"/>
                </a:solidFill>
                <a:sym typeface="Maven Pro"/>
              </a:rPr>
              <a:t> </a:t>
            </a:r>
            <a:r>
              <a:rPr lang="en-US" sz="1600" dirty="0" err="1">
                <a:solidFill>
                  <a:schemeClr val="tx1"/>
                </a:solidFill>
                <a:sym typeface="Maven Pro"/>
              </a:rPr>
              <a:t>chân</a:t>
            </a:r>
            <a:r>
              <a:rPr lang="en-US" sz="1600" dirty="0">
                <a:solidFill>
                  <a:schemeClr val="tx1"/>
                </a:solidFill>
                <a:sym typeface="Maven Pro"/>
              </a:rPr>
              <a:t> </a:t>
            </a:r>
            <a:r>
              <a:rPr lang="en-US" sz="1600" dirty="0" err="1">
                <a:solidFill>
                  <a:schemeClr val="tx1"/>
                </a:solidFill>
                <a:sym typeface="Maven Pro"/>
              </a:rPr>
              <a:t>dài</a:t>
            </a:r>
            <a:r>
              <a:rPr lang="en-US" sz="1600" dirty="0">
                <a:solidFill>
                  <a:schemeClr val="tx1"/>
                </a:solidFill>
                <a:sym typeface="Maven Pro"/>
              </a:rPr>
              <a:t> hay </a:t>
            </a:r>
            <a:r>
              <a:rPr lang="en-US" sz="1600" dirty="0" err="1">
                <a:solidFill>
                  <a:schemeClr val="tx1"/>
                </a:solidFill>
                <a:sym typeface="Maven Pro"/>
              </a:rPr>
              <a:t>không</a:t>
            </a:r>
            <a:r>
              <a:rPr lang="en-US" sz="1600" dirty="0">
                <a:solidFill>
                  <a:schemeClr val="tx1"/>
                </a:solidFill>
                <a:sym typeface="Maven Pro"/>
              </a:rPr>
              <a:t> =&gt; </a:t>
            </a:r>
            <a:r>
              <a:rPr lang="en-US" sz="1600" dirty="0" err="1">
                <a:solidFill>
                  <a:schemeClr val="tx1"/>
                </a:solidFill>
                <a:sym typeface="Maven Pro"/>
              </a:rPr>
              <a:t>Kiểm</a:t>
            </a:r>
            <a:r>
              <a:rPr lang="en-US" sz="1600" dirty="0">
                <a:solidFill>
                  <a:schemeClr val="tx1"/>
                </a:solidFill>
                <a:sym typeface="Maven Pro"/>
              </a:rPr>
              <a:t> </a:t>
            </a:r>
            <a:r>
              <a:rPr lang="en-US" sz="1600" dirty="0" err="1">
                <a:solidFill>
                  <a:schemeClr val="tx1"/>
                </a:solidFill>
                <a:sym typeface="Maven Pro"/>
              </a:rPr>
              <a:t>tra</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hiện</a:t>
            </a:r>
            <a:r>
              <a:rPr lang="en-US" sz="1600" dirty="0">
                <a:solidFill>
                  <a:schemeClr val="tx1"/>
                </a:solidFill>
                <a:sym typeface="Maven Pro"/>
              </a:rPr>
              <a:t> </a:t>
            </a:r>
            <a:r>
              <a:rPr lang="en-US" sz="1600" dirty="0" err="1">
                <a:solidFill>
                  <a:schemeClr val="tx1"/>
                </a:solidFill>
                <a:sym typeface="Maven Pro"/>
              </a:rPr>
              <a:t>tại</a:t>
            </a:r>
            <a:r>
              <a:rPr lang="en-US" sz="1600" dirty="0">
                <a:solidFill>
                  <a:schemeClr val="tx1"/>
                </a:solidFill>
                <a:sym typeface="Maven Pro"/>
              </a:rPr>
              <a:t> </a:t>
            </a:r>
            <a:r>
              <a:rPr lang="en-US" sz="1600" dirty="0" err="1">
                <a:solidFill>
                  <a:schemeClr val="tx1"/>
                </a:solidFill>
                <a:sym typeface="Maven Pro"/>
              </a:rPr>
              <a:t>có</a:t>
            </a:r>
            <a:r>
              <a:rPr lang="en-US" sz="1600" dirty="0">
                <a:solidFill>
                  <a:schemeClr val="tx1"/>
                </a:solidFill>
                <a:sym typeface="Maven Pro"/>
              </a:rPr>
              <a:t> </a:t>
            </a:r>
            <a:r>
              <a:rPr lang="en-US" sz="1600" dirty="0" err="1">
                <a:solidFill>
                  <a:schemeClr val="tx1"/>
                </a:solidFill>
                <a:sym typeface="Maven Pro"/>
              </a:rPr>
              <a:t>giá</a:t>
            </a:r>
            <a:r>
              <a:rPr lang="en-US" sz="1600" dirty="0">
                <a:solidFill>
                  <a:schemeClr val="tx1"/>
                </a:solidFill>
                <a:sym typeface="Maven Pro"/>
              </a:rPr>
              <a:t> </a:t>
            </a:r>
            <a:r>
              <a:rPr lang="vi-VN" sz="1600" dirty="0"/>
              <a:t>đóng cửa trên thân nến của Doji, nó có thể là một nến xác nhận tăng giá</a:t>
            </a:r>
            <a:endParaRPr lang="en-US" sz="1600" dirty="0">
              <a:solidFill>
                <a:schemeClr val="tx1"/>
              </a:solidFill>
              <a:sym typeface="Maven Pro"/>
            </a:endParaRPr>
          </a:p>
          <a:p>
            <a:pPr marL="101600" algn="just">
              <a:lnSpc>
                <a:spcPct val="115000"/>
              </a:lnSpc>
              <a:spcBef>
                <a:spcPts val="1600"/>
              </a:spcBef>
              <a:buClr>
                <a:schemeClr val="dk1"/>
              </a:buClr>
              <a:buSzPts val="2000"/>
            </a:pPr>
            <a:r>
              <a:rPr lang="en-US" sz="1600" dirty="0">
                <a:solidFill>
                  <a:schemeClr val="tx1"/>
                </a:solidFill>
                <a:sym typeface="Maven Pro"/>
              </a:rPr>
              <a:t>      =&gt; </a:t>
            </a:r>
            <a:r>
              <a:rPr lang="en-US" sz="1600" dirty="0" err="1">
                <a:solidFill>
                  <a:schemeClr val="tx1"/>
                </a:solidFill>
                <a:sym typeface="Maven Pro"/>
              </a:rPr>
              <a:t>Nếu</a:t>
            </a:r>
            <a:r>
              <a:rPr lang="en-US" sz="1600" dirty="0">
                <a:solidFill>
                  <a:schemeClr val="tx1"/>
                </a:solidFill>
                <a:sym typeface="Maven Pro"/>
              </a:rPr>
              <a:t> </a:t>
            </a:r>
            <a:r>
              <a:rPr lang="en-US" sz="1600" dirty="0" err="1">
                <a:solidFill>
                  <a:schemeClr val="tx1"/>
                </a:solidFill>
                <a:sym typeface="Maven Pro"/>
              </a:rPr>
              <a:t>cả</a:t>
            </a:r>
            <a:r>
              <a:rPr lang="en-US" sz="1600" dirty="0">
                <a:solidFill>
                  <a:schemeClr val="tx1"/>
                </a:solidFill>
                <a:sym typeface="Maven Pro"/>
              </a:rPr>
              <a:t> 2 </a:t>
            </a:r>
            <a:r>
              <a:rPr lang="en-US" sz="1600" dirty="0" err="1">
                <a:solidFill>
                  <a:schemeClr val="tx1"/>
                </a:solidFill>
                <a:sym typeface="Maven Pro"/>
              </a:rPr>
              <a:t>điều</a:t>
            </a:r>
            <a:r>
              <a:rPr lang="en-US" sz="1600" dirty="0">
                <a:solidFill>
                  <a:schemeClr val="tx1"/>
                </a:solidFill>
                <a:sym typeface="Maven Pro"/>
              </a:rPr>
              <a:t> </a:t>
            </a:r>
            <a:r>
              <a:rPr lang="en-US" sz="1600" dirty="0" err="1">
                <a:solidFill>
                  <a:schemeClr val="tx1"/>
                </a:solidFill>
                <a:sym typeface="Maven Pro"/>
              </a:rPr>
              <a:t>kiện</a:t>
            </a:r>
            <a:r>
              <a:rPr lang="en-US" sz="1600" dirty="0">
                <a:solidFill>
                  <a:schemeClr val="tx1"/>
                </a:solidFill>
                <a:sym typeface="Maven Pro"/>
              </a:rPr>
              <a:t> </a:t>
            </a:r>
            <a:r>
              <a:rPr lang="en-US" sz="1600" dirty="0" err="1">
                <a:solidFill>
                  <a:schemeClr val="tx1"/>
                </a:solidFill>
                <a:sym typeface="Maven Pro"/>
              </a:rPr>
              <a:t>đó</a:t>
            </a:r>
            <a:r>
              <a:rPr lang="en-US" sz="1600" dirty="0">
                <a:solidFill>
                  <a:schemeClr val="tx1"/>
                </a:solidFill>
                <a:sym typeface="Maven Pro"/>
              </a:rPr>
              <a:t> </a:t>
            </a:r>
            <a:r>
              <a:rPr lang="en-US" sz="1600" dirty="0" err="1">
                <a:solidFill>
                  <a:schemeClr val="tx1"/>
                </a:solidFill>
                <a:sym typeface="Maven Pro"/>
              </a:rPr>
              <a:t>thỏa</a:t>
            </a:r>
            <a:r>
              <a:rPr lang="en-US" sz="1600" dirty="0">
                <a:solidFill>
                  <a:schemeClr val="tx1"/>
                </a:solidFill>
                <a:sym typeface="Maven Pro"/>
              </a:rPr>
              <a:t> </a:t>
            </a:r>
            <a:r>
              <a:rPr lang="en-US" sz="1600" dirty="0" err="1">
                <a:solidFill>
                  <a:schemeClr val="tx1"/>
                </a:solidFill>
                <a:sym typeface="Maven Pro"/>
              </a:rPr>
              <a:t>thì</a:t>
            </a:r>
            <a:r>
              <a:rPr lang="en-US" sz="1600" dirty="0">
                <a:solidFill>
                  <a:schemeClr val="tx1"/>
                </a:solidFill>
                <a:sym typeface="Maven Pro"/>
              </a:rPr>
              <a:t> </a:t>
            </a:r>
            <a:r>
              <a:rPr lang="en-US" sz="1600" dirty="0" err="1">
                <a:solidFill>
                  <a:schemeClr val="tx1"/>
                </a:solidFill>
                <a:sym typeface="Maven Pro"/>
              </a:rPr>
              <a:t>vào</a:t>
            </a:r>
            <a:r>
              <a:rPr lang="en-US" sz="1600" dirty="0">
                <a:solidFill>
                  <a:schemeClr val="tx1"/>
                </a:solidFill>
                <a:sym typeface="Maven Pro"/>
              </a:rPr>
              <a:t> 1 </a:t>
            </a:r>
            <a:r>
              <a:rPr lang="en-US" sz="1600" dirty="0" err="1">
                <a:solidFill>
                  <a:schemeClr val="tx1"/>
                </a:solidFill>
                <a:sym typeface="Maven Pro"/>
              </a:rPr>
              <a:t>lệnh</a:t>
            </a:r>
            <a:r>
              <a:rPr lang="en-US" sz="1600" dirty="0">
                <a:solidFill>
                  <a:schemeClr val="tx1"/>
                </a:solidFill>
                <a:sym typeface="Maven Pro"/>
              </a:rPr>
              <a:t> </a:t>
            </a:r>
            <a:r>
              <a:rPr lang="en-US" sz="1600" dirty="0" err="1">
                <a:solidFill>
                  <a:schemeClr val="tx1"/>
                </a:solidFill>
                <a:sym typeface="Maven Pro"/>
              </a:rPr>
              <a:t>mua</a:t>
            </a:r>
            <a:endParaRPr lang="en-US" sz="1600" dirty="0">
              <a:solidFill>
                <a:schemeClr val="tx1"/>
              </a:solidFill>
              <a:sym typeface="Maven Pro"/>
            </a:endParaRPr>
          </a:p>
          <a:p>
            <a:pPr marL="10160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  </a:t>
            </a:r>
            <a:endParaRPr lang="en-US" sz="1600" b="1"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1" i="0" u="none" strike="noStrike" cap="none" dirty="0">
              <a:solidFill>
                <a:schemeClr val="lt1"/>
              </a:solidFill>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a:lnSpc>
                <a:spcPct val="115000"/>
              </a:lnSpc>
              <a:spcBef>
                <a:spcPts val="1600"/>
              </a:spcBef>
              <a:buClr>
                <a:schemeClr val="dk1"/>
              </a:buClr>
              <a:buSzPts val="2000"/>
            </a:pPr>
            <a:r>
              <a:rPr lang="en-US" sz="1600" b="1" dirty="0">
                <a:solidFill>
                  <a:schemeClr val="tx1"/>
                </a:solidFill>
                <a:ea typeface="Maven Pro"/>
                <a:cs typeface="Maven Pro"/>
                <a:sym typeface="Maven Pro"/>
              </a:rPr>
              <a:t>I.2. </a:t>
            </a:r>
            <a:r>
              <a:rPr lang="vi-VN" sz="1600" b="1" dirty="0"/>
              <a:t>Chiến lược giao dịch theo chỉ số biến động</a:t>
            </a:r>
            <a:r>
              <a:rPr lang="en-US" sz="1600" b="1" dirty="0"/>
              <a:t> (</a:t>
            </a:r>
            <a:r>
              <a:rPr lang="en-US" sz="1600" b="1" dirty="0">
                <a:solidFill>
                  <a:schemeClr val="dk1"/>
                </a:solidFill>
                <a:ea typeface="Maven Pro"/>
                <a:cs typeface="Maven Pro"/>
                <a:sym typeface="Maven Pro"/>
              </a:rPr>
              <a:t>Chiến </a:t>
            </a:r>
            <a:r>
              <a:rPr lang="en-US" sz="1600" b="1" dirty="0" err="1">
                <a:solidFill>
                  <a:schemeClr val="dk1"/>
                </a:solidFill>
                <a:ea typeface="Maven Pro"/>
                <a:cs typeface="Maven Pro"/>
                <a:sym typeface="Maven Pro"/>
              </a:rPr>
              <a:t>lược</a:t>
            </a:r>
            <a:r>
              <a:rPr lang="en-US" sz="1600" b="1" dirty="0">
                <a:solidFill>
                  <a:schemeClr val="dk1"/>
                </a:solidFill>
                <a:ea typeface="Maven Pro"/>
                <a:cs typeface="Maven Pro"/>
                <a:sym typeface="Maven Pro"/>
              </a:rPr>
              <a:t> SPY500 – VIX) </a:t>
            </a:r>
            <a:endParaRPr lang="en-US" sz="1600" b="1" dirty="0">
              <a:solidFill>
                <a:schemeClr val="dk1"/>
              </a:solidFill>
              <a:ea typeface="Maven Pro"/>
              <a:cs typeface="Maven Pro"/>
              <a:sym typeface="Maven Pro"/>
            </a:endParaRPr>
          </a:p>
          <a:p>
            <a:pPr marL="444500" indent="-342900" algn="just">
              <a:lnSpc>
                <a:spcPct val="115000"/>
              </a:lnSpc>
              <a:spcBef>
                <a:spcPts val="1600"/>
              </a:spcBef>
              <a:buClr>
                <a:schemeClr val="dk1"/>
              </a:buClr>
              <a:buSzPts val="2000"/>
              <a:buAutoNum type="alphaLcParenR"/>
            </a:pPr>
            <a:r>
              <a:rPr lang="en-US" sz="1600" b="1" dirty="0" err="1">
                <a:solidFill>
                  <a:schemeClr val="tx1"/>
                </a:solidFill>
                <a:ea typeface="Maven Pro"/>
                <a:cs typeface="Maven Pro"/>
                <a:sym typeface="Maven Pro"/>
              </a:rPr>
              <a:t>Nhận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diện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chiến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lược</a:t>
            </a:r>
            <a:endParaRPr lang="en-US" sz="1600" b="1" dirty="0">
              <a:solidFill>
                <a:schemeClr val="tx1"/>
              </a:solidFill>
              <a:ea typeface="Maven Pro"/>
              <a:cs typeface="Maven Pro"/>
              <a:sym typeface="Maven Pro"/>
            </a:endParaRPr>
          </a:p>
          <a:p>
            <a:pPr marL="387350" indent="-285750" algn="just">
              <a:lnSpc>
                <a:spcPct val="115000"/>
              </a:lnSpc>
              <a:spcBef>
                <a:spcPts val="1600"/>
              </a:spcBef>
              <a:buClr>
                <a:schemeClr val="dk1"/>
              </a:buClr>
              <a:buSzPts val="2000"/>
              <a:buFontTx/>
              <a:buChar char="-"/>
            </a:pPr>
            <a:r>
              <a:rPr lang="en-US" sz="1600" dirty="0">
                <a:solidFill>
                  <a:schemeClr val="tx1"/>
                </a:solidFill>
                <a:ea typeface="Maven Pro"/>
                <a:cs typeface="Maven Pro"/>
                <a:sym typeface="Maven Pro"/>
              </a:rPr>
              <a:t>SPY </a:t>
            </a:r>
            <a:r>
              <a:rPr lang="en-US" sz="1600" dirty="0" err="1">
                <a:solidFill>
                  <a:schemeClr val="tx1"/>
                </a:solidFill>
                <a:ea typeface="Maven Pro"/>
                <a:cs typeface="Maven Pro"/>
                <a:sym typeface="Maven Pro"/>
              </a:rPr>
              <a:t>là</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chứng</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chỉ</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quỹ</a:t>
            </a:r>
            <a:r>
              <a:rPr lang="en-US" sz="1600" dirty="0">
                <a:solidFill>
                  <a:schemeClr val="tx1"/>
                </a:solidFill>
                <a:ea typeface="Maven Pro"/>
                <a:cs typeface="Maven Pro"/>
                <a:sym typeface="Maven Pro"/>
              </a:rPr>
              <a:t>: </a:t>
            </a:r>
            <a:r>
              <a:rPr lang="vi-VN" sz="1600" dirty="0"/>
              <a:t>S&amp;P 500 ETF (SPY) theo dõi chỉ số S&amp;P 500, một trong những chỉ số chính của thị trường chứng khoán Mỹ, bao gồm cổ phiếu của 500 công ty lớn nhất tại Mỹ. Về lịch sử, S&amp;P 500 thường có xu hướng tăng trưởng trong dài hạn, nhưng không phải mỗi năm đều tăng. Giá trị của SPY, tương tự như S&amp;P 500, biến động dựa trên nhiều yếu tố, bao gồm tình hình kinh tế vĩ mô, chính sách tiền tệ, lợi nhuận của doanh nghiệp, và các sự kiện toàn cầu.</a:t>
            </a:r>
            <a:endParaRPr lang="en-US" sz="1600" dirty="0">
              <a:solidFill>
                <a:schemeClr val="tx1"/>
              </a:solidFill>
              <a:ea typeface="Maven Pro"/>
              <a:cs typeface="Maven Pro"/>
              <a:sym typeface="Maven Pro"/>
            </a:endParaRPr>
          </a:p>
          <a:p>
            <a:pPr marL="387350" indent="-285750" algn="just">
              <a:lnSpc>
                <a:spcPct val="115000"/>
              </a:lnSpc>
              <a:spcBef>
                <a:spcPts val="1600"/>
              </a:spcBef>
              <a:buClr>
                <a:schemeClr val="dk1"/>
              </a:buClr>
              <a:buSzPts val="2000"/>
              <a:buFontTx/>
              <a:buChar char="-"/>
            </a:pPr>
            <a:r>
              <a:rPr lang="en-US" sz="1600" b="1" dirty="0" err="1">
                <a:solidFill>
                  <a:schemeClr val="tx1"/>
                </a:solidFill>
                <a:ea typeface="Maven Pro"/>
                <a:cs typeface="Maven Pro"/>
                <a:sym typeface="Maven Pro"/>
              </a:rPr>
              <a:t>Giao</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dịch</a:t>
            </a:r>
            <a:r>
              <a:rPr lang="en-US" sz="1600" b="1" dirty="0">
                <a:solidFill>
                  <a:schemeClr val="tx1"/>
                </a:solidFill>
                <a:ea typeface="Maven Pro"/>
                <a:cs typeface="Maven Pro"/>
                <a:sym typeface="Maven Pro"/>
              </a:rPr>
              <a:t> </a:t>
            </a:r>
            <a:r>
              <a:rPr lang="en-US" sz="1600" b="1" dirty="0"/>
              <a:t>SPY </a:t>
            </a:r>
            <a:r>
              <a:rPr lang="en-US" sz="1600" b="1" dirty="0" err="1"/>
              <a:t>dựa</a:t>
            </a:r>
            <a:r>
              <a:rPr lang="en-US" sz="1600" b="1" dirty="0"/>
              <a:t> </a:t>
            </a:r>
            <a:r>
              <a:rPr lang="en-US" sz="1600" b="1" dirty="0" err="1"/>
              <a:t>vào</a:t>
            </a:r>
            <a:r>
              <a:rPr lang="en-US" sz="1600" b="1" dirty="0"/>
              <a:t> </a:t>
            </a:r>
            <a:r>
              <a:rPr lang="en-US" sz="1600" b="1" dirty="0" err="1"/>
              <a:t>chỉ</a:t>
            </a:r>
            <a:r>
              <a:rPr lang="en-US" sz="1600" b="1" dirty="0"/>
              <a:t> </a:t>
            </a:r>
            <a:r>
              <a:rPr lang="en-US" sz="1600" b="1" dirty="0" err="1"/>
              <a:t>số</a:t>
            </a:r>
            <a:r>
              <a:rPr lang="en-US" sz="1600" b="1" dirty="0"/>
              <a:t> </a:t>
            </a:r>
            <a:r>
              <a:rPr lang="en-US" sz="1600" b="1" dirty="0" err="1"/>
              <a:t>biến</a:t>
            </a:r>
            <a:r>
              <a:rPr lang="en-US" sz="1600" b="1" dirty="0"/>
              <a:t> </a:t>
            </a:r>
            <a:r>
              <a:rPr lang="en-US" sz="1600" b="1" dirty="0" err="1"/>
              <a:t>động</a:t>
            </a:r>
            <a:r>
              <a:rPr lang="en-US" sz="1600" b="1" dirty="0"/>
              <a:t> </a:t>
            </a:r>
            <a:r>
              <a:rPr lang="en-US" sz="1600" b="1" dirty="0" err="1"/>
              <a:t>thị</a:t>
            </a:r>
            <a:r>
              <a:rPr lang="en-US" sz="1600" b="1" dirty="0"/>
              <a:t> </a:t>
            </a:r>
            <a:r>
              <a:rPr lang="en-US" sz="1600" b="1" dirty="0" err="1"/>
              <a:t>trường</a:t>
            </a:r>
            <a:r>
              <a:rPr lang="en-US" sz="1600" b="1" dirty="0"/>
              <a:t> (</a:t>
            </a:r>
            <a:r>
              <a:rPr lang="en-US" sz="1600" b="1" dirty="0" err="1"/>
              <a:t>đo</a:t>
            </a:r>
            <a:r>
              <a:rPr lang="en-US" sz="1600" b="1" dirty="0"/>
              <a:t> </a:t>
            </a:r>
            <a:r>
              <a:rPr lang="en-US" sz="1600" b="1" dirty="0" err="1"/>
              <a:t>lường</a:t>
            </a:r>
            <a:r>
              <a:rPr lang="en-US" sz="1600" b="1" dirty="0"/>
              <a:t> </a:t>
            </a:r>
            <a:r>
              <a:rPr lang="en-US" sz="1600" b="1" dirty="0" err="1"/>
              <a:t>bởi</a:t>
            </a:r>
            <a:r>
              <a:rPr lang="en-US" sz="1600" b="1" dirty="0"/>
              <a:t> VIX):</a:t>
            </a:r>
            <a:endParaRPr lang="en-US" sz="1600" b="1" dirty="0"/>
          </a:p>
          <a:p>
            <a:pPr marL="101600" algn="just">
              <a:lnSpc>
                <a:spcPct val="115000"/>
              </a:lnSpc>
              <a:spcBef>
                <a:spcPts val="1600"/>
              </a:spcBef>
              <a:buClr>
                <a:schemeClr val="dk1"/>
              </a:buClr>
              <a:buSzPts val="2000"/>
            </a:pPr>
            <a:r>
              <a:rPr lang="en-US" sz="1600" dirty="0"/>
              <a:t>     + </a:t>
            </a:r>
            <a:r>
              <a:rPr lang="en-US" sz="1600" dirty="0" err="1"/>
              <a:t>Mua</a:t>
            </a:r>
            <a:r>
              <a:rPr lang="en-US" sz="1600" dirty="0"/>
              <a:t> </a:t>
            </a:r>
            <a:r>
              <a:rPr lang="en-US" sz="1600" dirty="0" err="1"/>
              <a:t>và</a:t>
            </a:r>
            <a:r>
              <a:rPr lang="en-US" sz="1600" dirty="0"/>
              <a:t> </a:t>
            </a:r>
            <a:r>
              <a:rPr lang="en-US" sz="1600" dirty="0" err="1"/>
              <a:t>nắm</a:t>
            </a:r>
            <a:r>
              <a:rPr lang="en-US" sz="1600" dirty="0"/>
              <a:t> </a:t>
            </a:r>
            <a:r>
              <a:rPr lang="en-US" sz="1600" dirty="0" err="1"/>
              <a:t>giữ</a:t>
            </a:r>
            <a:r>
              <a:rPr lang="en-US" sz="1600" dirty="0"/>
              <a:t> SPY</a:t>
            </a:r>
            <a:endParaRPr lang="en-US" sz="1600" dirty="0"/>
          </a:p>
          <a:p>
            <a:pPr marL="101600" algn="just">
              <a:lnSpc>
                <a:spcPct val="115000"/>
              </a:lnSpc>
              <a:spcBef>
                <a:spcPts val="1600"/>
              </a:spcBef>
              <a:buClr>
                <a:schemeClr val="dk1"/>
              </a:buClr>
              <a:buSzPts val="2000"/>
            </a:pPr>
            <a:r>
              <a:rPr lang="en-US" sz="1600" dirty="0"/>
              <a:t>     + </a:t>
            </a:r>
            <a:r>
              <a:rPr lang="en-US" sz="1600" dirty="0" err="1"/>
              <a:t>Khi</a:t>
            </a:r>
            <a:r>
              <a:rPr lang="en-US" sz="1600" dirty="0"/>
              <a:t> </a:t>
            </a:r>
            <a:r>
              <a:rPr lang="en-US" sz="1600" dirty="0" err="1"/>
              <a:t>thị</a:t>
            </a:r>
            <a:r>
              <a:rPr lang="en-US" sz="1600" dirty="0"/>
              <a:t> </a:t>
            </a:r>
            <a:r>
              <a:rPr lang="en-US" sz="1600" dirty="0" err="1"/>
              <a:t>trường</a:t>
            </a:r>
            <a:r>
              <a:rPr lang="en-US" sz="1600" dirty="0"/>
              <a:t> </a:t>
            </a:r>
            <a:r>
              <a:rPr lang="en-US" sz="1600" dirty="0" err="1"/>
              <a:t>có</a:t>
            </a:r>
            <a:r>
              <a:rPr lang="en-US" sz="1600" dirty="0"/>
              <a:t> </a:t>
            </a:r>
            <a:r>
              <a:rPr lang="en-US" sz="1600" dirty="0" err="1"/>
              <a:t>biến</a:t>
            </a:r>
            <a:r>
              <a:rPr lang="en-US" sz="1600" dirty="0"/>
              <a:t> </a:t>
            </a:r>
            <a:r>
              <a:rPr lang="en-US" sz="1600" dirty="0" err="1"/>
              <a:t>động</a:t>
            </a:r>
            <a:r>
              <a:rPr lang="en-US" sz="1600" dirty="0"/>
              <a:t> (VIX </a:t>
            </a:r>
            <a:r>
              <a:rPr lang="en-US" sz="1600" dirty="0" err="1"/>
              <a:t>cao</a:t>
            </a:r>
            <a:r>
              <a:rPr lang="en-US" sz="1600" dirty="0"/>
              <a:t>), </a:t>
            </a:r>
            <a:r>
              <a:rPr lang="en-US" sz="1600" dirty="0" err="1"/>
              <a:t>chiến</a:t>
            </a:r>
            <a:r>
              <a:rPr lang="en-US" sz="1600" dirty="0"/>
              <a:t> </a:t>
            </a:r>
            <a:r>
              <a:rPr lang="en-US" sz="1600" dirty="0" err="1"/>
              <a:t>lược</a:t>
            </a:r>
            <a:r>
              <a:rPr lang="en-US" sz="1600" dirty="0"/>
              <a:t> </a:t>
            </a:r>
            <a:r>
              <a:rPr lang="en-US" sz="1600" dirty="0" err="1"/>
              <a:t>đề</a:t>
            </a:r>
            <a:r>
              <a:rPr lang="en-US" sz="1600" dirty="0"/>
              <a:t> </a:t>
            </a:r>
            <a:r>
              <a:rPr lang="en-US" sz="1600" dirty="0" err="1"/>
              <a:t>xuất</a:t>
            </a:r>
            <a:r>
              <a:rPr lang="en-US" sz="1600" dirty="0"/>
              <a:t> </a:t>
            </a:r>
            <a:r>
              <a:rPr lang="en-US" sz="1600" dirty="0" err="1"/>
              <a:t>bán</a:t>
            </a:r>
            <a:r>
              <a:rPr lang="en-US" sz="1600" dirty="0"/>
              <a:t> </a:t>
            </a:r>
            <a:r>
              <a:rPr lang="en-US" sz="1600" dirty="0" err="1"/>
              <a:t>để</a:t>
            </a:r>
            <a:r>
              <a:rPr lang="en-US" sz="1600" dirty="0"/>
              <a:t> </a:t>
            </a:r>
            <a:r>
              <a:rPr lang="en-US" sz="1600" dirty="0" err="1"/>
              <a:t>giữ</a:t>
            </a:r>
            <a:r>
              <a:rPr lang="en-US" sz="1600" dirty="0"/>
              <a:t> </a:t>
            </a:r>
            <a:r>
              <a:rPr lang="en-US" sz="1600" dirty="0" err="1"/>
              <a:t>tiền</a:t>
            </a:r>
            <a:r>
              <a:rPr lang="en-US" sz="1600" dirty="0"/>
              <a:t> </a:t>
            </a:r>
            <a:r>
              <a:rPr lang="en-US" sz="1600" dirty="0" err="1"/>
              <a:t>mặt</a:t>
            </a:r>
            <a:endParaRPr lang="en-US" sz="1600" dirty="0"/>
          </a:p>
          <a:p>
            <a:pPr marL="101600" algn="just">
              <a:lnSpc>
                <a:spcPct val="115000"/>
              </a:lnSpc>
              <a:spcBef>
                <a:spcPts val="1600"/>
              </a:spcBef>
              <a:buClr>
                <a:schemeClr val="dk1"/>
              </a:buClr>
              <a:buSzPts val="2000"/>
            </a:pPr>
            <a:r>
              <a:rPr lang="en-US" sz="1600" dirty="0"/>
              <a:t>     + </a:t>
            </a:r>
            <a:r>
              <a:rPr lang="vi-VN" sz="1600" dirty="0"/>
              <a:t>Khi thị trường ổn định (VIX thấp), chiến lược lại đề xuất </a:t>
            </a:r>
            <a:r>
              <a:rPr lang="en-US" sz="1600" dirty="0" err="1"/>
              <a:t>mua</a:t>
            </a:r>
            <a:endParaRPr lang="en-US" sz="1600" dirty="0"/>
          </a:p>
          <a:p>
            <a:pPr marL="387350" lvl="0" indent="-285750">
              <a:lnSpc>
                <a:spcPct val="115000"/>
              </a:lnSpc>
              <a:spcBef>
                <a:spcPts val="1600"/>
              </a:spcBef>
              <a:buClr>
                <a:schemeClr val="dk1"/>
              </a:buClr>
              <a:buSzPts val="2000"/>
              <a:buFontTx/>
              <a:buChar char="-"/>
            </a:pPr>
            <a:endParaRPr lang="en-US" sz="1600" b="1" dirty="0">
              <a:solidFill>
                <a:schemeClr val="tx1"/>
              </a:solidFill>
              <a:ea typeface="Maven Pro"/>
              <a:cs typeface="Maven Pro"/>
              <a:sym typeface="Maven Pr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1" i="0" u="none" strike="noStrike" cap="none" dirty="0">
              <a:solidFill>
                <a:schemeClr val="lt1"/>
              </a:solidFill>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a:lnSpc>
                <a:spcPct val="115000"/>
              </a:lnSpc>
              <a:spcBef>
                <a:spcPts val="1600"/>
              </a:spcBef>
              <a:buClr>
                <a:schemeClr val="dk1"/>
              </a:buClr>
              <a:buSzPts val="2000"/>
            </a:pPr>
            <a:r>
              <a:rPr lang="en-US" sz="1600" b="1" dirty="0">
                <a:solidFill>
                  <a:schemeClr val="tx1"/>
                </a:solidFill>
                <a:ea typeface="Maven Pro"/>
                <a:cs typeface="Maven Pro"/>
                <a:sym typeface="Maven Pro"/>
              </a:rPr>
              <a:t>I.2. </a:t>
            </a:r>
            <a:r>
              <a:rPr lang="vi-VN" sz="1600" b="1" dirty="0"/>
              <a:t>Chiến lược giao dịch theo chỉ số biến động</a:t>
            </a:r>
            <a:r>
              <a:rPr lang="en-US" sz="1600" b="1" dirty="0"/>
              <a:t> (</a:t>
            </a:r>
            <a:r>
              <a:rPr lang="en-US" sz="1600" b="1" dirty="0">
                <a:solidFill>
                  <a:schemeClr val="dk1"/>
                </a:solidFill>
                <a:ea typeface="Maven Pro"/>
                <a:cs typeface="Maven Pro"/>
                <a:sym typeface="Maven Pro"/>
              </a:rPr>
              <a:t>Chiến </a:t>
            </a:r>
            <a:r>
              <a:rPr lang="en-US" sz="1600" b="1" dirty="0" err="1">
                <a:solidFill>
                  <a:schemeClr val="dk1"/>
                </a:solidFill>
                <a:ea typeface="Maven Pro"/>
                <a:cs typeface="Maven Pro"/>
                <a:sym typeface="Maven Pro"/>
              </a:rPr>
              <a:t>lược</a:t>
            </a:r>
            <a:r>
              <a:rPr lang="en-US" sz="1600" b="1" dirty="0">
                <a:solidFill>
                  <a:schemeClr val="dk1"/>
                </a:solidFill>
                <a:ea typeface="Maven Pro"/>
                <a:cs typeface="Maven Pro"/>
                <a:sym typeface="Maven Pro"/>
              </a:rPr>
              <a:t> SPY500 – VIX) </a:t>
            </a:r>
            <a:endParaRPr lang="en-US" sz="1600" b="1" dirty="0">
              <a:solidFill>
                <a:schemeClr val="dk1"/>
              </a:solidFill>
              <a:ea typeface="Maven Pro"/>
              <a:cs typeface="Maven Pro"/>
              <a:sym typeface="Maven Pro"/>
            </a:endParaRPr>
          </a:p>
          <a:p>
            <a:pPr marL="285750" indent="-285750" algn="just">
              <a:buFontTx/>
              <a:buChar char="-"/>
            </a:pPr>
            <a:r>
              <a:rPr lang="vi-VN" sz="1600" b="1" dirty="0"/>
              <a:t>Mua và Nắm Giữ SPY</a:t>
            </a:r>
            <a:r>
              <a:rPr lang="vi-VN" sz="1600" dirty="0"/>
              <a:t>: Chiến lược này dự định mua và nắm giữ SPY, một quỹ đầu tư ETF theo dõi chỉ số S&amp;P 500, trong những điều kiện nhất định của thị trường.</a:t>
            </a:r>
            <a:endParaRPr lang="en-US" sz="1600" dirty="0"/>
          </a:p>
          <a:p>
            <a:pPr marL="285750" indent="-285750" algn="just">
              <a:buFontTx/>
              <a:buChar char="-"/>
            </a:pPr>
            <a:r>
              <a:rPr lang="vi-VN" sz="1600" b="1" dirty="0"/>
              <a:t>Bán Khi Biến Động Cao (VIX Cao)</a:t>
            </a:r>
            <a:r>
              <a:rPr lang="vi-VN" sz="1600" dirty="0"/>
              <a:t>: Khi chỉ số biến động VIX vượt qua một ngưỡng nhất định (</a:t>
            </a:r>
            <a:r>
              <a:rPr lang="vi-VN" sz="1600" b="1" dirty="0">
                <a:solidFill>
                  <a:srgbClr val="FF0000"/>
                </a:solidFill>
              </a:rPr>
              <a:t>trong trường hợp này là 30</a:t>
            </a:r>
            <a:r>
              <a:rPr lang="vi-VN" sz="1600" dirty="0"/>
              <a:t>), điều này coi như một dấu hiệu của sự biến động cao trong thị trường. Chiến lược này đề xuất việc bán SPY và giữ tiền mặt trong những thời kỳ như vậy. Điều này dựa trên quan điểm rằng khi thị trường biến động mạnh, việc giữ tiền mặt có thể là an toàn hơn so với việc giữ các tài sản có giá biến động lớn.</a:t>
            </a:r>
            <a:endParaRPr lang="en-US" sz="1600" dirty="0"/>
          </a:p>
          <a:p>
            <a:pPr marL="285750" indent="-285750" algn="just">
              <a:buFontTx/>
              <a:buChar char="-"/>
            </a:pPr>
            <a:r>
              <a:rPr lang="vi-VN" sz="1600" b="1" dirty="0"/>
              <a:t>Mua Khi Thị Trường Ổn Định (</a:t>
            </a:r>
            <a:r>
              <a:rPr lang="vi-VN" sz="1600" b="1" dirty="0">
                <a:solidFill>
                  <a:srgbClr val="FF0000"/>
                </a:solidFill>
              </a:rPr>
              <a:t>VIX Thấp</a:t>
            </a:r>
            <a:r>
              <a:rPr lang="vi-VN" sz="1600" b="1" dirty="0"/>
              <a:t>)</a:t>
            </a:r>
            <a:r>
              <a:rPr lang="vi-VN" sz="1600" dirty="0"/>
              <a:t>: Ngược lại, khi chỉ số VIX thấp, điều này cho thấy thị trường đang ổn định hơn, chiến lược này đề xuất </a:t>
            </a:r>
            <a:r>
              <a:rPr lang="vi-VN" sz="1600" dirty="0">
                <a:solidFill>
                  <a:srgbClr val="FF0000"/>
                </a:solidFill>
              </a:rPr>
              <a:t>mua SPY</a:t>
            </a:r>
            <a:r>
              <a:rPr lang="vi-VN" sz="1600" dirty="0"/>
              <a:t>. Quan điểm ở đây là trong môi trường ít biến động, đầu tư vào thị trường chứng khoán (qua SPY) có thể mang lại lợi nhuận tốt hơn so với việc giữ tiền mặt.</a:t>
            </a:r>
            <a:endParaRPr lang="vi-VN" sz="1600" dirty="0"/>
          </a:p>
          <a:p>
            <a:pPr marL="387350" lvl="0" indent="-285750">
              <a:lnSpc>
                <a:spcPct val="115000"/>
              </a:lnSpc>
              <a:spcBef>
                <a:spcPts val="1600"/>
              </a:spcBef>
              <a:buClr>
                <a:schemeClr val="dk1"/>
              </a:buClr>
              <a:buSzPts val="2000"/>
              <a:buFontTx/>
              <a:buChar char="-"/>
            </a:pPr>
            <a:endParaRPr lang="en-US" sz="1600" b="1" dirty="0">
              <a:solidFill>
                <a:schemeClr val="tx1"/>
              </a:solidFill>
              <a:ea typeface="Maven Pro"/>
              <a:cs typeface="Maven Pro"/>
              <a:sym typeface="Maven Pr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1" i="0" u="none" strike="noStrike" cap="none" dirty="0">
              <a:solidFill>
                <a:schemeClr val="lt1"/>
              </a:solidFill>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algn="just">
              <a:lnSpc>
                <a:spcPct val="115000"/>
              </a:lnSpc>
              <a:spcBef>
                <a:spcPts val="1600"/>
              </a:spcBef>
              <a:buClr>
                <a:schemeClr val="dk1"/>
              </a:buClr>
              <a:buSzPts val="2000"/>
            </a:pPr>
            <a:r>
              <a:rPr lang="en-US" sz="1600" b="1" dirty="0">
                <a:solidFill>
                  <a:schemeClr val="tx1"/>
                </a:solidFill>
                <a:ea typeface="Maven Pro"/>
                <a:cs typeface="Maven Pro"/>
                <a:sym typeface="Maven Pro"/>
              </a:rPr>
              <a:t>I.2. </a:t>
            </a:r>
            <a:r>
              <a:rPr lang="vi-VN" sz="1600" b="1" dirty="0"/>
              <a:t>Chiến lược giao dịch theo chỉ số biến động</a:t>
            </a:r>
            <a:r>
              <a:rPr lang="en-US" sz="1600" b="1" dirty="0"/>
              <a:t> (</a:t>
            </a:r>
            <a:r>
              <a:rPr lang="en-US" sz="1600" b="1" dirty="0">
                <a:solidFill>
                  <a:schemeClr val="dk1"/>
                </a:solidFill>
                <a:ea typeface="Maven Pro"/>
                <a:cs typeface="Maven Pro"/>
                <a:sym typeface="Maven Pro"/>
              </a:rPr>
              <a:t>Chiến </a:t>
            </a:r>
            <a:r>
              <a:rPr lang="en-US" sz="1600" b="1" dirty="0" err="1">
                <a:solidFill>
                  <a:schemeClr val="dk1"/>
                </a:solidFill>
                <a:ea typeface="Maven Pro"/>
                <a:cs typeface="Maven Pro"/>
                <a:sym typeface="Maven Pro"/>
              </a:rPr>
              <a:t>lược</a:t>
            </a:r>
            <a:r>
              <a:rPr lang="en-US" sz="1600" b="1" dirty="0">
                <a:solidFill>
                  <a:schemeClr val="dk1"/>
                </a:solidFill>
                <a:ea typeface="Maven Pro"/>
                <a:cs typeface="Maven Pro"/>
                <a:sym typeface="Maven Pro"/>
              </a:rPr>
              <a:t> SPY500 – VIX) </a:t>
            </a:r>
            <a:endParaRPr lang="en-US" sz="1600" b="1" dirty="0">
              <a:solidFill>
                <a:schemeClr val="dk1"/>
              </a:solidFill>
              <a:ea typeface="Maven Pro"/>
              <a:cs typeface="Maven Pro"/>
              <a:sym typeface="Maven Pro"/>
            </a:endParaRPr>
          </a:p>
          <a:p>
            <a:pPr marL="444500" lvl="0" indent="-342900" algn="just">
              <a:lnSpc>
                <a:spcPct val="115000"/>
              </a:lnSpc>
              <a:spcBef>
                <a:spcPts val="1600"/>
              </a:spcBef>
              <a:buClr>
                <a:schemeClr val="dk1"/>
              </a:buClr>
              <a:buSzPts val="2000"/>
              <a:buFont typeface="+mj-lt"/>
              <a:buAutoNum type="alphaLcParenR" startAt="2"/>
            </a:pPr>
            <a:r>
              <a:rPr lang="en-US" sz="1600" b="1" dirty="0">
                <a:solidFill>
                  <a:schemeClr val="tx1"/>
                </a:solidFill>
                <a:ea typeface="Maven Pro"/>
                <a:cs typeface="Maven Pro"/>
                <a:sym typeface="Maven Pro"/>
              </a:rPr>
              <a:t>Code </a:t>
            </a:r>
            <a:r>
              <a:rPr lang="en-US" sz="1600" b="1" dirty="0" err="1">
                <a:solidFill>
                  <a:schemeClr val="tx1"/>
                </a:solidFill>
                <a:ea typeface="Maven Pro"/>
                <a:cs typeface="Maven Pro"/>
                <a:sym typeface="Maven Pro"/>
              </a:rPr>
              <a:t>chiến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a:t>
            </a:r>
            <a:endParaRPr lang="en-US" sz="1600" b="1" dirty="0">
              <a:solidFill>
                <a:schemeClr val="tx1"/>
              </a:solidFill>
              <a:ea typeface="Maven Pro"/>
              <a:cs typeface="Maven Pro"/>
              <a:sym typeface="Maven Pro"/>
            </a:endParaRPr>
          </a:p>
          <a:p>
            <a:pPr marL="387350" lvl="0" indent="-285750" algn="just">
              <a:lnSpc>
                <a:spcPct val="115000"/>
              </a:lnSpc>
              <a:spcBef>
                <a:spcPts val="1600"/>
              </a:spcBef>
              <a:buClr>
                <a:schemeClr val="dk1"/>
              </a:buClr>
              <a:buSzPts val="2000"/>
              <a:buFontTx/>
              <a:buChar char="-"/>
            </a:pPr>
            <a:r>
              <a:rPr lang="en-US" sz="1600" dirty="0">
                <a:solidFill>
                  <a:schemeClr val="tx1"/>
                </a:solidFill>
                <a:ea typeface="Maven Pro"/>
                <a:cs typeface="Maven Pro"/>
                <a:sym typeface="Maven Pro"/>
              </a:rPr>
              <a:t>Load data </a:t>
            </a:r>
            <a:r>
              <a:rPr lang="en-US" sz="1600" dirty="0" err="1">
                <a:solidFill>
                  <a:schemeClr val="tx1"/>
                </a:solidFill>
                <a:ea typeface="Maven Pro"/>
                <a:cs typeface="Maven Pro"/>
                <a:sym typeface="Maven Pro"/>
              </a:rPr>
              <a:t>của</a:t>
            </a:r>
            <a:r>
              <a:rPr lang="en-US" sz="1600" dirty="0">
                <a:solidFill>
                  <a:schemeClr val="tx1"/>
                </a:solidFill>
                <a:ea typeface="Maven Pro"/>
                <a:cs typeface="Maven Pro"/>
                <a:sym typeface="Maven Pro"/>
              </a:rPr>
              <a:t> 1 </a:t>
            </a:r>
            <a:r>
              <a:rPr lang="en-US" sz="1600" dirty="0" err="1">
                <a:solidFill>
                  <a:schemeClr val="tx1"/>
                </a:solidFill>
                <a:ea typeface="Maven Pro"/>
                <a:cs typeface="Maven Pro"/>
                <a:sym typeface="Maven Pro"/>
              </a:rPr>
              <a:t>ngày</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mới</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nhất</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hiện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tại</a:t>
            </a:r>
            <a:r>
              <a:rPr lang="en-US" sz="1600" dirty="0">
                <a:solidFill>
                  <a:schemeClr val="tx1"/>
                </a:solidFill>
                <a:ea typeface="Maven Pro"/>
                <a:cs typeface="Maven Pro"/>
                <a:sym typeface="Maven Pro"/>
              </a:rPr>
              <a:t>)</a:t>
            </a:r>
            <a:endParaRPr lang="en-US" sz="1600" dirty="0">
              <a:solidFill>
                <a:schemeClr val="tx1"/>
              </a:solidFill>
              <a:ea typeface="Maven Pro"/>
              <a:cs typeface="Maven Pro"/>
              <a:sym typeface="Maven Pro"/>
            </a:endParaRPr>
          </a:p>
          <a:p>
            <a:pPr marL="387350" lvl="0" indent="-285750" algn="just">
              <a:lnSpc>
                <a:spcPct val="115000"/>
              </a:lnSpc>
              <a:spcBef>
                <a:spcPts val="1600"/>
              </a:spcBef>
              <a:buClr>
                <a:schemeClr val="dk1"/>
              </a:buClr>
              <a:buSzPts val="2000"/>
              <a:buFontTx/>
              <a:buChar char="-"/>
            </a:pPr>
            <a:r>
              <a:rPr lang="en-US" sz="1600" dirty="0" err="1">
                <a:solidFill>
                  <a:schemeClr val="tx1"/>
                </a:solidFill>
                <a:ea typeface="Maven Pro"/>
                <a:cs typeface="Maven Pro"/>
                <a:sym typeface="Maven Pro"/>
              </a:rPr>
              <a:t>Kiểm</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tra</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xem</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ngưỡng</a:t>
            </a:r>
            <a:r>
              <a:rPr lang="en-US" sz="1600" dirty="0">
                <a:solidFill>
                  <a:schemeClr val="tx1"/>
                </a:solidFill>
                <a:ea typeface="Maven Pro"/>
                <a:cs typeface="Maven Pro"/>
                <a:sym typeface="Maven Pro"/>
              </a:rPr>
              <a:t> VIX: </a:t>
            </a:r>
            <a:r>
              <a:rPr lang="en-US" sz="1600" b="1" dirty="0" err="1">
                <a:solidFill>
                  <a:schemeClr val="tx1"/>
                </a:solidFill>
                <a:ea typeface="Maven Pro"/>
                <a:cs typeface="Maven Pro"/>
                <a:sym typeface="Maven Pro"/>
              </a:rPr>
              <a:t>nếu</a:t>
            </a:r>
            <a:r>
              <a:rPr lang="en-US" sz="1600" b="1" dirty="0">
                <a:solidFill>
                  <a:schemeClr val="tx1"/>
                </a:solidFill>
                <a:ea typeface="Maven Pro"/>
                <a:cs typeface="Maven Pro"/>
                <a:sym typeface="Maven Pro"/>
              </a:rPr>
              <a:t> VIX </a:t>
            </a:r>
            <a:r>
              <a:rPr lang="en-US" sz="1600" b="1" dirty="0" err="1">
                <a:solidFill>
                  <a:schemeClr val="tx1"/>
                </a:solidFill>
                <a:ea typeface="Maven Pro"/>
                <a:cs typeface="Maven Pro"/>
                <a:sym typeface="Maven Pro"/>
              </a:rPr>
              <a:t>nhỏ</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hơn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ngưỡng</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ví</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dụ</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như</a:t>
            </a:r>
            <a:r>
              <a:rPr lang="en-US" sz="1600" b="1" dirty="0">
                <a:solidFill>
                  <a:schemeClr val="tx1"/>
                </a:solidFill>
                <a:ea typeface="Maven Pro"/>
                <a:cs typeface="Maven Pro"/>
                <a:sym typeface="Maven Pro"/>
              </a:rPr>
              <a:t> 30) </a:t>
            </a:r>
            <a:r>
              <a:rPr lang="en-US" sz="1600" b="1" dirty="0" err="1">
                <a:solidFill>
                  <a:schemeClr val="tx1"/>
                </a:solidFill>
                <a:ea typeface="Maven Pro"/>
                <a:cs typeface="Maven Pro"/>
                <a:sym typeface="Maven Pro"/>
              </a:rPr>
              <a:t>thì</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mua</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ngược</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lại</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nếu</a:t>
            </a:r>
            <a:r>
              <a:rPr lang="en-US" sz="1600" dirty="0">
                <a:solidFill>
                  <a:schemeClr val="tx1"/>
                </a:solidFill>
                <a:ea typeface="Maven Pro"/>
                <a:cs typeface="Maven Pro"/>
                <a:sym typeface="Maven Pro"/>
              </a:rPr>
              <a:t> </a:t>
            </a:r>
            <a:r>
              <a:rPr lang="en-US" sz="1600" b="1" dirty="0">
                <a:solidFill>
                  <a:schemeClr val="tx1"/>
                </a:solidFill>
                <a:ea typeface="Maven Pro"/>
                <a:cs typeface="Maven Pro"/>
                <a:sym typeface="Maven Pro"/>
              </a:rPr>
              <a:t>VIX </a:t>
            </a:r>
            <a:r>
              <a:rPr lang="en-US" sz="1600" b="1" dirty="0" err="1">
                <a:solidFill>
                  <a:schemeClr val="tx1"/>
                </a:solidFill>
                <a:ea typeface="Maven Pro"/>
                <a:cs typeface="Maven Pro"/>
                <a:sym typeface="Maven Pro"/>
              </a:rPr>
              <a:t>lớn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hơn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ngưỡng</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thì</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bán</a:t>
            </a:r>
            <a:endParaRPr lang="en-US" sz="1600" b="1" dirty="0">
              <a:solidFill>
                <a:schemeClr val="tx1"/>
              </a:solidFill>
              <a:ea typeface="Maven Pro"/>
              <a:cs typeface="Maven Pro"/>
              <a:sym typeface="Maven Pr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 </a:t>
            </a:r>
            <a:r>
              <a:rPr lang="en-US" sz="2400" b="1" dirty="0" err="1">
                <a:solidFill>
                  <a:schemeClr val="bg1"/>
                </a:solidFill>
              </a:rPr>
              <a:t>Backtest</a:t>
            </a:r>
            <a:r>
              <a:rPr lang="en-US" sz="2400" b="1" dirty="0">
                <a:solidFill>
                  <a:schemeClr val="bg1"/>
                </a:solidFill>
              </a:rPr>
              <a:t>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sz="2400" b="1" i="0" u="none" strike="noStrike" cap="none" dirty="0">
              <a:solidFill>
                <a:schemeClr val="lt1"/>
              </a:solidFill>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AutoNum type="arabicPeriod"/>
            </a:pPr>
            <a:r>
              <a:rPr lang="en-US" sz="1600" b="1" dirty="0" err="1">
                <a:solidFill>
                  <a:schemeClr val="tx1"/>
                </a:solidFill>
                <a:ea typeface="Maven Pro"/>
                <a:cs typeface="Maven Pro"/>
                <a:sym typeface="Maven Pro"/>
              </a:rPr>
              <a:t>Backtest</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cho</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chứng</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khoán</a:t>
            </a:r>
            <a:endParaRPr lang="en-US" sz="1600" b="1" dirty="0">
              <a:solidFill>
                <a:schemeClr val="tx1"/>
              </a:solidFill>
              <a:ea typeface="Maven Pro"/>
              <a:cs typeface="Maven Pro"/>
              <a:sym typeface="Maven Pro"/>
            </a:endParaRPr>
          </a:p>
          <a:p>
            <a:pPr marL="387350" indent="-285750" algn="just">
              <a:lnSpc>
                <a:spcPct val="115000"/>
              </a:lnSpc>
              <a:spcBef>
                <a:spcPts val="1600"/>
              </a:spcBef>
              <a:buClr>
                <a:schemeClr val="dk1"/>
              </a:buClr>
              <a:buSzPts val="2000"/>
              <a:buFontTx/>
              <a:buChar char="-"/>
            </a:pPr>
            <a:r>
              <a:rPr lang="en-US" b="1" dirty="0" err="1"/>
              <a:t>Xác</a:t>
            </a:r>
            <a:r>
              <a:rPr lang="en-US" b="1" dirty="0"/>
              <a:t> </a:t>
            </a:r>
            <a:r>
              <a:rPr lang="en-US" b="1" dirty="0" err="1"/>
              <a:t>định</a:t>
            </a:r>
            <a:r>
              <a:rPr lang="en-US" b="1" dirty="0"/>
              <a:t> </a:t>
            </a:r>
            <a:r>
              <a:rPr lang="en-US" b="1" dirty="0" err="1"/>
              <a:t>Vị</a:t>
            </a:r>
            <a:r>
              <a:rPr lang="en-US" b="1" dirty="0"/>
              <a:t> </a:t>
            </a:r>
            <a:r>
              <a:rPr lang="en-US" b="1" dirty="0" err="1"/>
              <a:t>Thế</a:t>
            </a:r>
            <a:r>
              <a:rPr lang="en-US" b="1" dirty="0"/>
              <a:t> </a:t>
            </a:r>
            <a:r>
              <a:rPr lang="en-US" b="1" dirty="0" err="1"/>
              <a:t>Mua</a:t>
            </a:r>
            <a:r>
              <a:rPr lang="en-US" b="1" dirty="0"/>
              <a:t>/</a:t>
            </a:r>
            <a:r>
              <a:rPr lang="en-US" b="1" dirty="0" err="1"/>
              <a:t>Bán</a:t>
            </a:r>
            <a:r>
              <a:rPr lang="en-US" b="1" dirty="0"/>
              <a:t>: </a:t>
            </a:r>
            <a:endParaRPr lang="en-US" b="1" dirty="0"/>
          </a:p>
          <a:p>
            <a:pPr marL="101600" lvl="1" algn="just">
              <a:lnSpc>
                <a:spcPct val="115000"/>
              </a:lnSpc>
              <a:spcBef>
                <a:spcPts val="1600"/>
              </a:spcBef>
              <a:buClr>
                <a:schemeClr val="dk1"/>
              </a:buClr>
              <a:buSzPts val="2000"/>
            </a:pPr>
            <a:r>
              <a:rPr lang="en-US" dirty="0"/>
              <a:t>	</a:t>
            </a:r>
            <a:r>
              <a:rPr lang="en-US" dirty="0" err="1"/>
              <a:t>Mua</a:t>
            </a:r>
            <a:r>
              <a:rPr lang="en-US" dirty="0"/>
              <a:t> </a:t>
            </a:r>
            <a:r>
              <a:rPr lang="en-US" dirty="0" err="1"/>
              <a:t>khi</a:t>
            </a:r>
            <a:r>
              <a:rPr lang="en-US" dirty="0"/>
              <a:t> </a:t>
            </a:r>
            <a:r>
              <a:rPr lang="en-US" dirty="0" err="1"/>
              <a:t>có</a:t>
            </a:r>
            <a:r>
              <a:rPr lang="en-US" dirty="0"/>
              <a:t> </a:t>
            </a:r>
            <a:r>
              <a:rPr lang="en-US" dirty="0" err="1"/>
              <a:t>tín</a:t>
            </a:r>
            <a:r>
              <a:rPr lang="en-US" dirty="0"/>
              <a:t> </a:t>
            </a:r>
            <a:r>
              <a:rPr lang="en-US" dirty="0" err="1"/>
              <a:t>hiệu</a:t>
            </a:r>
            <a:r>
              <a:rPr lang="en-US" dirty="0"/>
              <a:t> </a:t>
            </a:r>
            <a:r>
              <a:rPr lang="en-US" dirty="0" err="1"/>
              <a:t>Buy_Signal</a:t>
            </a:r>
            <a:r>
              <a:rPr lang="en-US" dirty="0"/>
              <a:t> </a:t>
            </a:r>
            <a:r>
              <a:rPr lang="en-US" dirty="0" err="1"/>
              <a:t>hoặc</a:t>
            </a:r>
            <a:r>
              <a:rPr lang="en-US" dirty="0"/>
              <a:t> </a:t>
            </a:r>
            <a:r>
              <a:rPr lang="en-US" dirty="0" err="1"/>
              <a:t>Sell_Signal</a:t>
            </a:r>
            <a:r>
              <a:rPr lang="en-US" dirty="0"/>
              <a:t> =&gt; </a:t>
            </a:r>
            <a:r>
              <a:rPr lang="en-US" dirty="0" err="1"/>
              <a:t>Tức</a:t>
            </a:r>
            <a:r>
              <a:rPr lang="en-US" dirty="0"/>
              <a:t> </a:t>
            </a:r>
            <a:r>
              <a:rPr lang="en-US" dirty="0" err="1"/>
              <a:t>là</a:t>
            </a:r>
            <a:r>
              <a:rPr lang="en-US" dirty="0"/>
              <a:t> </a:t>
            </a:r>
            <a:r>
              <a:rPr lang="en-US" dirty="0" err="1"/>
              <a:t>mua</a:t>
            </a:r>
            <a:r>
              <a:rPr lang="en-US" dirty="0"/>
              <a:t> ở </a:t>
            </a:r>
            <a:r>
              <a:rPr lang="en-US" dirty="0" err="1"/>
              <a:t>dữ</a:t>
            </a:r>
            <a:r>
              <a:rPr lang="en-US" dirty="0"/>
              <a:t> </a:t>
            </a:r>
            <a:r>
              <a:rPr lang="en-US" dirty="0" err="1"/>
              <a:t>liệu</a:t>
            </a:r>
            <a:r>
              <a:rPr lang="en-US" dirty="0"/>
              <a:t> </a:t>
            </a:r>
            <a:r>
              <a:rPr lang="en-US" dirty="0" err="1"/>
              <a:t>tiếp</a:t>
            </a:r>
            <a:r>
              <a:rPr lang="en-US" dirty="0"/>
              <a:t> </a:t>
            </a:r>
            <a:r>
              <a:rPr lang="en-US" dirty="0" err="1"/>
              <a:t>theo</a:t>
            </a:r>
            <a:r>
              <a:rPr lang="en-US" dirty="0"/>
              <a:t> </a:t>
            </a:r>
            <a:r>
              <a:rPr lang="en-US" dirty="0" err="1"/>
              <a:t>sau</a:t>
            </a:r>
            <a:r>
              <a:rPr lang="en-US" dirty="0"/>
              <a:t> </a:t>
            </a:r>
            <a:r>
              <a:rPr lang="en-US" dirty="0" err="1"/>
              <a:t>tín</a:t>
            </a:r>
            <a:r>
              <a:rPr lang="en-US" dirty="0"/>
              <a:t> </a:t>
            </a:r>
            <a:r>
              <a:rPr lang="en-US" dirty="0" err="1"/>
              <a:t>hiệu</a:t>
            </a:r>
            <a:endParaRPr lang="en-US" dirty="0"/>
          </a:p>
          <a:p>
            <a:pPr marL="387350" indent="-285750" algn="just">
              <a:lnSpc>
                <a:spcPct val="115000"/>
              </a:lnSpc>
              <a:spcBef>
                <a:spcPts val="1600"/>
              </a:spcBef>
              <a:buClr>
                <a:schemeClr val="dk1"/>
              </a:buClr>
              <a:buSzPts val="2000"/>
              <a:buFontTx/>
              <a:buChar char="-"/>
            </a:pPr>
            <a:r>
              <a:rPr lang="vi-VN" b="1" dirty="0"/>
              <a:t>Giao Dịch:</a:t>
            </a:r>
            <a:endParaRPr lang="en-US" b="1" dirty="0"/>
          </a:p>
          <a:p>
            <a:pPr algn="just"/>
            <a:r>
              <a:rPr lang="en-US" dirty="0"/>
              <a:t>	</a:t>
            </a:r>
            <a:r>
              <a:rPr lang="vi-VN" dirty="0"/>
              <a:t>Khi có tín hiệu mua và nếu có đủ vốn, chiến lược sẽ "mua" một số lượng cố định cổ phiếu ('shares_per_signal') và cập nhật số vốn còn lại.</a:t>
            </a:r>
            <a:endParaRPr lang="vi-VN" dirty="0"/>
          </a:p>
          <a:p>
            <a:pPr algn="just"/>
            <a:r>
              <a:rPr lang="en-US" dirty="0"/>
              <a:t>	</a:t>
            </a:r>
            <a:r>
              <a:rPr lang="vi-VN" dirty="0"/>
              <a:t>Khi có tín hiệu bán và nếu đang giữ cổ phiếu, chiến lược sẽ "bán" tất cả cổ phiếu đang giữ và cập nhật số vốn.</a:t>
            </a:r>
            <a:endParaRPr lang="en-US" dirty="0"/>
          </a:p>
          <a:p>
            <a:pPr marL="387350" indent="-285750" algn="just">
              <a:lnSpc>
                <a:spcPct val="115000"/>
              </a:lnSpc>
              <a:spcBef>
                <a:spcPts val="1600"/>
              </a:spcBef>
              <a:buClr>
                <a:schemeClr val="dk1"/>
              </a:buClr>
              <a:buSzPts val="2000"/>
              <a:buFontTx/>
              <a:buChar char="-"/>
            </a:pPr>
            <a:r>
              <a:rPr lang="vi-VN" b="1" dirty="0"/>
              <a:t>Tính Toán và In Lợi Nhuận:</a:t>
            </a:r>
            <a:endParaRPr lang="vi-VN" b="1" dirty="0"/>
          </a:p>
          <a:p>
            <a:r>
              <a:rPr lang="en-US" dirty="0"/>
              <a:t>	</a:t>
            </a:r>
            <a:r>
              <a:rPr lang="vi-VN" dirty="0"/>
              <a:t>Lợi nhuận được tính toán dựa trên giá trị hiện tại của vốn và số cổ phiếu đang giữ.</a:t>
            </a:r>
            <a:endParaRPr lang="vi-VN" dirty="0"/>
          </a:p>
          <a:p>
            <a:pPr algn="just"/>
            <a:endParaRPr lang="vi-VN" dirty="0"/>
          </a:p>
          <a:p>
            <a:pPr marL="101600" algn="just">
              <a:lnSpc>
                <a:spcPct val="115000"/>
              </a:lnSpc>
              <a:spcBef>
                <a:spcPts val="1600"/>
              </a:spcBef>
              <a:buClr>
                <a:schemeClr val="dk1"/>
              </a:buClr>
              <a:buSzPts val="2000"/>
            </a:pPr>
            <a:r>
              <a:rPr lang="en-US" sz="1600" b="1" dirty="0" err="1">
                <a:solidFill>
                  <a:schemeClr val="tx1"/>
                </a:solidFill>
                <a:ea typeface="Maven Pro"/>
                <a:cs typeface="Maven Pro"/>
                <a:sym typeface="Maven Pro"/>
              </a:rPr>
              <a:t>Backtest</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endParaRPr lang="en-US" sz="1600" b="1" dirty="0">
              <a:solidFill>
                <a:schemeClr val="tx1"/>
              </a:solidFill>
              <a:ea typeface="Maven Pro"/>
              <a:cs typeface="Maven Pro"/>
              <a:sym typeface="Maven Pro"/>
            </a:endParaRPr>
          </a:p>
          <a:p>
            <a:pPr marL="101600" algn="just">
              <a:lnSpc>
                <a:spcPct val="115000"/>
              </a:lnSpc>
              <a:spcBef>
                <a:spcPts val="1600"/>
              </a:spcBef>
              <a:buClr>
                <a:schemeClr val="dk1"/>
              </a:buClr>
              <a:buSzPts val="2000"/>
            </a:pPr>
            <a:r>
              <a:rPr lang="en-US" sz="1600" b="1" dirty="0" err="1">
                <a:solidFill>
                  <a:schemeClr val="tx1"/>
                </a:solidFill>
                <a:ea typeface="Maven Pro"/>
                <a:cs typeface="Maven Pro"/>
                <a:sym typeface="Maven Pro"/>
              </a:rPr>
              <a:t>Backtest</a:t>
            </a:r>
            <a:r>
              <a:rPr lang="en-US" sz="1600" b="1" dirty="0">
                <a:solidFill>
                  <a:schemeClr val="tx1"/>
                </a:solidFill>
                <a:ea typeface="Maven Pro"/>
                <a:cs typeface="Maven Pro"/>
                <a:sym typeface="Maven Pro"/>
              </a:rPr>
              <a:t> SPY500, VIX</a:t>
            </a:r>
            <a:endParaRPr lang="en-US" sz="1600" b="1" dirty="0">
              <a:solidFill>
                <a:schemeClr val="tx1"/>
              </a:solidFill>
              <a:ea typeface="Maven Pro"/>
              <a:cs typeface="Maven Pro"/>
              <a:sym typeface="Maven Pro"/>
            </a:endParaRPr>
          </a:p>
          <a:p>
            <a:pPr marL="101600" algn="just">
              <a:lnSpc>
                <a:spcPct val="115000"/>
              </a:lnSpc>
              <a:spcBef>
                <a:spcPts val="1600"/>
              </a:spcBef>
              <a:buClr>
                <a:schemeClr val="dk1"/>
              </a:buClr>
              <a:buSzPts val="2000"/>
            </a:pPr>
            <a:endParaRPr lang="en-US" sz="1600" b="1" dirty="0">
              <a:solidFill>
                <a:schemeClr val="tx1"/>
              </a:solidFill>
              <a:ea typeface="Maven Pro"/>
              <a:cs typeface="Maven Pro"/>
              <a:sym typeface="Maven Pr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 </a:t>
            </a:r>
            <a:r>
              <a:rPr lang="en-US" sz="2400" b="1" dirty="0" err="1">
                <a:solidFill>
                  <a:schemeClr val="bg1"/>
                </a:solidFill>
              </a:rPr>
              <a:t>Backtest</a:t>
            </a:r>
            <a:r>
              <a:rPr lang="en-US" sz="2400" b="1" dirty="0">
                <a:solidFill>
                  <a:schemeClr val="bg1"/>
                </a:solidFill>
              </a:rPr>
              <a:t> </a:t>
            </a:r>
            <a:r>
              <a:rPr lang="en-US" sz="2400" b="1" dirty="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sz="2400" b="1" i="0" u="none" strike="noStrike" cap="none" dirty="0">
              <a:solidFill>
                <a:schemeClr val="lt1"/>
              </a:solidFill>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Font typeface="+mj-lt"/>
              <a:buAutoNum type="arabicPeriod" startAt="2"/>
            </a:pPr>
            <a:r>
              <a:rPr lang="en-US" sz="1600" b="1" dirty="0" err="1">
                <a:solidFill>
                  <a:schemeClr val="tx1"/>
                </a:solidFill>
                <a:ea typeface="Maven Pro"/>
                <a:cs typeface="Maven Pro"/>
                <a:sym typeface="Maven Pro"/>
              </a:rPr>
              <a:t>Backtest</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cho</a:t>
            </a:r>
            <a:r>
              <a:rPr lang="en-US" sz="1600" b="1" dirty="0">
                <a:solidFill>
                  <a:schemeClr val="tx1"/>
                </a:solidFill>
                <a:ea typeface="Maven Pro"/>
                <a:cs typeface="Maven Pro"/>
                <a:sym typeface="Maven Pro"/>
              </a:rPr>
              <a:t> Forex (</a:t>
            </a:r>
            <a:r>
              <a:rPr lang="en-US" sz="1600" b="1" dirty="0" err="1">
                <a:solidFill>
                  <a:schemeClr val="tx1"/>
                </a:solidFill>
                <a:ea typeface="Maven Pro"/>
                <a:cs typeface="Maven Pro"/>
                <a:sym typeface="Maven Pro"/>
              </a:rPr>
              <a:t>học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sau</a:t>
            </a:r>
            <a:r>
              <a:rPr lang="en-US" sz="1600" b="1" dirty="0">
                <a:solidFill>
                  <a:schemeClr val="tx1"/>
                </a:solidFill>
                <a:ea typeface="Maven Pro"/>
                <a:cs typeface="Maven Pro"/>
                <a:sym typeface="Maven Pro"/>
              </a:rPr>
              <a:t>)</a:t>
            </a:r>
            <a:endParaRPr lang="en-US" sz="1600" b="1" dirty="0">
              <a:solidFill>
                <a:schemeClr val="tx1"/>
              </a:solidFill>
              <a:ea typeface="Maven Pro"/>
              <a:cs typeface="Maven Pro"/>
              <a:sym typeface="Maven Pro"/>
            </a:endParaRPr>
          </a:p>
          <a:p>
            <a:pPr marL="101600" algn="just">
              <a:lnSpc>
                <a:spcPct val="115000"/>
              </a:lnSpc>
              <a:spcBef>
                <a:spcPts val="1600"/>
              </a:spcBef>
              <a:buClr>
                <a:schemeClr val="dk1"/>
              </a:buClr>
              <a:buSzPts val="2000"/>
            </a:pPr>
            <a:endParaRPr lang="en-US" sz="1600" b="1" dirty="0">
              <a:solidFill>
                <a:schemeClr val="tx1"/>
              </a:solidFill>
              <a:ea typeface="Maven Pro"/>
              <a:cs typeface="Maven Pro"/>
              <a:sym typeface="Maven Pro"/>
            </a:endParaRPr>
          </a:p>
          <a:p>
            <a:pPr marL="444500" indent="-342900" algn="just">
              <a:lnSpc>
                <a:spcPct val="115000"/>
              </a:lnSpc>
              <a:spcBef>
                <a:spcPts val="1600"/>
              </a:spcBef>
              <a:buClr>
                <a:schemeClr val="dk1"/>
              </a:buClr>
              <a:buSzPts val="2000"/>
              <a:buFont typeface="+mj-lt"/>
              <a:buAutoNum type="arabicPeriod" startAt="3"/>
            </a:pPr>
            <a:r>
              <a:rPr lang="en-US" sz="1600" b="1" dirty="0" err="1">
                <a:solidFill>
                  <a:schemeClr val="tx1"/>
                </a:solidFill>
                <a:ea typeface="Maven Pro"/>
                <a:cs typeface="Maven Pro"/>
                <a:sym typeface="Maven Pro"/>
              </a:rPr>
              <a:t>Backtest</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cho</a:t>
            </a:r>
            <a:r>
              <a:rPr lang="en-US" sz="1600" b="1" dirty="0">
                <a:solidFill>
                  <a:schemeClr val="tx1"/>
                </a:solidFill>
                <a:ea typeface="Maven Pro"/>
                <a:cs typeface="Maven Pro"/>
                <a:sym typeface="Maven Pro"/>
              </a:rPr>
              <a:t> Crypto (</a:t>
            </a:r>
            <a:r>
              <a:rPr lang="en-US" sz="1600" b="1" dirty="0" err="1">
                <a:solidFill>
                  <a:schemeClr val="tx1"/>
                </a:solidFill>
                <a:ea typeface="Maven Pro"/>
                <a:cs typeface="Maven Pro"/>
                <a:sym typeface="Maven Pro"/>
              </a:rPr>
              <a:t>học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sau</a:t>
            </a:r>
            <a:r>
              <a:rPr lang="en-US" sz="1600" b="1" dirty="0">
                <a:solidFill>
                  <a:schemeClr val="tx1"/>
                </a:solidFill>
                <a:ea typeface="Maven Pro"/>
                <a:cs typeface="Maven Pro"/>
                <a:sym typeface="Maven Pro"/>
              </a:rPr>
              <a:t>)</a:t>
            </a:r>
            <a:endParaRPr lang="en-US" sz="1600" b="1" dirty="0">
              <a:solidFill>
                <a:schemeClr val="tx1"/>
              </a:solidFill>
              <a:ea typeface="Maven Pro"/>
              <a:cs typeface="Maven Pro"/>
              <a:sym typeface="Maven Pr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gn="just">
              <a:lnSpc>
                <a:spcPct val="115000"/>
              </a:lnSpc>
              <a:spcBef>
                <a:spcPts val="1600"/>
              </a:spcBef>
              <a:buClr>
                <a:schemeClr val="dk1"/>
              </a:buClr>
              <a:buSzPts val="2000"/>
            </a:pPr>
            <a:r>
              <a:rPr lang="en-US" sz="1600" b="1" dirty="0" err="1">
                <a:solidFill>
                  <a:schemeClr val="dk1"/>
                </a:solidFill>
                <a:latin typeface="+mn-lt"/>
                <a:ea typeface="Maven Pro"/>
                <a:cs typeface="Maven Pro"/>
                <a:sym typeface="Maven Pro"/>
              </a:rPr>
              <a:t>Vào</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lệnh</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bằng</a:t>
            </a:r>
            <a:r>
              <a:rPr lang="en-US" sz="1600" b="1" dirty="0">
                <a:solidFill>
                  <a:schemeClr val="dk1"/>
                </a:solidFill>
                <a:latin typeface="+mn-lt"/>
                <a:ea typeface="Maven Pro"/>
                <a:cs typeface="Maven Pro"/>
                <a:sym typeface="Maven Pro"/>
              </a:rPr>
              <a:t> manual</a:t>
            </a:r>
            <a:endParaRPr lang="en-US" sz="1600" b="1" dirty="0">
              <a:solidFill>
                <a:schemeClr val="dk1"/>
              </a:solidFill>
              <a:latin typeface="+mn-lt"/>
              <a:ea typeface="Maven Pro"/>
              <a:cs typeface="Maven Pro"/>
              <a:sym typeface="Maven Pro"/>
            </a:endParaRPr>
          </a:p>
          <a:p>
            <a:pPr marL="387350" lvl="0" indent="-285750" algn="just">
              <a:lnSpc>
                <a:spcPct val="115000"/>
              </a:lnSpc>
              <a:spcBef>
                <a:spcPts val="1600"/>
              </a:spcBef>
              <a:buClr>
                <a:schemeClr val="dk1"/>
              </a:buClr>
              <a:buSzPts val="2000"/>
              <a:buFontTx/>
              <a:buChar char="-"/>
            </a:pPr>
            <a:r>
              <a:rPr lang="en-US" sz="1600" b="1" dirty="0">
                <a:solidFill>
                  <a:schemeClr val="dk1"/>
                </a:solidFill>
                <a:latin typeface="+mn-lt"/>
                <a:ea typeface="Maven Pro"/>
                <a:cs typeface="Maven Pro"/>
                <a:sym typeface="Maven Pro"/>
              </a:rPr>
              <a:t>Forex: </a:t>
            </a:r>
            <a:r>
              <a:rPr lang="en-US" sz="1600" b="1" dirty="0" err="1">
                <a:solidFill>
                  <a:schemeClr val="dk1"/>
                </a:solidFill>
                <a:latin typeface="+mn-lt"/>
                <a:ea typeface="Maven Pro"/>
                <a:cs typeface="Maven Pro"/>
                <a:sym typeface="Maven Pro"/>
              </a:rPr>
              <a:t>Vào</a:t>
            </a:r>
            <a:r>
              <a:rPr lang="en-US" sz="1600" b="1" dirty="0">
                <a:solidFill>
                  <a:schemeClr val="dk1"/>
                </a:solidFill>
                <a:latin typeface="+mn-lt"/>
                <a:ea typeface="Maven Pro"/>
                <a:cs typeface="Maven Pro"/>
                <a:sym typeface="Maven Pro"/>
              </a:rPr>
              <a:t> MT5</a:t>
            </a:r>
            <a:endParaRPr lang="en-US" sz="1600" b="1" dirty="0">
              <a:solidFill>
                <a:schemeClr val="dk1"/>
              </a:solidFill>
              <a:latin typeface="+mn-lt"/>
              <a:ea typeface="Maven Pro"/>
              <a:cs typeface="Maven Pro"/>
              <a:sym typeface="Maven Pro"/>
            </a:endParaRPr>
          </a:p>
          <a:p>
            <a:pPr marL="387350" lvl="0" indent="-285750" algn="just">
              <a:lnSpc>
                <a:spcPct val="115000"/>
              </a:lnSpc>
              <a:spcBef>
                <a:spcPts val="1600"/>
              </a:spcBef>
              <a:buClr>
                <a:schemeClr val="dk1"/>
              </a:buClr>
              <a:buSzPts val="2000"/>
              <a:buFontTx/>
              <a:buChar char="-"/>
            </a:pPr>
            <a:r>
              <a:rPr lang="en-US" sz="1600" b="1" dirty="0">
                <a:solidFill>
                  <a:schemeClr val="dk1"/>
                </a:solidFill>
                <a:latin typeface="+mn-lt"/>
                <a:ea typeface="Maven Pro"/>
                <a:cs typeface="Maven Pro"/>
                <a:sym typeface="Maven Pro"/>
              </a:rPr>
              <a:t>Crypto: </a:t>
            </a:r>
            <a:r>
              <a:rPr lang="en-US" sz="1600" b="1" dirty="0" err="1">
                <a:solidFill>
                  <a:schemeClr val="dk1"/>
                </a:solidFill>
                <a:latin typeface="+mn-lt"/>
                <a:ea typeface="Maven Pro"/>
                <a:cs typeface="Maven Pro"/>
                <a:sym typeface="Maven Pro"/>
              </a:rPr>
              <a:t>Vào</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Binance</a:t>
            </a:r>
            <a:endParaRPr lang="en-US" sz="1600" b="1" dirty="0">
              <a:solidFill>
                <a:schemeClr val="dk1"/>
              </a:solidFill>
              <a:latin typeface="+mn-lt"/>
              <a:ea typeface="Maven Pro"/>
              <a:cs typeface="Maven Pro"/>
              <a:sym typeface="Maven Pro"/>
            </a:endParaRPr>
          </a:p>
          <a:p>
            <a:pPr marL="387350" lvl="0" indent="-285750" algn="just">
              <a:lnSpc>
                <a:spcPct val="115000"/>
              </a:lnSpc>
              <a:spcBef>
                <a:spcPts val="1600"/>
              </a:spcBef>
              <a:buClr>
                <a:schemeClr val="dk1"/>
              </a:buClr>
              <a:buSzPts val="2000"/>
              <a:buFontTx/>
              <a:buChar char="-"/>
            </a:pPr>
            <a:r>
              <a:rPr lang="en-US" sz="1600" b="1" dirty="0" err="1">
                <a:solidFill>
                  <a:schemeClr val="dk1"/>
                </a:solidFill>
                <a:latin typeface="+mn-lt"/>
                <a:ea typeface="Maven Pro"/>
                <a:cs typeface="Maven Pro"/>
                <a:sym typeface="Maven Pro"/>
              </a:rPr>
              <a:t>Chứng</a:t>
            </a:r>
            <a:r>
              <a:rPr lang="en-US" sz="1600" b="1" dirty="0">
                <a:solidFill>
                  <a:schemeClr val="dk1"/>
                </a:solidFill>
                <a:latin typeface="+mn-lt"/>
                <a:ea typeface="Maven Pro"/>
                <a:cs typeface="Maven Pro"/>
                <a:sym typeface="Maven Pro"/>
              </a:rPr>
              <a:t> khoan: </a:t>
            </a:r>
            <a:r>
              <a:rPr lang="en-US" sz="1600" b="1" dirty="0" err="1">
                <a:solidFill>
                  <a:schemeClr val="dk1"/>
                </a:solidFill>
                <a:latin typeface="+mn-lt"/>
                <a:ea typeface="Maven Pro"/>
                <a:cs typeface="Maven Pro"/>
                <a:sym typeface="Maven Pro"/>
              </a:rPr>
              <a:t>Vào</a:t>
            </a:r>
            <a:r>
              <a:rPr lang="en-US" sz="1600" b="1" dirty="0">
                <a:solidFill>
                  <a:schemeClr val="dk1"/>
                </a:solidFill>
                <a:latin typeface="+mn-lt"/>
                <a:ea typeface="Maven Pro"/>
                <a:cs typeface="Maven Pro"/>
                <a:sym typeface="Maven Pro"/>
              </a:rPr>
              <a:t> SSI</a:t>
            </a:r>
            <a:endParaRPr sz="1600" b="1" dirty="0">
              <a:solidFill>
                <a:schemeClr val="dk1"/>
              </a:solidFill>
              <a:latin typeface="+mn-lt"/>
              <a:ea typeface="Maven Pro"/>
              <a:cs typeface="Maven Pro"/>
              <a:sym typeface="Maven Pro"/>
            </a:endParaRPr>
          </a:p>
        </p:txBody>
      </p:sp>
      <p:sp>
        <p:nvSpPr>
          <p:cNvPr id="4" name="Google Shape;100;p3"/>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II. </a:t>
            </a:r>
            <a:r>
              <a:rPr lang="en-US" sz="2400" b="1" dirty="0" err="1">
                <a:solidFill>
                  <a:schemeClr val="bg1"/>
                </a:solidFill>
              </a:rPr>
              <a:t>Vào</a:t>
            </a:r>
            <a:r>
              <a:rPr lang="en-US" sz="2400" b="1" dirty="0">
                <a:solidFill>
                  <a:schemeClr val="bg1"/>
                </a:solidFill>
              </a:rPr>
              <a:t> </a:t>
            </a:r>
            <a:r>
              <a:rPr lang="en-US" sz="2400" b="1" dirty="0" err="1">
                <a:solidFill>
                  <a:schemeClr val="bg1"/>
                </a:solidFill>
              </a:rPr>
              <a:t>lệnh</a:t>
            </a:r>
            <a:r>
              <a:rPr lang="en-US" sz="2400" b="1" dirty="0">
                <a:solidFill>
                  <a:schemeClr val="bg1"/>
                </a:solidFill>
              </a:rPr>
              <a:t> </a:t>
            </a:r>
            <a:r>
              <a:rPr lang="en-US" sz="2400" b="1" dirty="0" err="1">
                <a:solidFill>
                  <a:schemeClr val="bg1"/>
                </a:solidFill>
              </a:rPr>
              <a:t>bằng</a:t>
            </a:r>
            <a:r>
              <a:rPr lang="en-US" sz="2400" b="1" dirty="0">
                <a:solidFill>
                  <a:schemeClr val="bg1"/>
                </a:solidFill>
              </a:rPr>
              <a:t> manual</a:t>
            </a:r>
            <a:endParaRPr sz="2400" b="1" i="0" u="none" strike="noStrike" cap="none" dirty="0">
              <a:solidFill>
                <a:schemeClr val="lt1"/>
              </a:solidFill>
              <a:sym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err="1">
                <a:solidFill>
                  <a:schemeClr val="dk1"/>
                </a:solidFill>
                <a:latin typeface="+mn-lt"/>
                <a:ea typeface="Maven Pro"/>
                <a:cs typeface="Maven Pro"/>
                <a:sym typeface="Maven Pro"/>
              </a:rPr>
              <a:t>Vào</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lệnh</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bằng</a:t>
            </a:r>
            <a:r>
              <a:rPr lang="en-US" sz="1600" b="1" dirty="0">
                <a:solidFill>
                  <a:schemeClr val="dk1"/>
                </a:solidFill>
                <a:latin typeface="+mn-lt"/>
                <a:ea typeface="Maven Pro"/>
                <a:cs typeface="Maven Pro"/>
                <a:sym typeface="Maven Pro"/>
              </a:rPr>
              <a:t> API</a:t>
            </a:r>
            <a:endParaRPr lang="en-US" sz="1600" b="1" dirty="0">
              <a:solidFill>
                <a:schemeClr val="dk1"/>
              </a:solidFill>
              <a:latin typeface="+mn-lt"/>
              <a:ea typeface="Maven Pro"/>
              <a:cs typeface="Maven Pro"/>
              <a:sym typeface="Maven Pro"/>
            </a:endParaRPr>
          </a:p>
          <a:p>
            <a:pPr marL="387350" lvl="0" indent="-285750">
              <a:lnSpc>
                <a:spcPct val="115000"/>
              </a:lnSpc>
              <a:spcBef>
                <a:spcPts val="1600"/>
              </a:spcBef>
              <a:buClr>
                <a:schemeClr val="dk1"/>
              </a:buClr>
              <a:buSzPts val="2000"/>
              <a:buFontTx/>
              <a:buChar char="-"/>
            </a:pPr>
            <a:r>
              <a:rPr lang="en-US" sz="1600" b="1" dirty="0">
                <a:solidFill>
                  <a:schemeClr val="dk1"/>
                </a:solidFill>
                <a:latin typeface="+mn-lt"/>
                <a:ea typeface="Maven Pro"/>
                <a:cs typeface="Maven Pro"/>
                <a:sym typeface="Maven Pro"/>
              </a:rPr>
              <a:t>Forex: </a:t>
            </a:r>
            <a:r>
              <a:rPr lang="en-US" sz="1600" b="1" dirty="0" err="1">
                <a:solidFill>
                  <a:schemeClr val="dk1"/>
                </a:solidFill>
                <a:latin typeface="+mn-lt"/>
                <a:ea typeface="Maven Pro"/>
                <a:cs typeface="Maven Pro"/>
                <a:sym typeface="Maven Pro"/>
              </a:rPr>
              <a:t>Vào</a:t>
            </a:r>
            <a:r>
              <a:rPr lang="en-US" sz="1600" b="1" dirty="0">
                <a:solidFill>
                  <a:schemeClr val="dk1"/>
                </a:solidFill>
                <a:latin typeface="+mn-lt"/>
                <a:ea typeface="Maven Pro"/>
                <a:cs typeface="Maven Pro"/>
                <a:sym typeface="Maven Pro"/>
              </a:rPr>
              <a:t> MT5</a:t>
            </a:r>
            <a:endParaRPr lang="en-US" sz="1600" b="1"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r>
              <a:rPr lang="en-US" sz="1600" dirty="0">
                <a:solidFill>
                  <a:schemeClr val="dk1"/>
                </a:solidFill>
                <a:latin typeface="+mn-lt"/>
                <a:ea typeface="Maven Pro"/>
                <a:cs typeface="Maven Pro"/>
                <a:sym typeface="Maven Pro"/>
              </a:rPr>
              <a:t>     + </a:t>
            </a:r>
            <a:r>
              <a:rPr lang="en-US" sz="1600" dirty="0" err="1">
                <a:solidFill>
                  <a:schemeClr val="dk1"/>
                </a:solidFill>
                <a:latin typeface="+mn-lt"/>
                <a:ea typeface="Maven Pro"/>
                <a:cs typeface="Maven Pro"/>
                <a:sym typeface="Maven Pro"/>
              </a:rPr>
              <a:t>Bắt</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đầu</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mở</a:t>
            </a:r>
            <a:r>
              <a:rPr lang="en-US" sz="1600" dirty="0">
                <a:solidFill>
                  <a:schemeClr val="dk1"/>
                </a:solidFill>
                <a:latin typeface="+mn-lt"/>
                <a:ea typeface="Maven Pro"/>
                <a:cs typeface="Maven Pro"/>
                <a:sym typeface="Maven Pro"/>
              </a:rPr>
              <a:t> MT5 </a:t>
            </a:r>
            <a:r>
              <a:rPr lang="en-US" sz="1600" dirty="0" err="1">
                <a:solidFill>
                  <a:schemeClr val="dk1"/>
                </a:solidFill>
                <a:latin typeface="+mn-lt"/>
                <a:ea typeface="Maven Pro"/>
                <a:cs typeface="Maven Pro"/>
                <a:sym typeface="Maven Pro"/>
              </a:rPr>
              <a:t>lên</a:t>
            </a:r>
            <a:endParaRPr lang="en-US" sz="1600"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r>
              <a:rPr lang="en-US" sz="1600" dirty="0">
                <a:solidFill>
                  <a:schemeClr val="dk1"/>
                </a:solidFill>
                <a:latin typeface="+mn-lt"/>
                <a:ea typeface="Maven Pro"/>
                <a:cs typeface="Maven Pro"/>
                <a:sym typeface="Maven Pro"/>
              </a:rPr>
              <a:t>     + </a:t>
            </a:r>
            <a:r>
              <a:rPr lang="en-US" sz="1600" dirty="0" err="1">
                <a:solidFill>
                  <a:schemeClr val="dk1"/>
                </a:solidFill>
                <a:latin typeface="+mn-lt"/>
                <a:ea typeface="Maven Pro"/>
                <a:cs typeface="Maven Pro"/>
                <a:sym typeface="Maven Pro"/>
              </a:rPr>
              <a:t>Chạy</a:t>
            </a:r>
            <a:r>
              <a:rPr lang="en-US" sz="1600" dirty="0">
                <a:solidFill>
                  <a:schemeClr val="dk1"/>
                </a:solidFill>
                <a:latin typeface="+mn-lt"/>
                <a:ea typeface="Maven Pro"/>
                <a:cs typeface="Maven Pro"/>
                <a:sym typeface="Maven Pro"/>
              </a:rPr>
              <a:t> code </a:t>
            </a:r>
            <a:r>
              <a:rPr lang="en-US" sz="1600" dirty="0" err="1">
                <a:solidFill>
                  <a:schemeClr val="dk1"/>
                </a:solidFill>
                <a:latin typeface="+mn-lt"/>
                <a:ea typeface="Maven Pro"/>
                <a:cs typeface="Maven Pro"/>
                <a:sym typeface="Maven Pro"/>
              </a:rPr>
              <a:t>vào</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lệnh</a:t>
            </a:r>
            <a:r>
              <a:rPr lang="en-US" sz="1600" dirty="0">
                <a:solidFill>
                  <a:schemeClr val="dk1"/>
                </a:solidFill>
                <a:latin typeface="+mn-lt"/>
                <a:ea typeface="Maven Pro"/>
                <a:cs typeface="Maven Pro"/>
                <a:sym typeface="Maven Pro"/>
              </a:rPr>
              <a:t> Forex</a:t>
            </a:r>
            <a:endParaRPr lang="en-US" sz="1600" dirty="0">
              <a:solidFill>
                <a:schemeClr val="dk1"/>
              </a:solidFill>
              <a:latin typeface="+mn-lt"/>
              <a:ea typeface="Maven Pro"/>
              <a:cs typeface="Maven Pro"/>
              <a:sym typeface="Maven Pro"/>
            </a:endParaRPr>
          </a:p>
          <a:p>
            <a:pPr marL="387350" lvl="0" indent="-285750">
              <a:lnSpc>
                <a:spcPct val="115000"/>
              </a:lnSpc>
              <a:spcBef>
                <a:spcPts val="1600"/>
              </a:spcBef>
              <a:buClr>
                <a:schemeClr val="dk1"/>
              </a:buClr>
              <a:buSzPts val="2000"/>
              <a:buFontTx/>
              <a:buChar char="-"/>
            </a:pPr>
            <a:r>
              <a:rPr lang="en-US" sz="1600" b="1" dirty="0">
                <a:solidFill>
                  <a:schemeClr val="dk1"/>
                </a:solidFill>
                <a:latin typeface="+mn-lt"/>
                <a:ea typeface="Maven Pro"/>
                <a:cs typeface="Maven Pro"/>
                <a:sym typeface="Maven Pro"/>
              </a:rPr>
              <a:t>Crypto: </a:t>
            </a:r>
            <a:r>
              <a:rPr lang="en-US" sz="1600" b="1" dirty="0" err="1">
                <a:solidFill>
                  <a:schemeClr val="dk1"/>
                </a:solidFill>
                <a:latin typeface="+mn-lt"/>
                <a:ea typeface="Maven Pro"/>
                <a:cs typeface="Maven Pro"/>
                <a:sym typeface="Maven Pro"/>
              </a:rPr>
              <a:t>Vào</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Binance</a:t>
            </a:r>
            <a:endParaRPr lang="en-US" sz="1600" b="1" dirty="0">
              <a:solidFill>
                <a:schemeClr val="dk1"/>
              </a:solidFill>
              <a:latin typeface="+mn-lt"/>
              <a:ea typeface="Maven Pro"/>
              <a:cs typeface="Maven Pro"/>
              <a:sym typeface="Maven Pro"/>
            </a:endParaRPr>
          </a:p>
          <a:p>
            <a:pPr marL="101600" lvl="0" algn="just">
              <a:lnSpc>
                <a:spcPct val="115000"/>
              </a:lnSpc>
              <a:spcBef>
                <a:spcPts val="1600"/>
              </a:spcBef>
              <a:buClr>
                <a:schemeClr val="dk1"/>
              </a:buClr>
              <a:buSzPts val="2000"/>
            </a:pPr>
            <a:r>
              <a:rPr lang="en-US" sz="1600" dirty="0">
                <a:solidFill>
                  <a:schemeClr val="dk1"/>
                </a:solidFill>
                <a:latin typeface="+mn-lt"/>
                <a:ea typeface="Maven Pro"/>
                <a:cs typeface="Maven Pro"/>
                <a:sym typeface="Maven Pro"/>
              </a:rPr>
              <a:t>     + </a:t>
            </a:r>
            <a:r>
              <a:rPr lang="en-US" sz="1600" dirty="0" err="1">
                <a:solidFill>
                  <a:schemeClr val="dk1"/>
                </a:solidFill>
                <a:latin typeface="+mn-lt"/>
                <a:ea typeface="Maven Pro"/>
                <a:cs typeface="Maven Pro"/>
                <a:sym typeface="Maven Pro"/>
              </a:rPr>
              <a:t>Khai</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báo</a:t>
            </a:r>
            <a:r>
              <a:rPr lang="en-US" sz="1600" dirty="0">
                <a:solidFill>
                  <a:schemeClr val="dk1"/>
                </a:solidFill>
                <a:latin typeface="+mn-lt"/>
                <a:ea typeface="Maven Pro"/>
                <a:cs typeface="Maven Pro"/>
                <a:sym typeface="Maven Pro"/>
              </a:rPr>
              <a:t> API: Click Enable Spot, Future, Whitelist </a:t>
            </a:r>
            <a:r>
              <a:rPr lang="en-US" sz="1600" dirty="0" err="1">
                <a:solidFill>
                  <a:schemeClr val="dk1"/>
                </a:solidFill>
                <a:latin typeface="+mn-lt"/>
                <a:ea typeface="Maven Pro"/>
                <a:cs typeface="Maven Pro"/>
                <a:sym typeface="Maven Pro"/>
              </a:rPr>
              <a:t>mã</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cần</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giao</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dịch</a:t>
            </a:r>
            <a:r>
              <a:rPr lang="en-US" sz="1600" dirty="0">
                <a:solidFill>
                  <a:schemeClr val="dk1"/>
                </a:solidFill>
                <a:latin typeface="+mn-lt"/>
                <a:ea typeface="Maven Pro"/>
                <a:cs typeface="Maven Pro"/>
                <a:sym typeface="Maven Pro"/>
              </a:rPr>
              <a:t>, trust IP </a:t>
            </a:r>
            <a:r>
              <a:rPr lang="en-US" sz="1600" dirty="0" err="1">
                <a:solidFill>
                  <a:schemeClr val="dk1"/>
                </a:solidFill>
                <a:latin typeface="+mn-lt"/>
                <a:ea typeface="Maven Pro"/>
                <a:cs typeface="Maven Pro"/>
                <a:sym typeface="Maven Pro"/>
              </a:rPr>
              <a:t>cho</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phép</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giao</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dịch</a:t>
            </a:r>
            <a:endParaRPr lang="en-US" sz="1600" dirty="0">
              <a:solidFill>
                <a:schemeClr val="dk1"/>
              </a:solidFill>
              <a:latin typeface="+mn-lt"/>
              <a:ea typeface="Maven Pro"/>
              <a:cs typeface="Maven Pro"/>
              <a:sym typeface="Maven Pro"/>
            </a:endParaRPr>
          </a:p>
          <a:p>
            <a:pPr marL="101600" lvl="0" algn="just">
              <a:lnSpc>
                <a:spcPct val="115000"/>
              </a:lnSpc>
              <a:spcBef>
                <a:spcPts val="1600"/>
              </a:spcBef>
              <a:buClr>
                <a:schemeClr val="dk1"/>
              </a:buClr>
              <a:buSzPts val="2000"/>
            </a:pPr>
            <a:r>
              <a:rPr lang="en-US" sz="1600" dirty="0">
                <a:solidFill>
                  <a:schemeClr val="dk1"/>
                </a:solidFill>
                <a:ea typeface="Maven Pro"/>
                <a:cs typeface="Maven Pro"/>
                <a:sym typeface="Maven Pro"/>
              </a:rPr>
              <a:t>     + </a:t>
            </a:r>
            <a:r>
              <a:rPr lang="en-US" sz="1600" dirty="0" err="1">
                <a:solidFill>
                  <a:schemeClr val="dk1"/>
                </a:solidFill>
                <a:ea typeface="Maven Pro"/>
                <a:cs typeface="Maven Pro"/>
                <a:sym typeface="Maven Pro"/>
              </a:rPr>
              <a:t>Chạy</a:t>
            </a:r>
            <a:r>
              <a:rPr lang="en-US" sz="1600" dirty="0">
                <a:solidFill>
                  <a:schemeClr val="dk1"/>
                </a:solidFill>
                <a:ea typeface="Maven Pro"/>
                <a:cs typeface="Maven Pro"/>
                <a:sym typeface="Maven Pro"/>
              </a:rPr>
              <a:t> code </a:t>
            </a:r>
            <a:r>
              <a:rPr lang="en-US" sz="1600" dirty="0" err="1">
                <a:solidFill>
                  <a:schemeClr val="dk1"/>
                </a:solidFill>
                <a:ea typeface="Maven Pro"/>
                <a:cs typeface="Maven Pro"/>
                <a:sym typeface="Maven Pro"/>
              </a:rPr>
              <a:t>vào</a:t>
            </a:r>
            <a:r>
              <a:rPr lang="en-US" sz="1600" dirty="0">
                <a:solidFill>
                  <a:schemeClr val="dk1"/>
                </a:solidFill>
                <a:ea typeface="Maven Pro"/>
                <a:cs typeface="Maven Pro"/>
                <a:sym typeface="Maven Pro"/>
              </a:rPr>
              <a:t> </a:t>
            </a:r>
            <a:r>
              <a:rPr lang="en-US" sz="1600" dirty="0" err="1">
                <a:solidFill>
                  <a:schemeClr val="dk1"/>
                </a:solidFill>
                <a:ea typeface="Maven Pro"/>
                <a:cs typeface="Maven Pro"/>
                <a:sym typeface="Maven Pro"/>
              </a:rPr>
              <a:t>lệnh</a:t>
            </a:r>
            <a:r>
              <a:rPr lang="en-US" sz="1600" dirty="0">
                <a:solidFill>
                  <a:schemeClr val="dk1"/>
                </a:solidFill>
                <a:ea typeface="Maven Pro"/>
                <a:cs typeface="Maven Pro"/>
                <a:sym typeface="Maven Pro"/>
              </a:rPr>
              <a:t> Spot, Future</a:t>
            </a:r>
            <a:endParaRPr lang="en-US" sz="1600" dirty="0">
              <a:solidFill>
                <a:schemeClr val="dk1"/>
              </a:solidFill>
              <a:ea typeface="Maven Pro"/>
              <a:cs typeface="Maven Pro"/>
              <a:sym typeface="Maven Pro"/>
            </a:endParaRPr>
          </a:p>
          <a:p>
            <a:pPr marL="387350" indent="-285750">
              <a:lnSpc>
                <a:spcPct val="115000"/>
              </a:lnSpc>
              <a:spcBef>
                <a:spcPts val="1600"/>
              </a:spcBef>
              <a:buClr>
                <a:schemeClr val="dk1"/>
              </a:buClr>
              <a:buSzPts val="2000"/>
              <a:buFontTx/>
              <a:buChar char="-"/>
            </a:pPr>
            <a:r>
              <a:rPr lang="en-US" sz="1600" b="1" dirty="0" err="1">
                <a:solidFill>
                  <a:schemeClr val="dk1"/>
                </a:solidFill>
                <a:latin typeface="+mn-lt"/>
                <a:ea typeface="Maven Pro"/>
                <a:cs typeface="Maven Pro"/>
                <a:sym typeface="Maven Pro"/>
              </a:rPr>
              <a:t>Chứng</a:t>
            </a:r>
            <a:r>
              <a:rPr lang="en-US" sz="1600" b="1" dirty="0">
                <a:solidFill>
                  <a:schemeClr val="dk1"/>
                </a:solidFill>
                <a:latin typeface="+mn-lt"/>
                <a:ea typeface="Maven Pro"/>
                <a:cs typeface="Maven Pro"/>
                <a:sym typeface="Maven Pro"/>
              </a:rPr>
              <a:t> khoan: </a:t>
            </a:r>
            <a:r>
              <a:rPr lang="en-US" sz="1600" b="1" dirty="0" err="1">
                <a:solidFill>
                  <a:schemeClr val="dk1"/>
                </a:solidFill>
                <a:latin typeface="+mn-lt"/>
                <a:ea typeface="Maven Pro"/>
                <a:cs typeface="Maven Pro"/>
                <a:sym typeface="Maven Pro"/>
              </a:rPr>
              <a:t>Vào</a:t>
            </a:r>
            <a:r>
              <a:rPr lang="en-US" sz="1600" b="1" dirty="0">
                <a:solidFill>
                  <a:schemeClr val="dk1"/>
                </a:solidFill>
                <a:latin typeface="+mn-lt"/>
                <a:ea typeface="Maven Pro"/>
                <a:cs typeface="Maven Pro"/>
                <a:sym typeface="Maven Pro"/>
              </a:rPr>
              <a:t> SSI</a:t>
            </a:r>
            <a:endParaRPr lang="en-US" sz="1600" b="1" dirty="0">
              <a:solidFill>
                <a:schemeClr val="dk1"/>
              </a:solidFill>
              <a:latin typeface="+mn-lt"/>
              <a:ea typeface="Maven Pro"/>
              <a:cs typeface="Maven Pro"/>
              <a:sym typeface="Maven Pro"/>
            </a:endParaRPr>
          </a:p>
          <a:p>
            <a:pPr marL="101600">
              <a:lnSpc>
                <a:spcPct val="115000"/>
              </a:lnSpc>
              <a:spcBef>
                <a:spcPts val="1600"/>
              </a:spcBef>
              <a:buClr>
                <a:schemeClr val="dk1"/>
              </a:buClr>
              <a:buSzPts val="2000"/>
            </a:pPr>
            <a:r>
              <a:rPr lang="en-US" sz="1600" dirty="0">
                <a:solidFill>
                  <a:schemeClr val="dk1"/>
                </a:solidFill>
                <a:latin typeface="+mn-lt"/>
                <a:ea typeface="Maven Pro"/>
                <a:cs typeface="Maven Pro"/>
                <a:sym typeface="Maven Pro"/>
              </a:rPr>
              <a:t>     + </a:t>
            </a:r>
            <a:r>
              <a:rPr lang="en-US" sz="1600" dirty="0" err="1">
                <a:solidFill>
                  <a:schemeClr val="dk1"/>
                </a:solidFill>
                <a:latin typeface="+mn-lt"/>
                <a:ea typeface="Maven Pro"/>
                <a:cs typeface="Maven Pro"/>
                <a:sym typeface="Maven Pro"/>
              </a:rPr>
              <a:t>Chạy</a:t>
            </a:r>
            <a:r>
              <a:rPr lang="en-US" sz="1600" dirty="0">
                <a:solidFill>
                  <a:schemeClr val="dk1"/>
                </a:solidFill>
                <a:latin typeface="+mn-lt"/>
                <a:ea typeface="Maven Pro"/>
                <a:cs typeface="Maven Pro"/>
                <a:sym typeface="Maven Pro"/>
              </a:rPr>
              <a:t> API </a:t>
            </a:r>
            <a:r>
              <a:rPr lang="en-US" sz="1600" dirty="0" err="1">
                <a:solidFill>
                  <a:schemeClr val="dk1"/>
                </a:solidFill>
                <a:latin typeface="+mn-lt"/>
                <a:ea typeface="Maven Pro"/>
                <a:cs typeface="Maven Pro"/>
                <a:sym typeface="Maven Pro"/>
              </a:rPr>
              <a:t>RestFul</a:t>
            </a:r>
            <a:r>
              <a:rPr lang="en-US" sz="1600" dirty="0">
                <a:solidFill>
                  <a:schemeClr val="dk1"/>
                </a:solidFill>
                <a:latin typeface="+mn-lt"/>
                <a:ea typeface="Maven Pro"/>
                <a:cs typeface="Maven Pro"/>
                <a:sym typeface="Maven Pro"/>
              </a:rPr>
              <a:t> API </a:t>
            </a:r>
            <a:r>
              <a:rPr lang="en-US" sz="1600" dirty="0" err="1">
                <a:solidFill>
                  <a:schemeClr val="dk1"/>
                </a:solidFill>
                <a:latin typeface="+mn-lt"/>
                <a:ea typeface="Maven Pro"/>
                <a:cs typeface="Maven Pro"/>
                <a:sym typeface="Maven Pro"/>
              </a:rPr>
              <a:t>lên</a:t>
            </a:r>
            <a:endParaRPr lang="en-US" sz="1600" dirty="0">
              <a:solidFill>
                <a:schemeClr val="dk1"/>
              </a:solidFill>
              <a:latin typeface="+mn-lt"/>
              <a:ea typeface="Maven Pro"/>
              <a:cs typeface="Maven Pro"/>
              <a:sym typeface="Maven Pro"/>
            </a:endParaRPr>
          </a:p>
          <a:p>
            <a:pPr marL="101600">
              <a:lnSpc>
                <a:spcPct val="115000"/>
              </a:lnSpc>
              <a:spcBef>
                <a:spcPts val="1600"/>
              </a:spcBef>
              <a:buClr>
                <a:schemeClr val="dk1"/>
              </a:buClr>
              <a:buSzPts val="2000"/>
            </a:pPr>
            <a:r>
              <a:rPr lang="en-US" sz="1600" dirty="0">
                <a:solidFill>
                  <a:schemeClr val="dk1"/>
                </a:solidFill>
                <a:latin typeface="+mn-lt"/>
                <a:ea typeface="Maven Pro"/>
                <a:cs typeface="Maven Pro"/>
                <a:sym typeface="Maven Pro"/>
              </a:rPr>
              <a:t>     + </a:t>
            </a:r>
            <a:r>
              <a:rPr lang="en-US" sz="1600" dirty="0" err="1">
                <a:solidFill>
                  <a:schemeClr val="dk1"/>
                </a:solidFill>
                <a:latin typeface="+mn-lt"/>
                <a:ea typeface="Maven Pro"/>
                <a:cs typeface="Maven Pro"/>
                <a:sym typeface="Maven Pro"/>
              </a:rPr>
              <a:t>Chayj</a:t>
            </a:r>
            <a:r>
              <a:rPr lang="en-US" sz="1600" dirty="0">
                <a:solidFill>
                  <a:schemeClr val="dk1"/>
                </a:solidFill>
                <a:latin typeface="+mn-lt"/>
                <a:ea typeface="Maven Pro"/>
                <a:cs typeface="Maven Pro"/>
                <a:sym typeface="Maven Pro"/>
              </a:rPr>
              <a:t> code </a:t>
            </a:r>
            <a:r>
              <a:rPr lang="en-US" sz="1600" dirty="0" err="1">
                <a:solidFill>
                  <a:schemeClr val="dk1"/>
                </a:solidFill>
                <a:latin typeface="+mn-lt"/>
                <a:ea typeface="Maven Pro"/>
                <a:cs typeface="Maven Pro"/>
                <a:sym typeface="Maven Pro"/>
              </a:rPr>
              <a:t>vào</a:t>
            </a:r>
            <a:r>
              <a:rPr lang="en-US" sz="1600" dirty="0">
                <a:solidFill>
                  <a:schemeClr val="dk1"/>
                </a:solidFill>
                <a:latin typeface="+mn-lt"/>
                <a:ea typeface="Maven Pro"/>
                <a:cs typeface="Maven Pro"/>
                <a:sym typeface="Maven Pro"/>
              </a:rPr>
              <a:t> </a:t>
            </a:r>
            <a:r>
              <a:rPr lang="en-US" sz="1600" dirty="0" err="1">
                <a:solidFill>
                  <a:schemeClr val="dk1"/>
                </a:solidFill>
                <a:latin typeface="+mn-lt"/>
                <a:ea typeface="Maven Pro"/>
                <a:cs typeface="Maven Pro"/>
                <a:sym typeface="Maven Pro"/>
              </a:rPr>
              <a:t>lệnh</a:t>
            </a:r>
            <a:r>
              <a:rPr lang="en-US" sz="1600" dirty="0">
                <a:solidFill>
                  <a:schemeClr val="dk1"/>
                </a:solidFill>
                <a:latin typeface="+mn-lt"/>
                <a:ea typeface="Maven Pro"/>
                <a:cs typeface="Maven Pro"/>
                <a:sym typeface="Maven Pro"/>
              </a:rPr>
              <a:t> SSI</a:t>
            </a:r>
            <a:endParaRPr lang="en-US" sz="1600"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
        <p:nvSpPr>
          <p:cNvPr id="4" name="Google Shape;100;p3"/>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III. </a:t>
            </a:r>
            <a:r>
              <a:rPr lang="en-US" sz="2400" b="1" dirty="0" err="1">
                <a:solidFill>
                  <a:schemeClr val="bg1"/>
                </a:solidFill>
              </a:rPr>
              <a:t>Vào</a:t>
            </a:r>
            <a:r>
              <a:rPr lang="en-US" sz="2400" b="1" dirty="0">
                <a:solidFill>
                  <a:schemeClr val="bg1"/>
                </a:solidFill>
              </a:rPr>
              <a:t> </a:t>
            </a:r>
            <a:r>
              <a:rPr lang="en-US" sz="2400" b="1" dirty="0" err="1">
                <a:solidFill>
                  <a:schemeClr val="bg1"/>
                </a:solidFill>
              </a:rPr>
              <a:t>lệnh</a:t>
            </a:r>
            <a:r>
              <a:rPr lang="en-US" sz="2400" b="1" dirty="0">
                <a:solidFill>
                  <a:schemeClr val="bg1"/>
                </a:solidFill>
              </a:rPr>
              <a:t> </a:t>
            </a:r>
            <a:r>
              <a:rPr lang="en-US" sz="2400" b="1" dirty="0" err="1">
                <a:solidFill>
                  <a:schemeClr val="bg1"/>
                </a:solidFill>
              </a:rPr>
              <a:t>bằng</a:t>
            </a:r>
            <a:r>
              <a:rPr lang="en-US" sz="2400" b="1" dirty="0">
                <a:solidFill>
                  <a:schemeClr val="bg1"/>
                </a:solidFill>
              </a:rPr>
              <a:t> API</a:t>
            </a:r>
            <a:endParaRPr sz="2400" b="1" i="0" u="none" strike="noStrike" cap="none" dirty="0">
              <a:solidFill>
                <a:schemeClr val="lt1"/>
              </a:solidFill>
              <a:sym typeface="Arial" panose="020B06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err="1">
                <a:solidFill>
                  <a:schemeClr val="dk1"/>
                </a:solidFill>
                <a:latin typeface="+mn-lt"/>
                <a:ea typeface="Maven Pro"/>
                <a:cs typeface="Maven Pro"/>
                <a:sym typeface="Maven Pro"/>
              </a:rPr>
              <a:t>Dự</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án</a:t>
            </a:r>
            <a:r>
              <a:rPr lang="en-US" sz="1600" b="1">
                <a:solidFill>
                  <a:schemeClr val="dk1"/>
                </a:solidFill>
                <a:latin typeface="+mn-lt"/>
                <a:ea typeface="Maven Pro"/>
                <a:cs typeface="Maven Pro"/>
                <a:sym typeface="Maven Pro"/>
              </a:rPr>
              <a:t> 1</a:t>
            </a:r>
            <a:endParaRPr lang="en-US" sz="1600"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
        <p:nvSpPr>
          <p:cNvPr id="4" name="Google Shape;100;p3"/>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a:buSzPts val="2000"/>
            </a:pPr>
            <a:r>
              <a:rPr lang="en-US" sz="2400" b="1" dirty="0">
                <a:solidFill>
                  <a:schemeClr val="bg1"/>
                </a:solidFill>
              </a:rPr>
              <a:t>IV. </a:t>
            </a:r>
            <a:r>
              <a:rPr lang="en-US" sz="2400" b="1" dirty="0" err="1">
                <a:solidFill>
                  <a:schemeClr val="bg1"/>
                </a:solidFill>
              </a:rPr>
              <a:t>Hướng</a:t>
            </a:r>
            <a:r>
              <a:rPr lang="en-US" sz="2400" b="1" dirty="0">
                <a:solidFill>
                  <a:schemeClr val="bg1"/>
                </a:solidFill>
              </a:rPr>
              <a:t> </a:t>
            </a:r>
            <a:r>
              <a:rPr lang="en-US" sz="2400" b="1" dirty="0" err="1">
                <a:solidFill>
                  <a:schemeClr val="bg1"/>
                </a:solidFill>
              </a:rPr>
              <a:t>dẫn</a:t>
            </a:r>
            <a:r>
              <a:rPr lang="en-US" sz="2400" b="1" dirty="0">
                <a:solidFill>
                  <a:schemeClr val="bg1"/>
                </a:solidFill>
              </a:rPr>
              <a:t> </a:t>
            </a:r>
            <a:r>
              <a:rPr lang="en-US" sz="2400" b="1" dirty="0" err="1">
                <a:solidFill>
                  <a:schemeClr val="bg1"/>
                </a:solidFill>
              </a:rPr>
              <a:t>xây</a:t>
            </a:r>
            <a:r>
              <a:rPr lang="en-US" sz="2400" b="1" dirty="0">
                <a:solidFill>
                  <a:schemeClr val="bg1"/>
                </a:solidFill>
              </a:rPr>
              <a:t> </a:t>
            </a:r>
            <a:r>
              <a:rPr lang="en-US" sz="2400" b="1" dirty="0" err="1">
                <a:solidFill>
                  <a:schemeClr val="bg1"/>
                </a:solidFill>
              </a:rPr>
              <a:t>dựng</a:t>
            </a:r>
            <a:r>
              <a:rPr lang="en-US" sz="2400" b="1" dirty="0">
                <a:solidFill>
                  <a:schemeClr val="bg1"/>
                </a:solidFill>
              </a:rPr>
              <a:t> </a:t>
            </a:r>
            <a:r>
              <a:rPr lang="en-US" sz="2400" b="1" dirty="0" err="1">
                <a:solidFill>
                  <a:schemeClr val="bg1"/>
                </a:solidFill>
              </a:rPr>
              <a:t>các</a:t>
            </a:r>
            <a:r>
              <a:rPr lang="en-US" sz="2400" b="1" dirty="0">
                <a:solidFill>
                  <a:schemeClr val="bg1"/>
                </a:solidFill>
              </a:rPr>
              <a:t> </a:t>
            </a:r>
            <a:r>
              <a:rPr lang="en-US" sz="2400" b="1" dirty="0" err="1">
                <a:solidFill>
                  <a:schemeClr val="bg1"/>
                </a:solidFill>
              </a:rPr>
              <a:t>hàm</a:t>
            </a:r>
            <a:r>
              <a:rPr lang="en-US" sz="2400" b="1" dirty="0">
                <a:solidFill>
                  <a:schemeClr val="bg1"/>
                </a:solidFill>
              </a:rPr>
              <a:t> common</a:t>
            </a:r>
            <a:endParaRPr sz="2400" b="1" i="0" u="none" strike="noStrike" cap="none" dirty="0">
              <a:solidFill>
                <a:schemeClr val="lt1"/>
              </a:solidFill>
              <a:sym typeface="Arial" panose="020B06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35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11347</Words>
  <Application>WPS Presentation</Application>
  <PresentationFormat>On-screen Show (4:3)</PresentationFormat>
  <Paragraphs>309</Paragraphs>
  <Slides>31</Slides>
  <Notes>31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31</vt:i4>
      </vt:variant>
    </vt:vector>
  </HeadingPairs>
  <TitlesOfParts>
    <vt:vector size="43" baseType="lpstr">
      <vt:lpstr>Arial</vt:lpstr>
      <vt:lpstr>SimSun</vt:lpstr>
      <vt:lpstr>Wingdings</vt:lpstr>
      <vt:lpstr>Arial</vt:lpstr>
      <vt:lpstr>Calibri</vt:lpstr>
      <vt:lpstr>Arial (body)</vt:lpstr>
      <vt:lpstr>Open Sans</vt:lpstr>
      <vt:lpstr>Microsoft YaHei</vt:lpstr>
      <vt:lpstr>Arial Unicode MS</vt:lpstr>
      <vt:lpstr>Maven Pro</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Đặng Trí Thanh</cp:lastModifiedBy>
  <cp:revision>173</cp:revision>
  <dcterms:created xsi:type="dcterms:W3CDTF">2021-10-18T16:01:00Z</dcterms:created>
  <dcterms:modified xsi:type="dcterms:W3CDTF">2025-10-04T01:04:28Z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3A370351F9FB445CA9E2E5688D3DE254_12</vt:lpwstr>
  </property>
  <property fmtid="{D5CDD505-2E9C-101B-9397-08002B2CF9AE}" pid="3" name="KSOProductBuildVer">
    <vt:lpwstr>1033-12.2.0.22549</vt:lpwstr>
  </property>
</Properties>
</file>