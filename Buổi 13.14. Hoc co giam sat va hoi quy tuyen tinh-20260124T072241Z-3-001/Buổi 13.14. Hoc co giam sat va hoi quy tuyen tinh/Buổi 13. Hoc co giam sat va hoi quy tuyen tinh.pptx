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74" r:id="rId6"/>
    <p:sldId id="258" r:id="rId7"/>
    <p:sldId id="259" r:id="rId8"/>
    <p:sldId id="260" r:id="rId9"/>
    <p:sldId id="261" r:id="rId10"/>
    <p:sldId id="262" r:id="rId11"/>
    <p:sldId id="263" r:id="rId12"/>
    <p:sldId id="264" r:id="rId13"/>
    <p:sldId id="265" r:id="rId14"/>
    <p:sldId id="268" r:id="rId15"/>
    <p:sldId id="275" r:id="rId16"/>
    <p:sldId id="276" r:id="rId17"/>
    <p:sldId id="273" r:id="rId18"/>
    <p:sldId id="272" r:id="rId19"/>
  </p:sldIdLst>
  <p:sldSz cx="9144000" cy="6858000" type="screen4x3"/>
  <p:notesSz cx="6858000" cy="9144000"/>
  <p:embeddedFontLst>
    <p:embeddedFont>
      <p:font typeface="Calibri" panose="020F0502020204030204"/>
      <p:regular r:id="rId23"/>
      <p:bold r:id="rId24"/>
      <p:italic r:id="rId25"/>
      <p:boldItalic r:id="rId26"/>
    </p:embeddedFont>
    <p:embeddedFont>
      <p:font typeface="Maven Pro"/>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47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8"/>
        <p:cNvGrpSpPr/>
        <p:nvPr/>
      </p:nvGrpSpPr>
      <p:grpSpPr>
        <a:xfrm>
          <a:off x="0" y="0"/>
          <a:ext cx="0" cy="0"/>
          <a:chOff x="0" y="0"/>
          <a:chExt cx="0" cy="0"/>
        </a:xfrm>
      </p:grpSpPr>
      <p:sp>
        <p:nvSpPr>
          <p:cNvPr id="109" name="Google Shape;109;g24157ca3184_0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10" name="Google Shape;110;g24157ca3184_0_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5"/>
        <p:cNvGrpSpPr/>
        <p:nvPr/>
      </p:nvGrpSpPr>
      <p:grpSpPr>
        <a:xfrm>
          <a:off x="0" y="0"/>
          <a:ext cx="0" cy="0"/>
          <a:chOff x="0" y="0"/>
          <a:chExt cx="0" cy="0"/>
        </a:xfrm>
      </p:grpSpPr>
      <p:sp>
        <p:nvSpPr>
          <p:cNvPr id="116" name="Google Shape;116;g24157ca3184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17" name="Google Shape;117;g24157ca3184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1"/>
        <p:cNvGrpSpPr/>
        <p:nvPr/>
      </p:nvGrpSpPr>
      <p:grpSpPr>
        <a:xfrm>
          <a:off x="0" y="0"/>
          <a:ext cx="0" cy="0"/>
          <a:chOff x="0" y="0"/>
          <a:chExt cx="0" cy="0"/>
        </a:xfrm>
      </p:grpSpPr>
      <p:sp>
        <p:nvSpPr>
          <p:cNvPr id="122" name="Google Shape;122;g24157ca3184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23" name="Google Shape;123;g24157ca3184_0_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g24157ca3184_0_1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30" name="Google Shape;130;g24157ca3184_0_1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6"/>
        <p:cNvGrpSpPr/>
        <p:nvPr/>
      </p:nvGrpSpPr>
      <p:grpSpPr>
        <a:xfrm>
          <a:off x="0" y="0"/>
          <a:ext cx="0" cy="0"/>
          <a:chOff x="0" y="0"/>
          <a:chExt cx="0" cy="0"/>
        </a:xfrm>
      </p:grpSpPr>
      <p:sp>
        <p:nvSpPr>
          <p:cNvPr id="137" name="Google Shape;137;g24157ca3184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38" name="Google Shape;138;g24157ca3184_0_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2"/>
        <p:cNvGrpSpPr/>
        <p:nvPr/>
      </p:nvGrpSpPr>
      <p:grpSpPr>
        <a:xfrm>
          <a:off x="0" y="0"/>
          <a:ext cx="0" cy="0"/>
          <a:chOff x="0" y="0"/>
          <a:chExt cx="0" cy="0"/>
        </a:xfrm>
      </p:grpSpPr>
      <p:sp>
        <p:nvSpPr>
          <p:cNvPr id="143" name="Google Shape;143;g24157ca3184_0_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44" name="Google Shape;144;g24157ca3184_0_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4"/>
        <p:cNvGrpSpPr/>
        <p:nvPr/>
      </p:nvGrpSpPr>
      <p:grpSpPr>
        <a:xfrm>
          <a:off x="0" y="0"/>
          <a:ext cx="0" cy="0"/>
          <a:chOff x="0" y="0"/>
          <a:chExt cx="0" cy="0"/>
        </a:xfrm>
      </p:grpSpPr>
      <p:sp>
        <p:nvSpPr>
          <p:cNvPr id="175" name="Google Shape;175;g24157ca3184_0_1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76" name="Google Shape;176;g24157ca3184_0_1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4"/>
        <p:cNvGrpSpPr/>
        <p:nvPr/>
      </p:nvGrpSpPr>
      <p:grpSpPr>
        <a:xfrm>
          <a:off x="0" y="0"/>
          <a:ext cx="0" cy="0"/>
          <a:chOff x="0" y="0"/>
          <a:chExt cx="0" cy="0"/>
        </a:xfrm>
      </p:grpSpPr>
      <p:sp>
        <p:nvSpPr>
          <p:cNvPr id="175" name="Google Shape;175;g24157ca3184_0_1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76" name="Google Shape;176;g24157ca3184_0_1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4"/>
        <p:cNvGrpSpPr/>
        <p:nvPr/>
      </p:nvGrpSpPr>
      <p:grpSpPr>
        <a:xfrm>
          <a:off x="0" y="0"/>
          <a:ext cx="0" cy="0"/>
          <a:chOff x="0" y="0"/>
          <a:chExt cx="0" cy="0"/>
        </a:xfrm>
      </p:grpSpPr>
      <p:sp>
        <p:nvSpPr>
          <p:cNvPr id="175" name="Google Shape;175;g24157ca3184_0_1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76" name="Google Shape;176;g24157ca3184_0_1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4"/>
        <p:cNvGrpSpPr/>
        <p:nvPr/>
      </p:nvGrpSpPr>
      <p:grpSpPr>
        <a:xfrm>
          <a:off x="0" y="0"/>
          <a:ext cx="0" cy="0"/>
          <a:chOff x="0" y="0"/>
          <a:chExt cx="0" cy="0"/>
        </a:xfrm>
      </p:grpSpPr>
      <p:sp>
        <p:nvSpPr>
          <p:cNvPr id="195" name="Google Shape;195;g24157ca3184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96" name="Google Shape;196;g24157ca3184_0_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3"/>
        <p:cNvGrpSpPr/>
        <p:nvPr/>
      </p:nvGrpSpPr>
      <p:grpSpPr>
        <a:xfrm>
          <a:off x="0" y="0"/>
          <a:ext cx="0" cy="0"/>
          <a:chOff x="0" y="0"/>
          <a:chExt cx="0" cy="0"/>
        </a:xfrm>
      </p:grpSpPr>
      <p:sp>
        <p:nvSpPr>
          <p:cNvPr id="204" name="Google Shape;20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05" name="Google Shape;205;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Lập trình Auto Trading</a:t>
            </a:r>
            <a:endPar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95406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800"/>
              <a:buFont typeface="Arial" panose="020B0604020202020204"/>
              <a:buNone/>
            </a:pP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Chủ đề: </a:t>
            </a:r>
            <a:r>
              <a:rPr lang="en-US" sz="2800" b="1" i="1" u="none" strike="noStrike" cap="none" dirty="0" err="1">
                <a:solidFill>
                  <a:srgbClr val="FF0000"/>
                </a:solidFill>
                <a:latin typeface="Arial" panose="020B0604020202020204"/>
                <a:ea typeface="Arial" panose="020B0604020202020204"/>
                <a:cs typeface="Arial" panose="020B0604020202020204"/>
                <a:sym typeface="Arial" panose="020B0604020202020204"/>
              </a:rPr>
              <a:t>Học</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en-US" sz="2800" b="1" i="1" u="none" strike="noStrike" cap="none" dirty="0" err="1">
                <a:solidFill>
                  <a:srgbClr val="FF0000"/>
                </a:solidFill>
                <a:latin typeface="Arial" panose="020B0604020202020204"/>
                <a:ea typeface="Arial" panose="020B0604020202020204"/>
                <a:cs typeface="Arial" panose="020B0604020202020204"/>
                <a:sym typeface="Arial" panose="020B0604020202020204"/>
              </a:rPr>
              <a:t>có</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en-US" sz="2800" b="1" i="1" u="none" strike="noStrike" cap="none" dirty="0" err="1">
                <a:solidFill>
                  <a:srgbClr val="FF0000"/>
                </a:solidFill>
                <a:latin typeface="Arial" panose="020B0604020202020204"/>
                <a:ea typeface="Arial" panose="020B0604020202020204"/>
                <a:cs typeface="Arial" panose="020B0604020202020204"/>
                <a:sym typeface="Arial" panose="020B0604020202020204"/>
              </a:rPr>
              <a:t>giám</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en-US" sz="2800" b="1" i="1" u="none" strike="noStrike" cap="none" dirty="0" err="1">
                <a:solidFill>
                  <a:srgbClr val="FF0000"/>
                </a:solidFill>
                <a:latin typeface="Arial" panose="020B0604020202020204"/>
                <a:ea typeface="Arial" panose="020B0604020202020204"/>
                <a:cs typeface="Arial" panose="020B0604020202020204"/>
                <a:sym typeface="Arial" panose="020B0604020202020204"/>
              </a:rPr>
              <a:t>sát</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en-US" sz="2800" b="1" i="1" u="none" strike="noStrike" cap="none" dirty="0" err="1">
                <a:solidFill>
                  <a:srgbClr val="FF0000"/>
                </a:solidFill>
                <a:latin typeface="Arial" panose="020B0604020202020204"/>
                <a:ea typeface="Arial" panose="020B0604020202020204"/>
                <a:cs typeface="Arial" panose="020B0604020202020204"/>
                <a:sym typeface="Arial" panose="020B0604020202020204"/>
              </a:rPr>
              <a:t>và</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en-US" sz="2800" b="1" i="1" u="none" strike="noStrike" cap="none" dirty="0" err="1">
                <a:solidFill>
                  <a:srgbClr val="FF0000"/>
                </a:solidFill>
                <a:latin typeface="Arial" panose="020B0604020202020204"/>
                <a:ea typeface="Arial" panose="020B0604020202020204"/>
                <a:cs typeface="Arial" panose="020B0604020202020204"/>
                <a:sym typeface="Arial" panose="020B0604020202020204"/>
              </a:rPr>
              <a:t>hồi</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en-US" sz="2800" b="1" i="1" u="none" strike="noStrike" cap="none" dirty="0" err="1">
                <a:solidFill>
                  <a:srgbClr val="FF0000"/>
                </a:solidFill>
                <a:latin typeface="Arial" panose="020B0604020202020204"/>
                <a:ea typeface="Arial" panose="020B0604020202020204"/>
                <a:cs typeface="Arial" panose="020B0604020202020204"/>
                <a:sym typeface="Arial" panose="020B0604020202020204"/>
              </a:rPr>
              <a:t>quy</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en-US" sz="2800" b="1" i="1" u="none" strike="noStrike" cap="none" dirty="0" err="1">
                <a:solidFill>
                  <a:srgbClr val="FF0000"/>
                </a:solidFill>
                <a:latin typeface="Arial" panose="020B0604020202020204"/>
                <a:ea typeface="Arial" panose="020B0604020202020204"/>
                <a:cs typeface="Arial" panose="020B0604020202020204"/>
                <a:sym typeface="Arial" panose="020B0604020202020204"/>
              </a:rPr>
              <a:t>tuyến</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en-US" sz="2800" b="1" i="1" u="none" strike="noStrike" cap="none" dirty="0" err="1">
                <a:solidFill>
                  <a:srgbClr val="FF0000"/>
                </a:solidFill>
                <a:latin typeface="Arial" panose="020B0604020202020204"/>
                <a:ea typeface="Arial" panose="020B0604020202020204"/>
                <a:cs typeface="Arial" panose="020B0604020202020204"/>
                <a:sym typeface="Arial" panose="020B0604020202020204"/>
              </a:rPr>
              <a:t>tính</a:t>
            </a:r>
            <a:endParaRPr sz="2800" b="1" i="1" u="none" strike="noStrike" cap="none" dirty="0">
              <a:solidFill>
                <a:srgbClr val="FF0000"/>
              </a:solidFill>
              <a:latin typeface="Arial" panose="020B0604020202020204"/>
              <a:ea typeface="Arial" panose="020B0604020202020204"/>
              <a:cs typeface="Arial" panose="020B0604020202020204"/>
              <a:sym typeface="Arial" panose="020B0604020202020204"/>
            </a:endParaRPr>
          </a:p>
        </p:txBody>
      </p:sp>
      <p:sp>
        <p:nvSpPr>
          <p:cNvPr id="95" name="Google Shape;95;p2"/>
          <p:cNvSpPr txBox="1"/>
          <p:nvPr/>
        </p:nvSpPr>
        <p:spPr>
          <a:xfrm>
            <a:off x="5482525" y="4841000"/>
            <a:ext cx="3490200" cy="7359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dirty="0">
                <a:solidFill>
                  <a:schemeClr val="dk1"/>
                </a:solidFill>
                <a:latin typeface="Arial" panose="020B0604020202020204"/>
                <a:ea typeface="Arial" panose="020B0604020202020204"/>
                <a:cs typeface="Arial" panose="020B0604020202020204"/>
                <a:sym typeface="Arial" panose="020B0604020202020204"/>
              </a:rPr>
              <a:t>GV.</a:t>
            </a:r>
            <a:r>
              <a:rPr lang="vi-VN" sz="2800" i="1" dirty="0">
                <a:solidFill>
                  <a:schemeClr val="dk1"/>
                </a:solidFill>
              </a:rPr>
              <a:t>Đặng Trí Thanh</a:t>
            </a:r>
            <a:endParaRPr lang="en-US" sz="2800" i="1" dirty="0">
              <a:solidFill>
                <a:schemeClr val="dk1"/>
              </a:solidFill>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Đặt</a:t>
            </a:r>
            <a:r>
              <a:rPr kumimoji="0" lang="en-US"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câu</a:t>
            </a:r>
            <a:r>
              <a:rPr kumimoji="0" lang="en-US"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hỏi</a:t>
            </a:r>
            <a:endParaRPr kumimoji="0"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Chúng</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ta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có</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như</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sau</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a:ln>
                  <a:noFill/>
                </a:ln>
                <a:solidFill>
                  <a:srgbClr val="FF0000"/>
                </a:solidFill>
                <a:effectLst/>
                <a:uLnTx/>
                <a:uFillTx/>
                <a:latin typeface="Arial" panose="020B0604020202020204"/>
                <a:ea typeface="Arial" panose="020B0604020202020204"/>
                <a:cs typeface="Arial" panose="020B0604020202020204"/>
                <a:sym typeface="Arial" panose="020B0604020202020204"/>
              </a:rPr>
              <a:t>ML, Momentum, RSI</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endPar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để</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làm</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sao</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thực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thi</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ML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này</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tự</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động</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18523" y="2484529"/>
            <a:ext cx="4237876" cy="2068997"/>
          </a:xfrm>
          <a:prstGeom prst="rect">
            <a:avLst/>
          </a:prstGeom>
        </p:spPr>
      </p:pic>
      <p:pic>
        <p:nvPicPr>
          <p:cNvPr id="6" name="Picture 5"/>
          <p:cNvPicPr>
            <a:picLocks noChangeAspect="1"/>
          </p:cNvPicPr>
          <p:nvPr/>
        </p:nvPicPr>
        <p:blipFill>
          <a:blip r:embed="rId3"/>
          <a:stretch>
            <a:fillRect/>
          </a:stretch>
        </p:blipFill>
        <p:spPr>
          <a:xfrm>
            <a:off x="4985392" y="4159825"/>
            <a:ext cx="4078615" cy="20139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Nội dung chính</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378690" y="505388"/>
            <a:ext cx="8405091" cy="34674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000"/>
              <a:buFont typeface="Arial" panose="020B0604020202020204"/>
              <a:buNone/>
            </a:pPr>
            <a:endParaRPr sz="2400" i="0" u="none" strike="noStrike" cap="none" dirty="0">
              <a:solidFill>
                <a:schemeClr val="dk1"/>
              </a:solidFill>
              <a:latin typeface="+mn-lt"/>
              <a:ea typeface="Maven Pro"/>
              <a:cs typeface="Maven Pro"/>
              <a:sym typeface="Maven Pro"/>
            </a:endParaRPr>
          </a:p>
          <a:p>
            <a:pPr marL="101600" marR="0" lvl="0" algn="just" rtl="0">
              <a:lnSpc>
                <a:spcPct val="100000"/>
              </a:lnSpc>
              <a:spcBef>
                <a:spcPts val="0"/>
              </a:spcBef>
              <a:spcAft>
                <a:spcPts val="0"/>
              </a:spcAft>
              <a:buClr>
                <a:schemeClr val="dk1"/>
              </a:buClr>
              <a:buSzPts val="2000"/>
            </a:pPr>
            <a:r>
              <a:rPr lang="en-US" sz="2400" i="0" u="none" strike="noStrike" cap="none" dirty="0">
                <a:solidFill>
                  <a:schemeClr val="dk1"/>
                </a:solidFill>
                <a:latin typeface="+mn-lt"/>
                <a:ea typeface="Maven Pro"/>
                <a:cs typeface="Maven Pro"/>
                <a:sym typeface="Maven Pro"/>
              </a:rPr>
              <a:t>1. </a:t>
            </a:r>
            <a:r>
              <a:rPr lang="vi-VN" sz="2400" i="0" u="none" strike="noStrike" cap="none" dirty="0">
                <a:solidFill>
                  <a:schemeClr val="dk1"/>
                </a:solidFill>
                <a:latin typeface="+mn-lt"/>
                <a:ea typeface="Maven Pro"/>
                <a:cs typeface="Maven Pro"/>
                <a:sym typeface="Maven Pro"/>
              </a:rPr>
              <a:t>Machine learning </a:t>
            </a:r>
            <a:endParaRPr sz="2400" i="0" u="none" strike="noStrike" cap="none" dirty="0">
              <a:solidFill>
                <a:schemeClr val="dk1"/>
              </a:solidFill>
              <a:latin typeface="+mn-lt"/>
              <a:ea typeface="Maven Pro"/>
              <a:cs typeface="Maven Pro"/>
              <a:sym typeface="Maven Pro"/>
            </a:endParaRPr>
          </a:p>
          <a:p>
            <a:pPr marL="101600" marR="0" lvl="0" algn="just" rtl="0">
              <a:lnSpc>
                <a:spcPct val="100000"/>
              </a:lnSpc>
              <a:spcBef>
                <a:spcPts val="0"/>
              </a:spcBef>
              <a:spcAft>
                <a:spcPts val="0"/>
              </a:spcAft>
              <a:buClr>
                <a:schemeClr val="dk1"/>
              </a:buClr>
              <a:buSzPts val="2000"/>
            </a:pPr>
            <a:r>
              <a:rPr lang="en-US" sz="2400" i="0" u="none" strike="noStrike" cap="none" dirty="0">
                <a:solidFill>
                  <a:schemeClr val="dk1"/>
                </a:solidFill>
                <a:latin typeface="+mn-lt"/>
                <a:ea typeface="Maven Pro"/>
                <a:cs typeface="Maven Pro"/>
                <a:sym typeface="Maven Pro"/>
              </a:rPr>
              <a:t>2. </a:t>
            </a:r>
            <a:r>
              <a:rPr lang="vi-VN" sz="2400" i="0" u="none" strike="noStrike" cap="none" dirty="0">
                <a:solidFill>
                  <a:schemeClr val="dk1"/>
                </a:solidFill>
                <a:latin typeface="+mn-lt"/>
                <a:ea typeface="Maven Pro"/>
                <a:cs typeface="Maven Pro"/>
                <a:sym typeface="Maven Pro"/>
              </a:rPr>
              <a:t>Linear regression</a:t>
            </a:r>
            <a:endParaRPr sz="2400" i="0" u="none" strike="noStrike" cap="none" dirty="0">
              <a:solidFill>
                <a:schemeClr val="dk1"/>
              </a:solidFill>
              <a:latin typeface="+mn-lt"/>
              <a:ea typeface="Maven Pro"/>
              <a:cs typeface="Maven Pro"/>
              <a:sym typeface="Maven Pro"/>
            </a:endParaRPr>
          </a:p>
          <a:p>
            <a:pPr marL="101600" marR="0" lvl="0" algn="just" rtl="0">
              <a:lnSpc>
                <a:spcPct val="100000"/>
              </a:lnSpc>
              <a:spcBef>
                <a:spcPts val="0"/>
              </a:spcBef>
              <a:spcAft>
                <a:spcPts val="0"/>
              </a:spcAft>
              <a:buClr>
                <a:schemeClr val="dk1"/>
              </a:buClr>
              <a:buSzPts val="2000"/>
            </a:pPr>
            <a:r>
              <a:rPr lang="en-US" sz="2400" dirty="0">
                <a:solidFill>
                  <a:schemeClr val="dk1"/>
                </a:solidFill>
                <a:latin typeface="+mn-lt"/>
                <a:ea typeface="Maven Pro"/>
                <a:cs typeface="Maven Pro"/>
                <a:sym typeface="Maven Pro"/>
              </a:rPr>
              <a:t>3. </a:t>
            </a:r>
            <a:r>
              <a:rPr lang="en-US" sz="2400" dirty="0" err="1">
                <a:solidFill>
                  <a:schemeClr val="dk1"/>
                </a:solidFill>
                <a:latin typeface="+mn-lt"/>
                <a:ea typeface="Maven Pro"/>
                <a:cs typeface="Maven Pro"/>
                <a:sym typeface="Maven Pro"/>
              </a:rPr>
              <a:t>Chiến</a:t>
            </a:r>
            <a:r>
              <a:rPr lang="en-US" sz="2400" dirty="0">
                <a:solidFill>
                  <a:schemeClr val="dk1"/>
                </a:solidFill>
                <a:latin typeface="+mn-lt"/>
                <a:ea typeface="Maven Pro"/>
                <a:cs typeface="Maven Pro"/>
                <a:sym typeface="Maven Pro"/>
              </a:rPr>
              <a:t> </a:t>
            </a:r>
            <a:r>
              <a:rPr lang="en-US" sz="2400" dirty="0" err="1">
                <a:solidFill>
                  <a:schemeClr val="dk1"/>
                </a:solidFill>
                <a:latin typeface="+mn-lt"/>
                <a:ea typeface="Maven Pro"/>
                <a:cs typeface="Maven Pro"/>
                <a:sym typeface="Maven Pro"/>
              </a:rPr>
              <a:t>lược</a:t>
            </a:r>
            <a:r>
              <a:rPr lang="en-US" sz="2400" dirty="0">
                <a:solidFill>
                  <a:schemeClr val="dk1"/>
                </a:solidFill>
                <a:latin typeface="+mn-lt"/>
                <a:ea typeface="Maven Pro"/>
                <a:cs typeface="Maven Pro"/>
                <a:sym typeface="Maven Pro"/>
              </a:rPr>
              <a:t> ML, Momentum, RSI</a:t>
            </a:r>
            <a:endParaRPr lang="en-US" sz="2400" dirty="0">
              <a:solidFill>
                <a:schemeClr val="dk1"/>
              </a:solidFill>
              <a:latin typeface="+mn-lt"/>
              <a:ea typeface="Maven Pro"/>
              <a:cs typeface="Maven Pro"/>
              <a:sym typeface="Maven Pro"/>
            </a:endParaRPr>
          </a:p>
          <a:p>
            <a:pPr marL="101600" lvl="0" algn="just">
              <a:buClr>
                <a:schemeClr val="dk1"/>
              </a:buClr>
              <a:buSzPts val="2000"/>
            </a:pPr>
            <a:r>
              <a:rPr lang="en-US" sz="2400" i="0" u="none" strike="noStrike" cap="none" dirty="0">
                <a:solidFill>
                  <a:schemeClr val="dk1"/>
                </a:solidFill>
                <a:latin typeface="+mn-lt"/>
                <a:ea typeface="Maven Pro"/>
                <a:cs typeface="Maven Pro"/>
                <a:sym typeface="Maven Pro"/>
              </a:rPr>
              <a:t>4. </a:t>
            </a:r>
            <a:r>
              <a:rPr lang="en-US" sz="2400" dirty="0" err="1">
                <a:solidFill>
                  <a:schemeClr val="dk1"/>
                </a:solidFill>
                <a:ea typeface="Maven Pro"/>
                <a:cs typeface="Maven Pro"/>
                <a:sym typeface="Maven Pro"/>
              </a:rPr>
              <a:t>Lấy</a:t>
            </a:r>
            <a:r>
              <a:rPr lang="en-US" sz="2400" dirty="0">
                <a:solidFill>
                  <a:schemeClr val="dk1"/>
                </a:solidFill>
                <a:ea typeface="Maven Pro"/>
                <a:cs typeface="Maven Pro"/>
                <a:sym typeface="Maven Pro"/>
              </a:rPr>
              <a:t> </a:t>
            </a:r>
            <a:r>
              <a:rPr lang="en-US" sz="2400" dirty="0" err="1">
                <a:solidFill>
                  <a:schemeClr val="dk1"/>
                </a:solidFill>
                <a:ea typeface="Maven Pro"/>
                <a:cs typeface="Maven Pro"/>
                <a:sym typeface="Maven Pro"/>
              </a:rPr>
              <a:t>dữ</a:t>
            </a:r>
            <a:r>
              <a:rPr lang="en-US" sz="2400" dirty="0">
                <a:solidFill>
                  <a:schemeClr val="dk1"/>
                </a:solidFill>
                <a:ea typeface="Maven Pro"/>
                <a:cs typeface="Maven Pro"/>
                <a:sym typeface="Maven Pro"/>
              </a:rPr>
              <a:t> </a:t>
            </a:r>
            <a:r>
              <a:rPr lang="en-US" sz="2400" dirty="0" err="1">
                <a:solidFill>
                  <a:schemeClr val="dk1"/>
                </a:solidFill>
                <a:ea typeface="Maven Pro"/>
                <a:cs typeface="Maven Pro"/>
                <a:sym typeface="Maven Pro"/>
              </a:rPr>
              <a:t>liệu</a:t>
            </a:r>
            <a:r>
              <a:rPr lang="en-US" sz="2400" dirty="0">
                <a:solidFill>
                  <a:schemeClr val="dk1"/>
                </a:solidFill>
                <a:ea typeface="Maven Pro"/>
                <a:cs typeface="Maven Pro"/>
                <a:sym typeface="Maven Pro"/>
              </a:rPr>
              <a:t> (</a:t>
            </a:r>
            <a:r>
              <a:rPr lang="en-US" sz="2400" b="1" dirty="0">
                <a:solidFill>
                  <a:schemeClr val="dk1"/>
                </a:solidFill>
                <a:ea typeface="Maven Pro"/>
                <a:cs typeface="Maven Pro"/>
                <a:sym typeface="Maven Pro"/>
              </a:rPr>
              <a:t>MT5, CK, Crypto</a:t>
            </a:r>
            <a:r>
              <a:rPr lang="en-US" sz="2400" dirty="0">
                <a:solidFill>
                  <a:schemeClr val="dk1"/>
                </a:solidFill>
                <a:ea typeface="Maven Pro"/>
                <a:cs typeface="Maven Pro"/>
                <a:sym typeface="Maven Pro"/>
              </a:rPr>
              <a:t>) </a:t>
            </a:r>
            <a:r>
              <a:rPr lang="en-US" sz="2400" dirty="0" err="1">
                <a:solidFill>
                  <a:schemeClr val="dk1"/>
                </a:solidFill>
                <a:ea typeface="Maven Pro"/>
                <a:cs typeface="Maven Pro"/>
                <a:sym typeface="Maven Pro"/>
              </a:rPr>
              <a:t>với</a:t>
            </a:r>
            <a:r>
              <a:rPr lang="en-US" sz="2400" dirty="0">
                <a:solidFill>
                  <a:schemeClr val="dk1"/>
                </a:solidFill>
                <a:ea typeface="Maven Pro"/>
                <a:cs typeface="Maven Pro"/>
                <a:sym typeface="Maven Pro"/>
              </a:rPr>
              <a:t> </a:t>
            </a:r>
            <a:r>
              <a:rPr lang="en-US" sz="2400" dirty="0" err="1">
                <a:solidFill>
                  <a:schemeClr val="dk1"/>
                </a:solidFill>
                <a:ea typeface="Maven Pro"/>
                <a:cs typeface="Maven Pro"/>
                <a:sym typeface="Maven Pro"/>
              </a:rPr>
              <a:t>TimeFrame</a:t>
            </a:r>
            <a:r>
              <a:rPr lang="en-US" sz="2400" dirty="0">
                <a:solidFill>
                  <a:schemeClr val="dk1"/>
                </a:solidFill>
                <a:ea typeface="Maven Pro"/>
                <a:cs typeface="Maven Pro"/>
                <a:sym typeface="Maven Pro"/>
              </a:rPr>
              <a:t> </a:t>
            </a:r>
            <a:r>
              <a:rPr lang="en-US" sz="2400" dirty="0" err="1">
                <a:solidFill>
                  <a:schemeClr val="dk1"/>
                </a:solidFill>
                <a:ea typeface="Maven Pro"/>
                <a:cs typeface="Maven Pro"/>
                <a:sym typeface="Maven Pro"/>
              </a:rPr>
              <a:t>tùy</a:t>
            </a:r>
            <a:r>
              <a:rPr lang="en-US" sz="2400" dirty="0">
                <a:solidFill>
                  <a:schemeClr val="dk1"/>
                </a:solidFill>
                <a:ea typeface="Maven Pro"/>
                <a:cs typeface="Maven Pro"/>
                <a:sym typeface="Maven Pro"/>
              </a:rPr>
              <a:t> </a:t>
            </a:r>
            <a:r>
              <a:rPr lang="en-US" sz="2400" dirty="0" err="1">
                <a:solidFill>
                  <a:schemeClr val="dk1"/>
                </a:solidFill>
                <a:ea typeface="Maven Pro"/>
                <a:cs typeface="Maven Pro"/>
                <a:sym typeface="Maven Pro"/>
              </a:rPr>
              <a:t>chọn</a:t>
            </a:r>
            <a:endParaRPr lang="en-US" sz="2400" dirty="0">
              <a:solidFill>
                <a:schemeClr val="dk1"/>
              </a:solidFill>
              <a:ea typeface="Maven Pro"/>
              <a:cs typeface="Maven Pro"/>
              <a:sym typeface="Maven Pro"/>
            </a:endParaRPr>
          </a:p>
          <a:p>
            <a:pPr marL="101600" lvl="0" algn="just">
              <a:buClr>
                <a:schemeClr val="dk1"/>
              </a:buClr>
              <a:buSzPts val="2000"/>
            </a:pPr>
            <a:r>
              <a:rPr lang="en-US" sz="2400" dirty="0">
                <a:solidFill>
                  <a:schemeClr val="dk1"/>
                </a:solidFill>
                <a:ea typeface="Maven Pro"/>
                <a:cs typeface="Maven Pro"/>
                <a:sym typeface="Maven Pro"/>
              </a:rPr>
              <a:t>1m, 5m, 10m =&gt; 45m?</a:t>
            </a:r>
            <a:endParaRPr lang="en-US" sz="2400" dirty="0">
              <a:solidFill>
                <a:schemeClr val="dk1"/>
              </a:solidFill>
              <a:ea typeface="Maven Pro"/>
              <a:cs typeface="Maven Pro"/>
              <a:sym typeface="Maven Pro"/>
            </a:endParaRPr>
          </a:p>
          <a:p>
            <a:pPr marL="101600" marR="0" lvl="0" algn="just" rtl="0">
              <a:lnSpc>
                <a:spcPct val="100000"/>
              </a:lnSpc>
              <a:spcBef>
                <a:spcPts val="0"/>
              </a:spcBef>
              <a:spcAft>
                <a:spcPts val="0"/>
              </a:spcAft>
              <a:buClr>
                <a:schemeClr val="dk1"/>
              </a:buClr>
              <a:buSzPts val="2000"/>
            </a:pPr>
            <a:endParaRPr sz="2400" i="0" u="none" strike="noStrike" cap="none" dirty="0">
              <a:solidFill>
                <a:schemeClr val="dk1"/>
              </a:solidFill>
              <a:latin typeface="+mn-lt"/>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chemeClr val="dk1"/>
              </a:solidFill>
              <a:latin typeface="Maven Pro"/>
              <a:ea typeface="Maven Pro"/>
              <a:cs typeface="Maven Pro"/>
              <a:sym typeface="Maven Pro"/>
            </a:endParaRPr>
          </a:p>
          <a:p>
            <a:pPr marL="0" marR="0" lvl="0" indent="0" algn="l" rtl="0">
              <a:lnSpc>
                <a:spcPct val="115000"/>
              </a:lnSpc>
              <a:spcBef>
                <a:spcPts val="1600"/>
              </a:spcBef>
              <a:spcAft>
                <a:spcPts val="1600"/>
              </a:spcAft>
              <a:buClr>
                <a:srgbClr val="000000"/>
              </a:buClr>
              <a:buSzPts val="2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p4"/>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Artificial Intelligence</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2" name="Rectangle 1"/>
          <p:cNvSpPr/>
          <p:nvPr/>
        </p:nvSpPr>
        <p:spPr>
          <a:xfrm>
            <a:off x="304799" y="809114"/>
            <a:ext cx="6983562" cy="5046345"/>
          </a:xfrm>
          <a:prstGeom prst="rect">
            <a:avLst/>
          </a:prstGeom>
        </p:spPr>
        <p:txBody>
          <a:bodyPr wrap="square">
            <a:spAutoFit/>
          </a:bodyPr>
          <a:lstStyle/>
          <a:p>
            <a:pPr algn="just"/>
            <a:r>
              <a:rPr lang="vi-VN" b="1" dirty="0">
                <a:solidFill>
                  <a:schemeClr val="tx1"/>
                </a:solidFill>
              </a:rPr>
              <a:t>John McCarthy</a:t>
            </a:r>
            <a:r>
              <a:rPr lang="vi-VN" dirty="0">
                <a:solidFill>
                  <a:schemeClr val="tx1"/>
                </a:solidFill>
              </a:rPr>
              <a:t>: Là người đã đưa ra thuật ngữ "Artificial Intelligence" (Trí tuệ nhân tạo) vào khoảng năm </a:t>
            </a:r>
            <a:r>
              <a:rPr lang="vi-VN" b="1" dirty="0">
                <a:solidFill>
                  <a:schemeClr val="tx1"/>
                </a:solidFill>
              </a:rPr>
              <a:t>1955</a:t>
            </a:r>
            <a:r>
              <a:rPr lang="vi-VN" dirty="0">
                <a:solidFill>
                  <a:schemeClr val="tx1"/>
                </a:solidFill>
              </a:rPr>
              <a:t>. John McCarthy thường </a:t>
            </a:r>
            <a:r>
              <a:rPr lang="vi-VN" b="1" dirty="0">
                <a:solidFill>
                  <a:schemeClr val="tx1"/>
                </a:solidFill>
              </a:rPr>
              <a:t>được coi là một trong những người cha đẻ</a:t>
            </a:r>
            <a:r>
              <a:rPr lang="vi-VN" dirty="0">
                <a:solidFill>
                  <a:schemeClr val="tx1"/>
                </a:solidFill>
              </a:rPr>
              <a:t> của </a:t>
            </a:r>
            <a:r>
              <a:rPr lang="vi-VN" b="1" dirty="0">
                <a:solidFill>
                  <a:schemeClr val="tx1"/>
                </a:solidFill>
              </a:rPr>
              <a:t>AI</a:t>
            </a:r>
            <a:r>
              <a:rPr lang="vi-VN" dirty="0">
                <a:solidFill>
                  <a:schemeClr val="tx1"/>
                </a:solidFill>
              </a:rPr>
              <a:t>.</a:t>
            </a:r>
            <a:r>
              <a:rPr lang="en-US" dirty="0">
                <a:solidFill>
                  <a:schemeClr val="tx1"/>
                </a:solidFill>
              </a:rPr>
              <a:t> </a:t>
            </a:r>
            <a:r>
              <a:rPr lang="vi-VN" dirty="0">
                <a:solidFill>
                  <a:schemeClr val="tx1"/>
                </a:solidFill>
              </a:rPr>
              <a:t>và ông cũng là người sáng lập ra lĩnh vực AI. </a:t>
            </a:r>
            <a:r>
              <a:rPr lang="vi-VN" b="1" dirty="0">
                <a:solidFill>
                  <a:schemeClr val="tx1"/>
                </a:solidFill>
              </a:rPr>
              <a:t>McCarthy </a:t>
            </a:r>
            <a:r>
              <a:rPr lang="vi-VN" dirty="0">
                <a:solidFill>
                  <a:schemeClr val="tx1"/>
                </a:solidFill>
              </a:rPr>
              <a:t>đã tổ chức hội nghị </a:t>
            </a:r>
            <a:r>
              <a:rPr lang="vi-VN" b="1" dirty="0">
                <a:solidFill>
                  <a:schemeClr val="tx1"/>
                </a:solidFill>
              </a:rPr>
              <a:t>Dartmouth </a:t>
            </a:r>
            <a:r>
              <a:rPr lang="vi-VN" dirty="0">
                <a:solidFill>
                  <a:schemeClr val="tx1"/>
                </a:solidFill>
              </a:rPr>
              <a:t>vào năm 1956, nơi mà thuật ngữ "</a:t>
            </a:r>
            <a:r>
              <a:rPr lang="vi-VN" b="1" dirty="0">
                <a:solidFill>
                  <a:schemeClr val="tx1"/>
                </a:solidFill>
              </a:rPr>
              <a:t>Artificial Intelligence</a:t>
            </a:r>
            <a:r>
              <a:rPr lang="vi-VN" dirty="0">
                <a:solidFill>
                  <a:schemeClr val="tx1"/>
                </a:solidFill>
              </a:rPr>
              <a:t>" được </a:t>
            </a:r>
            <a:r>
              <a:rPr lang="vi-VN" b="1" dirty="0">
                <a:solidFill>
                  <a:schemeClr val="tx1"/>
                </a:solidFill>
              </a:rPr>
              <a:t>sử dụng lần đầu tiên để mô tả một lĩnh vực nghiên cứu mới</a:t>
            </a:r>
            <a:r>
              <a:rPr lang="vi-VN" dirty="0">
                <a:solidFill>
                  <a:schemeClr val="tx1"/>
                </a:solidFill>
              </a:rPr>
              <a:t>.</a:t>
            </a:r>
            <a:endParaRPr lang="vi-VN" dirty="0">
              <a:solidFill>
                <a:schemeClr val="tx1"/>
              </a:solidFill>
            </a:endParaRPr>
          </a:p>
          <a:p>
            <a:pPr algn="just"/>
            <a:r>
              <a:rPr lang="vi-VN" dirty="0">
                <a:solidFill>
                  <a:schemeClr val="tx1"/>
                </a:solidFill>
              </a:rPr>
              <a:t>Ông cũng là người phát minh ra ngôn ngữ lập trình </a:t>
            </a:r>
            <a:r>
              <a:rPr lang="vi-VN" b="1" dirty="0">
                <a:solidFill>
                  <a:schemeClr val="tx1"/>
                </a:solidFill>
              </a:rPr>
              <a:t>Lisp</a:t>
            </a:r>
            <a:r>
              <a:rPr lang="en-US" dirty="0">
                <a:solidFill>
                  <a:schemeClr val="tx1"/>
                </a:solidFill>
              </a:rPr>
              <a:t> (</a:t>
            </a:r>
            <a:r>
              <a:rPr lang="en-US" dirty="0" err="1">
                <a:solidFill>
                  <a:schemeClr val="tx1"/>
                </a:solidFill>
              </a:rPr>
              <a:t>ListProcessing</a:t>
            </a:r>
            <a:r>
              <a:rPr lang="en-US" dirty="0">
                <a:solidFill>
                  <a:schemeClr val="tx1"/>
                </a:solidFill>
              </a:rPr>
              <a:t>)</a:t>
            </a:r>
            <a:r>
              <a:rPr lang="vi-VN" dirty="0">
                <a:solidFill>
                  <a:schemeClr val="tx1"/>
                </a:solidFill>
              </a:rPr>
              <a:t>, </a:t>
            </a:r>
            <a:r>
              <a:rPr lang="vi-VN" b="1" dirty="0">
                <a:solidFill>
                  <a:schemeClr val="tx1"/>
                </a:solidFill>
              </a:rPr>
              <a:t>phổ biến trong nghiên cứu AI</a:t>
            </a:r>
            <a:r>
              <a:rPr lang="vi-VN" dirty="0">
                <a:solidFill>
                  <a:schemeClr val="tx1"/>
                </a:solidFill>
              </a:rPr>
              <a:t>.</a:t>
            </a:r>
            <a:endParaRPr lang="en-US" dirty="0">
              <a:solidFill>
                <a:schemeClr val="tx1"/>
              </a:solidFill>
            </a:endParaRPr>
          </a:p>
          <a:p>
            <a:pPr algn="just"/>
            <a:endParaRPr lang="vi-VN" dirty="0">
              <a:solidFill>
                <a:schemeClr val="tx1"/>
              </a:solidFill>
            </a:endParaRPr>
          </a:p>
          <a:p>
            <a:pPr algn="just"/>
            <a:r>
              <a:rPr lang="vi-VN" b="1" dirty="0">
                <a:solidFill>
                  <a:schemeClr val="tx1"/>
                </a:solidFill>
              </a:rPr>
              <a:t>Định nghĩa AI không rõ ràng và dễ gây hiểu nhầm</a:t>
            </a:r>
            <a:r>
              <a:rPr lang="vi-VN" dirty="0">
                <a:solidFill>
                  <a:schemeClr val="tx1"/>
                </a:solidFill>
              </a:rPr>
              <a:t>: </a:t>
            </a:r>
            <a:r>
              <a:rPr lang="vi-VN" b="1" dirty="0">
                <a:solidFill>
                  <a:schemeClr val="tx1"/>
                </a:solidFill>
              </a:rPr>
              <a:t>Định nghĩa của AI có thể khá rộng và </a:t>
            </a:r>
            <a:r>
              <a:rPr lang="vi-VN" b="1" u="sng" dirty="0">
                <a:solidFill>
                  <a:schemeClr val="tx1"/>
                </a:solidFill>
              </a:rPr>
              <a:t>không cụ thể</a:t>
            </a:r>
            <a:r>
              <a:rPr lang="vi-VN" dirty="0">
                <a:solidFill>
                  <a:schemeClr val="tx1"/>
                </a:solidFill>
              </a:rPr>
              <a:t>, dẫn đến những hiểu lầm. AI bao gồm nhiều lĩnh vực khác nhau và có thể được áp dụng trong nhiều ngữ cảnh khác nhau, </a:t>
            </a:r>
            <a:r>
              <a:rPr lang="vi-VN" b="1" dirty="0">
                <a:solidFill>
                  <a:schemeClr val="tx1"/>
                </a:solidFill>
              </a:rPr>
              <a:t>từ hệ thống đề xuất</a:t>
            </a:r>
            <a:r>
              <a:rPr lang="vi-VN" dirty="0">
                <a:solidFill>
                  <a:schemeClr val="tx1"/>
                </a:solidFill>
              </a:rPr>
              <a:t>, </a:t>
            </a:r>
            <a:r>
              <a:rPr lang="vi-VN" b="1" dirty="0">
                <a:solidFill>
                  <a:schemeClr val="tx1"/>
                </a:solidFill>
              </a:rPr>
              <a:t>nhận dạng giọng nói</a:t>
            </a:r>
            <a:r>
              <a:rPr lang="vi-VN" dirty="0">
                <a:solidFill>
                  <a:schemeClr val="tx1"/>
                </a:solidFill>
              </a:rPr>
              <a:t>, học máy, đến robot học.</a:t>
            </a:r>
            <a:endParaRPr lang="en-US" dirty="0">
              <a:solidFill>
                <a:schemeClr val="tx1"/>
              </a:solidFill>
            </a:endParaRPr>
          </a:p>
          <a:p>
            <a:pPr algn="just"/>
            <a:endParaRPr lang="vi-VN" dirty="0">
              <a:solidFill>
                <a:schemeClr val="tx1"/>
              </a:solidFill>
            </a:endParaRPr>
          </a:p>
          <a:p>
            <a:pPr algn="just"/>
            <a:r>
              <a:rPr lang="vi-VN" b="1" u="sng" dirty="0">
                <a:solidFill>
                  <a:schemeClr val="tx1"/>
                </a:solidFill>
              </a:rPr>
              <a:t>2 quan niệm về AI:</a:t>
            </a:r>
            <a:endParaRPr lang="en-US" b="1" u="sng" dirty="0">
              <a:solidFill>
                <a:schemeClr val="tx1"/>
              </a:solidFill>
              <a:latin typeface="Söhne"/>
            </a:endParaRPr>
          </a:p>
          <a:p>
            <a:pPr algn="just"/>
            <a:r>
              <a:rPr lang="vi-VN" dirty="0">
                <a:solidFill>
                  <a:schemeClr val="tx1"/>
                </a:solidFill>
                <a:latin typeface="Söhne"/>
              </a:rPr>
              <a:t>Strong AI, còn được gọi là </a:t>
            </a:r>
            <a:r>
              <a:rPr lang="vi-VN" b="1" dirty="0">
                <a:solidFill>
                  <a:schemeClr val="tx1"/>
                </a:solidFill>
                <a:latin typeface="Söhne"/>
              </a:rPr>
              <a:t>General AI</a:t>
            </a:r>
            <a:r>
              <a:rPr lang="vi-VN" dirty="0">
                <a:solidFill>
                  <a:schemeClr val="tx1"/>
                </a:solidFill>
                <a:latin typeface="Söhne"/>
              </a:rPr>
              <a:t>, </a:t>
            </a:r>
            <a:r>
              <a:rPr lang="vi-VN" b="1" u="sng" dirty="0">
                <a:solidFill>
                  <a:schemeClr val="tx1"/>
                </a:solidFill>
                <a:latin typeface="Söhne"/>
              </a:rPr>
              <a:t>là khái niệm về một hệ thống AI có khả năng hiểu, học hỏi, và áp dụng tri thức và kỹ năng trong các tình huống </a:t>
            </a:r>
            <a:r>
              <a:rPr lang="vi-VN" b="1" u="sng" dirty="0">
                <a:solidFill>
                  <a:schemeClr val="tx1"/>
                </a:solidFill>
                <a:latin typeface="Söhne"/>
              </a:rPr>
              <a:t>rộng rãi, giống như khả năng của con người.</a:t>
            </a:r>
            <a:endParaRPr lang="en-US" b="1" dirty="0">
              <a:solidFill>
                <a:schemeClr val="tx1"/>
              </a:solidFill>
              <a:latin typeface="Söhne"/>
            </a:endParaRPr>
          </a:p>
          <a:p>
            <a:pPr algn="just"/>
            <a:r>
              <a:rPr lang="vi-VN" b="1" dirty="0">
                <a:solidFill>
                  <a:schemeClr val="tx1"/>
                </a:solidFill>
              </a:rPr>
              <a:t>Weak AI</a:t>
            </a:r>
            <a:r>
              <a:rPr lang="vi-VN" dirty="0">
                <a:solidFill>
                  <a:schemeClr val="tx1"/>
                </a:solidFill>
              </a:rPr>
              <a:t>, còn được gọi là Narrow AI hoặc Specific AI, là loại AI được thiết kế và huấn luyện để thực hiện </a:t>
            </a:r>
            <a:r>
              <a:rPr lang="vi-VN" b="1" dirty="0">
                <a:solidFill>
                  <a:schemeClr val="tx1"/>
                </a:solidFill>
              </a:rPr>
              <a:t>một nhiệm vụ cụ thể</a:t>
            </a:r>
            <a:r>
              <a:rPr lang="vi-VN" dirty="0">
                <a:solidFill>
                  <a:schemeClr val="tx1"/>
                </a:solidFill>
              </a:rPr>
              <a:t>. Điều này bao gồm hầu hết các ứng dụng AI mà chúng ta thấy hiện nay, như hệ thống đề xuất trên </a:t>
            </a:r>
            <a:r>
              <a:rPr lang="vi-VN" b="1" dirty="0">
                <a:solidFill>
                  <a:schemeClr val="tx1"/>
                </a:solidFill>
              </a:rPr>
              <a:t>các nền tảng thương mại điện tử, trợ lý ảo như Siri hoặc Alexa, và xe </a:t>
            </a:r>
            <a:r>
              <a:rPr lang="vi-VN" b="1" dirty="0">
                <a:solidFill>
                  <a:srgbClr val="FF0000"/>
                </a:solidFill>
              </a:rPr>
              <a:t>tự lái</a:t>
            </a:r>
            <a:r>
              <a:rPr lang="vi-VN" dirty="0">
                <a:solidFill>
                  <a:schemeClr val="tx1"/>
                </a:solidFill>
              </a:rPr>
              <a:t>.</a:t>
            </a:r>
            <a:endParaRPr lang="en-US" dirty="0">
              <a:solidFill>
                <a:schemeClr val="tx1"/>
              </a:solidFill>
            </a:endParaRPr>
          </a:p>
          <a:p>
            <a:pPr algn="just"/>
            <a:br>
              <a:rPr lang="vi-VN" dirty="0"/>
            </a:br>
            <a:endParaRPr lang="en-US" dirty="0"/>
          </a:p>
        </p:txBody>
      </p:sp>
      <p:pic>
        <p:nvPicPr>
          <p:cNvPr id="1026" name="Picture 2" descr="https://news.stanford.edu/wp-content/uploads/2023/03/mccarthy_portrait_news.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8361" y="809114"/>
            <a:ext cx="1855639" cy="2565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1"/>
        <p:cNvGrpSpPr/>
        <p:nvPr/>
      </p:nvGrpSpPr>
      <p:grpSpPr>
        <a:xfrm>
          <a:off x="0" y="0"/>
          <a:ext cx="0" cy="0"/>
          <a:chOff x="0" y="0"/>
          <a:chExt cx="0" cy="0"/>
        </a:xfrm>
      </p:grpSpPr>
      <p:sp>
        <p:nvSpPr>
          <p:cNvPr id="112" name="Google Shape;112;g24157ca3184_0_49"/>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Artificial Intelligence</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026" name="Picture 2" descr="Máy tính chỉ cần 72 giờ để chơi cờ vua đạt trình độ kiện tướ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1111" y="1019290"/>
            <a:ext cx="3494516" cy="22306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esla giảm giá trên diện rộng tác động thế nào đến thị trường xe điện toàn  cầu? - Automotive - Thông tin, hình ảnh, đánh giá xe ôtô, xe máy, xe điện |  VnEconom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111" y="3465607"/>
            <a:ext cx="3494516" cy="261870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upload.wikimedia.org/wikipedia/vi/thumb/3/3b/Movie_poster_i_robot.jpg/220px-Movie_poster_i_robot.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101" y="1019291"/>
            <a:ext cx="2517145" cy="377571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04800" y="4795009"/>
            <a:ext cx="4163028" cy="1383665"/>
          </a:xfrm>
          <a:prstGeom prst="rect">
            <a:avLst/>
          </a:prstGeom>
        </p:spPr>
        <p:txBody>
          <a:bodyPr wrap="square">
            <a:spAutoFit/>
          </a:bodyPr>
          <a:lstStyle/>
          <a:p>
            <a:pPr algn="just"/>
            <a:r>
              <a:rPr lang="vi-VN" b="1" dirty="0"/>
              <a:t>Sonny</a:t>
            </a:r>
            <a:r>
              <a:rPr lang="vi-VN" dirty="0"/>
              <a:t> biểu hiện khả năng </a:t>
            </a:r>
            <a:r>
              <a:rPr lang="vi-VN" b="1" dirty="0"/>
              <a:t>tự nhận thức, cảm xúc, và độc lập trong tư duy</a:t>
            </a:r>
            <a:r>
              <a:rPr lang="vi-VN" dirty="0"/>
              <a:t>, </a:t>
            </a:r>
            <a:r>
              <a:rPr lang="vi-VN" dirty="0">
                <a:solidFill>
                  <a:srgbClr val="FF0000"/>
                </a:solidFill>
              </a:rPr>
              <a:t>điều này vượt qua các giới hạn của Weak AI</a:t>
            </a:r>
            <a:r>
              <a:rPr lang="vi-VN" dirty="0"/>
              <a:t>. Sonny có thể học hỏi, thích nghi, và thậm chí đặt câu hỏi về tồn tại của mình, điều mà các robot Weak AI khác trong phim không thể làm.</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8"/>
        <p:cNvGrpSpPr/>
        <p:nvPr/>
      </p:nvGrpSpPr>
      <p:grpSpPr>
        <a:xfrm>
          <a:off x="0" y="0"/>
          <a:ext cx="0" cy="0"/>
          <a:chOff x="0" y="0"/>
          <a:chExt cx="0" cy="0"/>
        </a:xfrm>
      </p:grpSpPr>
      <p:sp>
        <p:nvSpPr>
          <p:cNvPr id="119" name="Google Shape;119;g24157ca3184_0_42"/>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Artificial Intelligence</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pic>
        <p:nvPicPr>
          <p:cNvPr id="120" name="Google Shape;120;g24157ca3184_0_42"/>
          <p:cNvPicPr preferRelativeResize="0"/>
          <p:nvPr/>
        </p:nvPicPr>
        <p:blipFill rotWithShape="1">
          <a:blip r:embed="rId2"/>
          <a:srcRect b="12288"/>
          <a:stretch>
            <a:fillRect/>
          </a:stretch>
        </p:blipFill>
        <p:spPr>
          <a:xfrm>
            <a:off x="397163" y="822988"/>
            <a:ext cx="6382327" cy="5212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24"/>
        <p:cNvGrpSpPr/>
        <p:nvPr/>
      </p:nvGrpSpPr>
      <p:grpSpPr>
        <a:xfrm>
          <a:off x="0" y="0"/>
          <a:ext cx="0" cy="0"/>
          <a:chOff x="0" y="0"/>
          <a:chExt cx="0" cy="0"/>
        </a:xfrm>
      </p:grpSpPr>
      <p:sp>
        <p:nvSpPr>
          <p:cNvPr id="125" name="Google Shape;125;g24157ca3184_0_56"/>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lvl="0">
              <a:buSzPts val="2000"/>
            </a:pPr>
            <a:r>
              <a:rPr lang="vi-VN" sz="2400" b="1" dirty="0">
                <a:solidFill>
                  <a:schemeClr val="lt1"/>
                </a:solidFill>
              </a:rPr>
              <a:t>Artificial Intelligence</a:t>
            </a:r>
            <a:endParaRPr lang="vi-VN" sz="2400" b="1" dirty="0">
              <a:solidFill>
                <a:schemeClr val="lt1"/>
              </a:solidFill>
            </a:endParaRPr>
          </a:p>
        </p:txBody>
      </p:sp>
      <p:pic>
        <p:nvPicPr>
          <p:cNvPr id="126" name="Google Shape;126;g24157ca3184_0_56"/>
          <p:cNvPicPr preferRelativeResize="0"/>
          <p:nvPr/>
        </p:nvPicPr>
        <p:blipFill>
          <a:blip r:embed="rId2">
            <a:extLst>
              <a:ext uri="{28A0092B-C50C-407E-A947-70E740481C1C}">
                <a14:useLocalDpi xmlns:a14="http://schemas.microsoft.com/office/drawing/2010/main" val="0"/>
              </a:ext>
            </a:extLst>
          </a:blip>
          <a:stretch>
            <a:fillRect/>
          </a:stretch>
        </p:blipFill>
        <p:spPr>
          <a:xfrm>
            <a:off x="6086763" y="5158979"/>
            <a:ext cx="1725891" cy="1149452"/>
          </a:xfrm>
          <a:prstGeom prst="rect">
            <a:avLst/>
          </a:prstGeom>
          <a:noFill/>
          <a:ln>
            <a:noFill/>
          </a:ln>
        </p:spPr>
      </p:pic>
      <p:sp>
        <p:nvSpPr>
          <p:cNvPr id="127" name="Google Shape;127;g24157ca3184_0_56"/>
          <p:cNvSpPr txBox="1"/>
          <p:nvPr/>
        </p:nvSpPr>
        <p:spPr>
          <a:xfrm>
            <a:off x="396378" y="809271"/>
            <a:ext cx="8442822" cy="4239592"/>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2200"/>
              <a:buFont typeface="Arial" panose="020B0604020202020204"/>
              <a:buNone/>
            </a:pPr>
            <a:r>
              <a:rPr lang="vi-VN" sz="1550" b="1" i="0" u="none" strike="noStrike" cap="none" dirty="0">
                <a:solidFill>
                  <a:schemeClr val="tx1"/>
                </a:solidFill>
                <a:latin typeface="+mn-lt"/>
                <a:ea typeface="Calibri" panose="020F0502020204030204"/>
                <a:cs typeface="Calibri" panose="020F0502020204030204"/>
                <a:sym typeface="Calibri" panose="020F0502020204030204"/>
              </a:rPr>
              <a:t>AI = MATH + PROGRAMMING</a:t>
            </a:r>
            <a:endParaRPr sz="1550" b="1" i="0" u="none" strike="noStrike" cap="none" dirty="0">
              <a:solidFill>
                <a:schemeClr val="tx1"/>
              </a:solidFill>
              <a:latin typeface="+mn-lt"/>
              <a:ea typeface="Calibri" panose="020F0502020204030204"/>
              <a:cs typeface="Calibri" panose="020F0502020204030204"/>
              <a:sym typeface="Calibri" panose="020F0502020204030204"/>
            </a:endParaRPr>
          </a:p>
          <a:p>
            <a:pPr marL="463550" lvl="0" indent="-342900" algn="just">
              <a:buClrTx/>
              <a:buSzPts val="1700"/>
              <a:buAutoNum type="arabicPeriod"/>
            </a:pPr>
            <a:r>
              <a:rPr lang="vi-VN" sz="1550" dirty="0">
                <a:latin typeface="+mn-lt"/>
              </a:rPr>
              <a:t>AI được xây dựng dựa trên các hàm toán học và được hiện thực hóa thông qua lập trình</a:t>
            </a:r>
            <a:endParaRPr lang="en-US" sz="1550" dirty="0">
              <a:latin typeface="+mn-lt"/>
            </a:endParaRPr>
          </a:p>
          <a:p>
            <a:pPr marL="463550" lvl="0" indent="-342900" algn="just">
              <a:buClrTx/>
              <a:buSzPts val="1700"/>
              <a:buAutoNum type="arabicPeriod"/>
            </a:pPr>
            <a:r>
              <a:rPr lang="en-US" sz="1550" dirty="0" err="1">
                <a:latin typeface="+mn-lt"/>
              </a:rPr>
              <a:t>Bản</a:t>
            </a:r>
            <a:r>
              <a:rPr lang="en-US" sz="1550" dirty="0">
                <a:latin typeface="+mn-lt"/>
              </a:rPr>
              <a:t> </a:t>
            </a:r>
            <a:r>
              <a:rPr lang="en-US" sz="1550" dirty="0" err="1">
                <a:latin typeface="+mn-lt"/>
              </a:rPr>
              <a:t>chất</a:t>
            </a:r>
            <a:r>
              <a:rPr lang="en-US" sz="1550" dirty="0">
                <a:latin typeface="+mn-lt"/>
              </a:rPr>
              <a:t> AI: </a:t>
            </a:r>
            <a:r>
              <a:rPr lang="vi-VN" sz="1550" dirty="0">
                <a:latin typeface="+mn-lt"/>
              </a:rPr>
              <a:t>Là tìm một hàm </a:t>
            </a:r>
            <a:r>
              <a:rPr lang="vi-VN" sz="1550" i="1" dirty="0">
                <a:latin typeface="+mn-lt"/>
              </a:rPr>
              <a:t>F</a:t>
            </a:r>
            <a:r>
              <a:rPr lang="vi-VN" sz="1550" dirty="0">
                <a:latin typeface="+mn-lt"/>
              </a:rPr>
              <a:t> ánh xạ thông tin đầu vào để đưa ra dự đoán và quyết định trong tương lai. Hàm </a:t>
            </a:r>
            <a:r>
              <a:rPr lang="vi-VN" sz="1550" i="1" dirty="0">
                <a:latin typeface="+mn-lt"/>
              </a:rPr>
              <a:t>F</a:t>
            </a:r>
            <a:r>
              <a:rPr lang="vi-VN" sz="1550" dirty="0">
                <a:latin typeface="+mn-lt"/>
              </a:rPr>
              <a:t> này có thể là một mô hình thống kê, một mạng nơ-ron nhân tạo, hoặc bất kỳ mô hình toán học nào khác có khả năng thực hiện dự đoán dựa trên dữ liệu.</a:t>
            </a:r>
            <a:endParaRPr lang="en-US" sz="1550" dirty="0">
              <a:latin typeface="+mn-lt"/>
            </a:endParaRPr>
          </a:p>
          <a:p>
            <a:pPr marL="463550" lvl="0" indent="-342900" algn="just">
              <a:buClrTx/>
              <a:buSzPts val="1700"/>
              <a:buAutoNum type="arabicPeriod"/>
            </a:pPr>
            <a:r>
              <a:rPr lang="vi-VN" sz="1550" b="0" i="0" u="none" strike="noStrike" cap="none" dirty="0">
                <a:solidFill>
                  <a:schemeClr val="tx1"/>
                </a:solidFill>
                <a:latin typeface="+mn-lt"/>
                <a:ea typeface="Calibri" panose="020F0502020204030204"/>
                <a:cs typeface="Calibri" panose="020F0502020204030204"/>
                <a:sym typeface="Calibri" panose="020F0502020204030204"/>
              </a:rPr>
              <a:t>Vậy có những bài toán dự đoán, quyết định gì?</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vi-VN" sz="1550" b="1" dirty="0">
                <a:latin typeface="+mn-lt"/>
              </a:rPr>
              <a:t>Các bài toán dự đoán và quyết định</a:t>
            </a:r>
            <a:r>
              <a:rPr lang="vi-VN" sz="1550" dirty="0">
                <a:latin typeface="+mn-lt"/>
              </a:rPr>
              <a:t>: Đề cập đến việc sử dụng AI để dự đoán kết quả hoặc để hỗ trợ/quyết định các hành động trong nhiều lĩnh vực như tài chính, y tế, quản lý chuỗi cung ứng, và nhiều ngành khác.</a:t>
            </a:r>
            <a:endParaRPr lang="en-US" sz="1550" dirty="0">
              <a:latin typeface="+mn-lt"/>
            </a:endParaRPr>
          </a:p>
          <a:p>
            <a:pPr marL="463550" lvl="0" indent="-342900" algn="just">
              <a:buClrTx/>
              <a:buSzPts val="1700"/>
              <a:buAutoNum type="arabicPeriod"/>
            </a:pPr>
            <a:r>
              <a:rPr lang="vi-VN" sz="1550" b="0" i="0" u="none" strike="noStrike" cap="none" dirty="0">
                <a:solidFill>
                  <a:schemeClr val="tx1"/>
                </a:solidFill>
                <a:latin typeface="+mn-lt"/>
                <a:ea typeface="Calibri" panose="020F0502020204030204"/>
                <a:cs typeface="Calibri" panose="020F0502020204030204"/>
                <a:sym typeface="Calibri" panose="020F0502020204030204"/>
              </a:rPr>
              <a:t>Tìm F như thế nào?</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dirty="0" err="1">
                <a:latin typeface="+mn-lt"/>
              </a:rPr>
              <a:t>Quá</a:t>
            </a:r>
            <a:r>
              <a:rPr lang="en-US" sz="1550" dirty="0">
                <a:latin typeface="+mn-lt"/>
              </a:rPr>
              <a:t> </a:t>
            </a:r>
            <a:r>
              <a:rPr lang="en-US" sz="1550" dirty="0" err="1">
                <a:latin typeface="+mn-lt"/>
              </a:rPr>
              <a:t>trình</a:t>
            </a:r>
            <a:r>
              <a:rPr lang="en-US" sz="1550" dirty="0">
                <a:latin typeface="+mn-lt"/>
              </a:rPr>
              <a:t> </a:t>
            </a:r>
            <a:r>
              <a:rPr lang="en-US" sz="1550" dirty="0" err="1">
                <a:latin typeface="+mn-lt"/>
              </a:rPr>
              <a:t>này</a:t>
            </a:r>
            <a:r>
              <a:rPr lang="en-US" sz="1550" dirty="0">
                <a:latin typeface="+mn-lt"/>
              </a:rPr>
              <a:t> </a:t>
            </a:r>
            <a:r>
              <a:rPr lang="en-US" sz="1550" dirty="0" err="1">
                <a:latin typeface="+mn-lt"/>
              </a:rPr>
              <a:t>liên</a:t>
            </a:r>
            <a:r>
              <a:rPr lang="en-US" sz="1550" dirty="0">
                <a:latin typeface="+mn-lt"/>
              </a:rPr>
              <a:t> </a:t>
            </a:r>
            <a:r>
              <a:rPr lang="en-US" sz="1550" dirty="0" err="1">
                <a:latin typeface="+mn-lt"/>
              </a:rPr>
              <a:t>quan</a:t>
            </a:r>
            <a:r>
              <a:rPr lang="en-US" sz="1550" dirty="0">
                <a:latin typeface="+mn-lt"/>
              </a:rPr>
              <a:t> </a:t>
            </a:r>
            <a:r>
              <a:rPr lang="en-US" sz="1550" dirty="0" err="1">
                <a:latin typeface="+mn-lt"/>
              </a:rPr>
              <a:t>đến</a:t>
            </a:r>
            <a:r>
              <a:rPr lang="en-US" sz="1550" dirty="0">
                <a:latin typeface="+mn-lt"/>
              </a:rPr>
              <a:t> </a:t>
            </a:r>
            <a:r>
              <a:rPr lang="en-US" sz="1550" dirty="0" err="1">
                <a:latin typeface="+mn-lt"/>
              </a:rPr>
              <a:t>việc</a:t>
            </a:r>
            <a:r>
              <a:rPr lang="en-US" sz="1550" dirty="0">
                <a:latin typeface="+mn-lt"/>
              </a:rPr>
              <a:t> </a:t>
            </a:r>
            <a:r>
              <a:rPr lang="en-US" sz="1550" dirty="0" err="1">
                <a:latin typeface="+mn-lt"/>
              </a:rPr>
              <a:t>chọn</a:t>
            </a:r>
            <a:r>
              <a:rPr lang="en-US" sz="1550" dirty="0">
                <a:latin typeface="+mn-lt"/>
              </a:rPr>
              <a:t> </a:t>
            </a:r>
            <a:r>
              <a:rPr lang="en-US" sz="1550" dirty="0" err="1">
                <a:latin typeface="+mn-lt"/>
              </a:rPr>
              <a:t>lựa</a:t>
            </a:r>
            <a:r>
              <a:rPr lang="en-US" sz="1550" dirty="0">
                <a:latin typeface="+mn-lt"/>
              </a:rPr>
              <a:t> </a:t>
            </a:r>
            <a:r>
              <a:rPr lang="en-US" sz="1550" dirty="0" err="1">
                <a:latin typeface="+mn-lt"/>
              </a:rPr>
              <a:t>và</a:t>
            </a:r>
            <a:r>
              <a:rPr lang="en-US" sz="1550" dirty="0">
                <a:latin typeface="+mn-lt"/>
              </a:rPr>
              <a:t> </a:t>
            </a:r>
            <a:r>
              <a:rPr lang="en-US" sz="1550" dirty="0" err="1">
                <a:latin typeface="+mn-lt"/>
              </a:rPr>
              <a:t>huấn</a:t>
            </a:r>
            <a:r>
              <a:rPr lang="en-US" sz="1550" dirty="0">
                <a:latin typeface="+mn-lt"/>
              </a:rPr>
              <a:t> </a:t>
            </a:r>
            <a:r>
              <a:rPr lang="en-US" sz="1550" dirty="0" err="1">
                <a:latin typeface="+mn-lt"/>
              </a:rPr>
              <a:t>luyện</a:t>
            </a:r>
            <a:r>
              <a:rPr lang="en-US" sz="1550" dirty="0">
                <a:latin typeface="+mn-lt"/>
              </a:rPr>
              <a:t> </a:t>
            </a:r>
            <a:r>
              <a:rPr lang="en-US" sz="1550" dirty="0" err="1">
                <a:latin typeface="+mn-lt"/>
              </a:rPr>
              <a:t>một</a:t>
            </a:r>
            <a:r>
              <a:rPr lang="en-US" sz="1550" dirty="0">
                <a:latin typeface="+mn-lt"/>
              </a:rPr>
              <a:t> </a:t>
            </a:r>
            <a:r>
              <a:rPr lang="en-US" sz="1550" dirty="0" err="1">
                <a:latin typeface="+mn-lt"/>
              </a:rPr>
              <a:t>mô</a:t>
            </a:r>
            <a:r>
              <a:rPr lang="en-US" sz="1550" dirty="0">
                <a:latin typeface="+mn-lt"/>
              </a:rPr>
              <a:t> </a:t>
            </a:r>
            <a:r>
              <a:rPr lang="en-US" sz="1550" dirty="0" err="1">
                <a:latin typeface="+mn-lt"/>
              </a:rPr>
              <a:t>hình</a:t>
            </a:r>
            <a:r>
              <a:rPr lang="en-US" sz="1550" dirty="0">
                <a:latin typeface="+mn-lt"/>
              </a:rPr>
              <a:t> </a:t>
            </a:r>
            <a:r>
              <a:rPr lang="en-US" sz="1550" dirty="0" err="1">
                <a:latin typeface="+mn-lt"/>
              </a:rPr>
              <a:t>toán</a:t>
            </a:r>
            <a:r>
              <a:rPr lang="en-US" sz="1550" dirty="0">
                <a:latin typeface="+mn-lt"/>
              </a:rPr>
              <a:t> </a:t>
            </a:r>
            <a:r>
              <a:rPr lang="en-US" sz="1550" dirty="0" err="1">
                <a:latin typeface="+mn-lt"/>
              </a:rPr>
              <a:t>học</a:t>
            </a:r>
            <a:r>
              <a:rPr lang="en-US" sz="1550" dirty="0">
                <a:latin typeface="+mn-lt"/>
              </a:rPr>
              <a:t> </a:t>
            </a:r>
            <a:r>
              <a:rPr lang="en-US" sz="1550" dirty="0" err="1">
                <a:latin typeface="+mn-lt"/>
              </a:rPr>
              <a:t>dựa</a:t>
            </a:r>
            <a:r>
              <a:rPr lang="en-US" sz="1550" dirty="0">
                <a:latin typeface="+mn-lt"/>
              </a:rPr>
              <a:t> </a:t>
            </a:r>
            <a:r>
              <a:rPr lang="en-US" sz="1550" dirty="0" err="1">
                <a:latin typeface="+mn-lt"/>
              </a:rPr>
              <a:t>trên</a:t>
            </a:r>
            <a:r>
              <a:rPr lang="en-US" sz="1550" dirty="0">
                <a:latin typeface="+mn-lt"/>
              </a:rPr>
              <a:t> </a:t>
            </a:r>
            <a:r>
              <a:rPr lang="en-US" sz="1550" dirty="0" err="1">
                <a:latin typeface="+mn-lt"/>
              </a:rPr>
              <a:t>dữ</a:t>
            </a:r>
            <a:r>
              <a:rPr lang="en-US" sz="1550" dirty="0">
                <a:latin typeface="+mn-lt"/>
              </a:rPr>
              <a:t> </a:t>
            </a:r>
            <a:r>
              <a:rPr lang="en-US" sz="1550" dirty="0" err="1">
                <a:latin typeface="+mn-lt"/>
              </a:rPr>
              <a:t>liệu</a:t>
            </a:r>
            <a:r>
              <a:rPr lang="en-US" sz="1550" dirty="0">
                <a:latin typeface="+mn-lt"/>
              </a:rPr>
              <a:t> </a:t>
            </a:r>
            <a:r>
              <a:rPr lang="en-US" sz="1550" dirty="0" err="1">
                <a:latin typeface="+mn-lt"/>
              </a:rPr>
              <a:t>hiện</a:t>
            </a:r>
            <a:r>
              <a:rPr lang="en-US" sz="1550" dirty="0">
                <a:latin typeface="+mn-lt"/>
              </a:rPr>
              <a:t> </a:t>
            </a:r>
            <a:r>
              <a:rPr lang="en-US" sz="1550" dirty="0" err="1">
                <a:latin typeface="+mn-lt"/>
              </a:rPr>
              <a:t>có</a:t>
            </a:r>
            <a:r>
              <a:rPr lang="en-US" sz="1550" dirty="0">
                <a:latin typeface="+mn-lt"/>
              </a:rPr>
              <a:t> </a:t>
            </a:r>
            <a:r>
              <a:rPr lang="en-US" sz="1550" dirty="0" err="1">
                <a:latin typeface="+mn-lt"/>
              </a:rPr>
              <a:t>để</a:t>
            </a:r>
            <a:r>
              <a:rPr lang="en-US" sz="1550" dirty="0">
                <a:latin typeface="+mn-lt"/>
              </a:rPr>
              <a:t> </a:t>
            </a:r>
            <a:r>
              <a:rPr lang="en-US" sz="1550" dirty="0" err="1">
                <a:latin typeface="+mn-lt"/>
              </a:rPr>
              <a:t>nó</a:t>
            </a:r>
            <a:r>
              <a:rPr lang="en-US" sz="1550" dirty="0">
                <a:latin typeface="+mn-lt"/>
              </a:rPr>
              <a:t> </a:t>
            </a:r>
            <a:r>
              <a:rPr lang="en-US" sz="1550" dirty="0" err="1">
                <a:latin typeface="+mn-lt"/>
              </a:rPr>
              <a:t>có</a:t>
            </a:r>
            <a:r>
              <a:rPr lang="en-US" sz="1550" dirty="0">
                <a:latin typeface="+mn-lt"/>
              </a:rPr>
              <a:t> </a:t>
            </a:r>
            <a:r>
              <a:rPr lang="en-US" sz="1550" dirty="0" err="1">
                <a:latin typeface="+mn-lt"/>
              </a:rPr>
              <a:t>thể</a:t>
            </a:r>
            <a:r>
              <a:rPr lang="en-US" sz="1550" dirty="0">
                <a:latin typeface="+mn-lt"/>
              </a:rPr>
              <a:t> </a:t>
            </a:r>
            <a:r>
              <a:rPr lang="en-US" sz="1550" dirty="0" err="1">
                <a:latin typeface="+mn-lt"/>
              </a:rPr>
              <a:t>thực</a:t>
            </a:r>
            <a:r>
              <a:rPr lang="en-US" sz="1550" dirty="0">
                <a:latin typeface="+mn-lt"/>
              </a:rPr>
              <a:t> </a:t>
            </a:r>
            <a:r>
              <a:rPr lang="en-US" sz="1550" dirty="0" err="1">
                <a:latin typeface="+mn-lt"/>
              </a:rPr>
              <a:t>hiện</a:t>
            </a:r>
            <a:r>
              <a:rPr lang="en-US" sz="1550" dirty="0">
                <a:latin typeface="+mn-lt"/>
              </a:rPr>
              <a:t> </a:t>
            </a:r>
            <a:r>
              <a:rPr lang="en-US" sz="1550" dirty="0" err="1">
                <a:latin typeface="+mn-lt"/>
              </a:rPr>
              <a:t>dự</a:t>
            </a:r>
            <a:r>
              <a:rPr lang="en-US" sz="1550" dirty="0">
                <a:latin typeface="+mn-lt"/>
              </a:rPr>
              <a:t> </a:t>
            </a:r>
            <a:r>
              <a:rPr lang="en-US" sz="1550" dirty="0" err="1">
                <a:latin typeface="+mn-lt"/>
              </a:rPr>
              <a:t>đoán</a:t>
            </a:r>
            <a:r>
              <a:rPr lang="en-US" sz="1550" dirty="0">
                <a:latin typeface="+mn-lt"/>
              </a:rPr>
              <a:t> </a:t>
            </a:r>
            <a:r>
              <a:rPr lang="en-US" sz="1550" dirty="0" err="1">
                <a:latin typeface="+mn-lt"/>
              </a:rPr>
              <a:t>chính</a:t>
            </a:r>
            <a:r>
              <a:rPr lang="en-US" sz="1550" dirty="0">
                <a:latin typeface="+mn-lt"/>
              </a:rPr>
              <a:t> </a:t>
            </a:r>
            <a:r>
              <a:rPr lang="en-US" sz="1550" dirty="0" err="1">
                <a:latin typeface="+mn-lt"/>
              </a:rPr>
              <a:t>xác</a:t>
            </a:r>
            <a:r>
              <a:rPr lang="en-US" sz="1550" dirty="0">
                <a:latin typeface="+mn-lt"/>
              </a:rPr>
              <a:t> </a:t>
            </a:r>
            <a:r>
              <a:rPr lang="en-US" sz="1550" dirty="0" err="1">
                <a:latin typeface="+mn-lt"/>
              </a:rPr>
              <a:t>nhất</a:t>
            </a:r>
            <a:r>
              <a:rPr lang="en-US" sz="1550" dirty="0">
                <a:latin typeface="+mn-lt"/>
              </a:rPr>
              <a:t> </a:t>
            </a:r>
            <a:r>
              <a:rPr lang="en-US" sz="1550" dirty="0" err="1">
                <a:latin typeface="+mn-lt"/>
              </a:rPr>
              <a:t>có</a:t>
            </a:r>
            <a:r>
              <a:rPr lang="en-US" sz="1550" dirty="0">
                <a:latin typeface="+mn-lt"/>
              </a:rPr>
              <a:t> </a:t>
            </a:r>
            <a:r>
              <a:rPr lang="en-US" sz="1550" dirty="0" err="1">
                <a:latin typeface="+mn-lt"/>
              </a:rPr>
              <a:t>thể</a:t>
            </a:r>
            <a:r>
              <a:rPr lang="en-US" sz="1550" dirty="0">
                <a:latin typeface="+mn-lt"/>
              </a:rPr>
              <a:t>.</a:t>
            </a:r>
            <a:endParaRPr lang="en-US" sz="1550" dirty="0">
              <a:latin typeface="+mn-lt"/>
            </a:endParaRPr>
          </a:p>
          <a:p>
            <a:pPr marL="463550" lvl="0" indent="-342900" algn="just">
              <a:buClrTx/>
              <a:buSzPts val="1700"/>
              <a:buAutoNum type="arabicPeriod"/>
            </a:pPr>
            <a:r>
              <a:rPr lang="vi-VN" sz="1550" b="0" i="0" u="none" strike="noStrike" cap="none" dirty="0">
                <a:solidFill>
                  <a:schemeClr val="tx1"/>
                </a:solidFill>
                <a:latin typeface="+mn-lt"/>
                <a:ea typeface="Calibri" panose="020F0502020204030204"/>
                <a:cs typeface="Calibri" panose="020F0502020204030204"/>
                <a:sym typeface="Calibri" panose="020F0502020204030204"/>
              </a:rPr>
              <a:t>Làm sao để đánh giá hàm F? (metrics)</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Đo</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lường</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sự</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chênh</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lệch</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giữa</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giá</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trị</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dự</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đoán</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và</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giá</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trị</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thực</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en-US" sz="1550" b="0" i="0" u="none" strike="noStrike" cap="none" dirty="0" err="1">
                <a:solidFill>
                  <a:schemeClr val="tx1"/>
                </a:solidFill>
                <a:latin typeface="+mn-lt"/>
                <a:ea typeface="Calibri" panose="020F0502020204030204"/>
                <a:cs typeface="Calibri" panose="020F0502020204030204"/>
                <a:sym typeface="Calibri" panose="020F0502020204030204"/>
              </a:rPr>
              <a:t>tế</a:t>
            </a:r>
            <a:r>
              <a:rPr lang="en-US" sz="1550" b="0" i="0" u="none" strike="noStrike" cap="none" dirty="0">
                <a:solidFill>
                  <a:schemeClr val="tx1"/>
                </a:solidFill>
                <a:latin typeface="+mn-lt"/>
                <a:ea typeface="Calibri" panose="020F0502020204030204"/>
                <a:cs typeface="Calibri" panose="020F0502020204030204"/>
                <a:sym typeface="Calibri" panose="020F0502020204030204"/>
              </a:rPr>
              <a:t>. </a:t>
            </a:r>
            <a:r>
              <a:rPr lang="vi-VN" sz="1550" dirty="0">
                <a:latin typeface="+mn-lt"/>
              </a:rPr>
              <a:t>Việc đánh giá một mô hình AI thường dựa trên các metric (chỉ số đánh giá) để đo lường sự chênh lệch giữa giá trị dự đoán của mô hình và giá trị thực tế. </a:t>
            </a:r>
            <a:r>
              <a:rPr lang="vi-VN" sz="1550" dirty="0">
                <a:solidFill>
                  <a:schemeClr val="bg1"/>
                </a:solidFill>
                <a:latin typeface="+mn-lt"/>
              </a:rPr>
              <a:t>Các metric này có thể bao gồm Mean Squared Error (MSE), Accuracy, Precision, Recall, F1 Score, và nhiều chỉ số khác tùy thuộc vào bài toán cụ thể.</a:t>
            </a:r>
            <a:endParaRPr sz="1550" b="0" i="0" u="none" strike="noStrike" cap="none" dirty="0">
              <a:solidFill>
                <a:schemeClr val="bg1"/>
              </a:solidFill>
              <a:latin typeface="+mn-lt"/>
              <a:ea typeface="Calibri" panose="020F0502020204030204"/>
              <a:cs typeface="Calibri" panose="020F0502020204030204"/>
              <a:sym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1"/>
        <p:cNvGrpSpPr/>
        <p:nvPr/>
      </p:nvGrpSpPr>
      <p:grpSpPr>
        <a:xfrm>
          <a:off x="0" y="0"/>
          <a:ext cx="0" cy="0"/>
          <a:chOff x="0" y="0"/>
          <a:chExt cx="0" cy="0"/>
        </a:xfrm>
      </p:grpSpPr>
      <p:sp>
        <p:nvSpPr>
          <p:cNvPr id="132" name="Google Shape;132;g24157ca3184_0_129"/>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a:solidFill>
                  <a:schemeClr val="lt1"/>
                </a:solidFill>
              </a:rPr>
              <a:t>Machine Learning</a:t>
            </a:r>
            <a:endParaRPr sz="2400" b="1" i="0" u="none" strike="noStrike" cap="none" dirty="0">
              <a:solidFill>
                <a:schemeClr val="lt1"/>
              </a:solidFill>
              <a:sym typeface="Arial" panose="020B0604020202020204"/>
            </a:endParaRPr>
          </a:p>
        </p:txBody>
      </p:sp>
      <p:pic>
        <p:nvPicPr>
          <p:cNvPr id="133" name="Google Shape;133;g24157ca3184_0_129"/>
          <p:cNvPicPr preferRelativeResize="0"/>
          <p:nvPr/>
        </p:nvPicPr>
        <p:blipFill rotWithShape="1">
          <a:blip r:embed="rId2"/>
          <a:srcRect/>
          <a:stretch>
            <a:fillRect/>
          </a:stretch>
        </p:blipFill>
        <p:spPr>
          <a:xfrm>
            <a:off x="304800" y="807390"/>
            <a:ext cx="8268890" cy="527937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9"/>
        <p:cNvGrpSpPr/>
        <p:nvPr/>
      </p:nvGrpSpPr>
      <p:grpSpPr>
        <a:xfrm>
          <a:off x="0" y="0"/>
          <a:ext cx="0" cy="0"/>
          <a:chOff x="0" y="0"/>
          <a:chExt cx="0" cy="0"/>
        </a:xfrm>
      </p:grpSpPr>
      <p:sp>
        <p:nvSpPr>
          <p:cNvPr id="140" name="Google Shape;140;g24157ca3184_0_70"/>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lvl="0">
              <a:buSzPts val="2000"/>
            </a:pPr>
            <a:r>
              <a:rPr lang="vi-VN" sz="2400" b="1" dirty="0">
                <a:solidFill>
                  <a:schemeClr val="lt1"/>
                </a:solidFill>
              </a:rPr>
              <a:t>Artificial Intelligence</a:t>
            </a:r>
            <a:endParaRPr lang="vi-VN" sz="2400" b="1" dirty="0">
              <a:solidFill>
                <a:schemeClr val="lt1"/>
              </a:solidFill>
            </a:endParaRPr>
          </a:p>
        </p:txBody>
      </p:sp>
      <p:pic>
        <p:nvPicPr>
          <p:cNvPr id="141" name="Google Shape;141;g24157ca3184_0_70"/>
          <p:cNvPicPr preferRelativeResize="0"/>
          <p:nvPr/>
        </p:nvPicPr>
        <p:blipFill rotWithShape="1">
          <a:blip r:embed="rId2"/>
          <a:srcRect/>
          <a:stretch>
            <a:fillRect/>
          </a:stretch>
        </p:blipFill>
        <p:spPr>
          <a:xfrm>
            <a:off x="304800" y="877455"/>
            <a:ext cx="8552873" cy="4916498"/>
          </a:xfrm>
          <a:prstGeom prst="rect">
            <a:avLst/>
          </a:prstGeom>
          <a:noFill/>
          <a:ln>
            <a:noFill/>
          </a:ln>
        </p:spPr>
      </p:pic>
      <p:sp>
        <p:nvSpPr>
          <p:cNvPr id="2" name="TextBox 1"/>
          <p:cNvSpPr txBox="1"/>
          <p:nvPr/>
        </p:nvSpPr>
        <p:spPr>
          <a:xfrm>
            <a:off x="1450108" y="877455"/>
            <a:ext cx="603050" cy="307777"/>
          </a:xfrm>
          <a:prstGeom prst="rect">
            <a:avLst/>
          </a:prstGeom>
          <a:noFill/>
        </p:spPr>
        <p:txBody>
          <a:bodyPr wrap="none" rtlCol="0">
            <a:spAutoFit/>
          </a:bodyPr>
          <a:lstStyle/>
          <a:p>
            <a:r>
              <a:rPr lang="en-US" dirty="0"/>
              <a:t>Venn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45"/>
        <p:cNvGrpSpPr/>
        <p:nvPr/>
      </p:nvGrpSpPr>
      <p:grpSpPr>
        <a:xfrm>
          <a:off x="0" y="0"/>
          <a:ext cx="0" cy="0"/>
          <a:chOff x="0" y="0"/>
          <a:chExt cx="0" cy="0"/>
        </a:xfrm>
      </p:grpSpPr>
      <p:sp>
        <p:nvSpPr>
          <p:cNvPr id="146" name="Google Shape;146;g24157ca3184_0_81"/>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lvl="0">
              <a:buSzPts val="2000"/>
            </a:pPr>
            <a:r>
              <a:rPr lang="vi-VN" sz="2400" b="1" dirty="0">
                <a:solidFill>
                  <a:schemeClr val="lt1"/>
                </a:solidFill>
              </a:rPr>
              <a:t>Artificial Intelligence</a:t>
            </a:r>
            <a:endParaRPr lang="vi-VN" sz="2400" b="1" dirty="0">
              <a:solidFill>
                <a:schemeClr val="lt1"/>
              </a:solidFill>
            </a:endParaRPr>
          </a:p>
        </p:txBody>
      </p:sp>
      <p:sp>
        <p:nvSpPr>
          <p:cNvPr id="147" name="Google Shape;147;g24157ca3184_0_81"/>
          <p:cNvSpPr txBox="1"/>
          <p:nvPr/>
        </p:nvSpPr>
        <p:spPr>
          <a:xfrm>
            <a:off x="304799" y="727839"/>
            <a:ext cx="8592557" cy="2120265"/>
          </a:xfrm>
          <a:prstGeom prst="rect">
            <a:avLst/>
          </a:prstGeom>
          <a:noFill/>
          <a:ln>
            <a:noFill/>
          </a:ln>
        </p:spPr>
        <p:txBody>
          <a:bodyPr spcFirstLastPara="1" wrap="square" lIns="91425" tIns="91425" rIns="91425" bIns="91425" anchor="t" anchorCtr="0">
            <a:spAutoFit/>
          </a:bodyPr>
          <a:lstStyle/>
          <a:p>
            <a:pPr algn="just"/>
            <a:r>
              <a:rPr lang="en-US" dirty="0" err="1"/>
              <a:t>Mạng</a:t>
            </a:r>
            <a:r>
              <a:rPr lang="en-US" dirty="0"/>
              <a:t> </a:t>
            </a:r>
            <a:r>
              <a:rPr lang="en-US" dirty="0" err="1"/>
              <a:t>Nơron</a:t>
            </a:r>
            <a:endParaRPr lang="en-US" dirty="0"/>
          </a:p>
          <a:p>
            <a:pPr algn="just"/>
            <a:r>
              <a:rPr lang="vi-VN" dirty="0"/>
              <a:t>Năm 1943, nhà thần kinh sinh học </a:t>
            </a:r>
            <a:r>
              <a:rPr lang="vi-VN" b="1" dirty="0"/>
              <a:t>Warren McCulloch</a:t>
            </a:r>
            <a:r>
              <a:rPr lang="vi-VN" dirty="0"/>
              <a:t> và nhà toán học </a:t>
            </a:r>
            <a:r>
              <a:rPr lang="vi-VN" b="1" dirty="0"/>
              <a:t>Walter Pitts</a:t>
            </a:r>
            <a:r>
              <a:rPr lang="vi-VN" dirty="0"/>
              <a:t> đã cùng viết một bài báo, trong đó họ đề xuất một mô hình về cách hoạt động của </a:t>
            </a:r>
            <a:r>
              <a:rPr lang="vi-VN" b="1" dirty="0"/>
              <a:t>neuron trong não</a:t>
            </a:r>
            <a:r>
              <a:rPr lang="vi-VN" dirty="0"/>
              <a:t>. Để mô tả cách thức hoạt động của các neuron, họ đã sử dụng mô hình </a:t>
            </a:r>
            <a:r>
              <a:rPr lang="vi-VN" b="1" dirty="0"/>
              <a:t>mạng nơ-ron đơn giản với sự analog của mạch điện</a:t>
            </a:r>
            <a:r>
              <a:rPr lang="vi-VN" dirty="0"/>
              <a:t>.</a:t>
            </a:r>
            <a:endParaRPr lang="vi-VN" dirty="0"/>
          </a:p>
          <a:p>
            <a:pPr algn="just"/>
            <a:r>
              <a:rPr lang="vi-VN" dirty="0"/>
              <a:t>Công trình của McCulloch và Pitts đã đặt nền móng cho lĩnh vực nghiên cứu về mạng nơ-ron nhân tạo, một thành phần quan trọng của trí tuệ nhân tạo hiện đại. Mô hình của họ đã chứng minh rằng các mạch điện tử có thể được sử dụng để mô phỏng hoạt động của các neuron, và đã mở đường cho sự phát triển của các thuật toán học máy và AI sau này.</a:t>
            </a:r>
            <a:endParaRPr lang="vi-VN" dirty="0"/>
          </a:p>
          <a:p>
            <a:pPr marL="0" marR="0" lvl="0" indent="0" algn="just" rtl="0">
              <a:lnSpc>
                <a:spcPct val="100000"/>
              </a:lnSpc>
              <a:spcBef>
                <a:spcPts val="0"/>
              </a:spcBef>
              <a:spcAft>
                <a:spcPts val="0"/>
              </a:spcAft>
              <a:buClr>
                <a:srgbClr val="000000"/>
              </a:buClr>
              <a:buSzPts val="1400"/>
              <a:buFont typeface="Arial" panose="020B0604020202020204"/>
              <a:buNone/>
            </a:pPr>
            <a:endParaRPr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148" name="Google Shape;148;g24157ca3184_0_81"/>
          <p:cNvPicPr preferRelativeResize="0"/>
          <p:nvPr/>
        </p:nvPicPr>
        <p:blipFill rotWithShape="1">
          <a:blip r:embed="rId2"/>
          <a:srcRect/>
          <a:stretch>
            <a:fillRect/>
          </a:stretch>
        </p:blipFill>
        <p:spPr>
          <a:xfrm>
            <a:off x="574698" y="2900693"/>
            <a:ext cx="3416329" cy="2915849"/>
          </a:xfrm>
          <a:prstGeom prst="rect">
            <a:avLst/>
          </a:prstGeom>
          <a:noFill/>
          <a:ln>
            <a:noFill/>
          </a:ln>
        </p:spPr>
      </p:pic>
      <p:pic>
        <p:nvPicPr>
          <p:cNvPr id="150" name="Google Shape;150;g24157ca3184_0_81"/>
          <p:cNvPicPr preferRelativeResize="0"/>
          <p:nvPr/>
        </p:nvPicPr>
        <p:blipFill rotWithShape="1">
          <a:blip r:embed="rId3"/>
          <a:srcRect/>
          <a:stretch>
            <a:fillRect/>
          </a:stretch>
        </p:blipFill>
        <p:spPr>
          <a:xfrm>
            <a:off x="5376307" y="2733067"/>
            <a:ext cx="3521050" cy="3251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7"/>
        <p:cNvGrpSpPr/>
        <p:nvPr/>
      </p:nvGrpSpPr>
      <p:grpSpPr>
        <a:xfrm>
          <a:off x="0" y="0"/>
          <a:ext cx="0" cy="0"/>
          <a:chOff x="0" y="0"/>
          <a:chExt cx="0" cy="0"/>
        </a:xfrm>
      </p:grpSpPr>
      <p:sp>
        <p:nvSpPr>
          <p:cNvPr id="178" name="Google Shape;178;g24157ca3184_0_160"/>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Hồi</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quy</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tuyến</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tính</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pic>
        <p:nvPicPr>
          <p:cNvPr id="179" name="Google Shape;179;g24157ca3184_0_160"/>
          <p:cNvPicPr preferRelativeResize="0"/>
          <p:nvPr/>
        </p:nvPicPr>
        <p:blipFill rotWithShape="1">
          <a:blip r:embed="rId2"/>
          <a:srcRect/>
          <a:stretch>
            <a:fillRect/>
          </a:stretch>
        </p:blipFill>
        <p:spPr>
          <a:xfrm>
            <a:off x="3888508" y="3888509"/>
            <a:ext cx="4137891" cy="3038764"/>
          </a:xfrm>
          <a:prstGeom prst="rect">
            <a:avLst/>
          </a:prstGeom>
          <a:noFill/>
          <a:ln>
            <a:noFill/>
          </a:ln>
        </p:spPr>
      </p:pic>
      <p:sp>
        <p:nvSpPr>
          <p:cNvPr id="4" name="Google Shape;147;g24157ca3184_0_81"/>
          <p:cNvSpPr txBox="1"/>
          <p:nvPr/>
        </p:nvSpPr>
        <p:spPr>
          <a:xfrm>
            <a:off x="304799" y="727839"/>
            <a:ext cx="8592557" cy="3413125"/>
          </a:xfrm>
          <a:prstGeom prst="rect">
            <a:avLst/>
          </a:prstGeom>
          <a:noFill/>
          <a:ln>
            <a:noFill/>
          </a:ln>
        </p:spPr>
        <p:txBody>
          <a:bodyPr spcFirstLastPara="1" wrap="square" lIns="91425" tIns="91425" rIns="91425" bIns="91425" anchor="t" anchorCtr="0">
            <a:spAutoFit/>
          </a:bodyPr>
          <a:lstStyle/>
          <a:p>
            <a:pPr algn="just"/>
            <a:r>
              <a:rPr lang="vi-VN" dirty="0"/>
              <a:t>Thuật ngữ "hồi quy" (regression) trong "hồi quy tuyến tính" (linear regression) có nguồn gốc từ lịch sử và được sử dụng lần đầu bởi Francis Galton trong những năm 1800 khi ông nghiên cứu về </a:t>
            </a:r>
            <a:r>
              <a:rPr lang="vi-VN" b="1" dirty="0"/>
              <a:t>mối quan hệ di truyền của chiều cao giữa cha mẹ và con cái</a:t>
            </a:r>
            <a:r>
              <a:rPr lang="vi-VN" dirty="0"/>
              <a:t>. Ông nhận thấy rằng, mặc dù có xu hướng di truyền chiều cao, nhưng chiều cao của con cái thường có xu hướng "hồi quy" (trở về) về trung bình của dân số. Từ "regression" được dùng để mô tả hiện tượng này.</a:t>
            </a:r>
            <a:endParaRPr lang="vi-VN" dirty="0"/>
          </a:p>
          <a:p>
            <a:pPr algn="just"/>
            <a:r>
              <a:rPr lang="vi-VN" dirty="0"/>
              <a:t>Cụ thể, "hồi quy" ở đây không mang nghĩa trở về điểm bắt đầu, mà là xu hướng của dữ liệu về một trạng thái trung bình hoặc dự đoán. Trong ngữ cảnh hiện đại của phân tích thống kê, "hồi quy" thường được hiểu là quá trình ước lượng mối quan hệ giữa các biến.</a:t>
            </a:r>
            <a:endParaRPr lang="vi-VN" dirty="0"/>
          </a:p>
          <a:p>
            <a:pPr algn="just"/>
            <a:r>
              <a:rPr lang="vi-VN" dirty="0"/>
              <a:t>"Linear" trong "hồi quy tuyến tính" chỉ ra rằng mối quan hệ này được mô hình hóa dưới dạng đường thẳng, nghĩa là với mỗi đơn vị thay đổi của biến độc lập, biến phụ thuộc thay đổi một lượng cố định. Trong toán học, mối quan hệ tuyến tính có thể được viết dưới dạng phương trình đường thẳng </a:t>
            </a:r>
            <a:r>
              <a:rPr lang="vi-VN" i="1" dirty="0"/>
              <a:t>y</a:t>
            </a:r>
            <a:r>
              <a:rPr lang="vi-VN" dirty="0"/>
              <a:t>=</a:t>
            </a:r>
            <a:r>
              <a:rPr lang="vi-VN" i="1" dirty="0"/>
              <a:t>mx</a:t>
            </a:r>
            <a:r>
              <a:rPr lang="vi-VN" dirty="0"/>
              <a:t>+</a:t>
            </a:r>
            <a:r>
              <a:rPr lang="vi-VN" i="1" dirty="0"/>
              <a:t>b</a:t>
            </a:r>
            <a:r>
              <a:rPr lang="vi-VN" dirty="0"/>
              <a:t>, trong đó </a:t>
            </a:r>
            <a:r>
              <a:rPr lang="vi-VN" i="1" dirty="0"/>
              <a:t>m</a:t>
            </a:r>
            <a:r>
              <a:rPr lang="vi-VN" dirty="0"/>
              <a:t> là hệ số góc cho biết độ dốc của đường thẳng và </a:t>
            </a:r>
            <a:r>
              <a:rPr lang="vi-VN" i="1" dirty="0"/>
              <a:t>b</a:t>
            </a:r>
            <a:r>
              <a:rPr lang="vi-VN" dirty="0"/>
              <a:t> là điểm chặn trục y khi </a:t>
            </a:r>
            <a:r>
              <a:rPr lang="vi-VN" i="1" dirty="0"/>
              <a:t>x</a:t>
            </a:r>
            <a:r>
              <a:rPr lang="vi-VN" dirty="0"/>
              <a:t>=0.</a:t>
            </a:r>
            <a:endParaRPr lang="vi-VN" dirty="0"/>
          </a:p>
          <a:p>
            <a:pPr algn="just"/>
            <a:r>
              <a:rPr lang="vi-VN" dirty="0"/>
              <a:t>Như vậy, "hồi quy tuyến tính" là một phương pháp thống kê dùng để mô tả mối quan hệ tuyến tính giữa một biến phụ thuộc và một hoặc nhiều biến độc lập, qua đó cho phép dự đoán hoặc hiểu sâu hơn về các yếu tố ảnh hưởng lên biến phụ thuộc.</a:t>
            </a:r>
            <a:endParaRPr lang="vi-V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7"/>
        <p:cNvGrpSpPr/>
        <p:nvPr/>
      </p:nvGrpSpPr>
      <p:grpSpPr>
        <a:xfrm>
          <a:off x="0" y="0"/>
          <a:ext cx="0" cy="0"/>
          <a:chOff x="0" y="0"/>
          <a:chExt cx="0" cy="0"/>
        </a:xfrm>
      </p:grpSpPr>
      <p:sp>
        <p:nvSpPr>
          <p:cNvPr id="178" name="Google Shape;178;g24157ca3184_0_160"/>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Hồi</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quy</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tuyến</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tính</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47;g24157ca3184_0_81"/>
          <p:cNvSpPr txBox="1"/>
          <p:nvPr/>
        </p:nvSpPr>
        <p:spPr>
          <a:xfrm>
            <a:off x="304799" y="727839"/>
            <a:ext cx="8592557" cy="396875"/>
          </a:xfrm>
          <a:prstGeom prst="rect">
            <a:avLst/>
          </a:prstGeom>
          <a:noFill/>
          <a:ln>
            <a:noFill/>
          </a:ln>
        </p:spPr>
        <p:txBody>
          <a:bodyPr spcFirstLastPara="1" wrap="square" lIns="91425" tIns="91425" rIns="91425" bIns="91425" anchor="t" anchorCtr="0">
            <a:spAutoFit/>
          </a:bodyPr>
          <a:lstStyle/>
          <a:p>
            <a:pPr algn="just"/>
            <a:r>
              <a:rPr lang="en-US" dirty="0" err="1"/>
              <a:t>Mô</a:t>
            </a:r>
            <a:r>
              <a:rPr lang="en-US" dirty="0"/>
              <a:t> </a:t>
            </a:r>
            <a:r>
              <a:rPr lang="en-US" dirty="0" err="1"/>
              <a:t>hình</a:t>
            </a:r>
            <a:r>
              <a:rPr lang="en-US" b="1" dirty="0"/>
              <a:t> </a:t>
            </a:r>
            <a:r>
              <a:rPr lang="en-US" b="1" dirty="0" err="1"/>
              <a:t>dự</a:t>
            </a:r>
            <a:r>
              <a:rPr lang="en-US" b="1" dirty="0"/>
              <a:t> </a:t>
            </a:r>
            <a:r>
              <a:rPr lang="en-US" b="1" dirty="0" err="1"/>
              <a:t>đoán</a:t>
            </a:r>
            <a:r>
              <a:rPr lang="en-US" b="1" dirty="0"/>
              <a:t> </a:t>
            </a:r>
            <a:r>
              <a:rPr lang="en-US" b="1" dirty="0" err="1"/>
              <a:t>giá</a:t>
            </a:r>
            <a:r>
              <a:rPr lang="en-US" b="1" dirty="0"/>
              <a:t> </a:t>
            </a:r>
            <a:r>
              <a:rPr lang="en-US" b="1" dirty="0" err="1"/>
              <a:t>nhà</a:t>
            </a:r>
            <a:endParaRPr lang="vi-VN"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7"/>
        <p:cNvGrpSpPr/>
        <p:nvPr/>
      </p:nvGrpSpPr>
      <p:grpSpPr>
        <a:xfrm>
          <a:off x="0" y="0"/>
          <a:ext cx="0" cy="0"/>
          <a:chOff x="0" y="0"/>
          <a:chExt cx="0" cy="0"/>
        </a:xfrm>
      </p:grpSpPr>
      <p:sp>
        <p:nvSpPr>
          <p:cNvPr id="178" name="Google Shape;178;g24157ca3184_0_160"/>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Hồi</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quy</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tuyến</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tính</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47;g24157ca3184_0_81"/>
          <p:cNvSpPr txBox="1"/>
          <p:nvPr/>
        </p:nvSpPr>
        <p:spPr>
          <a:xfrm>
            <a:off x="304799" y="727839"/>
            <a:ext cx="8592557" cy="400079"/>
          </a:xfrm>
          <a:prstGeom prst="rect">
            <a:avLst/>
          </a:prstGeom>
          <a:noFill/>
          <a:ln>
            <a:noFill/>
          </a:ln>
        </p:spPr>
        <p:txBody>
          <a:bodyPr spcFirstLastPara="1" wrap="square" lIns="91425" tIns="91425" rIns="91425" bIns="91425" anchor="t" anchorCtr="0">
            <a:spAutoFit/>
          </a:bodyPr>
          <a:lstStyle/>
          <a:p>
            <a:pPr algn="just"/>
            <a:r>
              <a:rPr lang="en-US" dirty="0" err="1"/>
              <a:t>Chiến</a:t>
            </a:r>
            <a:r>
              <a:rPr lang="en-US" dirty="0"/>
              <a:t> </a:t>
            </a:r>
            <a:r>
              <a:rPr lang="en-US" dirty="0" err="1"/>
              <a:t>lược</a:t>
            </a:r>
            <a:r>
              <a:rPr lang="en-US" dirty="0"/>
              <a:t> ML, Momentum, RSI</a:t>
            </a:r>
            <a:endParaRPr lang="vi-V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97"/>
        <p:cNvGrpSpPr/>
        <p:nvPr/>
      </p:nvGrpSpPr>
      <p:grpSpPr>
        <a:xfrm>
          <a:off x="0" y="0"/>
          <a:ext cx="0" cy="0"/>
          <a:chOff x="0" y="0"/>
          <a:chExt cx="0" cy="0"/>
        </a:xfrm>
      </p:grpSpPr>
      <p:sp>
        <p:nvSpPr>
          <p:cNvPr id="198" name="Google Shape;198;g24157ca3184_0_16"/>
          <p:cNvSpPr txBox="1"/>
          <p:nvPr/>
        </p:nvSpPr>
        <p:spPr>
          <a:xfrm>
            <a:off x="304799" y="139783"/>
            <a:ext cx="8491313"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Cách</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lấy</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OHLC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theo</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Timeframe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tùy</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chọn</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202" name="Google Shape;202;g24157ca3184_0_16"/>
          <p:cNvSpPr txBox="1"/>
          <p:nvPr/>
        </p:nvSpPr>
        <p:spPr>
          <a:xfrm>
            <a:off x="378691" y="774459"/>
            <a:ext cx="8417422" cy="149268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US" sz="1700" b="1" i="0" u="none" strike="noStrike" cap="none" dirty="0" err="1">
                <a:solidFill>
                  <a:srgbClr val="000000"/>
                </a:solidFill>
                <a:latin typeface="Calibri" panose="020F0502020204030204"/>
                <a:ea typeface="Calibri" panose="020F0502020204030204"/>
                <a:cs typeface="Calibri" panose="020F0502020204030204"/>
                <a:sym typeface="Calibri" panose="020F0502020204030204"/>
              </a:rPr>
              <a:t>Cách</a:t>
            </a:r>
            <a:r>
              <a:rPr lang="en-US" sz="17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 </a:t>
            </a:r>
            <a:r>
              <a:rPr lang="en-US" sz="1700" b="1" i="0" u="none" strike="noStrike" cap="none" dirty="0" err="1">
                <a:solidFill>
                  <a:srgbClr val="000000"/>
                </a:solidFill>
                <a:latin typeface="Calibri" panose="020F0502020204030204"/>
                <a:ea typeface="Calibri" panose="020F0502020204030204"/>
                <a:cs typeface="Calibri" panose="020F0502020204030204"/>
                <a:sym typeface="Calibri" panose="020F0502020204030204"/>
              </a:rPr>
              <a:t>lấy</a:t>
            </a:r>
            <a:r>
              <a:rPr lang="en-US" sz="17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 OHLC </a:t>
            </a:r>
            <a:r>
              <a:rPr lang="en-US" sz="1700" b="1" i="0" u="none" strike="noStrike" cap="none" dirty="0" err="1">
                <a:solidFill>
                  <a:srgbClr val="000000"/>
                </a:solidFill>
                <a:latin typeface="Calibri" panose="020F0502020204030204"/>
                <a:ea typeface="Calibri" panose="020F0502020204030204"/>
                <a:cs typeface="Calibri" panose="020F0502020204030204"/>
                <a:sym typeface="Calibri" panose="020F0502020204030204"/>
              </a:rPr>
              <a:t>theo</a:t>
            </a:r>
            <a:r>
              <a:rPr lang="en-US" sz="17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 Timeframe </a:t>
            </a:r>
            <a:r>
              <a:rPr lang="en-US" sz="1700" b="1" i="0" u="none" strike="noStrike" cap="none" dirty="0" err="1">
                <a:solidFill>
                  <a:srgbClr val="000000"/>
                </a:solidFill>
                <a:latin typeface="Calibri" panose="020F0502020204030204"/>
                <a:ea typeface="Calibri" panose="020F0502020204030204"/>
                <a:cs typeface="Calibri" panose="020F0502020204030204"/>
                <a:sym typeface="Calibri" panose="020F0502020204030204"/>
              </a:rPr>
              <a:t>tùy</a:t>
            </a:r>
            <a:r>
              <a:rPr lang="en-US" sz="17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 </a:t>
            </a:r>
            <a:r>
              <a:rPr lang="en-US" sz="1700" b="1" i="0" u="none" strike="noStrike" cap="none" dirty="0" err="1">
                <a:solidFill>
                  <a:srgbClr val="000000"/>
                </a:solidFill>
                <a:latin typeface="Calibri" panose="020F0502020204030204"/>
                <a:ea typeface="Calibri" panose="020F0502020204030204"/>
                <a:cs typeface="Calibri" panose="020F0502020204030204"/>
                <a:sym typeface="Calibri" panose="020F0502020204030204"/>
              </a:rPr>
              <a:t>chọn</a:t>
            </a:r>
            <a:endParaRPr lang="en-US" sz="1700" b="1"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000000"/>
              </a:buClr>
              <a:buSzPts val="1700"/>
              <a:buFont typeface="Arial" panose="020B0604020202020204"/>
              <a:buNone/>
            </a:pPr>
            <a:r>
              <a:rPr lang="en-US" sz="1700" b="1" dirty="0">
                <a:latin typeface="Calibri" panose="020F0502020204030204"/>
                <a:ea typeface="Calibri" panose="020F0502020204030204"/>
                <a:cs typeface="Calibri" panose="020F0502020204030204"/>
                <a:sym typeface="Calibri" panose="020F0502020204030204"/>
              </a:rPr>
              <a:t>M1</a:t>
            </a:r>
            <a:endParaRPr lang="en-US" sz="1700" b="1" dirty="0">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000000"/>
              </a:buClr>
              <a:buSzPts val="1700"/>
              <a:buFont typeface="Arial" panose="020B0604020202020204"/>
              <a:buNone/>
            </a:pPr>
            <a:r>
              <a:rPr lang="en-US" sz="17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M5</a:t>
            </a:r>
            <a:endParaRPr lang="en-US" sz="1700" b="1"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000000"/>
              </a:buClr>
              <a:buSzPts val="1700"/>
              <a:buFont typeface="Arial" panose="020B0604020202020204"/>
              <a:buNone/>
            </a:pPr>
            <a:r>
              <a:rPr lang="en-US" sz="1700" b="1" dirty="0">
                <a:latin typeface="Calibri" panose="020F0502020204030204"/>
                <a:ea typeface="Calibri" panose="020F0502020204030204"/>
                <a:cs typeface="Calibri" panose="020F0502020204030204"/>
                <a:sym typeface="Calibri" panose="020F0502020204030204"/>
              </a:rPr>
              <a:t>M10</a:t>
            </a:r>
            <a:endParaRPr lang="en-US" sz="1700" b="1" dirty="0">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000000"/>
              </a:buClr>
              <a:buSzPts val="1700"/>
              <a:buFont typeface="Arial" panose="020B0604020202020204"/>
              <a:buNone/>
            </a:pPr>
            <a:r>
              <a:rPr lang="en-US" sz="17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=&gt; M45</a:t>
            </a:r>
            <a:endParaRPr sz="1700" b="1"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0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5404</Words>
  <Application>WPS Presentation</Application>
  <PresentationFormat>On-screen Show (4:3)</PresentationFormat>
  <Paragraphs>88</Paragraphs>
  <Slides>16</Slides>
  <Notes>16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SimSun</vt:lpstr>
      <vt:lpstr>Wingdings</vt:lpstr>
      <vt:lpstr>Arial</vt:lpstr>
      <vt:lpstr>Calibri</vt:lpstr>
      <vt:lpstr>Maven Pro</vt:lpstr>
      <vt:lpstr>Söhne</vt:lpstr>
      <vt:lpstr>Segoe Print</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Đặng Trí Thanh</cp:lastModifiedBy>
  <cp:revision>69</cp:revision>
  <dcterms:created xsi:type="dcterms:W3CDTF">2021-10-18T16:01:00Z</dcterms:created>
  <dcterms:modified xsi:type="dcterms:W3CDTF">2025-10-25T00:17:38Z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71FE076890914358BF168E96997BF250_12</vt:lpwstr>
  </property>
  <property fmtid="{D5CDD505-2E9C-101B-9397-08002B2CF9AE}" pid="3" name="KSOProductBuildVer">
    <vt:lpwstr>1033-12.2.0.23131</vt:lpwstr>
  </property>
</Properties>
</file>