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81" r:id="rId7"/>
    <p:sldId id="259" r:id="rId8"/>
    <p:sldId id="260" r:id="rId9"/>
    <p:sldId id="261" r:id="rId10"/>
    <p:sldId id="262" r:id="rId11"/>
    <p:sldId id="280" r:id="rId12"/>
    <p:sldId id="263" r:id="rId13"/>
    <p:sldId id="264" r:id="rId14"/>
    <p:sldId id="265" r:id="rId15"/>
    <p:sldId id="266" r:id="rId16"/>
    <p:sldId id="267" r:id="rId17"/>
    <p:sldId id="268" r:id="rId18"/>
    <p:sldId id="269" r:id="rId19"/>
    <p:sldId id="275" r:id="rId20"/>
    <p:sldId id="277" r:id="rId21"/>
    <p:sldId id="276" r:id="rId22"/>
    <p:sldId id="278" r:id="rId23"/>
    <p:sldId id="279" r:id="rId24"/>
    <p:sldId id="282" r:id="rId25"/>
    <p:sldId id="270" r:id="rId26"/>
    <p:sldId id="271" r:id="rId27"/>
    <p:sldId id="272" r:id="rId28"/>
    <p:sldId id="273" r:id="rId29"/>
    <p:sldId id="274" r:id="rId30"/>
  </p:sldIdLst>
  <p:sldSz cx="9144000" cy="6858000" type="screen4x3"/>
  <p:notesSz cx="6858000" cy="9144000"/>
  <p:embeddedFontLst>
    <p:embeddedFont>
      <p:font typeface="Calibri" panose="020F0502020204030204"/>
      <p:regular r:id="rId34"/>
      <p:bold r:id="rId35"/>
      <p:italic r:id="rId36"/>
      <p:boldItalic r:id="rId37"/>
    </p:embeddedFont>
    <p:embeddedFont>
      <p:font typeface="Maven Pro" panose="020B0604020202020204"/>
      <p:regular r:id="rId38"/>
    </p:embeddedFont>
    <p:embeddedFont>
      <p:font typeface="Roboto" panose="0200000000000000000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font" Target="fonts/font9.fntdata"/><Relationship Id="rId41" Type="http://schemas.openxmlformats.org/officeDocument/2006/relationships/font" Target="fonts/font8.fntdata"/><Relationship Id="rId40" Type="http://schemas.openxmlformats.org/officeDocument/2006/relationships/font" Target="fonts/font7.fntdata"/><Relationship Id="rId4" Type="http://schemas.openxmlformats.org/officeDocument/2006/relationships/notesMaster" Target="notesMasters/notesMaster1.xml"/><Relationship Id="rId39" Type="http://schemas.openxmlformats.org/officeDocument/2006/relationships/font" Target="fonts/font6.fntdata"/><Relationship Id="rId38" Type="http://schemas.openxmlformats.org/officeDocument/2006/relationships/font" Target="fonts/font5.fntdata"/><Relationship Id="rId37" Type="http://schemas.openxmlformats.org/officeDocument/2006/relationships/font" Target="fonts/font4.fntdata"/><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4" name="Google Shape;10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g2932fd1a1f7_1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g2932fd1a1f7_1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7" name="Google Shape;117;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4" name="Google Shape;124;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4" name="Google Shape;124;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1" name="Google Shape;131;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8" name="Google Shape;138;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4" name="Google Shape;144;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1" name="Google Shape;151;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8" name="Google Shape;15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g2932fd1a1f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2" name="Google Shape;172;g2932fd1a1f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g2932fd1a1f7_1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9" name="Google Shape;179;g2932fd1a1f7_1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3"/>
        <p:cNvGrpSpPr/>
        <p:nvPr/>
      </p:nvGrpSpPr>
      <p:grpSpPr>
        <a:xfrm>
          <a:off x="0" y="0"/>
          <a:ext cx="0" cy="0"/>
          <a:chOff x="0" y="0"/>
          <a:chExt cx="0" cy="0"/>
        </a:xfrm>
      </p:grpSpPr>
      <p:sp>
        <p:nvSpPr>
          <p:cNvPr id="184" name="Google Shape;184;g2932fd1a1f7_1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5" name="Google Shape;185;g2932fd1a1f7_1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
        <p:cNvGrpSpPr/>
        <p:nvPr/>
      </p:nvGrpSpPr>
      <p:grpSpPr>
        <a:xfrm>
          <a:off x="0" y="0"/>
          <a:ext cx="0" cy="0"/>
          <a:chOff x="0" y="0"/>
          <a:chExt cx="0" cy="0"/>
        </a:xfrm>
      </p:grpSpPr>
      <p:sp>
        <p:nvSpPr>
          <p:cNvPr id="190" name="Google Shape;190;g2932fd1a1f7_1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1" name="Google Shape;191;g2932fd1a1f7_1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5"/>
        <p:cNvGrpSpPr/>
        <p:nvPr/>
      </p:nvGrpSpPr>
      <p:grpSpPr>
        <a:xfrm>
          <a:off x="0" y="0"/>
          <a:ext cx="0" cy="0"/>
          <a:chOff x="0" y="0"/>
          <a:chExt cx="0" cy="0"/>
        </a:xfrm>
      </p:grpSpPr>
      <p:sp>
        <p:nvSpPr>
          <p:cNvPr id="196" name="Google Shape;196;g2932fd1a1f7_1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7" name="Google Shape;197;g2932fd1a1f7_1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1"/>
        <p:cNvGrpSpPr/>
        <p:nvPr/>
      </p:nvGrpSpPr>
      <p:grpSpPr>
        <a:xfrm>
          <a:off x="0" y="0"/>
          <a:ext cx="0" cy="0"/>
          <a:chOff x="0" y="0"/>
          <a:chExt cx="0" cy="0"/>
        </a:xfrm>
      </p:grpSpPr>
      <p:sp>
        <p:nvSpPr>
          <p:cNvPr id="202" name="Google Shape;20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3" name="Google Shape;203;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hyperlink" Target="https://www.facebook.com/dangtrithanh9279/videos/259672370192955?paipv=0&amp;eav=AfYrox0quSH7zLXC1kTdQQffg9RBWdlNpaYcKHowFYyULbZH6WAI6doTwjN8up47N6I&amp;_rdr" TargetMode="Externa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hyperlink" Target="https://www.binance.com/" TargetMode="Externa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hyperlink" Target="https://www.binance.com/en/my/settings/api-management" TargetMode="Externa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hyperlink" Target="https://ccxt.readthedocs.io/en/latest/" TargetMode="External"/><Relationship Id="rId2" Type="http://schemas.openxmlformats.org/officeDocument/2006/relationships/hyperlink" Target="https://github.com/ccxt/ccxt" TargetMode="Externa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Crypto </a:t>
            </a:r>
            <a:r>
              <a:rPr lang="vi-VN" sz="2800" b="1" i="1" u="none" strike="noStrike" cap="none" dirty="0" smtClean="0">
                <a:solidFill>
                  <a:srgbClr val="FF0000"/>
                </a:solidFill>
                <a:latin typeface="Arial" panose="020B0604020202020204"/>
                <a:ea typeface="Arial" panose="020B0604020202020204"/>
                <a:cs typeface="Arial" panose="020B0604020202020204"/>
                <a:sym typeface="Arial" panose="020B0604020202020204"/>
              </a:rPr>
              <a:t>Binance</a:t>
            </a:r>
            <a:r>
              <a:rPr lang="en-US" sz="2800" b="1" i="1" u="none" strike="noStrike" cap="none" dirty="0" smtClean="0">
                <a:solidFill>
                  <a:srgbClr val="FF0000"/>
                </a:solidFill>
                <a:latin typeface="Arial" panose="020B0604020202020204"/>
                <a:ea typeface="Arial" panose="020B0604020202020204"/>
                <a:cs typeface="Arial" panose="020B0604020202020204"/>
                <a:sym typeface="Arial" panose="020B0604020202020204"/>
              </a:rPr>
              <a:t>, MEXC</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24" y="4841000"/>
            <a:ext cx="3661500" cy="9518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rPr>
              <a:t>GV. Đặng Trí Thanh</a:t>
            </a:r>
            <a:endParaRPr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i="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err="1" smtClean="0">
                <a:solidFill>
                  <a:schemeClr val="lt1"/>
                </a:solidFill>
              </a:rPr>
              <a:t>Đặt</a:t>
            </a:r>
            <a:r>
              <a:rPr lang="en-US" sz="2400" dirty="0" smtClean="0">
                <a:solidFill>
                  <a:schemeClr val="lt1"/>
                </a:solidFill>
              </a:rPr>
              <a:t> </a:t>
            </a:r>
            <a:r>
              <a:rPr lang="en-US" sz="2400" dirty="0" err="1" smtClean="0">
                <a:solidFill>
                  <a:schemeClr val="lt1"/>
                </a:solidFill>
              </a:rPr>
              <a:t>câu</a:t>
            </a:r>
            <a:r>
              <a:rPr lang="en-US" sz="2400" dirty="0" smtClean="0">
                <a:solidFill>
                  <a:schemeClr val="lt1"/>
                </a:solidFill>
              </a:rPr>
              <a:t> </a:t>
            </a:r>
            <a:r>
              <a:rPr lang="en-US" sz="2400" dirty="0" err="1" smtClean="0">
                <a:solidFill>
                  <a:schemeClr val="lt1"/>
                </a:solidFill>
              </a:rPr>
              <a:t>hỏi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Chúng</a:t>
            </a:r>
            <a:r>
              <a:rPr lang="en-US" sz="1800" b="1" dirty="0" smtClean="0">
                <a:solidFill>
                  <a:schemeClr val="dk1"/>
                </a:solidFill>
              </a:rPr>
              <a:t> ta </a:t>
            </a:r>
            <a:r>
              <a:rPr lang="en-US" sz="1800" b="1" dirty="0" err="1" smtClean="0">
                <a:solidFill>
                  <a:schemeClr val="dk1"/>
                </a:solidFill>
              </a:rPr>
              <a:t>có</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 </a:t>
            </a:r>
            <a:r>
              <a:rPr lang="en-US" sz="1800" b="1" dirty="0" err="1" smtClean="0">
                <a:solidFill>
                  <a:schemeClr val="dk1"/>
                </a:solidFill>
              </a:rPr>
              <a:t>như</a:t>
            </a:r>
            <a:r>
              <a:rPr lang="en-US" sz="1800" b="1" dirty="0" smtClean="0">
                <a:solidFill>
                  <a:schemeClr val="dk1"/>
                </a:solidFill>
              </a:rPr>
              <a:t> </a:t>
            </a:r>
            <a:r>
              <a:rPr lang="en-US" sz="1800" b="1" dirty="0" err="1" smtClean="0">
                <a:solidFill>
                  <a:schemeClr val="dk1"/>
                </a:solidFill>
              </a:rPr>
              <a:t>sau</a:t>
            </a:r>
            <a:r>
              <a:rPr lang="en-US" sz="1800" b="1" dirty="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MA, ATR</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18523" y="2484529"/>
            <a:ext cx="4237876" cy="2068997"/>
          </a:xfrm>
          <a:prstGeom prst="rect">
            <a:avLst/>
          </a:prstGeom>
        </p:spPr>
      </p:pic>
      <p:pic>
        <p:nvPicPr>
          <p:cNvPr id="4" name="Picture 3"/>
          <p:cNvPicPr>
            <a:picLocks noChangeAspect="1"/>
          </p:cNvPicPr>
          <p:nvPr/>
        </p:nvPicPr>
        <p:blipFill>
          <a:blip r:embed="rId3"/>
          <a:stretch>
            <a:fillRect/>
          </a:stretch>
        </p:blipFill>
        <p:spPr>
          <a:xfrm>
            <a:off x="5068233" y="4159825"/>
            <a:ext cx="4075767" cy="2099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Thực hành tại lớp</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API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Binance</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Tạo key, get data</a:t>
            </a:r>
            <a:endParaRPr dirty="0"/>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Get dat</a:t>
            </a:r>
            <a:r>
              <a:rPr lang="en-US" alt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a</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&amp; Clean &amp; chuẩn hóa </a:t>
            </a: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data</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endParaRPr lang="en-US" sz="1800" b="1" dirty="0" smtClean="0">
              <a:solidFill>
                <a:schemeClr val="dk1"/>
              </a:solidFill>
            </a:endParaRPr>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Vào</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lệnh</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just" rtl="0">
              <a:lnSpc>
                <a:spcPct val="115000"/>
              </a:lnSpc>
              <a:spcBef>
                <a:spcPts val="1600"/>
              </a:spcBef>
              <a:spcAft>
                <a:spcPts val="0"/>
              </a:spcAft>
              <a:buClr>
                <a:schemeClr val="dk1"/>
              </a:buClr>
              <a:buSzPts val="2000"/>
              <a:buFont typeface="Maven Pro" panose="020B0604020202020204"/>
              <a:buAutoNum type="arabicPeriod"/>
            </a:pPr>
            <a:r>
              <a:rPr lang="vi-VN" sz="1800" b="1" dirty="0" smtClean="0">
                <a:solidFill>
                  <a:schemeClr val="tx1"/>
                </a:solidFill>
                <a:latin typeface="+mn-lt"/>
                <a:ea typeface="Roboto" panose="02000000000000000000"/>
                <a:cs typeface="Roboto" panose="02000000000000000000"/>
                <a:sym typeface="Roboto" panose="02000000000000000000"/>
              </a:rPr>
              <a:t>Bài </a:t>
            </a:r>
            <a:r>
              <a:rPr lang="vi-VN" sz="1800" b="1" dirty="0">
                <a:solidFill>
                  <a:schemeClr val="tx1"/>
                </a:solidFill>
                <a:latin typeface="+mn-lt"/>
                <a:ea typeface="Roboto" panose="02000000000000000000"/>
                <a:cs typeface="Roboto" panose="02000000000000000000"/>
                <a:sym typeface="Roboto" panose="02000000000000000000"/>
              </a:rPr>
              <a:t>học thực tế: Sự phát triển của thị trường dữ liệu tài chính Mỹ cho các quỹ đầu tư định lượng</a:t>
            </a:r>
            <a:endParaRPr lang="vi-VN" sz="1800" b="1" dirty="0">
              <a:solidFill>
                <a:schemeClr val="tx1"/>
              </a:solidFill>
              <a:latin typeface="+mn-lt"/>
            </a:endParaRPr>
          </a:p>
          <a:p>
            <a:pPr marL="101600" marR="0" lvl="0" indent="0" algn="l" rtl="0">
              <a:lnSpc>
                <a:spcPct val="115000"/>
              </a:lnSpc>
              <a:spcBef>
                <a:spcPts val="1600"/>
              </a:spcBef>
              <a:spcAft>
                <a:spcPts val="0"/>
              </a:spcAft>
              <a:buNone/>
            </a:pPr>
            <a:r>
              <a:rPr lang="vi-VN" sz="10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Link video</a:t>
            </a:r>
            <a:r>
              <a:rPr lang="en-US" sz="10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0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xem</a:t>
            </a:r>
            <a:r>
              <a:rPr lang="en-US" sz="10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0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thêm</a:t>
            </a:r>
            <a:r>
              <a:rPr lang="vi-VN" sz="10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endParaRPr sz="10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000" b="1" i="0" u="sng" strike="noStrike" cap="none" dirty="0">
                <a:solidFill>
                  <a:schemeClr val="dk1"/>
                </a:solidFill>
                <a:sym typeface="Arial" panose="020B0604020202020204"/>
                <a:hlinkClick r:id="rId2"/>
              </a:rPr>
              <a:t>https://</a:t>
            </a:r>
            <a:r>
              <a:rPr lang="vi-VN" sz="900" b="1" i="0" u="sng" strike="noStrike" cap="none" dirty="0">
                <a:solidFill>
                  <a:schemeClr val="dk1"/>
                </a:solidFill>
                <a:sym typeface="Arial" panose="020B0604020202020204"/>
                <a:hlinkClick r:id="rId2"/>
              </a:rPr>
              <a:t>www.facebook.com/dangtrithanh9279/posts/pfbid0e9xSFsnLpR3taUpcyA9MxLUNJVAoTD7udT6zJXCNRy5WrsSvzAppFCEDHiicmu14l</a:t>
            </a:r>
            <a:endParaRPr sz="900" b="1" i="0" u="sng" strike="noStrike" cap="none" dirty="0">
              <a:solidFill>
                <a:schemeClr val="dk1"/>
              </a:solidFill>
              <a:sym typeface="Arial" panose="020B0604020202020204"/>
              <a:hlinkClick r:id="rId2"/>
            </a:endParaRPr>
          </a:p>
          <a:p>
            <a:pPr marL="101600" marR="0" lvl="0" indent="0" algn="l" rtl="0">
              <a:lnSpc>
                <a:spcPct val="115000"/>
              </a:lnSpc>
              <a:spcBef>
                <a:spcPts val="1600"/>
              </a:spcBef>
              <a:spcAft>
                <a:spcPts val="0"/>
              </a:spcAft>
              <a:buNone/>
            </a:pPr>
            <a:r>
              <a:rPr lang="vi-VN" sz="900" b="1" i="0" u="sng" strike="noStrike" cap="none" dirty="0">
                <a:solidFill>
                  <a:schemeClr val="dk1"/>
                </a:solidFill>
                <a:sym typeface="Arial" panose="020B0604020202020204"/>
                <a:hlinkClick r:id="rId2"/>
              </a:rPr>
              <a:t>https://www.facebook.com/dangtrithanh9279/videos/259672370192955?paipv=0&amp;eav=AfYrox0quSH7zLXC1kTdQQffg9RBWdlNpaYcKHowFYyULbZH6WAI6doTwjN8up47N6I&amp;_rdr</a:t>
            </a:r>
            <a:r>
              <a:rPr lang="vi-VN" sz="900" b="1" i="0" u="none" strike="noStrike" cap="none" dirty="0">
                <a:solidFill>
                  <a:schemeClr val="dk1"/>
                </a:solidFill>
                <a:sym typeface="Arial" panose="020B0604020202020204"/>
              </a:rPr>
              <a:t> </a:t>
            </a:r>
            <a:endParaRPr sz="900" dirty="0"/>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p1"/>
          <p:cNvSpPr txBox="1"/>
          <p:nvPr/>
        </p:nvSpPr>
        <p:spPr>
          <a:xfrm>
            <a:off x="424875" y="162560"/>
            <a:ext cx="87111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Giới thiệu Crypto, Binance và tạo tài khoản Binance</a:t>
            </a:r>
            <a:endParaRPr dirty="0"/>
          </a:p>
        </p:txBody>
      </p:sp>
      <p:sp>
        <p:nvSpPr>
          <p:cNvPr id="107" name="Google Shape;107;p1"/>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1600"/>
              </a:spcBef>
              <a:spcAft>
                <a:spcPts val="0"/>
              </a:spcAft>
              <a:buNone/>
            </a:pPr>
            <a:r>
              <a:rPr lang="vi-VN" sz="1800" b="1" dirty="0">
                <a:solidFill>
                  <a:schemeClr val="dk1"/>
                </a:solidFill>
              </a:rPr>
              <a:t>Giới thiệu Binance:</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Tru</a:t>
            </a:r>
            <a:r>
              <a:rPr lang="vi-VN" sz="1800" b="1" dirty="0">
                <a:solidFill>
                  <a:schemeClr val="dk1"/>
                </a:solidFill>
              </a:rPr>
              <a:t>y cập vào link: </a:t>
            </a:r>
            <a:r>
              <a:rPr lang="vi-VN" sz="1800" b="1" i="0" u="sng" strike="noStrike" cap="none" dirty="0">
                <a:solidFill>
                  <a:schemeClr val="dk1"/>
                </a:solidFill>
                <a:latin typeface="Arial" panose="020B0604020202020204"/>
                <a:ea typeface="Arial" panose="020B0604020202020204"/>
                <a:cs typeface="Arial" panose="020B0604020202020204"/>
                <a:sym typeface="Arial" panose="020B0604020202020204"/>
                <a:hlinkClick r:id="rId2"/>
              </a:rPr>
              <a:t>https://www.binance.com</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1"/>
        <p:cNvGrpSpPr/>
        <p:nvPr/>
      </p:nvGrpSpPr>
      <p:grpSpPr>
        <a:xfrm>
          <a:off x="0" y="0"/>
          <a:ext cx="0" cy="0"/>
          <a:chOff x="0" y="0"/>
          <a:chExt cx="0" cy="0"/>
        </a:xfrm>
      </p:grpSpPr>
      <p:sp>
        <p:nvSpPr>
          <p:cNvPr id="112" name="Google Shape;112;g2932fd1a1f7_1_3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en-US" dirty="0" err="1" smtClean="0"/>
              <a:t>Binance</a:t>
            </a:r>
            <a:r>
              <a:rPr lang="en-US" dirty="0" smtClean="0"/>
              <a:t> </a:t>
            </a:r>
            <a:r>
              <a:rPr lang="vi-VN" dirty="0" smtClean="0"/>
              <a:t>API</a:t>
            </a:r>
            <a:r>
              <a:rPr lang="vi-VN" dirty="0"/>
              <a:t>: Truy cập vào</a:t>
            </a:r>
            <a:endParaRPr dirty="0"/>
          </a:p>
        </p:txBody>
      </p:sp>
      <p:sp>
        <p:nvSpPr>
          <p:cNvPr id="113" name="Google Shape;113;g2932fd1a1f7_1_31"/>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1600"/>
              </a:spcBef>
              <a:spcAft>
                <a:spcPts val="0"/>
              </a:spcAft>
              <a:buClr>
                <a:schemeClr val="dk1"/>
              </a:buClr>
              <a:buSzPts val="2000"/>
              <a:buFont typeface="Maven Pro" panose="020B0604020202020204"/>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API: Truy cập vào </a:t>
            </a:r>
            <a:r>
              <a:rPr lang="vi-VN" sz="1800" b="1" i="0" u="sng" strike="noStrike" cap="none">
                <a:solidFill>
                  <a:schemeClr val="dk1"/>
                </a:solidFill>
                <a:latin typeface="Arial" panose="020B0604020202020204"/>
                <a:ea typeface="Arial" panose="020B0604020202020204"/>
                <a:cs typeface="Arial" panose="020B0604020202020204"/>
                <a:sym typeface="Arial" panose="020B0604020202020204"/>
                <a:hlinkClick r:id="rId2"/>
              </a:rPr>
              <a:t>https://www.binance.com/en/my/settings/api-management</a:t>
            </a: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14" name="Google Shape;114;g2932fd1a1f7_1_31"/>
          <p:cNvPicPr preferRelativeResize="0"/>
          <p:nvPr/>
        </p:nvPicPr>
        <p:blipFill rotWithShape="1">
          <a:blip r:embed="rId3"/>
          <a:srcRect/>
          <a:stretch>
            <a:fillRect/>
          </a:stretch>
        </p:blipFill>
        <p:spPr>
          <a:xfrm>
            <a:off x="704085" y="1579414"/>
            <a:ext cx="8301367" cy="42460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8"/>
        <p:cNvGrpSpPr/>
        <p:nvPr/>
      </p:nvGrpSpPr>
      <p:grpSpPr>
        <a:xfrm>
          <a:off x="0" y="0"/>
          <a:ext cx="0" cy="0"/>
          <a:chOff x="0" y="0"/>
          <a:chExt cx="0" cy="0"/>
        </a:xfrm>
      </p:grpSpPr>
      <p:sp>
        <p:nvSpPr>
          <p:cNvPr id="119" name="Google Shape;119;p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Tạo key, get data</a:t>
            </a:r>
            <a:endParaRPr dirty="0"/>
          </a:p>
        </p:txBody>
      </p:sp>
      <p:sp>
        <p:nvSpPr>
          <p:cNvPr id="120" name="Google Shape;120;p5"/>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2.  Tạo key, get data</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1" name="Google Shape;121;p5"/>
          <p:cNvPicPr preferRelativeResize="0"/>
          <p:nvPr/>
        </p:nvPicPr>
        <p:blipFill rotWithShape="1">
          <a:blip r:embed="rId2"/>
          <a:srcRect/>
          <a:stretch>
            <a:fillRect/>
          </a:stretch>
        </p:blipFill>
        <p:spPr>
          <a:xfrm>
            <a:off x="615514" y="1263191"/>
            <a:ext cx="8417649" cy="42945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5"/>
        <p:cNvGrpSpPr/>
        <p:nvPr/>
      </p:nvGrpSpPr>
      <p:grpSpPr>
        <a:xfrm>
          <a:off x="0" y="0"/>
          <a:ext cx="0" cy="0"/>
          <a:chOff x="0" y="0"/>
          <a:chExt cx="0" cy="0"/>
        </a:xfrm>
      </p:grpSpPr>
      <p:sp>
        <p:nvSpPr>
          <p:cNvPr id="126" name="Google Shape;126;p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a:solidFill>
                  <a:schemeClr val="lt1"/>
                </a:solidFill>
              </a:rPr>
              <a:t>Tạo key, get data</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7" name="Google Shape;127;p6"/>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2.  Tạo key, get data</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8" name="Google Shape;128;p6"/>
          <p:cNvPicPr preferRelativeResize="0"/>
          <p:nvPr/>
        </p:nvPicPr>
        <p:blipFill rotWithShape="1">
          <a:blip r:embed="rId2"/>
          <a:srcRect/>
          <a:stretch>
            <a:fillRect/>
          </a:stretch>
        </p:blipFill>
        <p:spPr>
          <a:xfrm>
            <a:off x="622741" y="1269621"/>
            <a:ext cx="8385866" cy="42629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5"/>
        <p:cNvGrpSpPr/>
        <p:nvPr/>
      </p:nvGrpSpPr>
      <p:grpSpPr>
        <a:xfrm>
          <a:off x="0" y="0"/>
          <a:ext cx="0" cy="0"/>
          <a:chOff x="0" y="0"/>
          <a:chExt cx="0" cy="0"/>
        </a:xfrm>
      </p:grpSpPr>
      <p:sp>
        <p:nvSpPr>
          <p:cNvPr id="126" name="Google Shape;126;p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a:solidFill>
                  <a:schemeClr val="lt1"/>
                </a:solidFill>
              </a:rPr>
              <a:t>Tạo key, get data</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7" name="Google Shape;127;p6"/>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AutoNum type="arabicPeriod" startAt="2"/>
            </a:pPr>
            <a:r>
              <a:rPr lang="vi-VN" sz="1600" b="1" i="0" u="none" strike="noStrike" cap="none" dirty="0" smtClean="0">
                <a:solidFill>
                  <a:schemeClr val="dk1"/>
                </a:solidFill>
                <a:sym typeface="Arial" panose="020B0604020202020204"/>
              </a:rPr>
              <a:t>Tạo </a:t>
            </a:r>
            <a:r>
              <a:rPr lang="vi-VN" sz="1600" b="1" i="0" u="none" strike="noStrike" cap="none" dirty="0">
                <a:solidFill>
                  <a:schemeClr val="dk1"/>
                </a:solidFill>
                <a:sym typeface="Arial" panose="020B0604020202020204"/>
              </a:rPr>
              <a:t>key, get </a:t>
            </a:r>
            <a:r>
              <a:rPr lang="vi-VN" sz="1600" b="1" i="0" u="none" strike="noStrike" cap="none" dirty="0" smtClean="0">
                <a:solidFill>
                  <a:schemeClr val="dk1"/>
                </a:solidFill>
                <a:sym typeface="Arial" panose="020B0604020202020204"/>
              </a:rPr>
              <a:t>data</a:t>
            </a:r>
            <a:r>
              <a:rPr lang="en-US" sz="1600" b="1" i="0" u="none" strike="noStrike" cap="none" dirty="0" smtClean="0">
                <a:solidFill>
                  <a:schemeClr val="dk1"/>
                </a:solidFill>
                <a:sym typeface="Arial" panose="020B0604020202020204"/>
              </a:rPr>
              <a:t> (</a:t>
            </a:r>
            <a:r>
              <a:rPr lang="en-US" sz="1600" b="1" i="0" u="none" strike="noStrike" cap="none" dirty="0" err="1" smtClean="0">
                <a:solidFill>
                  <a:schemeClr val="dk1"/>
                </a:solidFill>
                <a:sym typeface="Arial" panose="020B0604020202020204"/>
              </a:rPr>
              <a:t>tt</a:t>
            </a:r>
            <a:r>
              <a:rPr lang="en-US" sz="1600" b="1" i="0" u="none" strike="noStrike" cap="none" dirty="0" smtClean="0">
                <a:solidFill>
                  <a:schemeClr val="dk1"/>
                </a:solidFill>
                <a:sym typeface="Arial" panose="020B0604020202020204"/>
              </a:rPr>
              <a:t>)</a:t>
            </a:r>
            <a:endParaRPr lang="en-US" sz="1600" b="1" i="0" u="none" strike="noStrike" cap="none" dirty="0" smtClean="0">
              <a:solidFill>
                <a:schemeClr val="dk1"/>
              </a:solidFill>
              <a:sym typeface="Arial" panose="020B0604020202020204"/>
            </a:endParaRPr>
          </a:p>
          <a:p>
            <a:pPr marL="101600" lvl="0" algn="just">
              <a:lnSpc>
                <a:spcPct val="115000"/>
              </a:lnSpc>
              <a:spcBef>
                <a:spcPts val="1600"/>
              </a:spcBef>
            </a:pPr>
            <a:r>
              <a:rPr lang="en-US" sz="1350" b="1" dirty="0" smtClean="0"/>
              <a:t>Enable Reading: </a:t>
            </a:r>
            <a:r>
              <a:rPr lang="en-US" sz="1350" dirty="0" smtClean="0"/>
              <a:t>Cho </a:t>
            </a:r>
            <a:r>
              <a:rPr lang="en-US" sz="1350" dirty="0" err="1" smtClean="0"/>
              <a:t>phép</a:t>
            </a:r>
            <a:r>
              <a:rPr lang="en-US" sz="1350" dirty="0" smtClean="0"/>
              <a:t> </a:t>
            </a:r>
            <a:r>
              <a:rPr lang="en-US" sz="1350" dirty="0" err="1" smtClean="0"/>
              <a:t>lấy</a:t>
            </a:r>
            <a:r>
              <a:rPr lang="en-US" sz="1350" dirty="0" smtClean="0"/>
              <a:t> </a:t>
            </a:r>
            <a:r>
              <a:rPr lang="en-US" sz="1350" dirty="0" err="1" smtClean="0"/>
              <a:t>thông</a:t>
            </a:r>
            <a:r>
              <a:rPr lang="en-US" sz="1350" dirty="0" smtClean="0"/>
              <a:t> tin, </a:t>
            </a:r>
            <a:r>
              <a:rPr lang="vi-VN" sz="1350" dirty="0" smtClean="0"/>
              <a:t>như </a:t>
            </a:r>
            <a:r>
              <a:rPr lang="vi-VN" sz="1350" dirty="0"/>
              <a:t>lịch sử giao dịch, số dư tài khoản, và thông tin thị </a:t>
            </a:r>
            <a:r>
              <a:rPr lang="vi-VN" sz="1350" dirty="0" smtClean="0"/>
              <a:t>trường</a:t>
            </a:r>
            <a:r>
              <a:rPr lang="en-US" sz="1350" dirty="0" smtClean="0"/>
              <a:t>.</a:t>
            </a:r>
            <a:endParaRPr lang="en-US" sz="1350" dirty="0" smtClean="0"/>
          </a:p>
          <a:p>
            <a:pPr marL="101600" lvl="0" algn="just">
              <a:lnSpc>
                <a:spcPct val="115000"/>
              </a:lnSpc>
              <a:spcBef>
                <a:spcPts val="1600"/>
              </a:spcBef>
            </a:pPr>
            <a:r>
              <a:rPr lang="vi-VN" sz="1350" b="1" dirty="0"/>
              <a:t>Enable </a:t>
            </a:r>
            <a:r>
              <a:rPr lang="vi-VN" sz="1350" dirty="0"/>
              <a:t>Spot</a:t>
            </a:r>
            <a:r>
              <a:rPr lang="vi-VN" sz="1350" b="1" dirty="0"/>
              <a:t> &amp; Margin Trading</a:t>
            </a:r>
            <a:r>
              <a:rPr lang="vi-VN" sz="1350" dirty="0"/>
              <a:t>: </a:t>
            </a:r>
            <a:r>
              <a:rPr lang="en-US" sz="1350" dirty="0" smtClean="0"/>
              <a:t>C</a:t>
            </a:r>
            <a:r>
              <a:rPr lang="vi-VN" sz="1350" dirty="0" smtClean="0"/>
              <a:t>ho </a:t>
            </a:r>
            <a:r>
              <a:rPr lang="vi-VN" sz="1350" dirty="0"/>
              <a:t>phép API key thực hiện các lệnh giao dịch spot và margin. Điều này bao gồm việc mua và bán các loại tiền tệ hoặc tiền điện tử trong tài khoản giao dịch thông thường và margin </a:t>
            </a:r>
            <a:r>
              <a:rPr lang="vi-VN" sz="1350" dirty="0" smtClean="0"/>
              <a:t>của.</a:t>
            </a:r>
            <a:endParaRPr lang="en-US" sz="1350" dirty="0" smtClean="0"/>
          </a:p>
          <a:p>
            <a:pPr marL="101600" lvl="0" algn="just">
              <a:lnSpc>
                <a:spcPct val="115000"/>
              </a:lnSpc>
              <a:spcBef>
                <a:spcPts val="1600"/>
              </a:spcBef>
            </a:pPr>
            <a:r>
              <a:rPr lang="vi-VN" sz="1350" b="1" dirty="0"/>
              <a:t>Enable Withdrawals</a:t>
            </a:r>
            <a:r>
              <a:rPr lang="vi-VN" sz="1350" dirty="0"/>
              <a:t>: Cho phép rút tiền từ tài </a:t>
            </a:r>
            <a:r>
              <a:rPr lang="vi-VN" sz="1350" dirty="0" smtClean="0"/>
              <a:t>khoản</a:t>
            </a:r>
            <a:r>
              <a:rPr lang="en-US" sz="1350" dirty="0" smtClean="0"/>
              <a:t>,</a:t>
            </a:r>
            <a:r>
              <a:rPr lang="vi-VN" sz="1350" dirty="0" smtClean="0"/>
              <a:t> </a:t>
            </a:r>
            <a:r>
              <a:rPr lang="vi-VN" sz="1350" dirty="0"/>
              <a:t>có thể được sử dụng để rút tiền điện tử hoặc các loại tiền tệ khác từ tài khoản </a:t>
            </a:r>
            <a:r>
              <a:rPr lang="vi-VN" sz="1350" dirty="0" smtClean="0"/>
              <a:t>đến </a:t>
            </a:r>
            <a:r>
              <a:rPr lang="vi-VN" sz="1350" dirty="0"/>
              <a:t>các địa chỉ khác. Đây là một quyền mạnh mẽ và nên được cân nhắc kỹ lưỡng vì nó có rủi ro mất mát tài sản cao nếu API key bị lộ</a:t>
            </a:r>
            <a:r>
              <a:rPr lang="vi-VN" sz="1350" dirty="0" smtClean="0"/>
              <a:t>.</a:t>
            </a:r>
            <a:endParaRPr lang="en-US" sz="1350" dirty="0" smtClean="0"/>
          </a:p>
          <a:p>
            <a:pPr marL="101600" lvl="0" algn="just">
              <a:lnSpc>
                <a:spcPct val="115000"/>
              </a:lnSpc>
              <a:spcBef>
                <a:spcPts val="1600"/>
              </a:spcBef>
            </a:pPr>
            <a:r>
              <a:rPr lang="vi-VN" sz="1350" b="1" dirty="0" smtClean="0"/>
              <a:t>Enable </a:t>
            </a:r>
            <a:r>
              <a:rPr lang="vi-VN" sz="1350" b="1" dirty="0"/>
              <a:t>Margin Loan, Repay &amp; Transfer</a:t>
            </a:r>
            <a:r>
              <a:rPr lang="vi-VN" sz="1350" dirty="0"/>
              <a:t>: Cho phép </a:t>
            </a:r>
            <a:r>
              <a:rPr lang="vi-VN" sz="1350" dirty="0" smtClean="0"/>
              <a:t>thực </a:t>
            </a:r>
            <a:r>
              <a:rPr lang="vi-VN" sz="1350" dirty="0"/>
              <a:t>hiện các hoạt động liên quan đến vay margin, trả nợ, và chuyển tiền giữa các tài khoản hoặc các loại tiền khác nhau trong tài khoản margin của bạn</a:t>
            </a:r>
            <a:r>
              <a:rPr lang="vi-VN" sz="1350" dirty="0" smtClean="0"/>
              <a:t>.</a:t>
            </a:r>
            <a:endParaRPr lang="en-US" sz="1350" dirty="0" smtClean="0"/>
          </a:p>
          <a:p>
            <a:pPr marL="101600" lvl="0" algn="just">
              <a:lnSpc>
                <a:spcPct val="115000"/>
              </a:lnSpc>
              <a:spcBef>
                <a:spcPts val="1600"/>
              </a:spcBef>
            </a:pPr>
            <a:r>
              <a:rPr lang="vi-VN" sz="1350" b="1" dirty="0" smtClean="0"/>
              <a:t>Permits </a:t>
            </a:r>
            <a:r>
              <a:rPr lang="vi-VN" sz="1350" b="1" dirty="0"/>
              <a:t>Universal Transfer</a:t>
            </a:r>
            <a:r>
              <a:rPr lang="vi-VN" sz="1350" dirty="0"/>
              <a:t>: Cho phép chuyển tiền giữa các tài khoản Binance khác nhau mà bạn sở hữu, chẳng hạn như từ tài khoản chính đến tài khoản phụ hoặc giữa các tài khoản spot, futures, và margin</a:t>
            </a:r>
            <a:r>
              <a:rPr lang="vi-VN" sz="1350" dirty="0" smtClean="0"/>
              <a:t>.</a:t>
            </a:r>
            <a:endParaRPr lang="en-US" sz="1350" dirty="0" smtClean="0"/>
          </a:p>
          <a:p>
            <a:pPr marL="101600" lvl="0" algn="just">
              <a:lnSpc>
                <a:spcPct val="115000"/>
              </a:lnSpc>
              <a:spcBef>
                <a:spcPts val="1600"/>
              </a:spcBef>
            </a:pPr>
            <a:r>
              <a:rPr lang="vi-VN" sz="1350" b="1" dirty="0" smtClean="0"/>
              <a:t>IP </a:t>
            </a:r>
            <a:r>
              <a:rPr lang="vi-VN" sz="1350" b="1" dirty="0"/>
              <a:t>Access Restrictions</a:t>
            </a:r>
            <a:r>
              <a:rPr lang="vi-VN" sz="1350" dirty="0"/>
              <a:t>: Bạn có thể giới hạn API key chỉ có thể được sử dụng từ một số địa chỉ IP cụ thể. Điều này tăng cường bảo mật cho API key của bạn vì chỉ những yêu cầu từ IP được phép mới có thể sử dụng key để tương tác với tài khoản của bạn.</a:t>
            </a:r>
            <a:endParaRPr lang="vi-VN" sz="1350" dirty="0"/>
          </a:p>
          <a:p>
            <a:pPr marL="101600" lvl="0" algn="just">
              <a:lnSpc>
                <a:spcPct val="115000"/>
              </a:lnSpc>
              <a:spcBef>
                <a:spcPts val="1600"/>
              </a:spcBef>
            </a:pPr>
            <a:endParaRPr lang="en-US" sz="1350" dirty="0" smtClean="0"/>
          </a:p>
          <a:p>
            <a:pPr marL="101600" lvl="0" algn="just">
              <a:lnSpc>
                <a:spcPct val="115000"/>
              </a:lnSpc>
              <a:spcBef>
                <a:spcPts val="1600"/>
              </a:spcBef>
            </a:pPr>
            <a:endParaRPr sz="1350" b="1" i="0" u="none" strike="noStrike" cap="none" dirty="0" smtClean="0">
              <a:solidFill>
                <a:schemeClr val="dk1"/>
              </a:solidFill>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2"/>
        <p:cNvGrpSpPr/>
        <p:nvPr/>
      </p:nvGrpSpPr>
      <p:grpSpPr>
        <a:xfrm>
          <a:off x="0" y="0"/>
          <a:ext cx="0" cy="0"/>
          <a:chOff x="0" y="0"/>
          <a:chExt cx="0" cy="0"/>
        </a:xfrm>
      </p:grpSpPr>
      <p:sp>
        <p:nvSpPr>
          <p:cNvPr id="133" name="Google Shape;133;p7"/>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Get data &amp; Clean &amp; chuẩn hóa data</a:t>
            </a:r>
            <a:endParaRPr dirty="0"/>
          </a:p>
        </p:txBody>
      </p:sp>
      <p:sp>
        <p:nvSpPr>
          <p:cNvPr id="134" name="Google Shape;134;p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35" name="Google Shape;135;p7"/>
          <p:cNvPicPr preferRelativeResize="0"/>
          <p:nvPr/>
        </p:nvPicPr>
        <p:blipFill rotWithShape="1">
          <a:blip r:embed="rId2"/>
          <a:srcRect/>
          <a:stretch>
            <a:fillRect/>
          </a:stretch>
        </p:blipFill>
        <p:spPr>
          <a:xfrm>
            <a:off x="628132" y="1290323"/>
            <a:ext cx="8306393" cy="31338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9"/>
        <p:cNvGrpSpPr/>
        <p:nvPr/>
      </p:nvGrpSpPr>
      <p:grpSpPr>
        <a:xfrm>
          <a:off x="0" y="0"/>
          <a:ext cx="0" cy="0"/>
          <a:chOff x="0" y="0"/>
          <a:chExt cx="0" cy="0"/>
        </a:xfrm>
      </p:grpSpPr>
      <p:sp>
        <p:nvSpPr>
          <p:cNvPr id="140" name="Google Shape;140;p8"/>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Get data &amp; Clean &amp; chuẩn hóa data</a:t>
            </a:r>
            <a:endParaRPr dirty="0"/>
          </a:p>
        </p:txBody>
      </p:sp>
      <p:sp>
        <p:nvSpPr>
          <p:cNvPr id="141" name="Google Shape;141;p8"/>
          <p:cNvSpPr txBox="1"/>
          <p:nvPr/>
        </p:nvSpPr>
        <p:spPr>
          <a:xfrm>
            <a:off x="424875" y="63146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CCXT là một thư viện giao diện lập trình ứng dụng (API) </a:t>
            </a:r>
            <a:r>
              <a:rPr lang="vi-VN" sz="1350" b="1" i="0" u="none" strike="noStrike" cap="none" dirty="0">
                <a:solidFill>
                  <a:srgbClr val="000000"/>
                </a:solidFill>
                <a:latin typeface="Arial" panose="020B0604020202020204"/>
                <a:ea typeface="Arial" panose="020B0604020202020204"/>
                <a:cs typeface="Arial" panose="020B0604020202020204"/>
                <a:sym typeface="Arial" panose="020B0604020202020204"/>
              </a:rPr>
              <a:t>cho tiền điện tử và thương mại điện tử</a:t>
            </a: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 Thư viện này cung cấp quyền truy cập vào dữ liệu và chức năng của hơn 100 sàn giao dịch tiền điện tử.</a:t>
            </a:r>
            <a:endParaRPr dirty="0"/>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CCXT có thể được sử dụng để thực hiện các tác vụ như:</a:t>
            </a:r>
            <a:endParaRPr dirty="0"/>
          </a:p>
          <a:p>
            <a:pPr marL="285750" marR="0" lvl="3"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Truy vấn dữ liệu thị trường, chẳng hạn như giá, khối lượng và biến động</a:t>
            </a:r>
            <a:endParaRPr dirty="0"/>
          </a:p>
          <a:p>
            <a:pPr marL="285750" marR="0" lvl="3"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Đặt lệnh mua và bán</a:t>
            </a:r>
            <a:endParaRPr dirty="0"/>
          </a:p>
          <a:p>
            <a:pPr marL="285750" marR="0" lvl="3"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Theo dõi danh mục đầu tư</a:t>
            </a:r>
            <a:endParaRPr dirty="0"/>
          </a:p>
          <a:p>
            <a:pPr marL="285750" marR="0" lvl="3"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Tự động hóa giao dịch</a:t>
            </a:r>
            <a:endParaRPr dirty="0"/>
          </a:p>
          <a:p>
            <a:pPr marL="0" marR="0" lvl="0" indent="0" algn="just" rtl="0">
              <a:lnSpc>
                <a:spcPct val="100000"/>
              </a:lnSpc>
              <a:spcBef>
                <a:spcPts val="0"/>
              </a:spcBef>
              <a:spcAft>
                <a:spcPts val="0"/>
              </a:spcAft>
              <a:buNone/>
            </a:pP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CCXT được viết bằng Python, JavaScript, PHP và C#. Thư viện này có thể được sử dụng để phát triển các ứng dụng giao dịch tiền điện tử, bot giao dịch và các ứng dụng khác.</a:t>
            </a:r>
            <a:endParaRPr dirty="0"/>
          </a:p>
          <a:p>
            <a:pPr marL="0" marR="0" lvl="0" indent="0" algn="just" rtl="0">
              <a:lnSpc>
                <a:spcPct val="100000"/>
              </a:lnSpc>
              <a:spcBef>
                <a:spcPts val="0"/>
              </a:spcBef>
              <a:spcAft>
                <a:spcPts val="0"/>
              </a:spcAft>
              <a:buNone/>
            </a:pP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Các tính năng chính của CCXT:</a:t>
            </a:r>
            <a:endParaRPr dirty="0"/>
          </a:p>
          <a:p>
            <a:pPr marL="285750" marR="0" lvl="0"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Hỗ trợ hơn 100 sàn giao dịch tiền điện tử</a:t>
            </a:r>
            <a:endParaRPr dirty="0"/>
          </a:p>
          <a:p>
            <a:pPr marL="285750" marR="0" lvl="0"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Truy cập vào dữ liệu thị trường và chức năng của sàn giao dịch</a:t>
            </a:r>
            <a:endParaRPr dirty="0"/>
          </a:p>
          <a:p>
            <a:pPr marL="285750" marR="0" lvl="0"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Dễ sử dụng và bảo mật</a:t>
            </a:r>
            <a:endParaRPr dirty="0"/>
          </a:p>
          <a:p>
            <a:pPr marL="285750" marR="0" lvl="0" indent="-285750" algn="just" rtl="0">
              <a:lnSpc>
                <a:spcPct val="100000"/>
              </a:lnSpc>
              <a:spcBef>
                <a:spcPts val="0"/>
              </a:spcBef>
              <a:spcAft>
                <a:spcPts val="0"/>
              </a:spcAft>
              <a:buClr>
                <a:srgbClr val="000000"/>
              </a:buClr>
              <a:buSzPts val="1350"/>
              <a:buFont typeface="Arial" panose="020B0604020202020204"/>
              <a:buChar char="•"/>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Được viết bằng các ngôn ngữ lập trình phổ biến</a:t>
            </a:r>
            <a:endParaRPr dirty="0"/>
          </a:p>
          <a:p>
            <a:pPr marL="285750" marR="0" lvl="0" indent="-200025" algn="just" rtl="0">
              <a:lnSpc>
                <a:spcPct val="100000"/>
              </a:lnSpc>
              <a:spcBef>
                <a:spcPts val="0"/>
              </a:spcBef>
              <a:spcAft>
                <a:spcPts val="0"/>
              </a:spcAft>
              <a:buClr>
                <a:srgbClr val="000000"/>
              </a:buClr>
              <a:buSzPts val="1350"/>
              <a:buFont typeface="Arial" panose="020B0604020202020204"/>
              <a:buNone/>
            </a:pP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Cách cài đặt CCXT:</a:t>
            </a:r>
            <a:endParaRPr dirty="0"/>
          </a:p>
          <a:p>
            <a:pPr marL="0" marR="0" lvl="0" indent="0" algn="just" rtl="0">
              <a:lnSpc>
                <a:spcPct val="100000"/>
              </a:lnSpc>
              <a:spcBef>
                <a:spcPts val="0"/>
              </a:spcBef>
              <a:spcAft>
                <a:spcPts val="0"/>
              </a:spcAft>
              <a:buNone/>
            </a:pPr>
            <a:r>
              <a:rPr lang="vi-VN" sz="1350" b="1" i="0" u="none" strike="noStrike" cap="none" dirty="0">
                <a:solidFill>
                  <a:srgbClr val="000000"/>
                </a:solidFill>
                <a:sym typeface="Arial" panose="020B0604020202020204"/>
              </a:rPr>
              <a:t>pip install ccxt</a:t>
            </a:r>
            <a:endParaRPr b="1" dirty="0"/>
          </a:p>
          <a:p>
            <a:pPr marL="0" marR="0" lvl="0" indent="0" algn="just" rtl="0">
              <a:lnSpc>
                <a:spcPct val="100000"/>
              </a:lnSpc>
              <a:spcBef>
                <a:spcPts val="0"/>
              </a:spcBef>
              <a:spcAft>
                <a:spcPts val="0"/>
              </a:spcAft>
              <a:buNone/>
            </a:pP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Tài liệu tham khảo:</a:t>
            </a:r>
            <a:endParaRPr dirty="0"/>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Trang web chính thức của CCXT: </a:t>
            </a:r>
            <a:r>
              <a:rPr lang="vi-VN" sz="1350" b="0" i="0" u="sng" strike="noStrike" cap="none" dirty="0">
                <a:solidFill>
                  <a:srgbClr val="000000"/>
                </a:solidFill>
                <a:latin typeface="Arial" panose="020B0604020202020204"/>
                <a:ea typeface="Arial" panose="020B0604020202020204"/>
                <a:cs typeface="Arial" panose="020B0604020202020204"/>
                <a:sym typeface="Arial" panose="020B0604020202020204"/>
                <a:hlinkClick r:id="rId2"/>
              </a:rPr>
              <a:t>https://github.com/ccxt/ccxt</a:t>
            </a: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Tài liệu tham khảo của CCXT: </a:t>
            </a:r>
            <a:r>
              <a:rPr lang="vi-VN" sz="1350" b="0" i="0" u="sng" strike="noStrike" cap="none" dirty="0">
                <a:solidFill>
                  <a:srgbClr val="000000"/>
                </a:solidFill>
                <a:latin typeface="Arial" panose="020B0604020202020204"/>
                <a:ea typeface="Arial" panose="020B0604020202020204"/>
                <a:cs typeface="Arial" panose="020B0604020202020204"/>
                <a:sym typeface="Arial" panose="020B0604020202020204"/>
                <a:hlinkClick r:id="rId3"/>
              </a:rPr>
              <a:t>https://ccxt.readthedocs.io/en/latest/</a:t>
            </a:r>
            <a:r>
              <a:rPr lang="vi-VN" sz="135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endParaRPr sz="135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5"/>
        <p:cNvGrpSpPr/>
        <p:nvPr/>
      </p:nvGrpSpPr>
      <p:grpSpPr>
        <a:xfrm>
          <a:off x="0" y="0"/>
          <a:ext cx="0" cy="0"/>
          <a:chOff x="0" y="0"/>
          <a:chExt cx="0" cy="0"/>
        </a:xfrm>
      </p:grpSpPr>
      <p:sp>
        <p:nvSpPr>
          <p:cNvPr id="146" name="Google Shape;146;p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Get data &amp; Clean &amp; chuẩn hóa data</a:t>
            </a:r>
            <a:endParaRPr dirty="0"/>
          </a:p>
        </p:txBody>
      </p:sp>
      <p:sp>
        <p:nvSpPr>
          <p:cNvPr id="147" name="Google Shape;147;p9"/>
          <p:cNvSpPr txBox="1"/>
          <p:nvPr/>
        </p:nvSpPr>
        <p:spPr>
          <a:xfrm>
            <a:off x="424875" y="66194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48" name="Google Shape;148;p9"/>
          <p:cNvPicPr preferRelativeResize="0"/>
          <p:nvPr/>
        </p:nvPicPr>
        <p:blipFill rotWithShape="1">
          <a:blip r:embed="rId2"/>
          <a:srcRect/>
          <a:stretch>
            <a:fillRect/>
          </a:stretch>
        </p:blipFill>
        <p:spPr>
          <a:xfrm>
            <a:off x="634465" y="1275767"/>
            <a:ext cx="7087135" cy="48064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2"/>
        <p:cNvGrpSpPr/>
        <p:nvPr/>
      </p:nvGrpSpPr>
      <p:grpSpPr>
        <a:xfrm>
          <a:off x="0" y="0"/>
          <a:ext cx="0" cy="0"/>
          <a:chOff x="0" y="0"/>
          <a:chExt cx="0" cy="0"/>
        </a:xfrm>
      </p:grpSpPr>
      <p:sp>
        <p:nvSpPr>
          <p:cNvPr id="153" name="Google Shape;153;p1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Get data &amp; Clean &amp; chuẩn hóa data</a:t>
            </a:r>
            <a:endParaRPr dirty="0"/>
          </a:p>
        </p:txBody>
      </p:sp>
      <p:sp>
        <p:nvSpPr>
          <p:cNvPr id="154" name="Google Shape;154;p10"/>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800" i="0" u="none" strike="noStrike" cap="none" dirty="0">
                <a:solidFill>
                  <a:schemeClr val="dk1"/>
                </a:solidFill>
                <a:sym typeface="Arial" panose="020B0604020202020204"/>
              </a:rPr>
              <a:t>Chỉ lấy dữ liệu có free &gt; hoặc locked &gt; 0</a:t>
            </a:r>
            <a:endParaRPr dirty="0"/>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55" name="Google Shape;155;p10"/>
          <p:cNvPicPr preferRelativeResize="0"/>
          <p:nvPr/>
        </p:nvPicPr>
        <p:blipFill rotWithShape="1">
          <a:blip r:embed="rId2"/>
          <a:srcRect/>
          <a:stretch>
            <a:fillRect/>
          </a:stretch>
        </p:blipFill>
        <p:spPr>
          <a:xfrm>
            <a:off x="640919" y="1805023"/>
            <a:ext cx="8418249" cy="42540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9"/>
        <p:cNvGrpSpPr/>
        <p:nvPr/>
      </p:nvGrpSpPr>
      <p:grpSpPr>
        <a:xfrm>
          <a:off x="0" y="0"/>
          <a:ext cx="0" cy="0"/>
          <a:chOff x="0" y="0"/>
          <a:chExt cx="0" cy="0"/>
        </a:xfrm>
      </p:grpSpPr>
      <p:sp>
        <p:nvSpPr>
          <p:cNvPr id="160" name="Google Shape;160;p1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dirty="0"/>
              <a:t>Get data &amp; Clean &amp; chuẩn hóa data</a:t>
            </a:r>
            <a:endParaRPr dirty="0"/>
          </a:p>
        </p:txBody>
      </p:sp>
      <p:sp>
        <p:nvSpPr>
          <p:cNvPr id="161" name="Google Shape;161;p11"/>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62" name="Google Shape;162;p11"/>
          <p:cNvPicPr preferRelativeResize="0"/>
          <p:nvPr/>
        </p:nvPicPr>
        <p:blipFill rotWithShape="1">
          <a:blip r:embed="rId2"/>
          <a:srcRect/>
          <a:stretch>
            <a:fillRect/>
          </a:stretch>
        </p:blipFill>
        <p:spPr>
          <a:xfrm>
            <a:off x="646545" y="1300352"/>
            <a:ext cx="6419273" cy="46977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6"/>
        <p:cNvGrpSpPr/>
        <p:nvPr/>
      </p:nvGrpSpPr>
      <p:grpSpPr>
        <a:xfrm>
          <a:off x="0" y="0"/>
          <a:ext cx="0" cy="0"/>
          <a:chOff x="0" y="0"/>
          <a:chExt cx="0" cy="0"/>
        </a:xfrm>
      </p:grpSpPr>
      <p:sp>
        <p:nvSpPr>
          <p:cNvPr id="167" name="Google Shape;167;p1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SzPts val="2000"/>
              <a:buNone/>
              <a:defRPr sz="2400">
                <a:solidFill>
                  <a:schemeClr val="lt1"/>
                </a:solidFill>
              </a:defRPr>
            </a:lvl1pPr>
          </a:lstStyle>
          <a:p>
            <a:r>
              <a:rPr lang="vi-VN" b="1" dirty="0"/>
              <a:t>Get data &amp; Clean &amp; chuẩn hóa data</a:t>
            </a:r>
            <a:endParaRPr b="1" dirty="0"/>
          </a:p>
        </p:txBody>
      </p:sp>
      <p:sp>
        <p:nvSpPr>
          <p:cNvPr id="168" name="Google Shape;168;p12"/>
          <p:cNvSpPr txBox="1"/>
          <p:nvPr/>
        </p:nvSpPr>
        <p:spPr>
          <a:xfrm>
            <a:off x="424875" y="58066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69" name="Google Shape;169;p12"/>
          <p:cNvPicPr preferRelativeResize="0"/>
          <p:nvPr/>
        </p:nvPicPr>
        <p:blipFill rotWithShape="1">
          <a:blip r:embed="rId2"/>
          <a:srcRect/>
          <a:stretch>
            <a:fillRect/>
          </a:stretch>
        </p:blipFill>
        <p:spPr>
          <a:xfrm>
            <a:off x="629025" y="1260021"/>
            <a:ext cx="7960793" cy="47678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dirty="0">
                <a:solidFill>
                  <a:schemeClr val="lt1"/>
                </a:solidFill>
              </a:rPr>
              <a:t>Get data &amp; Clean &amp; chuẩn hóa data</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5908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3. Get data &amp; Clean &amp; chuẩn hóa data</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176" name="Google Shape;176;g2932fd1a1f7_1_0"/>
          <p:cNvPicPr preferRelativeResize="0"/>
          <p:nvPr/>
        </p:nvPicPr>
        <p:blipFill rotWithShape="1">
          <a:blip r:embed="rId2"/>
          <a:srcRect/>
          <a:stretch>
            <a:fillRect/>
          </a:stretch>
        </p:blipFill>
        <p:spPr>
          <a:xfrm>
            <a:off x="629025" y="1260021"/>
            <a:ext cx="7960792" cy="47678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Lấy</a:t>
            </a:r>
            <a:r>
              <a:rPr lang="en-US" sz="2400" b="1" dirty="0" smtClean="0">
                <a:solidFill>
                  <a:schemeClr val="lt1"/>
                </a:solidFill>
              </a:rPr>
              <a:t> Data </a:t>
            </a:r>
            <a:r>
              <a:rPr lang="en-US" sz="2400" b="1" dirty="0" err="1" smtClean="0">
                <a:solidFill>
                  <a:schemeClr val="lt1"/>
                </a:solidFill>
              </a:rPr>
              <a:t>giá</a:t>
            </a:r>
            <a:r>
              <a:rPr lang="en-US" sz="2400" b="1" dirty="0" smtClean="0">
                <a:solidFill>
                  <a:schemeClr val="lt1"/>
                </a:solidFill>
              </a:rPr>
              <a:t> Crypto </a:t>
            </a:r>
            <a:r>
              <a:rPr lang="en-US" sz="2400" b="1" dirty="0" err="1" smtClean="0">
                <a:solidFill>
                  <a:schemeClr val="lt1"/>
                </a:solidFill>
              </a:rPr>
              <a:t>từ</a:t>
            </a:r>
            <a:r>
              <a:rPr lang="en-US" sz="2400" b="1" dirty="0" smtClean="0">
                <a:solidFill>
                  <a:schemeClr val="lt1"/>
                </a:solidFill>
              </a:rPr>
              <a:t> </a:t>
            </a:r>
            <a:r>
              <a:rPr lang="en-US" sz="2400" b="1" dirty="0" err="1" smtClean="0">
                <a:solidFill>
                  <a:schemeClr val="lt1"/>
                </a:solidFill>
              </a:rPr>
              <a:t>Binance</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416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Data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giá</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Crypto</a:t>
            </a:r>
            <a:endPar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lang="en-US" sz="135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28073" y="1326185"/>
            <a:ext cx="8044305" cy="45943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Lấy</a:t>
            </a:r>
            <a:r>
              <a:rPr lang="en-US" sz="2400" b="1" dirty="0" smtClean="0">
                <a:solidFill>
                  <a:schemeClr val="lt1"/>
                </a:solidFill>
              </a:rPr>
              <a:t> Data </a:t>
            </a:r>
            <a:r>
              <a:rPr lang="en-US" sz="2400" b="1" dirty="0" err="1" smtClean="0">
                <a:solidFill>
                  <a:schemeClr val="lt1"/>
                </a:solidFill>
              </a:rPr>
              <a:t>giá</a:t>
            </a:r>
            <a:r>
              <a:rPr lang="en-US" sz="2400" b="1" dirty="0" smtClean="0">
                <a:solidFill>
                  <a:schemeClr val="lt1"/>
                </a:solidFill>
              </a:rPr>
              <a:t> Crypto </a:t>
            </a:r>
            <a:r>
              <a:rPr lang="en-US" sz="2400" b="1" dirty="0" err="1" smtClean="0">
                <a:solidFill>
                  <a:schemeClr val="lt1"/>
                </a:solidFill>
              </a:rPr>
              <a:t>từ</a:t>
            </a:r>
            <a:r>
              <a:rPr lang="en-US" sz="2400" b="1" dirty="0" smtClean="0">
                <a:solidFill>
                  <a:schemeClr val="lt1"/>
                </a:solidFill>
              </a:rPr>
              <a:t> </a:t>
            </a:r>
            <a:r>
              <a:rPr lang="en-US" sz="2400" b="1" dirty="0" err="1" smtClean="0">
                <a:solidFill>
                  <a:schemeClr val="lt1"/>
                </a:solidFill>
              </a:rPr>
              <a:t>Binance</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Phân</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tích</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dựa</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vào</a:t>
            </a:r>
            <a:r>
              <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giá</a:t>
            </a:r>
            <a:endParaRPr lang="en-US" sz="16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lang="en-US" sz="135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2"/>
          <a:stretch>
            <a:fillRect/>
          </a:stretch>
        </p:blipFill>
        <p:spPr>
          <a:xfrm>
            <a:off x="618523" y="2484530"/>
            <a:ext cx="6862932" cy="33505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Cấu</a:t>
            </a:r>
            <a:r>
              <a:rPr lang="en-US" sz="2400" b="1" dirty="0" smtClean="0">
                <a:solidFill>
                  <a:schemeClr val="lt1"/>
                </a:solidFill>
              </a:rPr>
              <a:t> </a:t>
            </a:r>
            <a:r>
              <a:rPr lang="en-US" sz="2400" b="1" dirty="0" err="1" smtClean="0">
                <a:solidFill>
                  <a:schemeClr val="lt1"/>
                </a:solidFill>
              </a:rPr>
              <a:t>trúc</a:t>
            </a:r>
            <a:r>
              <a:rPr lang="en-US" sz="2400" b="1" dirty="0" smtClean="0">
                <a:solidFill>
                  <a:schemeClr val="lt1"/>
                </a:solidFill>
              </a:rPr>
              <a:t> </a:t>
            </a:r>
            <a:r>
              <a:rPr lang="en-US" sz="2400" b="1" dirty="0" err="1" smtClean="0">
                <a:solidFill>
                  <a:schemeClr val="lt1"/>
                </a:solidFill>
              </a:rPr>
              <a:t>lệnh</a:t>
            </a:r>
            <a:r>
              <a:rPr lang="en-US" sz="2400" b="1" dirty="0" smtClean="0">
                <a:solidFill>
                  <a:schemeClr val="lt1"/>
                </a:solidFill>
              </a:rPr>
              <a:t> Spot: buy </a:t>
            </a:r>
            <a:r>
              <a:rPr lang="en-US" sz="2400" b="1" dirty="0" err="1" smtClean="0">
                <a:solidFill>
                  <a:schemeClr val="lt1"/>
                </a:solidFill>
              </a:rPr>
              <a:t>và</a:t>
            </a:r>
            <a:r>
              <a:rPr lang="en-US" sz="2400" b="1" dirty="0" smtClean="0">
                <a:solidFill>
                  <a:schemeClr val="lt1"/>
                </a:solidFill>
              </a:rPr>
              <a:t> sell </a:t>
            </a:r>
            <a:r>
              <a:rPr lang="en-US" sz="2400" b="1" dirty="0" err="1" smtClean="0">
                <a:solidFill>
                  <a:schemeClr val="lt1"/>
                </a:solidFill>
              </a:rPr>
              <a:t>Binance</a:t>
            </a:r>
            <a:r>
              <a:rPr lang="en-US" sz="2400" b="1" dirty="0" smtClean="0">
                <a:solidFill>
                  <a:schemeClr val="lt1"/>
                </a:solidFill>
              </a:rPr>
              <a:t> </a:t>
            </a:r>
            <a:r>
              <a:rPr lang="en-US" sz="2400" b="1" dirty="0" err="1" smtClean="0">
                <a:solidFill>
                  <a:schemeClr val="lt1"/>
                </a:solidFill>
              </a:rPr>
              <a:t>bằng</a:t>
            </a:r>
            <a:r>
              <a:rPr lang="en-US" sz="2400" b="1" dirty="0" smtClean="0">
                <a:solidFill>
                  <a:schemeClr val="lt1"/>
                </a:solidFill>
              </a:rPr>
              <a:t> API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0098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Cấu</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trúc</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lệnh</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Buy</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28072" y="1283201"/>
            <a:ext cx="6548583" cy="47675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Cấu</a:t>
            </a:r>
            <a:r>
              <a:rPr lang="en-US" sz="2400" b="1" dirty="0" smtClean="0">
                <a:solidFill>
                  <a:schemeClr val="lt1"/>
                </a:solidFill>
              </a:rPr>
              <a:t> </a:t>
            </a:r>
            <a:r>
              <a:rPr lang="en-US" sz="2400" b="1" dirty="0" err="1" smtClean="0">
                <a:solidFill>
                  <a:schemeClr val="lt1"/>
                </a:solidFill>
              </a:rPr>
              <a:t>trúc</a:t>
            </a:r>
            <a:r>
              <a:rPr lang="en-US" sz="2400" b="1" dirty="0" smtClean="0">
                <a:solidFill>
                  <a:schemeClr val="lt1"/>
                </a:solidFill>
              </a:rPr>
              <a:t> </a:t>
            </a:r>
            <a:r>
              <a:rPr lang="en-US" sz="2400" b="1" dirty="0" err="1" smtClean="0">
                <a:solidFill>
                  <a:schemeClr val="lt1"/>
                </a:solidFill>
              </a:rPr>
              <a:t>lệnh</a:t>
            </a:r>
            <a:r>
              <a:rPr lang="en-US" sz="2400" b="1" dirty="0" smtClean="0">
                <a:solidFill>
                  <a:schemeClr val="lt1"/>
                </a:solidFill>
              </a:rPr>
              <a:t> Spot: buy </a:t>
            </a:r>
            <a:r>
              <a:rPr lang="en-US" sz="2400" b="1" dirty="0" err="1" smtClean="0">
                <a:solidFill>
                  <a:schemeClr val="lt1"/>
                </a:solidFill>
              </a:rPr>
              <a:t>và</a:t>
            </a:r>
            <a:r>
              <a:rPr lang="en-US" sz="2400" b="1" dirty="0" smtClean="0">
                <a:solidFill>
                  <a:schemeClr val="lt1"/>
                </a:solidFill>
              </a:rPr>
              <a:t> sell </a:t>
            </a:r>
            <a:r>
              <a:rPr lang="en-US" sz="2400" b="1" dirty="0" err="1" smtClean="0">
                <a:solidFill>
                  <a:schemeClr val="lt1"/>
                </a:solidFill>
              </a:rPr>
              <a:t>Binance</a:t>
            </a:r>
            <a:r>
              <a:rPr lang="en-US" sz="2400" b="1" dirty="0" smtClean="0">
                <a:solidFill>
                  <a:schemeClr val="lt1"/>
                </a:solidFill>
              </a:rPr>
              <a:t> </a:t>
            </a:r>
            <a:r>
              <a:rPr lang="en-US" sz="2400" b="1" dirty="0" err="1" smtClean="0">
                <a:solidFill>
                  <a:schemeClr val="lt1"/>
                </a:solidFill>
              </a:rPr>
              <a:t>bằng</a:t>
            </a:r>
            <a:r>
              <a:rPr lang="en-US" sz="2400" b="1" dirty="0" smtClean="0">
                <a:solidFill>
                  <a:schemeClr val="lt1"/>
                </a:solidFill>
              </a:rPr>
              <a:t> API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0098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Cấu</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trúc</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lệnh</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Sell</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2"/>
          <a:stretch>
            <a:fillRect/>
          </a:stretch>
        </p:blipFill>
        <p:spPr>
          <a:xfrm>
            <a:off x="629259" y="1256144"/>
            <a:ext cx="4931031" cy="474403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Xem</a:t>
            </a:r>
            <a:r>
              <a:rPr lang="en-US" sz="2400" b="1" dirty="0" smtClean="0">
                <a:solidFill>
                  <a:schemeClr val="lt1"/>
                </a:solidFill>
              </a:rPr>
              <a:t> </a:t>
            </a:r>
            <a:r>
              <a:rPr lang="en-US" sz="2400" b="1" dirty="0" err="1" smtClean="0">
                <a:solidFill>
                  <a:schemeClr val="lt1"/>
                </a:solidFill>
              </a:rPr>
              <a:t>lịch</a:t>
            </a:r>
            <a:r>
              <a:rPr lang="en-US" sz="2400" b="1" dirty="0" smtClean="0">
                <a:solidFill>
                  <a:schemeClr val="lt1"/>
                </a:solidFill>
              </a:rPr>
              <a:t> </a:t>
            </a:r>
            <a:r>
              <a:rPr lang="en-US" sz="2400" b="1" dirty="0" err="1" smtClean="0">
                <a:solidFill>
                  <a:schemeClr val="lt1"/>
                </a:solidFill>
              </a:rPr>
              <a:t>sử</a:t>
            </a:r>
            <a:r>
              <a:rPr lang="en-US" sz="2400" b="1" dirty="0" smtClean="0">
                <a:solidFill>
                  <a:schemeClr val="lt1"/>
                </a:solidFill>
              </a:rPr>
              <a:t> </a:t>
            </a:r>
            <a:r>
              <a:rPr lang="en-US" sz="2400" b="1" dirty="0" err="1" smtClean="0">
                <a:solidFill>
                  <a:schemeClr val="lt1"/>
                </a:solidFill>
              </a:rPr>
              <a:t>Mua</a:t>
            </a:r>
            <a:r>
              <a:rPr lang="en-US" sz="2400" b="1" dirty="0" smtClean="0">
                <a:solidFill>
                  <a:schemeClr val="lt1"/>
                </a:solidFill>
              </a:rPr>
              <a:t>/ </a:t>
            </a:r>
            <a:r>
              <a:rPr lang="en-US" sz="2400" b="1" dirty="0" err="1" smtClean="0">
                <a:solidFill>
                  <a:schemeClr val="lt1"/>
                </a:solidFill>
              </a:rPr>
              <a:t>Bán</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0098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Xem</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lịch</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sử</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mua</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bán</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25858" y="1293091"/>
            <a:ext cx="8333415" cy="32256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3"/>
        <p:cNvGrpSpPr/>
        <p:nvPr/>
      </p:nvGrpSpPr>
      <p:grpSpPr>
        <a:xfrm>
          <a:off x="0" y="0"/>
          <a:ext cx="0" cy="0"/>
          <a:chOff x="0" y="0"/>
          <a:chExt cx="0" cy="0"/>
        </a:xfrm>
      </p:grpSpPr>
      <p:sp>
        <p:nvSpPr>
          <p:cNvPr id="174" name="Google Shape;174;g2932fd1a1f7_1_0"/>
          <p:cNvSpPr txBox="1"/>
          <p:nvPr/>
        </p:nvSpPr>
        <p:spPr>
          <a:xfrm>
            <a:off x="304799" y="154525"/>
            <a:ext cx="8211127"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rPr>
              <a:t>Cấu</a:t>
            </a:r>
            <a:r>
              <a:rPr lang="en-US" sz="2400" b="1" dirty="0" smtClean="0">
                <a:solidFill>
                  <a:schemeClr val="lt1"/>
                </a:solidFill>
              </a:rPr>
              <a:t> </a:t>
            </a:r>
            <a:r>
              <a:rPr lang="en-US" sz="2400" b="1" dirty="0" err="1" smtClean="0">
                <a:solidFill>
                  <a:schemeClr val="lt1"/>
                </a:solidFill>
              </a:rPr>
              <a:t>trúc</a:t>
            </a:r>
            <a:r>
              <a:rPr lang="en-US" sz="2400" b="1" dirty="0" smtClean="0">
                <a:solidFill>
                  <a:schemeClr val="lt1"/>
                </a:solidFill>
              </a:rPr>
              <a:t> </a:t>
            </a:r>
            <a:r>
              <a:rPr lang="en-US" sz="2400" b="1" dirty="0" err="1" smtClean="0">
                <a:solidFill>
                  <a:schemeClr val="lt1"/>
                </a:solidFill>
              </a:rPr>
              <a:t>lệnh</a:t>
            </a:r>
            <a:r>
              <a:rPr lang="en-US" sz="2400" b="1" dirty="0" smtClean="0">
                <a:solidFill>
                  <a:schemeClr val="lt1"/>
                </a:solidFill>
              </a:rPr>
              <a:t> Future: buy </a:t>
            </a:r>
            <a:r>
              <a:rPr lang="en-US" sz="2400" b="1" dirty="0" err="1" smtClean="0">
                <a:solidFill>
                  <a:schemeClr val="lt1"/>
                </a:solidFill>
              </a:rPr>
              <a:t>và</a:t>
            </a:r>
            <a:r>
              <a:rPr lang="en-US" sz="2400" b="1" dirty="0" smtClean="0">
                <a:solidFill>
                  <a:schemeClr val="lt1"/>
                </a:solidFill>
              </a:rPr>
              <a:t> sell </a:t>
            </a:r>
            <a:r>
              <a:rPr lang="en-US" sz="2400" b="1" dirty="0" err="1" smtClean="0">
                <a:solidFill>
                  <a:schemeClr val="lt1"/>
                </a:solidFill>
              </a:rPr>
              <a:t>Binance</a:t>
            </a:r>
            <a:r>
              <a:rPr lang="en-US" sz="2400" b="1" dirty="0" smtClean="0">
                <a:solidFill>
                  <a:schemeClr val="lt1"/>
                </a:solidFill>
              </a:rPr>
              <a:t> </a:t>
            </a:r>
            <a:r>
              <a:rPr lang="en-US" sz="2400" b="1" dirty="0" err="1" smtClean="0">
                <a:solidFill>
                  <a:schemeClr val="lt1"/>
                </a:solidFill>
              </a:rPr>
              <a:t>bằng</a:t>
            </a:r>
            <a:r>
              <a:rPr lang="en-US" sz="2400" b="1" dirty="0" smtClean="0">
                <a:solidFill>
                  <a:schemeClr val="lt1"/>
                </a:solidFill>
              </a:rPr>
              <a:t> API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75" name="Google Shape;175;g2932fd1a1f7_1_0"/>
          <p:cNvSpPr txBox="1"/>
          <p:nvPr/>
        </p:nvSpPr>
        <p:spPr>
          <a:xfrm>
            <a:off x="424875" y="60098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Sử</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dụng</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thưc</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viện</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binance.client</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600" b="1" dirty="0" smtClean="0">
                <a:solidFill>
                  <a:schemeClr val="dk1"/>
                </a:solidFill>
              </a:rPr>
              <a:t>Pip install python-</a:t>
            </a:r>
            <a:r>
              <a:rPr lang="en-US" sz="1600" b="1" dirty="0" err="1" smtClean="0">
                <a:solidFill>
                  <a:schemeClr val="dk1"/>
                </a:solidFill>
              </a:rPr>
              <a:t>binance</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Cấu</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trúc</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lệnh</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Buy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Cấu</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trúc</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6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lệnh</a:t>
            </a:r>
            <a:r>
              <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sell</a:t>
            </a:r>
            <a:endParaRPr lang="en-US" sz="16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35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2"/>
          <a:stretch>
            <a:fillRect/>
          </a:stretch>
        </p:blipFill>
        <p:spPr>
          <a:xfrm>
            <a:off x="646112" y="2382460"/>
            <a:ext cx="3990975" cy="1685925"/>
          </a:xfrm>
          <a:prstGeom prst="rect">
            <a:avLst/>
          </a:prstGeom>
        </p:spPr>
      </p:pic>
      <p:pic>
        <p:nvPicPr>
          <p:cNvPr id="4" name="Picture 3"/>
          <p:cNvPicPr>
            <a:picLocks noChangeAspect="1"/>
          </p:cNvPicPr>
          <p:nvPr/>
        </p:nvPicPr>
        <p:blipFill>
          <a:blip r:embed="rId3"/>
          <a:stretch>
            <a:fillRect/>
          </a:stretch>
        </p:blipFill>
        <p:spPr>
          <a:xfrm>
            <a:off x="4932298" y="2382460"/>
            <a:ext cx="4054016" cy="16859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80"/>
        <p:cNvGrpSpPr/>
        <p:nvPr/>
      </p:nvGrpSpPr>
      <p:grpSpPr>
        <a:xfrm>
          <a:off x="0" y="0"/>
          <a:ext cx="0" cy="0"/>
          <a:chOff x="0" y="0"/>
          <a:chExt cx="0" cy="0"/>
        </a:xfrm>
      </p:grpSpPr>
      <p:sp>
        <p:nvSpPr>
          <p:cNvPr id="181" name="Google Shape;181;g2932fd1a1f7_1_6"/>
          <p:cNvSpPr txBox="1"/>
          <p:nvPr/>
        </p:nvSpPr>
        <p:spPr>
          <a:xfrm>
            <a:off x="304800" y="73245"/>
            <a:ext cx="8562000" cy="646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100"/>
              <a:buFont typeface="Arial" panose="020B0604020202020204"/>
              <a:buNone/>
            </a:pPr>
            <a:r>
              <a:rPr lang="vi-VN" sz="1800" dirty="0">
                <a:solidFill>
                  <a:schemeClr val="lt1"/>
                </a:solidFill>
                <a:latin typeface="Roboto" panose="02000000000000000000"/>
                <a:ea typeface="Roboto" panose="02000000000000000000"/>
                <a:cs typeface="Roboto" panose="02000000000000000000"/>
                <a:sym typeface="Roboto" panose="02000000000000000000"/>
              </a:rPr>
              <a:t>Bài học thực tế: Sự phát triển của thị trường dữ liệu tài chính Mỹ cho các quỹ đầu tư định lượng</a:t>
            </a:r>
            <a:endParaRPr sz="1800" b="1" dirty="0">
              <a:solidFill>
                <a:schemeClr val="lt1"/>
              </a:solidFill>
            </a:endParaRPr>
          </a:p>
        </p:txBody>
      </p:sp>
      <p:sp>
        <p:nvSpPr>
          <p:cNvPr id="182" name="Google Shape;182;g2932fd1a1f7_1_6"/>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Clr>
                <a:schemeClr val="dk1"/>
              </a:buClr>
              <a:buSzPts val="1100"/>
              <a:buFont typeface="Arial" panose="020B0604020202020204"/>
              <a:buNone/>
            </a:pPr>
            <a:r>
              <a:rPr lang="vi-VN" sz="1450" dirty="0">
                <a:solidFill>
                  <a:schemeClr val="dk1"/>
                </a:solidFill>
              </a:rPr>
              <a:t>Dữ liệu tài chính là thông tin số học và thống kê liên quan đến tài chính và giao dịch tài chính. Đây là một yếu tố quan trọng trong quá trình quản lý và đưa ra quyết định trong các lĩnh vực như đầu tư, tài chính cá nhân, kinh doanh, và quản lý rủi ro. Dữ liệu tài chính có thể bao gồm nhiều loại thông tin, bao gồm:</a:t>
            </a:r>
            <a:endParaRPr sz="1450" dirty="0">
              <a:solidFill>
                <a:schemeClr val="dk1"/>
              </a:solidFill>
            </a:endParaRPr>
          </a:p>
          <a:p>
            <a:pPr marL="101600" marR="0" lvl="0" indent="0" algn="just" rtl="0">
              <a:lnSpc>
                <a:spcPct val="115000"/>
              </a:lnSpc>
              <a:spcBef>
                <a:spcPts val="1600"/>
              </a:spcBef>
              <a:spcAft>
                <a:spcPts val="0"/>
              </a:spcAft>
              <a:buClr>
                <a:schemeClr val="dk1"/>
              </a:buClr>
              <a:buSzPts val="1100"/>
              <a:buFont typeface="Arial" panose="020B0604020202020204"/>
              <a:buNone/>
            </a:pPr>
            <a:r>
              <a:rPr lang="vi-VN" sz="1450" dirty="0">
                <a:solidFill>
                  <a:schemeClr val="dk1"/>
                </a:solidFill>
              </a:rPr>
              <a:t>Dữ liệu tài chính là thông tin số học và thống kê liên quan đến tài chính và giao dịch tài chính. Đây là một yếu tố quan trọng trong quá trình quản lý và đưa ra quyết định trong các lĩnh vực như đầu tư, tài chính cá nhân, kinh doanh, và quản lý rủi ro. Dữ liệu tài chính có thể bao gồm nhiều loại thông tin, bao gồm:</a:t>
            </a:r>
            <a:endParaRPr sz="1450" dirty="0">
              <a:solidFill>
                <a:schemeClr val="dk1"/>
              </a:solidFill>
            </a:endParaRPr>
          </a:p>
          <a:p>
            <a:pPr marL="101600" marR="0" lvl="0" indent="0" algn="just" rtl="0">
              <a:lnSpc>
                <a:spcPct val="115000"/>
              </a:lnSpc>
              <a:spcBef>
                <a:spcPts val="1600"/>
              </a:spcBef>
              <a:spcAft>
                <a:spcPts val="0"/>
              </a:spcAft>
              <a:buClr>
                <a:schemeClr val="dk1"/>
              </a:buClr>
              <a:buSzPts val="1100"/>
              <a:buFont typeface="Arial" panose="020B0604020202020204"/>
              <a:buNone/>
            </a:pPr>
            <a:r>
              <a:rPr lang="vi-VN" sz="1450" dirty="0">
                <a:solidFill>
                  <a:schemeClr val="dk1"/>
                </a:solidFill>
              </a:rPr>
              <a:t>Dữ liệu thị trường: Thông tin về giá cổ phiếu, tỷ giá hối đoái, giá hàng hóa, lãi suất, và các yếu tố thị trường khác. Điều này giúp đánh giá hiệu suất thị trường và dự đoán các xu hướng tiềm năng.</a:t>
            </a:r>
            <a:endParaRPr sz="1450" dirty="0">
              <a:solidFill>
                <a:schemeClr val="dk1"/>
              </a:solidFill>
            </a:endParaRPr>
          </a:p>
          <a:p>
            <a:pPr marL="101600" marR="0" lvl="0" indent="0" algn="just" rtl="0">
              <a:lnSpc>
                <a:spcPct val="115000"/>
              </a:lnSpc>
              <a:spcBef>
                <a:spcPts val="1600"/>
              </a:spcBef>
              <a:spcAft>
                <a:spcPts val="0"/>
              </a:spcAft>
              <a:buClr>
                <a:schemeClr val="dk1"/>
              </a:buClr>
              <a:buSzPts val="1100"/>
              <a:buFont typeface="Arial" panose="020B0604020202020204"/>
              <a:buNone/>
            </a:pPr>
            <a:r>
              <a:rPr lang="vi-VN" sz="1450" dirty="0">
                <a:solidFill>
                  <a:schemeClr val="dk1"/>
                </a:solidFill>
              </a:rPr>
              <a:t>Báo cáo tài chính: Báo cáo tài chính của các doanh nghiệp và tổ chức cung cấp thông tin về tình hình tài chính, lợi nhuận, và khả năng thanh toán của họ. Bao gồm các báo cáo như báo cáo kết quả kinh doanh, bảng cân đối kế toán, và báo cáo lưu chuyển tiền mặt.</a:t>
            </a:r>
            <a:endParaRPr sz="1450" dirty="0">
              <a:solidFill>
                <a:schemeClr val="dk1"/>
              </a:solidFill>
            </a:endParaRPr>
          </a:p>
          <a:p>
            <a:pPr marL="101600" marR="0" lvl="0" indent="0" algn="just" rtl="0">
              <a:lnSpc>
                <a:spcPct val="115000"/>
              </a:lnSpc>
              <a:spcBef>
                <a:spcPts val="1600"/>
              </a:spcBef>
              <a:spcAft>
                <a:spcPts val="0"/>
              </a:spcAft>
              <a:buClr>
                <a:schemeClr val="dk1"/>
              </a:buClr>
              <a:buSzPts val="1100"/>
              <a:buFont typeface="Arial" panose="020B0604020202020204"/>
              <a:buNone/>
            </a:pPr>
            <a:r>
              <a:rPr lang="vi-VN" sz="1450" dirty="0">
                <a:solidFill>
                  <a:schemeClr val="dk1"/>
                </a:solidFill>
              </a:rPr>
              <a:t>Dữ liệu tài chính cá nhân: Thông tin về thu nhập cá nhân, chi tiêu, nợ, tiết kiệm, và đầu tư của cá nhân. Dữ liệu tài chính cá nhân giúp cá nhân quản lý tài chính của họ và đưa ra quyết định về đầu tư, tiết kiệm, và quản lý nợ.</a:t>
            </a:r>
            <a:endParaRPr sz="1450" dirty="0">
              <a:solidFill>
                <a:schemeClr val="dk1"/>
              </a:solidFill>
            </a:endParaRPr>
          </a:p>
          <a:p>
            <a:pPr marL="101600" marR="0" lvl="0" indent="0" algn="just" rtl="0">
              <a:lnSpc>
                <a:spcPct val="115000"/>
              </a:lnSpc>
              <a:spcBef>
                <a:spcPts val="1600"/>
              </a:spcBef>
              <a:spcAft>
                <a:spcPts val="0"/>
              </a:spcAft>
              <a:buClr>
                <a:schemeClr val="dk1"/>
              </a:buClr>
              <a:buSzPts val="1100"/>
              <a:buFont typeface="Arial" panose="020B0604020202020204"/>
              <a:buNone/>
            </a:pPr>
            <a:endParaRPr sz="1450" dirty="0">
              <a:solidFill>
                <a:schemeClr val="dk1"/>
              </a:solidFill>
            </a:endParaRPr>
          </a:p>
          <a:p>
            <a:pPr marL="101600" marR="0" lvl="0" indent="0" algn="just" rtl="0">
              <a:lnSpc>
                <a:spcPct val="115000"/>
              </a:lnSpc>
              <a:spcBef>
                <a:spcPts val="1600"/>
              </a:spcBef>
              <a:spcAft>
                <a:spcPts val="0"/>
              </a:spcAft>
              <a:buNone/>
            </a:pPr>
            <a:endParaRPr sz="1450"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a:p>
            <a:pPr marL="101600" marR="0" lvl="0" indent="0" algn="just" rtl="0">
              <a:lnSpc>
                <a:spcPct val="115000"/>
              </a:lnSpc>
              <a:spcBef>
                <a:spcPts val="1600"/>
              </a:spcBef>
              <a:spcAft>
                <a:spcPts val="0"/>
              </a:spcAft>
              <a:buNone/>
            </a:pPr>
            <a:endParaRPr sz="1450" i="0" u="none" strike="noStrike" cap="none"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86"/>
        <p:cNvGrpSpPr/>
        <p:nvPr/>
      </p:nvGrpSpPr>
      <p:grpSpPr>
        <a:xfrm>
          <a:off x="0" y="0"/>
          <a:ext cx="0" cy="0"/>
          <a:chOff x="0" y="0"/>
          <a:chExt cx="0" cy="0"/>
        </a:xfrm>
      </p:grpSpPr>
      <p:sp>
        <p:nvSpPr>
          <p:cNvPr id="187" name="Google Shape;187;g2932fd1a1f7_1_15"/>
          <p:cNvSpPr txBox="1"/>
          <p:nvPr/>
        </p:nvSpPr>
        <p:spPr>
          <a:xfrm>
            <a:off x="304800" y="73245"/>
            <a:ext cx="8562000" cy="646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100"/>
              <a:buFont typeface="Arial" panose="020B0604020202020204"/>
              <a:buNone/>
            </a:pPr>
            <a:r>
              <a:rPr lang="vi-VN" sz="1800" dirty="0">
                <a:solidFill>
                  <a:schemeClr val="lt1"/>
                </a:solidFill>
                <a:latin typeface="Roboto" panose="02000000000000000000"/>
                <a:ea typeface="Roboto" panose="02000000000000000000"/>
                <a:cs typeface="Roboto" panose="02000000000000000000"/>
                <a:sym typeface="Roboto" panose="02000000000000000000"/>
              </a:rPr>
              <a:t>Bài học thực tế: Sự phát triển của thị trường dữ liệu tài chính Mỹ cho các quỹ đầu tư định lượng</a:t>
            </a:r>
            <a:endParaRPr sz="1800" b="1" dirty="0">
              <a:solidFill>
                <a:schemeClr val="lt1"/>
              </a:solidFill>
            </a:endParaRPr>
          </a:p>
        </p:txBody>
      </p:sp>
      <p:sp>
        <p:nvSpPr>
          <p:cNvPr id="188" name="Google Shape;188;g2932fd1a1f7_1_15"/>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SzPts val="1100"/>
              <a:buNone/>
            </a:pPr>
            <a:r>
              <a:rPr lang="vi-VN" sz="1500">
                <a:solidFill>
                  <a:schemeClr val="dk1"/>
                </a:solidFill>
              </a:rPr>
              <a:t>Dữ liệu về lãi suất và tài chính ngân hàng: Bao gồm thông tin về lãi suất cơ bản, lãi suất vay mua nhà, lãi suất thẻ tín dụng, và các sản phẩm tài chính của ngân hàng. Dữ liệu này ảnh hưởng đến quyết định vay mượn và đầu tư.</a:t>
            </a:r>
            <a:endParaRPr sz="1500">
              <a:solidFill>
                <a:schemeClr val="dk1"/>
              </a:solidFill>
            </a:endParaRPr>
          </a:p>
          <a:p>
            <a:pPr marL="101600" marR="0" lvl="0" indent="0" algn="just" rtl="0">
              <a:lnSpc>
                <a:spcPct val="115000"/>
              </a:lnSpc>
              <a:spcBef>
                <a:spcPts val="1600"/>
              </a:spcBef>
              <a:spcAft>
                <a:spcPts val="0"/>
              </a:spcAft>
              <a:buSzPts val="1100"/>
              <a:buNone/>
            </a:pPr>
            <a:r>
              <a:rPr lang="vi-VN" sz="1500">
                <a:solidFill>
                  <a:schemeClr val="dk1"/>
                </a:solidFill>
              </a:rPr>
              <a:t>Dữ liệu về thị trường bất động sản: Thông tin về giá nhà, tình hình thị trường bất động sản, và các chỉ số thị trường như giá trung bình, tỷ lệ cổ phần tài chính, và nhu cầu thị trường.</a:t>
            </a:r>
            <a:endParaRPr sz="1500">
              <a:solidFill>
                <a:schemeClr val="dk1"/>
              </a:solidFill>
            </a:endParaRPr>
          </a:p>
          <a:p>
            <a:pPr marL="101600" marR="0" lvl="0" indent="0" algn="just" rtl="0">
              <a:lnSpc>
                <a:spcPct val="115000"/>
              </a:lnSpc>
              <a:spcBef>
                <a:spcPts val="1600"/>
              </a:spcBef>
              <a:spcAft>
                <a:spcPts val="0"/>
              </a:spcAft>
              <a:buSzPts val="1100"/>
              <a:buNone/>
            </a:pPr>
            <a:r>
              <a:rPr lang="vi-VN" sz="1500">
                <a:solidFill>
                  <a:schemeClr val="dk1"/>
                </a:solidFill>
              </a:rPr>
              <a:t>Dữ liệu kinh tế quốc gia và quốc tế: Thông tin về tình hình kinh tế của một quốc gia hoặc vùng lãnh thổ, bao gồm GDP, tỷ lệ thất nghiệp, sản xuất công nghiệp, và các chỉ số khác.</a:t>
            </a:r>
            <a:endParaRPr sz="1500">
              <a:solidFill>
                <a:schemeClr val="dk1"/>
              </a:solidFill>
            </a:endParaRPr>
          </a:p>
          <a:p>
            <a:pPr marL="101600" marR="0" lvl="0" indent="0" algn="just" rtl="0">
              <a:lnSpc>
                <a:spcPct val="115000"/>
              </a:lnSpc>
              <a:spcBef>
                <a:spcPts val="1600"/>
              </a:spcBef>
              <a:spcAft>
                <a:spcPts val="0"/>
              </a:spcAft>
              <a:buSzPts val="1100"/>
              <a:buNone/>
            </a:pPr>
            <a:r>
              <a:rPr lang="vi-VN" sz="1500">
                <a:solidFill>
                  <a:schemeClr val="dk1"/>
                </a:solidFill>
              </a:rPr>
              <a:t>Dữ liệu tài chính có vai trò quan trọng trong quá trình đánh giá rủi ro, dự đoán xu hướng thị trường, quản lý đầu tư, và đưa ra quyết định tài chính. Các chuyên gia tài chính, nhà đầu tư, và doanh nhân thường sử dụng dữ liệu tài chính để xác định các cơ hội và thách thức trong môi trường kinh doanh và tài chính.</a:t>
            </a:r>
            <a:endParaRPr sz="1500">
              <a:solidFill>
                <a:schemeClr val="dk1"/>
              </a:solidFill>
            </a:endParaRPr>
          </a:p>
          <a:p>
            <a:pPr marL="101600" marR="0" lvl="0" indent="0" algn="just" rtl="0">
              <a:lnSpc>
                <a:spcPct val="115000"/>
              </a:lnSpc>
              <a:spcBef>
                <a:spcPts val="1600"/>
              </a:spcBef>
              <a:spcAft>
                <a:spcPts val="0"/>
              </a:spcAft>
              <a:buNone/>
            </a:pPr>
            <a:endParaRPr sz="1500">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a:p>
            <a:pPr marL="101600" marR="0" lvl="0" indent="0" algn="just" rtl="0">
              <a:lnSpc>
                <a:spcPct val="115000"/>
              </a:lnSpc>
              <a:spcBef>
                <a:spcPts val="1600"/>
              </a:spcBef>
              <a:spcAft>
                <a:spcPts val="0"/>
              </a:spcAft>
              <a:buNone/>
            </a:pPr>
            <a:endParaRPr sz="1050" i="0" u="none" strike="noStrike" cap="none">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2"/>
        <p:cNvGrpSpPr/>
        <p:nvPr/>
      </p:nvGrpSpPr>
      <p:grpSpPr>
        <a:xfrm>
          <a:off x="0" y="0"/>
          <a:ext cx="0" cy="0"/>
          <a:chOff x="0" y="0"/>
          <a:chExt cx="0" cy="0"/>
        </a:xfrm>
      </p:grpSpPr>
      <p:sp>
        <p:nvSpPr>
          <p:cNvPr id="193" name="Google Shape;193;g2932fd1a1f7_1_20"/>
          <p:cNvSpPr txBox="1"/>
          <p:nvPr/>
        </p:nvSpPr>
        <p:spPr>
          <a:xfrm>
            <a:off x="304800" y="63085"/>
            <a:ext cx="8562000" cy="646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100"/>
              <a:buFont typeface="Arial" panose="020B0604020202020204"/>
              <a:buNone/>
            </a:pPr>
            <a:r>
              <a:rPr lang="vi-VN" sz="1800" dirty="0">
                <a:solidFill>
                  <a:schemeClr val="lt1"/>
                </a:solidFill>
                <a:latin typeface="Roboto" panose="02000000000000000000"/>
                <a:ea typeface="Roboto" panose="02000000000000000000"/>
                <a:cs typeface="Roboto" panose="02000000000000000000"/>
                <a:sym typeface="Roboto" panose="02000000000000000000"/>
              </a:rPr>
              <a:t>Bài học thực tế: Sự phát triển của thị trường dữ liệu tài chính Mỹ cho các quỹ đầu tư định lượng</a:t>
            </a:r>
            <a:endParaRPr sz="1800" b="1" dirty="0">
              <a:solidFill>
                <a:schemeClr val="lt1"/>
              </a:solidFill>
            </a:endParaRPr>
          </a:p>
        </p:txBody>
      </p:sp>
      <p:sp>
        <p:nvSpPr>
          <p:cNvPr id="194" name="Google Shape;194;g2932fd1a1f7_1_20"/>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SzPts val="1100"/>
              <a:buNone/>
            </a:pPr>
            <a:r>
              <a:rPr lang="vi-VN" sz="1500" dirty="0">
                <a:solidFill>
                  <a:schemeClr val="dk1"/>
                </a:solidFill>
              </a:rPr>
              <a:t>yfinance: </a:t>
            </a:r>
            <a:endParaRPr sz="1500" dirty="0">
              <a:solidFill>
                <a:schemeClr val="dk1"/>
              </a:solidFill>
            </a:endParaRPr>
          </a:p>
          <a:p>
            <a:pPr marL="101600" marR="0" lvl="0" indent="0" algn="just" rtl="0">
              <a:lnSpc>
                <a:spcPct val="115000"/>
              </a:lnSpc>
              <a:spcBef>
                <a:spcPts val="1600"/>
              </a:spcBef>
              <a:spcAft>
                <a:spcPts val="0"/>
              </a:spcAft>
              <a:buSzPts val="1100"/>
              <a:buNone/>
            </a:pPr>
            <a:r>
              <a:rPr lang="vi-VN" sz="1500" dirty="0">
                <a:solidFill>
                  <a:schemeClr val="dk1"/>
                </a:solidFill>
              </a:rPr>
              <a:t>Thư viện yfinance là một thư viện Python được sử dụng để tải dữ liệu tài chính và giá cổ phiếu từ Yahoo Finance. Nó cung cấp cách dễ dàng và tiện lợi để truy xuất dữ liệu tài chính mà bạn có thể sử dụng cho nghiên cứu đầu tư, phân tích thị trường và các mục đích tài chính khác. Thư viện yfinance ra đời do nhu cầu ngày càng cao trong việc truy xuất và sử dụng dữ liệu tài chính từ Yahoo Finance.</a:t>
            </a:r>
            <a:endParaRPr sz="1500" dirty="0">
              <a:solidFill>
                <a:schemeClr val="dk1"/>
              </a:solidFill>
            </a:endParaRPr>
          </a:p>
          <a:p>
            <a:pPr marL="101600" marR="0" lvl="0" indent="0" algn="just" rtl="0">
              <a:lnSpc>
                <a:spcPct val="115000"/>
              </a:lnSpc>
              <a:spcBef>
                <a:spcPts val="1600"/>
              </a:spcBef>
              <a:spcAft>
                <a:spcPts val="0"/>
              </a:spcAft>
              <a:buSzPts val="1100"/>
              <a:buNone/>
            </a:pPr>
            <a:r>
              <a:rPr lang="vi-VN" sz="1500" dirty="0">
                <a:solidFill>
                  <a:schemeClr val="dk1"/>
                </a:solidFill>
              </a:rPr>
              <a:t>Dưới đây là một số thông tin về việc ra đời của thư viện yfinance:</a:t>
            </a:r>
            <a:endParaRPr sz="1500" dirty="0">
              <a:solidFill>
                <a:schemeClr val="dk1"/>
              </a:solidFill>
            </a:endParaRPr>
          </a:p>
          <a:p>
            <a:pPr marL="101600" marR="0" lvl="0" indent="0" algn="just" rtl="0">
              <a:lnSpc>
                <a:spcPct val="115000"/>
              </a:lnSpc>
              <a:spcBef>
                <a:spcPts val="1600"/>
              </a:spcBef>
              <a:spcAft>
                <a:spcPts val="0"/>
              </a:spcAft>
              <a:buSzPts val="1100"/>
              <a:buNone/>
            </a:pPr>
            <a:r>
              <a:rPr lang="vi-VN" sz="1500" dirty="0">
                <a:solidFill>
                  <a:schemeClr val="dk1"/>
                </a:solidFill>
              </a:rPr>
              <a:t>Người sáng lập: yfinance được tạo ra bởi Ran Aroussi, một nhà phân tích tài chính và phát triển phần mềm. Anh đã phát triển thư viện này để giúp những người làm về tài chính và đầu tư dễ dàng tải và sử dụng dữ liệu từ Yahoo Finance trong Python.</a:t>
            </a:r>
            <a:endParaRPr sz="1500" dirty="0">
              <a:solidFill>
                <a:schemeClr val="dk1"/>
              </a:solidFill>
            </a:endParaRPr>
          </a:p>
          <a:p>
            <a:pPr marL="101600" marR="0" lvl="0" indent="0" algn="just" rtl="0">
              <a:lnSpc>
                <a:spcPct val="115000"/>
              </a:lnSpc>
              <a:spcBef>
                <a:spcPts val="1600"/>
              </a:spcBef>
              <a:spcAft>
                <a:spcPts val="0"/>
              </a:spcAft>
              <a:buSzPts val="1100"/>
              <a:buNone/>
            </a:pPr>
            <a:r>
              <a:rPr lang="vi-VN" sz="1500" dirty="0">
                <a:solidFill>
                  <a:schemeClr val="dk1"/>
                </a:solidFill>
              </a:rPr>
              <a:t>Mục đích: Mục đích của yfinance là giúp người dùng thu thập dữ liệu thị trường tài chính một cách thuận tiện và hiệu quả. Trước khi có yfinance, việc truy cập dữ liệu tài chính từ Yahoo Finance có thể phức tạp và đòi hỏi việc viết mã tùy chỉnh. Thư viện này giúp giảm độ phức tạp và tiết kiệm thời gian cho người dùng.</a:t>
            </a:r>
            <a:endParaRPr sz="1500"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8"/>
        <p:cNvGrpSpPr/>
        <p:nvPr/>
      </p:nvGrpSpPr>
      <p:grpSpPr>
        <a:xfrm>
          <a:off x="0" y="0"/>
          <a:ext cx="0" cy="0"/>
          <a:chOff x="0" y="0"/>
          <a:chExt cx="0" cy="0"/>
        </a:xfrm>
      </p:grpSpPr>
      <p:sp>
        <p:nvSpPr>
          <p:cNvPr id="199" name="Google Shape;199;g2932fd1a1f7_1_26"/>
          <p:cNvSpPr txBox="1"/>
          <p:nvPr/>
        </p:nvSpPr>
        <p:spPr>
          <a:xfrm>
            <a:off x="304800" y="73245"/>
            <a:ext cx="8562000" cy="646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100"/>
              <a:buFont typeface="Arial" panose="020B0604020202020204"/>
              <a:buNone/>
            </a:pPr>
            <a:r>
              <a:rPr lang="vi-VN" sz="1800" dirty="0">
                <a:solidFill>
                  <a:schemeClr val="lt1"/>
                </a:solidFill>
                <a:latin typeface="Roboto" panose="02000000000000000000"/>
                <a:ea typeface="Roboto" panose="02000000000000000000"/>
                <a:cs typeface="Roboto" panose="02000000000000000000"/>
                <a:sym typeface="Roboto" panose="02000000000000000000"/>
              </a:rPr>
              <a:t>Bài học thực tế: Sự phát triển của thị trường dữ liệu tài chính Mỹ cho các quỹ đầu tư định lượng</a:t>
            </a:r>
            <a:endParaRPr sz="1800" b="1" dirty="0">
              <a:solidFill>
                <a:schemeClr val="lt1"/>
              </a:solidFill>
            </a:endParaRPr>
          </a:p>
        </p:txBody>
      </p:sp>
      <p:sp>
        <p:nvSpPr>
          <p:cNvPr id="200" name="Google Shape;200;g2932fd1a1f7_1_26"/>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SzPts val="1100"/>
              <a:buNone/>
            </a:pPr>
            <a:r>
              <a:rPr lang="vi-VN" sz="1500" dirty="0">
                <a:solidFill>
                  <a:schemeClr val="dk1"/>
                </a:solidFill>
              </a:rPr>
              <a:t>Phát triển và cộng đồng: yfinance là một dự án mã nguồn mở và được phát triển trên GitHub. Do đó, nó có lợi ích từ sự đóng góp của cộng đồng người dùng, và bạn có thể tìm thấy thông tin và tài liệu hữu ích trên trang GitHub của dự án.</a:t>
            </a:r>
            <a:endParaRPr sz="1500" dirty="0">
              <a:solidFill>
                <a:schemeClr val="dk1"/>
              </a:solidFill>
            </a:endParaRPr>
          </a:p>
          <a:p>
            <a:pPr marL="101600" marR="0" lvl="0" indent="0" algn="just" rtl="0">
              <a:lnSpc>
                <a:spcPct val="115000"/>
              </a:lnSpc>
              <a:spcBef>
                <a:spcPts val="1600"/>
              </a:spcBef>
              <a:spcAft>
                <a:spcPts val="0"/>
              </a:spcAft>
              <a:buSzPts val="1100"/>
              <a:buNone/>
            </a:pPr>
            <a:r>
              <a:rPr lang="vi-VN" sz="1500" dirty="0" smtClean="0">
                <a:solidFill>
                  <a:schemeClr val="dk1"/>
                </a:solidFill>
              </a:rPr>
              <a:t>Để </a:t>
            </a:r>
            <a:r>
              <a:rPr lang="vi-VN" sz="1500" dirty="0">
                <a:solidFill>
                  <a:schemeClr val="dk1"/>
                </a:solidFill>
              </a:rPr>
              <a:t>sử dụng yfinance, bạn cần cài đặt thư viện này trong môi trường Python của bạn. Sau khi cài đặt, bạn có thể sử dụng nó để tải dữ liệu về giá cổ phiếu, chỉ số thị trường, thông tin tài chính, và nhiều loại dữ liệu tài chính khác từ Yahoo Finance.</a:t>
            </a:r>
            <a:endParaRPr sz="1500" dirty="0">
              <a:solidFill>
                <a:schemeClr val="dk1"/>
              </a:solidFill>
            </a:endParaRPr>
          </a:p>
          <a:p>
            <a:pPr marL="101600" marR="0" lvl="0" indent="0" algn="just" rtl="0">
              <a:lnSpc>
                <a:spcPct val="115000"/>
              </a:lnSpc>
              <a:spcBef>
                <a:spcPts val="1600"/>
              </a:spcBef>
              <a:spcAft>
                <a:spcPts val="0"/>
              </a:spcAft>
              <a:buSzPts val="1100"/>
              <a:buNone/>
            </a:pPr>
            <a:endParaRPr sz="1500" dirty="0">
              <a:solidFill>
                <a:schemeClr val="dk1"/>
              </a:solidFill>
            </a:endParaRPr>
          </a:p>
          <a:p>
            <a:pPr marL="101600" marR="0" lvl="0" indent="0" algn="just" rtl="0">
              <a:lnSpc>
                <a:spcPct val="115000"/>
              </a:lnSpc>
              <a:spcBef>
                <a:spcPts val="1600"/>
              </a:spcBef>
              <a:spcAft>
                <a:spcPts val="0"/>
              </a:spcAft>
              <a:buNone/>
            </a:pPr>
            <a:endParaRPr sz="1500"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a:p>
            <a:pPr marL="101600" marR="0" lvl="0" indent="0" algn="just" rtl="0">
              <a:lnSpc>
                <a:spcPct val="115000"/>
              </a:lnSpc>
              <a:spcBef>
                <a:spcPts val="1600"/>
              </a:spcBef>
              <a:spcAft>
                <a:spcPts val="0"/>
              </a:spcAft>
              <a:buNone/>
            </a:pPr>
            <a:endParaRPr sz="1050" i="0" u="none" strike="noStrike" cap="none" dirty="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8302</Words>
  <Application>WPS Presentation</Application>
  <PresentationFormat>On-screen Show (4:3)</PresentationFormat>
  <Paragraphs>320</Paragraphs>
  <Slides>27</Slides>
  <Notes>27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SimSun</vt:lpstr>
      <vt:lpstr>Wingdings</vt:lpstr>
      <vt:lpstr>Arial</vt:lpstr>
      <vt:lpstr>Calibri</vt:lpstr>
      <vt:lpstr>Maven Pro</vt:lpstr>
      <vt:lpstr>Roboto</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50</cp:revision>
  <dcterms:created xsi:type="dcterms:W3CDTF">2021-10-18T16:01:00Z</dcterms:created>
  <dcterms:modified xsi:type="dcterms:W3CDTF">2024-11-06T14:37:32Z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8DBBAECFE570400C9C9EA433CD5A1909_12</vt:lpwstr>
  </property>
  <property fmtid="{D5CDD505-2E9C-101B-9397-08002B2CF9AE}" pid="3" name="KSOProductBuildVer">
    <vt:lpwstr>1033-12.2.0.18607</vt:lpwstr>
  </property>
</Properties>
</file>