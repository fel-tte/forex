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Lst>
  <p:sldSz cx="9144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84"/>
        <p:cNvGrpSpPr/>
        <p:nvPr/>
      </p:nvGrpSpPr>
      <p:grpSpPr>
        <a:xfrm>
          <a:off x="0" y="0"/>
          <a:ext cx="0" cy="0"/>
          <a:chOff x="0" y="0"/>
          <a:chExt cx="0" cy="0"/>
        </a:xfrm>
      </p:grpSpPr>
      <p:sp>
        <p:nvSpPr>
          <p:cNvPr id="85" name="Google Shape;85;p1: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6" name="Google Shape;86;p1: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9" name="Shape 89"/>
        <p:cNvGrpSpPr/>
        <p:nvPr/>
      </p:nvGrpSpPr>
      <p:grpSpPr>
        <a:xfrm>
          <a:off x="0" y="0"/>
          <a:ext cx="0" cy="0"/>
          <a:chOff x="0" y="0"/>
          <a:chExt cx="0" cy="0"/>
        </a:xfrm>
      </p:grpSpPr>
      <p:sp>
        <p:nvSpPr>
          <p:cNvPr id="90" name="Google Shape;90;p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1" name="Google Shape;91;p2: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8" name="Google Shape;98;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2"/>
        <p:cNvGrpSpPr/>
        <p:nvPr/>
      </p:nvGrpSpPr>
      <p:grpSpPr>
        <a:xfrm>
          <a:off x="0" y="0"/>
          <a:ext cx="0" cy="0"/>
          <a:chOff x="0" y="0"/>
          <a:chExt cx="0" cy="0"/>
        </a:xfrm>
      </p:grpSpPr>
      <p:sp>
        <p:nvSpPr>
          <p:cNvPr id="103" name="Google Shape;103;p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 name="Google Shape;104;p4: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p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4" name="Google Shape;114;p5: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0" name="Shape 120"/>
        <p:cNvGrpSpPr/>
        <p:nvPr/>
      </p:nvGrpSpPr>
      <p:grpSpPr>
        <a:xfrm>
          <a:off x="0" y="0"/>
          <a:ext cx="0" cy="0"/>
          <a:chOff x="0" y="0"/>
          <a:chExt cx="0" cy="0"/>
        </a:xfrm>
      </p:grpSpPr>
      <p:sp>
        <p:nvSpPr>
          <p:cNvPr id="121" name="Google Shape;121;p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2" name="Google Shape;122;p6: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8" name="Shape 128"/>
        <p:cNvGrpSpPr/>
        <p:nvPr/>
      </p:nvGrpSpPr>
      <p:grpSpPr>
        <a:xfrm>
          <a:off x="0" y="0"/>
          <a:ext cx="0" cy="0"/>
          <a:chOff x="0" y="0"/>
          <a:chExt cx="0" cy="0"/>
        </a:xfrm>
      </p:grpSpPr>
      <p:sp>
        <p:nvSpPr>
          <p:cNvPr id="129" name="Google Shape;129;p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0" name="Google Shape;130;p7: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4" name="Shape 174"/>
        <p:cNvGrpSpPr/>
        <p:nvPr/>
      </p:nvGrpSpPr>
      <p:grpSpPr>
        <a:xfrm>
          <a:off x="0" y="0"/>
          <a:ext cx="0" cy="0"/>
          <a:chOff x="0" y="0"/>
          <a:chExt cx="0" cy="0"/>
        </a:xfrm>
      </p:grpSpPr>
      <p:sp>
        <p:nvSpPr>
          <p:cNvPr id="175" name="Google Shape;175;p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6" name="Google Shape;176;p8: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0" name="Shape 180"/>
        <p:cNvGrpSpPr/>
        <p:nvPr/>
      </p:nvGrpSpPr>
      <p:grpSpPr>
        <a:xfrm>
          <a:off x="0" y="0"/>
          <a:ext cx="0" cy="0"/>
          <a:chOff x="0" y="0"/>
          <a:chExt cx="0" cy="0"/>
        </a:xfrm>
      </p:grpSpPr>
      <p:sp>
        <p:nvSpPr>
          <p:cNvPr id="181" name="Google Shape;181;p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en-US" sz="1100">
                <a:latin typeface="Arial" panose="020B0604020202020204"/>
                <a:ea typeface="Arial" panose="020B0604020202020204"/>
                <a:cs typeface="Arial" panose="020B0604020202020204"/>
                <a:sym typeface="Arial" panose="020B0604020202020204"/>
              </a:rPr>
              <a:t>Efficient Market Hypothesis, ChatGPT, etc.</a:t>
            </a:r>
            <a:endParaRPr sz="1100">
              <a:latin typeface="Arial" panose="020B0604020202020204"/>
              <a:ea typeface="Arial" panose="020B0604020202020204"/>
              <a:cs typeface="Arial" panose="020B0604020202020204"/>
              <a:sym typeface="Arial" panose="020B0604020202020204"/>
            </a:endParaRPr>
          </a:p>
        </p:txBody>
      </p:sp>
      <p:sp>
        <p:nvSpPr>
          <p:cNvPr id="182" name="Google Shape;182;p9: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6" name="Shape 186"/>
        <p:cNvGrpSpPr/>
        <p:nvPr/>
      </p:nvGrpSpPr>
      <p:grpSpPr>
        <a:xfrm>
          <a:off x="0" y="0"/>
          <a:ext cx="0" cy="0"/>
          <a:chOff x="0" y="0"/>
          <a:chExt cx="0" cy="0"/>
        </a:xfrm>
      </p:grpSpPr>
      <p:sp>
        <p:nvSpPr>
          <p:cNvPr id="187" name="Google Shape;187;p1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en-US" sz="1100">
                <a:latin typeface="Arial" panose="020B0604020202020204"/>
                <a:ea typeface="Arial" panose="020B0604020202020204"/>
                <a:cs typeface="Arial" panose="020B0604020202020204"/>
                <a:sym typeface="Arial" panose="020B0604020202020204"/>
              </a:rPr>
              <a:t>Efficient Market Hypothesis, ChatGPT, etc.</a:t>
            </a:r>
            <a:endParaRPr sz="1100">
              <a:latin typeface="Arial" panose="020B0604020202020204"/>
              <a:ea typeface="Arial" panose="020B0604020202020204"/>
              <a:cs typeface="Arial" panose="020B0604020202020204"/>
              <a:sym typeface="Arial" panose="020B0604020202020204"/>
            </a:endParaRPr>
          </a:p>
        </p:txBody>
      </p:sp>
      <p:sp>
        <p:nvSpPr>
          <p:cNvPr id="188" name="Google Shape;188;p10: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2" name="Shape 192"/>
        <p:cNvGrpSpPr/>
        <p:nvPr/>
      </p:nvGrpSpPr>
      <p:grpSpPr>
        <a:xfrm>
          <a:off x="0" y="0"/>
          <a:ext cx="0" cy="0"/>
          <a:chOff x="0" y="0"/>
          <a:chExt cx="0" cy="0"/>
        </a:xfrm>
      </p:grpSpPr>
      <p:sp>
        <p:nvSpPr>
          <p:cNvPr id="193" name="Google Shape;193;p1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en-US" sz="1100">
                <a:latin typeface="Arial" panose="020B0604020202020204"/>
                <a:ea typeface="Arial" panose="020B0604020202020204"/>
                <a:cs typeface="Arial" panose="020B0604020202020204"/>
                <a:sym typeface="Arial" panose="020B0604020202020204"/>
              </a:rPr>
              <a:t>Efficient Market Hypothesis, ChatGPT, etc.</a:t>
            </a:r>
            <a:endParaRPr sz="1100">
              <a:latin typeface="Arial" panose="020B0604020202020204"/>
              <a:ea typeface="Arial" panose="020B0604020202020204"/>
              <a:cs typeface="Arial" panose="020B0604020202020204"/>
              <a:sym typeface="Arial" panose="020B0604020202020204"/>
            </a:endParaRPr>
          </a:p>
        </p:txBody>
      </p:sp>
      <p:sp>
        <p:nvSpPr>
          <p:cNvPr id="194" name="Google Shape;194;p11: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8" name="Shape 198"/>
        <p:cNvGrpSpPr/>
        <p:nvPr/>
      </p:nvGrpSpPr>
      <p:grpSpPr>
        <a:xfrm>
          <a:off x="0" y="0"/>
          <a:ext cx="0" cy="0"/>
          <a:chOff x="0" y="0"/>
          <a:chExt cx="0" cy="0"/>
        </a:xfrm>
      </p:grpSpPr>
      <p:sp>
        <p:nvSpPr>
          <p:cNvPr id="199" name="Google Shape;199;p1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en-US" sz="1100">
                <a:latin typeface="Arial" panose="020B0604020202020204"/>
                <a:ea typeface="Arial" panose="020B0604020202020204"/>
                <a:cs typeface="Arial" panose="020B0604020202020204"/>
                <a:sym typeface="Arial" panose="020B0604020202020204"/>
              </a:rPr>
              <a:t>Efficient Market Hypothesis, ChatGPT, etc.</a:t>
            </a:r>
            <a:endParaRPr sz="1100">
              <a:latin typeface="Arial" panose="020B0604020202020204"/>
              <a:ea typeface="Arial" panose="020B0604020202020204"/>
              <a:cs typeface="Arial" panose="020B0604020202020204"/>
              <a:sym typeface="Arial" panose="020B0604020202020204"/>
            </a:endParaRPr>
          </a:p>
        </p:txBody>
      </p:sp>
      <p:sp>
        <p:nvSpPr>
          <p:cNvPr id="200" name="Google Shape;200;p12: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4" name="Shape 204"/>
        <p:cNvGrpSpPr/>
        <p:nvPr/>
      </p:nvGrpSpPr>
      <p:grpSpPr>
        <a:xfrm>
          <a:off x="0" y="0"/>
          <a:ext cx="0" cy="0"/>
          <a:chOff x="0" y="0"/>
          <a:chExt cx="0" cy="0"/>
        </a:xfrm>
      </p:grpSpPr>
      <p:sp>
        <p:nvSpPr>
          <p:cNvPr id="205" name="Google Shape;205;p1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en-US" sz="1100">
                <a:latin typeface="Arial" panose="020B0604020202020204"/>
                <a:ea typeface="Arial" panose="020B0604020202020204"/>
                <a:cs typeface="Arial" panose="020B0604020202020204"/>
                <a:sym typeface="Arial" panose="020B0604020202020204"/>
              </a:rPr>
              <a:t>Efficient Market Hypothesis, ChatGPT, etc.</a:t>
            </a:r>
            <a:endParaRPr sz="1100">
              <a:latin typeface="Arial" panose="020B0604020202020204"/>
              <a:ea typeface="Arial" panose="020B0604020202020204"/>
              <a:cs typeface="Arial" panose="020B0604020202020204"/>
              <a:sym typeface="Arial" panose="020B0604020202020204"/>
            </a:endParaRPr>
          </a:p>
        </p:txBody>
      </p:sp>
      <p:sp>
        <p:nvSpPr>
          <p:cNvPr id="206" name="Google Shape;206;p1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0" name="Shape 210"/>
        <p:cNvGrpSpPr/>
        <p:nvPr/>
      </p:nvGrpSpPr>
      <p:grpSpPr>
        <a:xfrm>
          <a:off x="0" y="0"/>
          <a:ext cx="0" cy="0"/>
          <a:chOff x="0" y="0"/>
          <a:chExt cx="0" cy="0"/>
        </a:xfrm>
      </p:grpSpPr>
      <p:sp>
        <p:nvSpPr>
          <p:cNvPr id="211" name="Google Shape;211;p14: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2" name="Google Shape;212;p14: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6" name="Shape 216"/>
        <p:cNvGrpSpPr/>
        <p:nvPr/>
      </p:nvGrpSpPr>
      <p:grpSpPr>
        <a:xfrm>
          <a:off x="0" y="0"/>
          <a:ext cx="0" cy="0"/>
          <a:chOff x="0" y="0"/>
          <a:chExt cx="0" cy="0"/>
        </a:xfrm>
      </p:grpSpPr>
      <p:sp>
        <p:nvSpPr>
          <p:cNvPr id="217" name="Google Shape;217;p1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8" name="Google Shape;218;p15: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3" name="Shape 223"/>
        <p:cNvGrpSpPr/>
        <p:nvPr/>
      </p:nvGrpSpPr>
      <p:grpSpPr>
        <a:xfrm>
          <a:off x="0" y="0"/>
          <a:ext cx="0" cy="0"/>
          <a:chOff x="0" y="0"/>
          <a:chExt cx="0" cy="0"/>
        </a:xfrm>
      </p:grpSpPr>
      <p:sp>
        <p:nvSpPr>
          <p:cNvPr id="224" name="Google Shape;224;p16: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5" name="Google Shape;225;p16: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9" name="Shape 229"/>
        <p:cNvGrpSpPr/>
        <p:nvPr/>
      </p:nvGrpSpPr>
      <p:grpSpPr>
        <a:xfrm>
          <a:off x="0" y="0"/>
          <a:ext cx="0" cy="0"/>
          <a:chOff x="0" y="0"/>
          <a:chExt cx="0" cy="0"/>
        </a:xfrm>
      </p:grpSpPr>
      <p:sp>
        <p:nvSpPr>
          <p:cNvPr id="230" name="Google Shape;230;p17: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31" name="Google Shape;231;p17: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7" name="Shape 237"/>
        <p:cNvGrpSpPr/>
        <p:nvPr/>
      </p:nvGrpSpPr>
      <p:grpSpPr>
        <a:xfrm>
          <a:off x="0" y="0"/>
          <a:ext cx="0" cy="0"/>
          <a:chOff x="0" y="0"/>
          <a:chExt cx="0" cy="0"/>
        </a:xfrm>
      </p:grpSpPr>
      <p:sp>
        <p:nvSpPr>
          <p:cNvPr id="238" name="Google Shape;238;p1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100">
                <a:latin typeface="Arial" panose="020B0604020202020204"/>
                <a:ea typeface="Arial" panose="020B0604020202020204"/>
                <a:cs typeface="Arial" panose="020B0604020202020204"/>
                <a:sym typeface="Arial" panose="020B0604020202020204"/>
              </a:rPr>
              <a:t>Note: mọi người khi kiếm tiền từ thị trường chỉ quan niệm vào việc coi mọi thứ như 1 loại tài sản, mua thấp bán cao, không tìm hiểu bản chất</a:t>
            </a:r>
            <a:endParaRPr sz="1100">
              <a:latin typeface="Arial" panose="020B0604020202020204"/>
              <a:ea typeface="Arial" panose="020B0604020202020204"/>
              <a:cs typeface="Arial" panose="020B0604020202020204"/>
              <a:sym typeface="Arial" panose="020B0604020202020204"/>
            </a:endParaRPr>
          </a:p>
        </p:txBody>
      </p:sp>
      <p:sp>
        <p:nvSpPr>
          <p:cNvPr id="239" name="Google Shape;239;p18: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5" name="Shape 245"/>
        <p:cNvGrpSpPr/>
        <p:nvPr/>
      </p:nvGrpSpPr>
      <p:grpSpPr>
        <a:xfrm>
          <a:off x="0" y="0"/>
          <a:ext cx="0" cy="0"/>
          <a:chOff x="0" y="0"/>
          <a:chExt cx="0" cy="0"/>
        </a:xfrm>
      </p:grpSpPr>
      <p:sp>
        <p:nvSpPr>
          <p:cNvPr id="246" name="Google Shape;246;p19: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100">
                <a:latin typeface="Arial" panose="020B0604020202020204"/>
                <a:ea typeface="Arial" panose="020B0604020202020204"/>
                <a:cs typeface="Arial" panose="020B0604020202020204"/>
                <a:sym typeface="Arial" panose="020B0604020202020204"/>
              </a:rPr>
              <a:t>Cổ phiếu là 1 phần doanh nghiệp</a:t>
            </a:r>
            <a:endParaRPr sz="1100">
              <a:latin typeface="Arial" panose="020B0604020202020204"/>
              <a:ea typeface="Arial" panose="020B0604020202020204"/>
              <a:cs typeface="Arial" panose="020B0604020202020204"/>
              <a:sym typeface="Arial" panose="020B0604020202020204"/>
            </a:endParaRPr>
          </a:p>
        </p:txBody>
      </p:sp>
      <p:sp>
        <p:nvSpPr>
          <p:cNvPr id="247" name="Google Shape;247;p19: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4" name="Shape 254"/>
        <p:cNvGrpSpPr/>
        <p:nvPr/>
      </p:nvGrpSpPr>
      <p:grpSpPr>
        <a:xfrm>
          <a:off x="0" y="0"/>
          <a:ext cx="0" cy="0"/>
          <a:chOff x="0" y="0"/>
          <a:chExt cx="0" cy="0"/>
        </a:xfrm>
      </p:grpSpPr>
      <p:sp>
        <p:nvSpPr>
          <p:cNvPr id="255" name="Google Shape;255;p2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100">
                <a:latin typeface="Arial" panose="020B0604020202020204"/>
                <a:ea typeface="Arial" panose="020B0604020202020204"/>
                <a:cs typeface="Arial" panose="020B0604020202020204"/>
                <a:sym typeface="Arial" panose="020B0604020202020204"/>
              </a:rPr>
              <a:t>Hợp đồng ràng buộc dựa trên giá trị của một loại tài sản khác</a:t>
            </a:r>
            <a:endParaRPr sz="1100">
              <a:latin typeface="Arial" panose="020B0604020202020204"/>
              <a:ea typeface="Arial" panose="020B0604020202020204"/>
              <a:cs typeface="Arial" panose="020B0604020202020204"/>
              <a:sym typeface="Arial" panose="020B0604020202020204"/>
            </a:endParaRPr>
          </a:p>
        </p:txBody>
      </p:sp>
      <p:sp>
        <p:nvSpPr>
          <p:cNvPr id="256" name="Google Shape;256;p20: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2" name="Shape 262"/>
        <p:cNvGrpSpPr/>
        <p:nvPr/>
      </p:nvGrpSpPr>
      <p:grpSpPr>
        <a:xfrm>
          <a:off x="0" y="0"/>
          <a:ext cx="0" cy="0"/>
          <a:chOff x="0" y="0"/>
          <a:chExt cx="0" cy="0"/>
        </a:xfrm>
      </p:grpSpPr>
      <p:sp>
        <p:nvSpPr>
          <p:cNvPr id="263" name="Google Shape;263;p21: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100">
                <a:latin typeface="Arial" panose="020B0604020202020204"/>
                <a:ea typeface="Arial" panose="020B0604020202020204"/>
                <a:cs typeface="Arial" panose="020B0604020202020204"/>
                <a:sym typeface="Arial" panose="020B0604020202020204"/>
              </a:rPr>
              <a:t>Hợp đồng ràng buộc dựa trên giá trị của một loại tài sản khác</a:t>
            </a:r>
            <a:endParaRPr sz="1100">
              <a:latin typeface="Arial" panose="020B0604020202020204"/>
              <a:ea typeface="Arial" panose="020B0604020202020204"/>
              <a:cs typeface="Arial" panose="020B0604020202020204"/>
              <a:sym typeface="Arial" panose="020B0604020202020204"/>
            </a:endParaRPr>
          </a:p>
        </p:txBody>
      </p:sp>
      <p:sp>
        <p:nvSpPr>
          <p:cNvPr id="264" name="Google Shape;264;p21: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9" name="Shape 269"/>
        <p:cNvGrpSpPr/>
        <p:nvPr/>
      </p:nvGrpSpPr>
      <p:grpSpPr>
        <a:xfrm>
          <a:off x="0" y="0"/>
          <a:ext cx="0" cy="0"/>
          <a:chOff x="0" y="0"/>
          <a:chExt cx="0" cy="0"/>
        </a:xfrm>
      </p:grpSpPr>
      <p:sp>
        <p:nvSpPr>
          <p:cNvPr id="270" name="Google Shape;270;p22: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100">
              <a:latin typeface="Arial" panose="020B0604020202020204"/>
              <a:ea typeface="Arial" panose="020B0604020202020204"/>
              <a:cs typeface="Arial" panose="020B0604020202020204"/>
              <a:sym typeface="Arial" panose="020B0604020202020204"/>
            </a:endParaRPr>
          </a:p>
        </p:txBody>
      </p:sp>
      <p:sp>
        <p:nvSpPr>
          <p:cNvPr id="271" name="Google Shape;271;p22: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6" name="Shape 276"/>
        <p:cNvGrpSpPr/>
        <p:nvPr/>
      </p:nvGrpSpPr>
      <p:grpSpPr>
        <a:xfrm>
          <a:off x="0" y="0"/>
          <a:ext cx="0" cy="0"/>
          <a:chOff x="0" y="0"/>
          <a:chExt cx="0" cy="0"/>
        </a:xfrm>
      </p:grpSpPr>
      <p:sp>
        <p:nvSpPr>
          <p:cNvPr id="277" name="Google Shape;277;p23: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100">
              <a:latin typeface="Arial" panose="020B0604020202020204"/>
              <a:ea typeface="Arial" panose="020B0604020202020204"/>
              <a:cs typeface="Arial" panose="020B0604020202020204"/>
              <a:sym typeface="Arial" panose="020B0604020202020204"/>
            </a:endParaRPr>
          </a:p>
        </p:txBody>
      </p:sp>
      <p:sp>
        <p:nvSpPr>
          <p:cNvPr id="278" name="Google Shape;278;p2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5" name="Shape 285"/>
        <p:cNvGrpSpPr/>
        <p:nvPr/>
      </p:nvGrpSpPr>
      <p:grpSpPr>
        <a:xfrm>
          <a:off x="0" y="0"/>
          <a:ext cx="0" cy="0"/>
          <a:chOff x="0" y="0"/>
          <a:chExt cx="0" cy="0"/>
        </a:xfrm>
      </p:grpSpPr>
      <p:sp>
        <p:nvSpPr>
          <p:cNvPr id="286" name="Google Shape;286;p24: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87" name="Google Shape;287;p24: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2" name="Shape 292"/>
        <p:cNvGrpSpPr/>
        <p:nvPr/>
      </p:nvGrpSpPr>
      <p:grpSpPr>
        <a:xfrm>
          <a:off x="0" y="0"/>
          <a:ext cx="0" cy="0"/>
          <a:chOff x="0" y="0"/>
          <a:chExt cx="0" cy="0"/>
        </a:xfrm>
      </p:grpSpPr>
      <p:sp>
        <p:nvSpPr>
          <p:cNvPr id="293" name="Google Shape;293;p2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94" name="Google Shape;294;p25: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9" name="Shape 299"/>
        <p:cNvGrpSpPr/>
        <p:nvPr/>
      </p:nvGrpSpPr>
      <p:grpSpPr>
        <a:xfrm>
          <a:off x="0" y="0"/>
          <a:ext cx="0" cy="0"/>
          <a:chOff x="0" y="0"/>
          <a:chExt cx="0" cy="0"/>
        </a:xfrm>
      </p:grpSpPr>
      <p:sp>
        <p:nvSpPr>
          <p:cNvPr id="300" name="Google Shape;300;p26: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01" name="Google Shape;301;p26: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1" name="Shape 311"/>
        <p:cNvGrpSpPr/>
        <p:nvPr/>
      </p:nvGrpSpPr>
      <p:grpSpPr>
        <a:xfrm>
          <a:off x="0" y="0"/>
          <a:ext cx="0" cy="0"/>
          <a:chOff x="0" y="0"/>
          <a:chExt cx="0" cy="0"/>
        </a:xfrm>
      </p:grpSpPr>
      <p:sp>
        <p:nvSpPr>
          <p:cNvPr id="312" name="Google Shape;312;p27: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3" name="Google Shape;313;p27: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7" name="Shape 317"/>
        <p:cNvGrpSpPr/>
        <p:nvPr/>
      </p:nvGrpSpPr>
      <p:grpSpPr>
        <a:xfrm>
          <a:off x="0" y="0"/>
          <a:ext cx="0" cy="0"/>
          <a:chOff x="0" y="0"/>
          <a:chExt cx="0" cy="0"/>
        </a:xfrm>
      </p:grpSpPr>
      <p:sp>
        <p:nvSpPr>
          <p:cNvPr id="318" name="Google Shape;318;p2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9" name="Google Shape;319;p28: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5" name="Shape 15"/>
        <p:cNvGrpSpPr/>
        <p:nvPr/>
      </p:nvGrpSpPr>
      <p:grpSpPr>
        <a:xfrm>
          <a:off x="0" y="0"/>
          <a:ext cx="0" cy="0"/>
          <a:chOff x="0" y="0"/>
          <a:chExt cx="0" cy="0"/>
        </a:xfrm>
      </p:grpSpPr>
      <p:sp>
        <p:nvSpPr>
          <p:cNvPr id="16" name="Google Shape;16;p30"/>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0"/>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0"/>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9" name="Shape 19"/>
        <p:cNvGrpSpPr/>
        <p:nvPr/>
      </p:nvGrpSpPr>
      <p:grpSpPr>
        <a:xfrm>
          <a:off x="0" y="0"/>
          <a:ext cx="0" cy="0"/>
          <a:chOff x="0" y="0"/>
          <a:chExt cx="0" cy="0"/>
        </a:xfrm>
      </p:grpSpPr>
      <p:sp>
        <p:nvSpPr>
          <p:cNvPr id="20" name="Google Shape;20;p31"/>
          <p:cNvSpPr txBox="1"/>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1"/>
          <p:cNvSpPr txBox="1"/>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2" name="Google Shape;22;p31"/>
          <p:cNvSpPr txBox="1"/>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3" name="Google Shape;23;p31"/>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1"/>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1"/>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26" name="Shape 26"/>
        <p:cNvGrpSpPr/>
        <p:nvPr/>
      </p:nvGrpSpPr>
      <p:grpSpPr>
        <a:xfrm>
          <a:off x="0" y="0"/>
          <a:ext cx="0" cy="0"/>
          <a:chOff x="0" y="0"/>
          <a:chExt cx="0" cy="0"/>
        </a:xfrm>
      </p:grpSpPr>
      <p:sp>
        <p:nvSpPr>
          <p:cNvPr id="27" name="Google Shape;27;p32"/>
          <p:cNvSpPr txBox="1"/>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2"/>
          <p:cNvSpPr txBox="1"/>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32"/>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2"/>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2"/>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32" name="Shape 32"/>
        <p:cNvGrpSpPr/>
        <p:nvPr/>
      </p:nvGrpSpPr>
      <p:grpSpPr>
        <a:xfrm>
          <a:off x="0" y="0"/>
          <a:ext cx="0" cy="0"/>
          <a:chOff x="0" y="0"/>
          <a:chExt cx="0" cy="0"/>
        </a:xfrm>
      </p:grpSpPr>
      <p:sp>
        <p:nvSpPr>
          <p:cNvPr id="33" name="Google Shape;33;p33"/>
          <p:cNvSpPr txBox="1"/>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3"/>
          <p:cNvSpPr txBox="1"/>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5" name="Google Shape;35;p33"/>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3"/>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3"/>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38" name="Shape 38"/>
        <p:cNvGrpSpPr/>
        <p:nvPr/>
      </p:nvGrpSpPr>
      <p:grpSpPr>
        <a:xfrm>
          <a:off x="0" y="0"/>
          <a:ext cx="0" cy="0"/>
          <a:chOff x="0" y="0"/>
          <a:chExt cx="0" cy="0"/>
        </a:xfrm>
      </p:grpSpPr>
      <p:sp>
        <p:nvSpPr>
          <p:cNvPr id="39" name="Google Shape;39;p34"/>
          <p:cNvSpPr txBox="1"/>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4"/>
          <p:cNvSpPr txBox="1"/>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34"/>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4"/>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4"/>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4" name="Shape 44"/>
        <p:cNvGrpSpPr/>
        <p:nvPr/>
      </p:nvGrpSpPr>
      <p:grpSpPr>
        <a:xfrm>
          <a:off x="0" y="0"/>
          <a:ext cx="0" cy="0"/>
          <a:chOff x="0" y="0"/>
          <a:chExt cx="0" cy="0"/>
        </a:xfrm>
      </p:grpSpPr>
      <p:sp>
        <p:nvSpPr>
          <p:cNvPr id="45" name="Google Shape;45;p35"/>
          <p:cNvSpPr txBox="1"/>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5"/>
          <p:cNvSpPr txBox="1"/>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7" name="Google Shape;47;p35"/>
          <p:cNvSpPr txBox="1"/>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8" name="Google Shape;48;p35"/>
          <p:cNvSpPr txBox="1"/>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9" name="Google Shape;49;p35"/>
          <p:cNvSpPr txBox="1"/>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35"/>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5"/>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5"/>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53" name="Shape 53"/>
        <p:cNvGrpSpPr/>
        <p:nvPr/>
      </p:nvGrpSpPr>
      <p:grpSpPr>
        <a:xfrm>
          <a:off x="0" y="0"/>
          <a:ext cx="0" cy="0"/>
          <a:chOff x="0" y="0"/>
          <a:chExt cx="0" cy="0"/>
        </a:xfrm>
      </p:grpSpPr>
      <p:sp>
        <p:nvSpPr>
          <p:cNvPr id="54" name="Google Shape;54;p36"/>
          <p:cNvSpPr txBox="1"/>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6"/>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6"/>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6"/>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8" name="Shape 58"/>
        <p:cNvGrpSpPr/>
        <p:nvPr/>
      </p:nvGrpSpPr>
      <p:grpSpPr>
        <a:xfrm>
          <a:off x="0" y="0"/>
          <a:ext cx="0" cy="0"/>
          <a:chOff x="0" y="0"/>
          <a:chExt cx="0" cy="0"/>
        </a:xfrm>
      </p:grpSpPr>
      <p:sp>
        <p:nvSpPr>
          <p:cNvPr id="59" name="Google Shape;59;p37"/>
          <p:cNvSpPr txBox="1"/>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7"/>
          <p:cNvSpPr txBox="1"/>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37"/>
          <p:cNvSpPr txBox="1"/>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37"/>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7"/>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7"/>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5" name="Shape 65"/>
        <p:cNvGrpSpPr/>
        <p:nvPr/>
      </p:nvGrpSpPr>
      <p:grpSpPr>
        <a:xfrm>
          <a:off x="0" y="0"/>
          <a:ext cx="0" cy="0"/>
          <a:chOff x="0" y="0"/>
          <a:chExt cx="0" cy="0"/>
        </a:xfrm>
      </p:grpSpPr>
      <p:sp>
        <p:nvSpPr>
          <p:cNvPr id="66" name="Google Shape;66;p38"/>
          <p:cNvSpPr txBox="1"/>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8"/>
          <p:cNvSpPr/>
          <p:nvPr>
            <p:ph type="pic" idx="2"/>
          </p:nvPr>
        </p:nvSpPr>
        <p:spPr>
          <a:xfrm>
            <a:off x="3887391" y="987426"/>
            <a:ext cx="4629150" cy="4873625"/>
          </a:xfrm>
          <a:prstGeom prst="rect">
            <a:avLst/>
          </a:prstGeom>
          <a:noFill/>
          <a:ln>
            <a:noFill/>
          </a:ln>
        </p:spPr>
      </p:sp>
      <p:sp>
        <p:nvSpPr>
          <p:cNvPr id="68" name="Google Shape;68;p38"/>
          <p:cNvSpPr txBox="1"/>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38"/>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8"/>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8"/>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72" name="Shape 72"/>
        <p:cNvGrpSpPr/>
        <p:nvPr/>
      </p:nvGrpSpPr>
      <p:grpSpPr>
        <a:xfrm>
          <a:off x="0" y="0"/>
          <a:ext cx="0" cy="0"/>
          <a:chOff x="0" y="0"/>
          <a:chExt cx="0" cy="0"/>
        </a:xfrm>
      </p:grpSpPr>
      <p:sp>
        <p:nvSpPr>
          <p:cNvPr id="73" name="Google Shape;73;p39"/>
          <p:cNvSpPr txBox="1"/>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9"/>
          <p:cNvSpPr txBox="1"/>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39"/>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9"/>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9"/>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8" name="Shape 78"/>
        <p:cNvGrpSpPr/>
        <p:nvPr/>
      </p:nvGrpSpPr>
      <p:grpSpPr>
        <a:xfrm>
          <a:off x="0" y="0"/>
          <a:ext cx="0" cy="0"/>
          <a:chOff x="0" y="0"/>
          <a:chExt cx="0" cy="0"/>
        </a:xfrm>
      </p:grpSpPr>
      <p:sp>
        <p:nvSpPr>
          <p:cNvPr id="79" name="Google Shape;79;p40"/>
          <p:cNvSpPr txBox="1"/>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0"/>
          <p:cNvSpPr txBox="1"/>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40"/>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0"/>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0"/>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29"/>
          <p:cNvSpPr txBox="1"/>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29"/>
          <p:cNvSpPr txBox="1"/>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29"/>
          <p:cNvSpPr txBox="1"/>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29"/>
          <p:cNvSpPr txBox="1"/>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29"/>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8.jpeg"/><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11.jpeg"/><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12.jpeg"/><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hyperlink" Target="https://github.com/" TargetMode="External"/><Relationship Id="rId2" Type="http://schemas.openxmlformats.org/officeDocument/2006/relationships/hyperlink" Target="https://stackoverflow.com/" TargetMode="External"/><Relationship Id="rId1" Type="http://schemas.openxmlformats.org/officeDocument/2006/relationships/image" Target="../media/image3.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1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7" name="Shape 87"/>
        <p:cNvGrpSpPr/>
        <p:nvPr/>
      </p:nvGrpSpPr>
      <p:grpSpPr>
        <a:xfrm>
          <a:off x="0" y="0"/>
          <a:ext cx="0" cy="0"/>
          <a:chOff x="0" y="0"/>
          <a:chExt cx="0" cy="0"/>
        </a:xfrm>
      </p:grpSpPr>
      <p:pic>
        <p:nvPicPr>
          <p:cNvPr id="88" name="Google Shape;88;p1" descr="Logo&#10;&#10;Description automatically generated with medium confidence"/>
          <p:cNvPicPr preferRelativeResize="0"/>
          <p:nvPr/>
        </p:nvPicPr>
        <p:blipFill rotWithShape="1">
          <a:blip r:embed="rId1"/>
          <a:srcRect/>
          <a:stretch>
            <a:fillRect/>
          </a:stretch>
        </p:blipFill>
        <p:spPr>
          <a:xfrm>
            <a:off x="0" y="0"/>
            <a:ext cx="9144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92" name="Shape 92"/>
        <p:cNvGrpSpPr/>
        <p:nvPr/>
      </p:nvGrpSpPr>
      <p:grpSpPr>
        <a:xfrm>
          <a:off x="0" y="0"/>
          <a:ext cx="0" cy="0"/>
          <a:chOff x="0" y="0"/>
          <a:chExt cx="0" cy="0"/>
        </a:xfrm>
      </p:grpSpPr>
      <p:sp>
        <p:nvSpPr>
          <p:cNvPr id="93" name="Google Shape;93;p2"/>
          <p:cNvSpPr txBox="1"/>
          <p:nvPr/>
        </p:nvSpPr>
        <p:spPr>
          <a:xfrm>
            <a:off x="1710635" y="1809406"/>
            <a:ext cx="6531666" cy="5207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800"/>
              <a:buFont typeface="Arial" panose="020B0604020202020204"/>
              <a:buNone/>
            </a:pPr>
            <a:r>
              <a:rPr lang="en-US" sz="2800" b="1" i="0" u="none" strike="noStrike" cap="none">
                <a:solidFill>
                  <a:srgbClr val="FF0000"/>
                </a:solidFill>
                <a:latin typeface="Arial" panose="020B0604020202020204"/>
                <a:ea typeface="Arial" panose="020B0604020202020204"/>
                <a:cs typeface="Arial" panose="020B0604020202020204"/>
                <a:sym typeface="Arial" panose="020B0604020202020204"/>
              </a:rPr>
              <a:t>Lập trình Auto Trading</a:t>
            </a:r>
            <a:endParaRPr sz="2800" b="1" i="0" u="none" strike="noStrike" cap="none">
              <a:solidFill>
                <a:srgbClr val="FF0000"/>
              </a:solidFill>
              <a:latin typeface="Arial" panose="020B0604020202020204"/>
              <a:ea typeface="Arial" panose="020B0604020202020204"/>
              <a:cs typeface="Arial" panose="020B0604020202020204"/>
              <a:sym typeface="Arial" panose="020B0604020202020204"/>
            </a:endParaRPr>
          </a:p>
        </p:txBody>
      </p:sp>
      <p:sp>
        <p:nvSpPr>
          <p:cNvPr id="94" name="Google Shape;94;p2"/>
          <p:cNvSpPr txBox="1"/>
          <p:nvPr/>
        </p:nvSpPr>
        <p:spPr>
          <a:xfrm>
            <a:off x="2781301" y="3025123"/>
            <a:ext cx="6191400" cy="11671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en-US" sz="2800" b="1" i="1" u="none" strike="noStrike" cap="none">
                <a:solidFill>
                  <a:srgbClr val="FF0000"/>
                </a:solidFill>
                <a:latin typeface="Arial" panose="020B0604020202020204"/>
                <a:ea typeface="Arial" panose="020B0604020202020204"/>
                <a:cs typeface="Arial" panose="020B0604020202020204"/>
                <a:sym typeface="Arial" panose="020B0604020202020204"/>
              </a:rPr>
              <a:t>Chủ đề: Tổng quan khóa học</a:t>
            </a:r>
            <a:endParaRPr lang="en-US" sz="2800" b="1" i="1" u="none" strike="noStrike" cap="none">
              <a:solidFill>
                <a:srgbClr val="FF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8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800"/>
              <a:buFont typeface="Arial" panose="020B0604020202020204"/>
              <a:buNone/>
            </a:pPr>
            <a:endParaRPr sz="2800" b="1" i="1" u="none" strike="noStrike" cap="none">
              <a:solidFill>
                <a:srgbClr val="FF0000"/>
              </a:solidFill>
              <a:latin typeface="Arial" panose="020B0604020202020204"/>
              <a:ea typeface="Arial" panose="020B0604020202020204"/>
              <a:cs typeface="Arial" panose="020B0604020202020204"/>
              <a:sym typeface="Arial" panose="020B0604020202020204"/>
            </a:endParaRPr>
          </a:p>
        </p:txBody>
      </p:sp>
      <p:sp>
        <p:nvSpPr>
          <p:cNvPr id="95" name="Google Shape;95;p2"/>
          <p:cNvSpPr txBox="1"/>
          <p:nvPr/>
        </p:nvSpPr>
        <p:spPr>
          <a:xfrm>
            <a:off x="5301615" y="4841240"/>
            <a:ext cx="3843020" cy="9518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en-US" sz="2800" b="0" i="1" u="none" strike="noStrike" cap="none">
                <a:solidFill>
                  <a:schemeClr val="dk1"/>
                </a:solidFill>
                <a:latin typeface="Arial" panose="020B0604020202020204"/>
                <a:ea typeface="Arial" panose="020B0604020202020204"/>
                <a:cs typeface="Arial" panose="020B0604020202020204"/>
                <a:sym typeface="Arial" panose="020B0604020202020204"/>
              </a:rPr>
              <a:t>GV. Đặng Trí Thanh</a:t>
            </a:r>
            <a:endParaRPr sz="2800" b="0" i="1"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800"/>
              <a:buFont typeface="Arial" panose="020B0604020202020204"/>
              <a:buNone/>
            </a:pPr>
            <a:r>
              <a:rPr lang="en-US" sz="2800" b="0" i="1"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99" name="Shape 99"/>
        <p:cNvGrpSpPr/>
        <p:nvPr/>
      </p:nvGrpSpPr>
      <p:grpSpPr>
        <a:xfrm>
          <a:off x="0" y="0"/>
          <a:ext cx="0" cy="0"/>
          <a:chOff x="0" y="0"/>
          <a:chExt cx="0" cy="0"/>
        </a:xfrm>
      </p:grpSpPr>
      <p:sp>
        <p:nvSpPr>
          <p:cNvPr id="100" name="Google Shape;100;p3"/>
          <p:cNvSpPr txBox="1"/>
          <p:nvPr/>
        </p:nvSpPr>
        <p:spPr>
          <a:xfrm>
            <a:off x="304800" y="154525"/>
            <a:ext cx="68658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a:solidFill>
                  <a:schemeClr val="lt1"/>
                </a:solidFill>
                <a:latin typeface="Arial" panose="020B0604020202020204"/>
                <a:ea typeface="Arial" panose="020B0604020202020204"/>
                <a:cs typeface="Arial" panose="020B0604020202020204"/>
                <a:sym typeface="Arial" panose="020B0604020202020204"/>
              </a:rPr>
              <a:t>Mục tiêu buổi học</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694085" y="2881377"/>
            <a:ext cx="7755600" cy="1094105"/>
          </a:xfrm>
          <a:prstGeom prst="rect">
            <a:avLst/>
          </a:prstGeom>
          <a:noFill/>
          <a:ln>
            <a:noFill/>
          </a:ln>
        </p:spPr>
        <p:txBody>
          <a:bodyPr spcFirstLastPara="1" wrap="square" lIns="91425" tIns="91425" rIns="91425" bIns="91425" anchor="t" anchorCtr="0">
            <a:spAutoFit/>
          </a:bodyPr>
          <a:lstStyle/>
          <a:p>
            <a:pPr marL="101600" marR="0" lvl="0" indent="0" algn="just" rtl="0">
              <a:lnSpc>
                <a:spcPct val="115000"/>
              </a:lnSpc>
              <a:spcBef>
                <a:spcPts val="1600"/>
              </a:spcBef>
              <a:spcAft>
                <a:spcPts val="0"/>
              </a:spcAft>
              <a:buNone/>
            </a:pPr>
            <a: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1. Tổng quan về khóa học</a:t>
            </a:r>
            <a:endParaRPr sz="20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2. Hướng dẫn cài đặt công cụ lập trình</a:t>
            </a:r>
            <a:endParaRPr sz="20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05" name="Shape 105"/>
        <p:cNvGrpSpPr/>
        <p:nvPr/>
      </p:nvGrpSpPr>
      <p:grpSpPr>
        <a:xfrm>
          <a:off x="0" y="0"/>
          <a:ext cx="0" cy="0"/>
          <a:chOff x="0" y="0"/>
          <a:chExt cx="0" cy="0"/>
        </a:xfrm>
      </p:grpSpPr>
      <p:sp>
        <p:nvSpPr>
          <p:cNvPr id="106" name="Google Shape;106;p4"/>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a:solidFill>
                  <a:schemeClr val="lt1"/>
                </a:solidFill>
                <a:latin typeface="Arial" panose="020B0604020202020204"/>
                <a:ea typeface="Arial" panose="020B0604020202020204"/>
                <a:cs typeface="Arial" panose="020B0604020202020204"/>
                <a:sym typeface="Arial" panose="020B0604020202020204"/>
              </a:rPr>
              <a:t>Đặt câu hỏi</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107" name="Google Shape;107;p4"/>
          <p:cNvPicPr preferRelativeResize="0"/>
          <p:nvPr/>
        </p:nvPicPr>
        <p:blipFill rotWithShape="1">
          <a:blip r:embed="rId2"/>
          <a:srcRect/>
          <a:stretch>
            <a:fillRect/>
          </a:stretch>
        </p:blipFill>
        <p:spPr>
          <a:xfrm>
            <a:off x="234949" y="1844762"/>
            <a:ext cx="4237876" cy="2068997"/>
          </a:xfrm>
          <a:prstGeom prst="rect">
            <a:avLst/>
          </a:prstGeom>
          <a:noFill/>
          <a:ln>
            <a:noFill/>
          </a:ln>
        </p:spPr>
      </p:pic>
      <p:pic>
        <p:nvPicPr>
          <p:cNvPr id="108" name="Google Shape;108;p4"/>
          <p:cNvPicPr preferRelativeResize="0"/>
          <p:nvPr/>
        </p:nvPicPr>
        <p:blipFill rotWithShape="1">
          <a:blip r:embed="rId3"/>
          <a:srcRect/>
          <a:stretch>
            <a:fillRect/>
          </a:stretch>
        </p:blipFill>
        <p:spPr>
          <a:xfrm>
            <a:off x="4952428" y="1844762"/>
            <a:ext cx="4078615" cy="2013903"/>
          </a:xfrm>
          <a:prstGeom prst="rect">
            <a:avLst/>
          </a:prstGeom>
          <a:noFill/>
          <a:ln>
            <a:noFill/>
          </a:ln>
        </p:spPr>
      </p:pic>
      <p:pic>
        <p:nvPicPr>
          <p:cNvPr id="109" name="Google Shape;109;p4"/>
          <p:cNvPicPr preferRelativeResize="0"/>
          <p:nvPr/>
        </p:nvPicPr>
        <p:blipFill rotWithShape="1">
          <a:blip r:embed="rId4"/>
          <a:srcRect/>
          <a:stretch>
            <a:fillRect/>
          </a:stretch>
        </p:blipFill>
        <p:spPr>
          <a:xfrm>
            <a:off x="4952428" y="4159637"/>
            <a:ext cx="4071932" cy="2014831"/>
          </a:xfrm>
          <a:prstGeom prst="rect">
            <a:avLst/>
          </a:prstGeom>
          <a:noFill/>
          <a:ln>
            <a:noFill/>
          </a:ln>
        </p:spPr>
      </p:pic>
      <p:sp>
        <p:nvSpPr>
          <p:cNvPr id="110" name="Google Shape;110;p4"/>
          <p:cNvSpPr txBox="1"/>
          <p:nvPr/>
        </p:nvSpPr>
        <p:spPr>
          <a:xfrm>
            <a:off x="595025" y="764287"/>
            <a:ext cx="7755600" cy="1376680"/>
          </a:xfrm>
          <a:prstGeom prst="rect">
            <a:avLst/>
          </a:prstGeom>
          <a:noFill/>
          <a:ln>
            <a:noFill/>
          </a:ln>
        </p:spPr>
        <p:txBody>
          <a:bodyPr spcFirstLastPara="1" wrap="square" lIns="91425" tIns="91425" rIns="91425" bIns="91425" anchor="t" anchorCtr="0">
            <a:spAutoFit/>
          </a:bodyPr>
          <a:lstStyle/>
          <a:p>
            <a:pPr marL="101600" marR="0" lvl="0" indent="0" algn="just" rtl="0">
              <a:lnSpc>
                <a:spcPct val="115000"/>
              </a:lnSpc>
              <a:spcBef>
                <a:spcPts val="1600"/>
              </a:spcBef>
              <a:spcAft>
                <a:spcPts val="0"/>
              </a:spcAft>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Chúng ta có </a:t>
            </a: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chiến lược </a:t>
            </a: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như sau: Chiến lược </a:t>
            </a:r>
            <a:r>
              <a:rPr lang="en-US" sz="1400" b="1" i="0" u="none" strike="noStrike" cap="none">
                <a:solidFill>
                  <a:srgbClr val="FF0000"/>
                </a:solidFill>
                <a:latin typeface="Arial" panose="020B0604020202020204"/>
                <a:ea typeface="Arial" panose="020B0604020202020204"/>
                <a:cs typeface="Arial" panose="020B0604020202020204"/>
                <a:sym typeface="Arial" panose="020B0604020202020204"/>
              </a:rPr>
              <a:t>ML, Momentum, RSI</a:t>
            </a: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 hoặc chiến lược </a:t>
            </a:r>
            <a:r>
              <a:rPr lang="en-US" sz="1400" b="1" i="0" u="none" strike="noStrike" cap="none">
                <a:solidFill>
                  <a:srgbClr val="FF0000"/>
                </a:solidFill>
                <a:latin typeface="Arial" panose="020B0604020202020204"/>
                <a:ea typeface="Arial" panose="020B0604020202020204"/>
                <a:cs typeface="Arial" panose="020B0604020202020204"/>
                <a:sym typeface="Arial" panose="020B0604020202020204"/>
              </a:rPr>
              <a:t>Arima, Momentum, RSI</a:t>
            </a: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sz="14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để làm sao thực thi chiến lược này tự động theo phân tích kỹ thuật hoặc phân tích kỹ thuật ML</a:t>
            </a:r>
            <a:endParaRPr sz="14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111" name="Google Shape;111;p4"/>
          <p:cNvPicPr preferRelativeResize="0"/>
          <p:nvPr/>
        </p:nvPicPr>
        <p:blipFill rotWithShape="1">
          <a:blip r:embed="rId5"/>
          <a:srcRect/>
          <a:stretch>
            <a:fillRect/>
          </a:stretch>
        </p:blipFill>
        <p:spPr>
          <a:xfrm>
            <a:off x="304800" y="4168968"/>
            <a:ext cx="4168025" cy="193611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15" name="Shape 115"/>
        <p:cNvGrpSpPr/>
        <p:nvPr/>
      </p:nvGrpSpPr>
      <p:grpSpPr>
        <a:xfrm>
          <a:off x="0" y="0"/>
          <a:ext cx="0" cy="0"/>
          <a:chOff x="0" y="0"/>
          <a:chExt cx="0" cy="0"/>
        </a:xfrm>
      </p:grpSpPr>
      <p:sp>
        <p:nvSpPr>
          <p:cNvPr id="116" name="Google Shape;116;p5"/>
          <p:cNvSpPr txBox="1"/>
          <p:nvPr/>
        </p:nvSpPr>
        <p:spPr>
          <a:xfrm>
            <a:off x="304800" y="154525"/>
            <a:ext cx="68658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a:solidFill>
                  <a:schemeClr val="lt1"/>
                </a:solidFill>
                <a:latin typeface="Arial" panose="020B0604020202020204"/>
                <a:ea typeface="Arial" panose="020B0604020202020204"/>
                <a:cs typeface="Arial" panose="020B0604020202020204"/>
                <a:sym typeface="Arial" panose="020B0604020202020204"/>
              </a:rPr>
              <a:t>Câu trả lời</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117" name="Google Shape;117;p5"/>
          <p:cNvPicPr preferRelativeResize="0"/>
          <p:nvPr/>
        </p:nvPicPr>
        <p:blipFill rotWithShape="1">
          <a:blip r:embed="rId2"/>
          <a:srcRect/>
          <a:stretch>
            <a:fillRect/>
          </a:stretch>
        </p:blipFill>
        <p:spPr>
          <a:xfrm>
            <a:off x="1446530" y="770255"/>
            <a:ext cx="3379470" cy="1650365"/>
          </a:xfrm>
          <a:prstGeom prst="rect">
            <a:avLst/>
          </a:prstGeom>
          <a:noFill/>
          <a:ln>
            <a:noFill/>
          </a:ln>
        </p:spPr>
      </p:pic>
      <p:sp>
        <p:nvSpPr>
          <p:cNvPr id="118" name="Google Shape;118;p5"/>
          <p:cNvSpPr txBox="1"/>
          <p:nvPr/>
        </p:nvSpPr>
        <p:spPr>
          <a:xfrm>
            <a:off x="558195" y="2015237"/>
            <a:ext cx="7755600" cy="4092575"/>
          </a:xfrm>
          <a:prstGeom prst="rect">
            <a:avLst/>
          </a:prstGeom>
          <a:noFill/>
          <a:ln>
            <a:noFill/>
          </a:ln>
        </p:spPr>
        <p:txBody>
          <a:bodyPr spcFirstLastPara="1" wrap="square" lIns="91425" tIns="91425" rIns="91425" bIns="91425" anchor="t" anchorCtr="0">
            <a:spAutoFit/>
          </a:bodyPr>
          <a:lstStyle/>
          <a:p>
            <a:pPr marL="101600" marR="0" lvl="0" indent="0" algn="just" rtl="0">
              <a:lnSpc>
                <a:spcPct val="115000"/>
              </a:lnSpc>
              <a:spcBef>
                <a:spcPts val="1600"/>
              </a:spcBef>
              <a:spcAft>
                <a:spcPts val="0"/>
              </a:spcAft>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1. Trung tâm (chính): Python</a:t>
            </a:r>
            <a:endParaRPr sz="14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2. OG (Order Good)</a:t>
            </a:r>
            <a:endParaRPr sz="14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 Dữ liệu (Data): Nguồn: Binance - Loại dữ liệu: Giá thị trường, Volume, thông tin giao dịch</a:t>
            </a:r>
            <a:endParaRPr sz="14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 Quá trình xử lý (Process): Machine Learning: Dự đoán giá và xu hướng - Momentum: Đo lường đà của giá - RSI: Chỉ số sức mạnh tương đối</a:t>
            </a:r>
            <a:endParaRPr sz="14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 Tín hiệu giao dịch (Trading Signal): Mua (Buy) - Bán (Sell) dựa vào chiến lược</a:t>
            </a:r>
            <a:endParaRPr sz="14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2.1 Từ OG gửi tín hiệu qua Redis</a:t>
            </a:r>
            <a:endParaRPr sz="14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3. OF (Order Follower)</a:t>
            </a:r>
            <a:endParaRPr sz="14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 Đặt lệnh (Orders): Python -&gt; Binance: Gửi lệnh mua/bán đến Binance dựa trên tín hiệu.</a:t>
            </a:r>
            <a:endParaRPr sz="14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119" name="Google Shape;119;p5"/>
          <p:cNvPicPr preferRelativeResize="0"/>
          <p:nvPr/>
        </p:nvPicPr>
        <p:blipFill rotWithShape="1">
          <a:blip r:embed="rId3"/>
          <a:srcRect/>
          <a:stretch>
            <a:fillRect/>
          </a:stretch>
        </p:blipFill>
        <p:spPr>
          <a:xfrm>
            <a:off x="5349240" y="791210"/>
            <a:ext cx="3463290" cy="171386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23" name="Shape 123"/>
        <p:cNvGrpSpPr/>
        <p:nvPr/>
      </p:nvGrpSpPr>
      <p:grpSpPr>
        <a:xfrm>
          <a:off x="0" y="0"/>
          <a:ext cx="0" cy="0"/>
          <a:chOff x="0" y="0"/>
          <a:chExt cx="0" cy="0"/>
        </a:xfrm>
      </p:grpSpPr>
      <p:sp>
        <p:nvSpPr>
          <p:cNvPr id="124" name="Google Shape;124;p6"/>
          <p:cNvSpPr txBox="1"/>
          <p:nvPr/>
        </p:nvSpPr>
        <p:spPr>
          <a:xfrm>
            <a:off x="304800" y="154525"/>
            <a:ext cx="68658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a:solidFill>
                  <a:schemeClr val="lt1"/>
                </a:solidFill>
                <a:latin typeface="Arial" panose="020B0604020202020204"/>
                <a:ea typeface="Arial" panose="020B0604020202020204"/>
                <a:cs typeface="Arial" panose="020B0604020202020204"/>
                <a:sym typeface="Arial" panose="020B0604020202020204"/>
              </a:rPr>
              <a:t>Câu trả lời</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125" name="Google Shape;125;p6"/>
          <p:cNvPicPr preferRelativeResize="0"/>
          <p:nvPr/>
        </p:nvPicPr>
        <p:blipFill rotWithShape="1">
          <a:blip r:embed="rId2"/>
          <a:srcRect/>
          <a:stretch>
            <a:fillRect/>
          </a:stretch>
        </p:blipFill>
        <p:spPr>
          <a:xfrm>
            <a:off x="1446530" y="770255"/>
            <a:ext cx="3379470" cy="1650365"/>
          </a:xfrm>
          <a:prstGeom prst="rect">
            <a:avLst/>
          </a:prstGeom>
          <a:noFill/>
          <a:ln>
            <a:noFill/>
          </a:ln>
        </p:spPr>
      </p:pic>
      <p:sp>
        <p:nvSpPr>
          <p:cNvPr id="126" name="Google Shape;126;p6"/>
          <p:cNvSpPr txBox="1"/>
          <p:nvPr/>
        </p:nvSpPr>
        <p:spPr>
          <a:xfrm>
            <a:off x="558195" y="2015237"/>
            <a:ext cx="7755600" cy="3229610"/>
          </a:xfrm>
          <a:prstGeom prst="rect">
            <a:avLst/>
          </a:prstGeom>
          <a:noFill/>
          <a:ln>
            <a:noFill/>
          </a:ln>
        </p:spPr>
        <p:txBody>
          <a:bodyPr spcFirstLastPara="1" wrap="square" lIns="91425" tIns="91425" rIns="91425" bIns="91425" anchor="t" anchorCtr="0">
            <a:spAutoFit/>
          </a:bodyPr>
          <a:lstStyle/>
          <a:p>
            <a:pPr marL="101600" marR="0" lvl="0" indent="0" algn="just" rtl="0">
              <a:lnSpc>
                <a:spcPct val="115000"/>
              </a:lnSpc>
              <a:spcBef>
                <a:spcPts val="1600"/>
              </a:spcBef>
              <a:spcAft>
                <a:spcPts val="0"/>
              </a:spcAft>
              <a:buNone/>
            </a:pP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1. </a:t>
            </a: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Về lập trình:</a:t>
            </a: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 Có thể lập trình được Bot </a:t>
            </a: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theo chiến lược của mình</a:t>
            </a: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 Giúp tùy chỉnh bot để phù hợp với mục tiêu giao dịch và điều kiện thị trường cụ thể</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2. </a:t>
            </a: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Về machine learning:</a:t>
            </a: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 Có thể sử dụng machine learning để áp dụng vào Bot của mình: Cho phép bot học từ dữ liệu lịch sử, dự đoán xu hướng và đưa ra quyết định giao dịch</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3.</a:t>
            </a: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 Về API:</a:t>
            </a: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 Có thể khai thác </a:t>
            </a: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API để lấy dữ liệu</a:t>
            </a: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 cũng như </a:t>
            </a: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giao dịch Bot đa thị trường</a:t>
            </a: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 Forex, Chứng khoán, Crypto: Giúp bot có thể giao dịch liên tục với dữ liệu thời gian thực từ các sàn như Binance, SSI, DNSE, và MetaTrader 5 (MT5)</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127" name="Google Shape;127;p6"/>
          <p:cNvPicPr preferRelativeResize="0"/>
          <p:nvPr/>
        </p:nvPicPr>
        <p:blipFill rotWithShape="1">
          <a:blip r:embed="rId3"/>
          <a:srcRect/>
          <a:stretch>
            <a:fillRect/>
          </a:stretch>
        </p:blipFill>
        <p:spPr>
          <a:xfrm>
            <a:off x="5349240" y="791210"/>
            <a:ext cx="3463290" cy="171386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31" name="Shape 131"/>
        <p:cNvGrpSpPr/>
        <p:nvPr/>
      </p:nvGrpSpPr>
      <p:grpSpPr>
        <a:xfrm>
          <a:off x="0" y="0"/>
          <a:ext cx="0" cy="0"/>
          <a:chOff x="0" y="0"/>
          <a:chExt cx="0" cy="0"/>
        </a:xfrm>
      </p:grpSpPr>
      <p:sp>
        <p:nvSpPr>
          <p:cNvPr id="132" name="Google Shape;132;p7"/>
          <p:cNvSpPr txBox="1"/>
          <p:nvPr/>
        </p:nvSpPr>
        <p:spPr>
          <a:xfrm>
            <a:off x="304800" y="154525"/>
            <a:ext cx="68658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a:solidFill>
                  <a:schemeClr val="lt1"/>
                </a:solidFill>
                <a:latin typeface="Arial" panose="020B0604020202020204"/>
                <a:ea typeface="Arial" panose="020B0604020202020204"/>
                <a:cs typeface="Arial" panose="020B0604020202020204"/>
                <a:sym typeface="Arial" panose="020B0604020202020204"/>
              </a:rPr>
              <a:t>Câu trả lời</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33" name="Google Shape;133;p7"/>
          <p:cNvSpPr/>
          <p:nvPr/>
        </p:nvSpPr>
        <p:spPr>
          <a:xfrm>
            <a:off x="838200" y="702945"/>
            <a:ext cx="8306435" cy="5056505"/>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120000"/>
              </a:lnSpc>
              <a:spcBef>
                <a:spcPts val="0"/>
              </a:spcBef>
              <a:spcAft>
                <a:spcPts val="0"/>
              </a:spcAft>
              <a:buClr>
                <a:srgbClr val="000000"/>
              </a:buClr>
              <a:buSzPts val="2800"/>
              <a:buFont typeface="Arial" panose="020B0604020202020204"/>
              <a:buChar char="•"/>
            </a:pPr>
            <a:r>
              <a:rPr lang="en-US" sz="2800" b="1" i="0" u="none" strike="noStrike" cap="none">
                <a:solidFill>
                  <a:srgbClr val="002060"/>
                </a:solidFill>
                <a:latin typeface="Arial" panose="020B0604020202020204"/>
                <a:ea typeface="Arial" panose="020B0604020202020204"/>
                <a:cs typeface="Arial" panose="020B0604020202020204"/>
                <a:sym typeface="Arial" panose="020B0604020202020204"/>
              </a:rPr>
              <a:t>Các bước phát triển EA Bot Autotrade</a:t>
            </a:r>
            <a:endParaRPr sz="2800" b="1" i="0" u="none" strike="noStrike" cap="none">
              <a:solidFill>
                <a:srgbClr val="002060"/>
              </a:solidFill>
              <a:latin typeface="Arial" panose="020B0604020202020204"/>
              <a:ea typeface="Arial" panose="020B0604020202020204"/>
              <a:cs typeface="Arial" panose="020B0604020202020204"/>
              <a:sym typeface="Arial" panose="020B0604020202020204"/>
            </a:endParaRPr>
          </a:p>
        </p:txBody>
      </p:sp>
      <p:sp>
        <p:nvSpPr>
          <p:cNvPr id="134" name="Google Shape;134;p7"/>
          <p:cNvSpPr txBox="1"/>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a:fld>
            <a:endParaRPr lang="en-US"/>
          </a:p>
        </p:txBody>
      </p:sp>
      <p:grpSp>
        <p:nvGrpSpPr>
          <p:cNvPr id="135" name="Google Shape;135;p7"/>
          <p:cNvGrpSpPr/>
          <p:nvPr/>
        </p:nvGrpSpPr>
        <p:grpSpPr>
          <a:xfrm>
            <a:off x="97155" y="1827612"/>
            <a:ext cx="8934450" cy="2667504"/>
            <a:chOff x="0" y="628097"/>
            <a:chExt cx="8934450" cy="2667504"/>
          </a:xfrm>
        </p:grpSpPr>
        <p:sp>
          <p:nvSpPr>
            <p:cNvPr id="136" name="Google Shape;136;p7"/>
            <p:cNvSpPr/>
            <p:nvPr/>
          </p:nvSpPr>
          <p:spPr>
            <a:xfrm>
              <a:off x="0" y="1416081"/>
              <a:ext cx="1395739" cy="1151192"/>
            </a:xfrm>
            <a:prstGeom prst="roundRect">
              <a:avLst>
                <a:gd name="adj" fmla="val 10000"/>
              </a:avLst>
            </a:prstGeom>
            <a:solidFill>
              <a:schemeClr val="lt1">
                <a:alpha val="89803"/>
              </a:schemeClr>
            </a:solidFill>
            <a:ln w="25400" cap="flat" cmpd="sng">
              <a:solidFill>
                <a:srgbClr val="599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 name="Google Shape;137;p7"/>
            <p:cNvSpPr txBox="1"/>
            <p:nvPr/>
          </p:nvSpPr>
          <p:spPr>
            <a:xfrm>
              <a:off x="0" y="1416081"/>
              <a:ext cx="1395739" cy="1151192"/>
            </a:xfrm>
            <a:prstGeom prst="rect">
              <a:avLst/>
            </a:prstGeom>
            <a:noFill/>
            <a:ln>
              <a:noFill/>
            </a:ln>
          </p:spPr>
          <p:txBody>
            <a:bodyPr spcFirstLastPara="1" wrap="square" lIns="19050" tIns="19050" rIns="19050" bIns="19050" anchor="t" anchorCtr="0">
              <a:noAutofit/>
            </a:bodyPr>
            <a:lstStyle/>
            <a:p>
              <a:pPr marL="57150" marR="0" lvl="1" indent="-63500" algn="just" rtl="0">
                <a:lnSpc>
                  <a:spcPct val="100000"/>
                </a:lnSpc>
                <a:spcBef>
                  <a:spcPts val="0"/>
                </a:spcBef>
                <a:spcAft>
                  <a:spcPts val="0"/>
                </a:spcAft>
                <a:buClr>
                  <a:srgbClr val="000000"/>
                </a:buClr>
                <a:buSzPts val="1000"/>
                <a:buFont typeface="Arial" panose="020B0604020202020204"/>
                <a:buChar char="•"/>
              </a:pPr>
              <a:r>
                <a:rPr lang="en-US" sz="1000" b="0" i="0" u="none" strike="noStrike" cap="none">
                  <a:solidFill>
                    <a:schemeClr val="dk1"/>
                  </a:solidFill>
                  <a:latin typeface="Arial" panose="020B0604020202020204"/>
                  <a:ea typeface="Arial" panose="020B0604020202020204"/>
                  <a:cs typeface="Arial" panose="020B0604020202020204"/>
                  <a:sym typeface="Arial" panose="020B0604020202020204"/>
                </a:rPr>
                <a:t>Thiết kế chiến lược giao dịch dựa trên các phân tích và nghiên cứu</a:t>
              </a:r>
              <a:endParaRPr sz="1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38" name="Google Shape;138;p7"/>
            <p:cNvSpPr/>
            <p:nvPr/>
          </p:nvSpPr>
          <p:spPr>
            <a:xfrm>
              <a:off x="765822" y="1650165"/>
              <a:ext cx="1645436" cy="1645436"/>
            </a:xfrm>
            <a:custGeom>
              <a:avLst/>
              <a:gdLst/>
              <a:ahLst/>
              <a:cxnLst/>
              <a:rect l="l" t="t" r="r" b="b"/>
              <a:pathLst>
                <a:path w="120000" h="120000" extrusionOk="0">
                  <a:moveTo>
                    <a:pt x="9926" y="85954"/>
                  </a:moveTo>
                  <a:lnTo>
                    <a:pt x="15253" y="83193"/>
                  </a:lnTo>
                  <a:lnTo>
                    <a:pt x="15253" y="83193"/>
                  </a:lnTo>
                  <a:cubicBezTo>
                    <a:pt x="23140" y="98408"/>
                    <a:pt x="38218" y="108574"/>
                    <a:pt x="55281" y="110179"/>
                  </a:cubicBezTo>
                  <a:cubicBezTo>
                    <a:pt x="72344" y="111783"/>
                    <a:pt x="89053" y="104607"/>
                    <a:pt x="99638" y="91129"/>
                  </a:cubicBezTo>
                  <a:lnTo>
                    <a:pt x="96592" y="89242"/>
                  </a:lnTo>
                  <a:lnTo>
                    <a:pt x="105391" y="88128"/>
                  </a:lnTo>
                  <a:lnTo>
                    <a:pt x="107813" y="96195"/>
                  </a:lnTo>
                  <a:lnTo>
                    <a:pt x="104766" y="94307"/>
                  </a:lnTo>
                  <a:lnTo>
                    <a:pt x="104766" y="94307"/>
                  </a:lnTo>
                  <a:cubicBezTo>
                    <a:pt x="93028" y="109623"/>
                    <a:pt x="74274" y="117876"/>
                    <a:pt x="55052" y="116183"/>
                  </a:cubicBezTo>
                  <a:cubicBezTo>
                    <a:pt x="35829" y="114489"/>
                    <a:pt x="18806" y="103086"/>
                    <a:pt x="9926" y="85954"/>
                  </a:cubicBezTo>
                  <a:close/>
                </a:path>
              </a:pathLst>
            </a:custGeom>
            <a:solidFill>
              <a:srgbClr val="599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 name="Google Shape;139;p7"/>
            <p:cNvSpPr txBox="1"/>
            <p:nvPr/>
          </p:nvSpPr>
          <p:spPr>
            <a:xfrm>
              <a:off x="765822" y="1650165"/>
              <a:ext cx="1645436" cy="164543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 name="Google Shape;140;p7"/>
            <p:cNvSpPr/>
            <p:nvPr/>
          </p:nvSpPr>
          <p:spPr>
            <a:xfrm>
              <a:off x="310164" y="2320590"/>
              <a:ext cx="1240657" cy="493368"/>
            </a:xfrm>
            <a:prstGeom prst="roundRect">
              <a:avLst>
                <a:gd name="adj" fmla="val 10000"/>
              </a:avLst>
            </a:prstGeom>
            <a:solidFill>
              <a:srgbClr val="599BD5"/>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 name="Google Shape;141;p7"/>
            <p:cNvSpPr txBox="1"/>
            <p:nvPr/>
          </p:nvSpPr>
          <p:spPr>
            <a:xfrm>
              <a:off x="310164" y="2320590"/>
              <a:ext cx="1240657" cy="493368"/>
            </a:xfrm>
            <a:prstGeom prst="rect">
              <a:avLst/>
            </a:prstGeom>
            <a:noFill/>
            <a:ln>
              <a:noFill/>
            </a:ln>
          </p:spPr>
          <p:txBody>
            <a:bodyPr spcFirstLastPara="1" wrap="square" lIns="22850" tIns="15225" rIns="22850" bIns="15225" anchor="ctr" anchorCtr="0">
              <a:noAutofit/>
            </a:bodyPr>
            <a:lstStyle/>
            <a:p>
              <a:pPr marL="0" marR="0" lvl="0" indent="0" algn="ctr" rtl="0">
                <a:lnSpc>
                  <a:spcPct val="100000"/>
                </a:lnSpc>
                <a:spcBef>
                  <a:spcPts val="0"/>
                </a:spcBef>
                <a:spcAft>
                  <a:spcPts val="0"/>
                </a:spcAft>
                <a:buNone/>
              </a:pPr>
              <a:r>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t>1. Xác định chiến lược giao dịch</a:t>
              </a: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2" name="Google Shape;142;p7"/>
            <p:cNvSpPr/>
            <p:nvPr/>
          </p:nvSpPr>
          <p:spPr>
            <a:xfrm>
              <a:off x="1799383" y="1381546"/>
              <a:ext cx="1479483" cy="1220264"/>
            </a:xfrm>
            <a:prstGeom prst="roundRect">
              <a:avLst>
                <a:gd name="adj" fmla="val 10000"/>
              </a:avLst>
            </a:prstGeom>
            <a:solidFill>
              <a:schemeClr val="lt1">
                <a:alpha val="89803"/>
              </a:schemeClr>
            </a:solidFill>
            <a:ln w="25400" cap="flat" cmpd="sng">
              <a:solidFill>
                <a:srgbClr val="52CB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 name="Google Shape;143;p7"/>
            <p:cNvSpPr txBox="1"/>
            <p:nvPr/>
          </p:nvSpPr>
          <p:spPr>
            <a:xfrm>
              <a:off x="1799383" y="1381546"/>
              <a:ext cx="1479483" cy="1220264"/>
            </a:xfrm>
            <a:prstGeom prst="rect">
              <a:avLst/>
            </a:prstGeom>
            <a:noFill/>
            <a:ln>
              <a:noFill/>
            </a:ln>
          </p:spPr>
          <p:txBody>
            <a:bodyPr spcFirstLastPara="1" wrap="square" lIns="19050" tIns="19050" rIns="19050" bIns="19050" anchor="t" anchorCtr="0">
              <a:noAutofit/>
            </a:bodyPr>
            <a:lstStyle/>
            <a:p>
              <a:pPr marL="57150" marR="0" lvl="1" indent="-63500" algn="just" rtl="0">
                <a:lnSpc>
                  <a:spcPct val="100000"/>
                </a:lnSpc>
                <a:spcBef>
                  <a:spcPts val="0"/>
                </a:spcBef>
                <a:spcAft>
                  <a:spcPts val="0"/>
                </a:spcAft>
                <a:buClr>
                  <a:srgbClr val="000000"/>
                </a:buClr>
                <a:buSzPts val="1000"/>
                <a:buFont typeface="Arial" panose="020B0604020202020204"/>
                <a:buChar char="•"/>
              </a:pPr>
              <a:r>
                <a:rPr lang="en-US" sz="1000" b="0" i="0" u="none" strike="noStrike" cap="none">
                  <a:solidFill>
                    <a:schemeClr val="dk1"/>
                  </a:solidFill>
                  <a:latin typeface="Arial" panose="020B0604020202020204"/>
                  <a:ea typeface="Arial" panose="020B0604020202020204"/>
                  <a:cs typeface="Arial" panose="020B0604020202020204"/>
                  <a:sym typeface="Arial" panose="020B0604020202020204"/>
                </a:rPr>
                <a:t>Viết mã chương trình cho EA Bot dựa trên chiến lược giao dịch đã xác định.</a:t>
              </a:r>
              <a:endParaRPr sz="1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44" name="Google Shape;144;p7"/>
            <p:cNvSpPr/>
            <p:nvPr/>
          </p:nvSpPr>
          <p:spPr>
            <a:xfrm>
              <a:off x="2569781" y="628097"/>
              <a:ext cx="1860482" cy="1860482"/>
            </a:xfrm>
            <a:custGeom>
              <a:avLst/>
              <a:gdLst/>
              <a:ahLst/>
              <a:cxnLst/>
              <a:rect l="l" t="t" r="r" b="b"/>
              <a:pathLst>
                <a:path w="120000" h="120000" extrusionOk="0">
                  <a:moveTo>
                    <a:pt x="11927" y="30504"/>
                  </a:moveTo>
                  <a:lnTo>
                    <a:pt x="11927" y="30504"/>
                  </a:lnTo>
                  <a:cubicBezTo>
                    <a:pt x="22019" y="14057"/>
                    <a:pt x="39819" y="3910"/>
                    <a:pt x="59114" y="3607"/>
                  </a:cubicBezTo>
                  <a:cubicBezTo>
                    <a:pt x="78409" y="3304"/>
                    <a:pt x="96519" y="12886"/>
                    <a:pt x="107122" y="29009"/>
                  </a:cubicBezTo>
                  <a:lnTo>
                    <a:pt x="110297" y="27345"/>
                  </a:lnTo>
                  <a:lnTo>
                    <a:pt x="107301" y="35217"/>
                  </a:lnTo>
                  <a:lnTo>
                    <a:pt x="98605" y="33472"/>
                  </a:lnTo>
                  <a:lnTo>
                    <a:pt x="101778" y="31809"/>
                  </a:lnTo>
                  <a:cubicBezTo>
                    <a:pt x="92192" y="17603"/>
                    <a:pt x="76044" y="9241"/>
                    <a:pt x="58910" y="9612"/>
                  </a:cubicBezTo>
                  <a:cubicBezTo>
                    <a:pt x="41776" y="9982"/>
                    <a:pt x="26004" y="19035"/>
                    <a:pt x="17042" y="33642"/>
                  </a:cubicBezTo>
                  <a:close/>
                </a:path>
              </a:pathLst>
            </a:custGeom>
            <a:solidFill>
              <a:srgbClr val="4FCA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 name="Google Shape;145;p7"/>
            <p:cNvSpPr txBox="1"/>
            <p:nvPr/>
          </p:nvSpPr>
          <p:spPr>
            <a:xfrm>
              <a:off x="2569781" y="628097"/>
              <a:ext cx="1860482" cy="186048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 name="Google Shape;146;p7"/>
            <p:cNvSpPr/>
            <p:nvPr/>
          </p:nvSpPr>
          <p:spPr>
            <a:xfrm>
              <a:off x="2128157" y="1120060"/>
              <a:ext cx="1315096" cy="522970"/>
            </a:xfrm>
            <a:prstGeom prst="roundRect">
              <a:avLst>
                <a:gd name="adj" fmla="val 10000"/>
              </a:avLst>
            </a:prstGeom>
            <a:solidFill>
              <a:srgbClr val="52CBCC"/>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 name="Google Shape;147;p7"/>
            <p:cNvSpPr txBox="1"/>
            <p:nvPr/>
          </p:nvSpPr>
          <p:spPr>
            <a:xfrm>
              <a:off x="2128157" y="1120060"/>
              <a:ext cx="1315096" cy="522970"/>
            </a:xfrm>
            <a:prstGeom prst="rect">
              <a:avLst/>
            </a:prstGeom>
            <a:noFill/>
            <a:ln>
              <a:noFill/>
            </a:ln>
          </p:spPr>
          <p:txBody>
            <a:bodyPr spcFirstLastPara="1" wrap="square" lIns="22850" tIns="15225" rIns="22850" bIns="15225" anchor="ctr" anchorCtr="0">
              <a:noAutofit/>
            </a:bodyPr>
            <a:lstStyle/>
            <a:p>
              <a:pPr marL="0" marR="0" lvl="0" indent="0" algn="ctr" rtl="0">
                <a:lnSpc>
                  <a:spcPct val="100000"/>
                </a:lnSpc>
                <a:spcBef>
                  <a:spcPts val="0"/>
                </a:spcBef>
                <a:spcAft>
                  <a:spcPts val="0"/>
                </a:spcAft>
                <a:buNone/>
              </a:pPr>
              <a:r>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t>2. Lập trình EA Bot</a:t>
              </a:r>
              <a:endPar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8" name="Google Shape;148;p7"/>
            <p:cNvSpPr/>
            <p:nvPr/>
          </p:nvSpPr>
          <p:spPr>
            <a:xfrm>
              <a:off x="3691815" y="1416081"/>
              <a:ext cx="1395739" cy="1151192"/>
            </a:xfrm>
            <a:prstGeom prst="roundRect">
              <a:avLst>
                <a:gd name="adj" fmla="val 10000"/>
              </a:avLst>
            </a:prstGeom>
            <a:solidFill>
              <a:schemeClr val="lt1">
                <a:alpha val="89803"/>
              </a:schemeClr>
            </a:solidFill>
            <a:ln w="25400" cap="flat" cmpd="sng">
              <a:solidFill>
                <a:srgbClr val="4BC48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 name="Google Shape;149;p7"/>
            <p:cNvSpPr txBox="1"/>
            <p:nvPr/>
          </p:nvSpPr>
          <p:spPr>
            <a:xfrm>
              <a:off x="3691815" y="1416081"/>
              <a:ext cx="1395739" cy="1151192"/>
            </a:xfrm>
            <a:prstGeom prst="rect">
              <a:avLst/>
            </a:prstGeom>
            <a:noFill/>
            <a:ln>
              <a:noFill/>
            </a:ln>
          </p:spPr>
          <p:txBody>
            <a:bodyPr spcFirstLastPara="1" wrap="square" lIns="19050" tIns="19050" rIns="19050" bIns="19050" anchor="t" anchorCtr="0">
              <a:noAutofit/>
            </a:bodyPr>
            <a:lstStyle/>
            <a:p>
              <a:pPr marL="57150" marR="0" lvl="1" indent="-63500" algn="just" rtl="0">
                <a:lnSpc>
                  <a:spcPct val="100000"/>
                </a:lnSpc>
                <a:spcBef>
                  <a:spcPts val="0"/>
                </a:spcBef>
                <a:spcAft>
                  <a:spcPts val="0"/>
                </a:spcAft>
                <a:buClr>
                  <a:srgbClr val="000000"/>
                </a:buClr>
                <a:buSzPts val="1000"/>
                <a:buFont typeface="Arial" panose="020B0604020202020204"/>
                <a:buChar char="•"/>
              </a:pPr>
              <a:r>
                <a:rPr lang="en-US" sz="1000" b="0" i="0" u="none" strike="noStrike" cap="none">
                  <a:solidFill>
                    <a:schemeClr val="dk1"/>
                  </a:solidFill>
                  <a:latin typeface="Arial" panose="020B0604020202020204"/>
                  <a:ea typeface="Arial" panose="020B0604020202020204"/>
                  <a:cs typeface="Arial" panose="020B0604020202020204"/>
                  <a:sym typeface="Arial" panose="020B0604020202020204"/>
                </a:rPr>
                <a:t>Kiểm tra chiến lược trên dữ liệu lịch sử để đánh giá hiệu suất và tính khả thi của chiến lược.</a:t>
              </a:r>
              <a:endParaRPr sz="1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50" name="Google Shape;150;p7"/>
            <p:cNvSpPr/>
            <p:nvPr/>
          </p:nvSpPr>
          <p:spPr>
            <a:xfrm>
              <a:off x="4457637" y="1650165"/>
              <a:ext cx="1645436" cy="1645436"/>
            </a:xfrm>
            <a:custGeom>
              <a:avLst/>
              <a:gdLst/>
              <a:ahLst/>
              <a:cxnLst/>
              <a:rect l="l" t="t" r="r" b="b"/>
              <a:pathLst>
                <a:path w="120000" h="120000" extrusionOk="0">
                  <a:moveTo>
                    <a:pt x="9926" y="85954"/>
                  </a:moveTo>
                  <a:lnTo>
                    <a:pt x="15253" y="83193"/>
                  </a:lnTo>
                  <a:lnTo>
                    <a:pt x="15253" y="83193"/>
                  </a:lnTo>
                  <a:cubicBezTo>
                    <a:pt x="23140" y="98408"/>
                    <a:pt x="38218" y="108574"/>
                    <a:pt x="55281" y="110179"/>
                  </a:cubicBezTo>
                  <a:cubicBezTo>
                    <a:pt x="72344" y="111783"/>
                    <a:pt x="89053" y="104607"/>
                    <a:pt x="99638" y="91129"/>
                  </a:cubicBezTo>
                  <a:lnTo>
                    <a:pt x="96592" y="89242"/>
                  </a:lnTo>
                  <a:lnTo>
                    <a:pt x="105391" y="88128"/>
                  </a:lnTo>
                  <a:lnTo>
                    <a:pt x="107813" y="96195"/>
                  </a:lnTo>
                  <a:lnTo>
                    <a:pt x="104766" y="94307"/>
                  </a:lnTo>
                  <a:lnTo>
                    <a:pt x="104766" y="94307"/>
                  </a:lnTo>
                  <a:cubicBezTo>
                    <a:pt x="93028" y="109623"/>
                    <a:pt x="74274" y="117876"/>
                    <a:pt x="55052" y="116183"/>
                  </a:cubicBezTo>
                  <a:cubicBezTo>
                    <a:pt x="35829" y="114489"/>
                    <a:pt x="18806" y="103086"/>
                    <a:pt x="9926" y="85954"/>
                  </a:cubicBezTo>
                  <a:close/>
                </a:path>
              </a:pathLst>
            </a:custGeom>
            <a:solidFill>
              <a:srgbClr val="47BE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 name="Google Shape;151;p7"/>
            <p:cNvSpPr txBox="1"/>
            <p:nvPr/>
          </p:nvSpPr>
          <p:spPr>
            <a:xfrm>
              <a:off x="4457637" y="1650165"/>
              <a:ext cx="1645436" cy="164543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 name="Google Shape;152;p7"/>
            <p:cNvSpPr/>
            <p:nvPr/>
          </p:nvSpPr>
          <p:spPr>
            <a:xfrm>
              <a:off x="4001979" y="2320590"/>
              <a:ext cx="1240657" cy="493368"/>
            </a:xfrm>
            <a:prstGeom prst="roundRect">
              <a:avLst>
                <a:gd name="adj" fmla="val 10000"/>
              </a:avLst>
            </a:prstGeom>
            <a:solidFill>
              <a:srgbClr val="4BC48C"/>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 name="Google Shape;153;p7"/>
            <p:cNvSpPr txBox="1"/>
            <p:nvPr/>
          </p:nvSpPr>
          <p:spPr>
            <a:xfrm>
              <a:off x="4001979" y="2320590"/>
              <a:ext cx="1240657" cy="493368"/>
            </a:xfrm>
            <a:prstGeom prst="rect">
              <a:avLst/>
            </a:prstGeom>
            <a:noFill/>
            <a:ln>
              <a:noFill/>
            </a:ln>
          </p:spPr>
          <p:txBody>
            <a:bodyPr spcFirstLastPara="1" wrap="square" lIns="22850" tIns="15225" rIns="22850" bIns="15225" anchor="ctr" anchorCtr="0">
              <a:noAutofit/>
            </a:bodyPr>
            <a:lstStyle/>
            <a:p>
              <a:pPr marL="0" marR="0" lvl="0" indent="0" algn="ctr" rtl="0">
                <a:lnSpc>
                  <a:spcPct val="100000"/>
                </a:lnSpc>
                <a:spcBef>
                  <a:spcPts val="0"/>
                </a:spcBef>
                <a:spcAft>
                  <a:spcPts val="0"/>
                </a:spcAft>
                <a:buNone/>
              </a:pPr>
              <a:r>
                <a:rPr lang="en-US" sz="1200" b="1" i="0" u="none" strike="noStrike" cap="none">
                  <a:solidFill>
                    <a:srgbClr val="000000"/>
                  </a:solidFill>
                  <a:latin typeface="Arial" panose="020B0604020202020204"/>
                  <a:ea typeface="Arial" panose="020B0604020202020204"/>
                  <a:cs typeface="Arial" panose="020B0604020202020204"/>
                  <a:sym typeface="Arial" panose="020B0604020202020204"/>
                </a:rPr>
                <a:t>3. Backtesting</a:t>
              </a: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4" name="Google Shape;154;p7"/>
            <p:cNvSpPr/>
            <p:nvPr/>
          </p:nvSpPr>
          <p:spPr>
            <a:xfrm>
              <a:off x="5491197" y="1381546"/>
              <a:ext cx="1479483" cy="1220264"/>
            </a:xfrm>
            <a:prstGeom prst="roundRect">
              <a:avLst>
                <a:gd name="adj" fmla="val 10000"/>
              </a:avLst>
            </a:prstGeom>
            <a:solidFill>
              <a:schemeClr val="lt1">
                <a:alpha val="89803"/>
              </a:schemeClr>
            </a:solidFill>
            <a:ln w="25400" cap="flat" cmpd="sng">
              <a:solidFill>
                <a:srgbClr val="46BA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 name="Google Shape;155;p7"/>
            <p:cNvSpPr txBox="1"/>
            <p:nvPr/>
          </p:nvSpPr>
          <p:spPr>
            <a:xfrm>
              <a:off x="5491197" y="1381546"/>
              <a:ext cx="1479483" cy="1220264"/>
            </a:xfrm>
            <a:prstGeom prst="rect">
              <a:avLst/>
            </a:prstGeom>
            <a:noFill/>
            <a:ln>
              <a:noFill/>
            </a:ln>
          </p:spPr>
          <p:txBody>
            <a:bodyPr spcFirstLastPara="1" wrap="square" lIns="19050" tIns="19050" rIns="19050" bIns="19050" anchor="t" anchorCtr="0">
              <a:noAutofit/>
            </a:bodyPr>
            <a:lstStyle/>
            <a:p>
              <a:pPr marL="57150" marR="0" lvl="1" indent="-63500" algn="just" rtl="0">
                <a:lnSpc>
                  <a:spcPct val="100000"/>
                </a:lnSpc>
                <a:spcBef>
                  <a:spcPts val="0"/>
                </a:spcBef>
                <a:spcAft>
                  <a:spcPts val="0"/>
                </a:spcAft>
                <a:buClr>
                  <a:srgbClr val="000000"/>
                </a:buClr>
                <a:buSzPts val="1000"/>
                <a:buFont typeface="Arial" panose="020B0604020202020204"/>
                <a:buChar char="•"/>
              </a:pPr>
              <a:r>
                <a:rPr lang="en-US" sz="1000" b="0" i="0" u="none" strike="noStrike" cap="none">
                  <a:solidFill>
                    <a:schemeClr val="dk1"/>
                  </a:solidFill>
                  <a:latin typeface="Arial" panose="020B0604020202020204"/>
                  <a:ea typeface="Arial" panose="020B0604020202020204"/>
                  <a:cs typeface="Arial" panose="020B0604020202020204"/>
                  <a:sym typeface="Arial" panose="020B0604020202020204"/>
                </a:rPr>
                <a:t>Điều chỉnh các tham số của chiến lược để tối ưu hóa hiệu suất giao dịch</a:t>
              </a:r>
              <a:endParaRPr sz="1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56" name="Google Shape;156;p7"/>
            <p:cNvSpPr/>
            <p:nvPr/>
          </p:nvSpPr>
          <p:spPr>
            <a:xfrm>
              <a:off x="6261595" y="628097"/>
              <a:ext cx="1860482" cy="1860482"/>
            </a:xfrm>
            <a:custGeom>
              <a:avLst/>
              <a:gdLst/>
              <a:ahLst/>
              <a:cxnLst/>
              <a:rect l="l" t="t" r="r" b="b"/>
              <a:pathLst>
                <a:path w="120000" h="120000" extrusionOk="0">
                  <a:moveTo>
                    <a:pt x="11927" y="30504"/>
                  </a:moveTo>
                  <a:lnTo>
                    <a:pt x="11927" y="30504"/>
                  </a:lnTo>
                  <a:cubicBezTo>
                    <a:pt x="22019" y="14057"/>
                    <a:pt x="39819" y="3910"/>
                    <a:pt x="59114" y="3607"/>
                  </a:cubicBezTo>
                  <a:cubicBezTo>
                    <a:pt x="78409" y="3304"/>
                    <a:pt x="96519" y="12886"/>
                    <a:pt x="107122" y="29009"/>
                  </a:cubicBezTo>
                  <a:lnTo>
                    <a:pt x="110297" y="27345"/>
                  </a:lnTo>
                  <a:lnTo>
                    <a:pt x="107301" y="35217"/>
                  </a:lnTo>
                  <a:lnTo>
                    <a:pt x="98605" y="33472"/>
                  </a:lnTo>
                  <a:lnTo>
                    <a:pt x="101778" y="31809"/>
                  </a:lnTo>
                  <a:cubicBezTo>
                    <a:pt x="92192" y="17603"/>
                    <a:pt x="76044" y="9241"/>
                    <a:pt x="58910" y="9612"/>
                  </a:cubicBezTo>
                  <a:cubicBezTo>
                    <a:pt x="41776" y="9982"/>
                    <a:pt x="26004" y="19035"/>
                    <a:pt x="17042" y="33642"/>
                  </a:cubicBezTo>
                  <a:close/>
                </a:path>
              </a:pathLst>
            </a:custGeom>
            <a:solidFill>
              <a:srgbClr val="6FAC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 name="Google Shape;157;p7"/>
            <p:cNvSpPr txBox="1"/>
            <p:nvPr/>
          </p:nvSpPr>
          <p:spPr>
            <a:xfrm>
              <a:off x="6261595" y="628097"/>
              <a:ext cx="1860482" cy="186048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 name="Google Shape;158;p7"/>
            <p:cNvSpPr/>
            <p:nvPr/>
          </p:nvSpPr>
          <p:spPr>
            <a:xfrm>
              <a:off x="5819971" y="1120060"/>
              <a:ext cx="1315096" cy="522970"/>
            </a:xfrm>
            <a:prstGeom prst="roundRect">
              <a:avLst>
                <a:gd name="adj" fmla="val 10000"/>
              </a:avLst>
            </a:prstGeom>
            <a:solidFill>
              <a:srgbClr val="46BA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 name="Google Shape;159;p7"/>
            <p:cNvSpPr txBox="1"/>
            <p:nvPr/>
          </p:nvSpPr>
          <p:spPr>
            <a:xfrm>
              <a:off x="5819971" y="1120060"/>
              <a:ext cx="1315096" cy="522970"/>
            </a:xfrm>
            <a:prstGeom prst="rect">
              <a:avLst/>
            </a:prstGeom>
            <a:noFill/>
            <a:ln>
              <a:noFill/>
            </a:ln>
          </p:spPr>
          <p:txBody>
            <a:bodyPr spcFirstLastPara="1" wrap="square" lIns="22850" tIns="15225" rIns="22850" bIns="15225" anchor="ctr" anchorCtr="0">
              <a:noAutofit/>
            </a:bodyPr>
            <a:lstStyle/>
            <a:p>
              <a:pPr marL="0" marR="0" lvl="0" indent="0" algn="ctr" rtl="0">
                <a:lnSpc>
                  <a:spcPct val="100000"/>
                </a:lnSpc>
                <a:spcBef>
                  <a:spcPts val="0"/>
                </a:spcBef>
                <a:spcAft>
                  <a:spcPts val="0"/>
                </a:spcAft>
                <a:buNone/>
              </a:pPr>
              <a:r>
                <a:rPr lang="en-US" sz="1200" b="1" i="0" u="none" strike="noStrike" cap="none">
                  <a:solidFill>
                    <a:srgbClr val="000000"/>
                  </a:solidFill>
                  <a:latin typeface="Arial" panose="020B0604020202020204"/>
                  <a:ea typeface="Arial" panose="020B0604020202020204"/>
                  <a:cs typeface="Arial" panose="020B0604020202020204"/>
                  <a:sym typeface="Arial" panose="020B0604020202020204"/>
                </a:rPr>
                <a:t>4. Tối ưu hóa</a:t>
              </a: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 name="Google Shape;160;p7"/>
            <p:cNvSpPr/>
            <p:nvPr/>
          </p:nvSpPr>
          <p:spPr>
            <a:xfrm>
              <a:off x="7383629" y="1416081"/>
              <a:ext cx="1395739" cy="1151192"/>
            </a:xfrm>
            <a:prstGeom prst="roundRect">
              <a:avLst>
                <a:gd name="adj" fmla="val 10000"/>
              </a:avLst>
            </a:prstGeom>
            <a:solidFill>
              <a:schemeClr val="lt1">
                <a:alpha val="89803"/>
              </a:schemeClr>
            </a:solidFill>
            <a:ln w="25400" cap="flat" cmpd="sng">
              <a:solidFill>
                <a:srgbClr val="6FAC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 name="Google Shape;161;p7"/>
            <p:cNvSpPr txBox="1"/>
            <p:nvPr/>
          </p:nvSpPr>
          <p:spPr>
            <a:xfrm>
              <a:off x="7383629" y="1416081"/>
              <a:ext cx="1395739" cy="1151192"/>
            </a:xfrm>
            <a:prstGeom prst="rect">
              <a:avLst/>
            </a:prstGeom>
            <a:noFill/>
            <a:ln>
              <a:noFill/>
            </a:ln>
          </p:spPr>
          <p:txBody>
            <a:bodyPr spcFirstLastPara="1" wrap="square" lIns="19050" tIns="19050" rIns="19050" bIns="19050" anchor="t" anchorCtr="0">
              <a:noAutofit/>
            </a:bodyPr>
            <a:lstStyle/>
            <a:p>
              <a:pPr marL="57150" marR="0" lvl="1" indent="-63500" algn="just" rtl="0">
                <a:lnSpc>
                  <a:spcPct val="100000"/>
                </a:lnSpc>
                <a:spcBef>
                  <a:spcPts val="0"/>
                </a:spcBef>
                <a:spcAft>
                  <a:spcPts val="0"/>
                </a:spcAft>
                <a:buClr>
                  <a:srgbClr val="000000"/>
                </a:buClr>
                <a:buSzPts val="1000"/>
                <a:buFont typeface="Arial" panose="020B0604020202020204"/>
                <a:buChar char="•"/>
              </a:pPr>
              <a:r>
                <a:rPr lang="en-US" sz="1000" b="0" i="0" u="none" strike="noStrike" cap="none">
                  <a:solidFill>
                    <a:schemeClr val="dk1"/>
                  </a:solidFill>
                  <a:latin typeface="Arial" panose="020B0604020202020204"/>
                  <a:ea typeface="Arial" panose="020B0604020202020204"/>
                  <a:cs typeface="Arial" panose="020B0604020202020204"/>
                  <a:sym typeface="Arial" panose="020B0604020202020204"/>
                </a:rPr>
                <a:t>Triển khai EA Bot trên tài khoản giao dịch thật và giám sát hiệu suất, điều chỉnh khi cần thiết</a:t>
              </a:r>
              <a:endParaRPr sz="1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62" name="Google Shape;162;p7"/>
            <p:cNvSpPr/>
            <p:nvPr/>
          </p:nvSpPr>
          <p:spPr>
            <a:xfrm>
              <a:off x="7693793" y="2320590"/>
              <a:ext cx="1240657" cy="493368"/>
            </a:xfrm>
            <a:prstGeom prst="roundRect">
              <a:avLst>
                <a:gd name="adj" fmla="val 10000"/>
              </a:avLst>
            </a:prstGeom>
            <a:solidFill>
              <a:srgbClr val="6FAC45"/>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 name="Google Shape;163;p7"/>
            <p:cNvSpPr txBox="1"/>
            <p:nvPr/>
          </p:nvSpPr>
          <p:spPr>
            <a:xfrm>
              <a:off x="7693793" y="2320590"/>
              <a:ext cx="1240657" cy="493368"/>
            </a:xfrm>
            <a:prstGeom prst="rect">
              <a:avLst/>
            </a:prstGeom>
            <a:noFill/>
            <a:ln>
              <a:noFill/>
            </a:ln>
          </p:spPr>
          <p:txBody>
            <a:bodyPr spcFirstLastPara="1" wrap="square" lIns="22850" tIns="15225" rIns="22850" bIns="15225" anchor="ctr" anchorCtr="0">
              <a:noAutofit/>
            </a:bodyPr>
            <a:lstStyle/>
            <a:p>
              <a:pPr marL="0" marR="0" lvl="0" indent="0" algn="ctr" rtl="0">
                <a:lnSpc>
                  <a:spcPct val="100000"/>
                </a:lnSpc>
                <a:spcBef>
                  <a:spcPts val="0"/>
                </a:spcBef>
                <a:spcAft>
                  <a:spcPts val="0"/>
                </a:spcAft>
                <a:buNone/>
              </a:pPr>
              <a:r>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t>5. Triển khai và giám sát</a:t>
              </a:r>
              <a:endPar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4" name="Google Shape;164;p7"/>
            <p:cNvSpPr/>
            <p:nvPr/>
          </p:nvSpPr>
          <p:spPr>
            <a:xfrm>
              <a:off x="0" y="1169397"/>
              <a:ext cx="1550821" cy="164456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 name="Google Shape;165;p7"/>
            <p:cNvSpPr txBox="1"/>
            <p:nvPr/>
          </p:nvSpPr>
          <p:spPr>
            <a:xfrm>
              <a:off x="0" y="1169397"/>
              <a:ext cx="1550821" cy="164456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 name="Google Shape;166;p7"/>
            <p:cNvSpPr/>
            <p:nvPr/>
          </p:nvSpPr>
          <p:spPr>
            <a:xfrm>
              <a:off x="1799383" y="1120060"/>
              <a:ext cx="1643870" cy="174323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 name="Google Shape;167;p7"/>
            <p:cNvSpPr txBox="1"/>
            <p:nvPr/>
          </p:nvSpPr>
          <p:spPr>
            <a:xfrm>
              <a:off x="1799383" y="1120060"/>
              <a:ext cx="1643870" cy="174323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 name="Google Shape;168;p7"/>
            <p:cNvSpPr/>
            <p:nvPr/>
          </p:nvSpPr>
          <p:spPr>
            <a:xfrm>
              <a:off x="3691815" y="1169397"/>
              <a:ext cx="1550821" cy="164456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 name="Google Shape;169;p7"/>
            <p:cNvSpPr txBox="1"/>
            <p:nvPr/>
          </p:nvSpPr>
          <p:spPr>
            <a:xfrm>
              <a:off x="3691815" y="1169397"/>
              <a:ext cx="1550821" cy="164456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 name="Google Shape;170;p7"/>
            <p:cNvSpPr/>
            <p:nvPr/>
          </p:nvSpPr>
          <p:spPr>
            <a:xfrm>
              <a:off x="5491197" y="1120060"/>
              <a:ext cx="1643870" cy="174323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 name="Google Shape;171;p7"/>
            <p:cNvSpPr txBox="1"/>
            <p:nvPr/>
          </p:nvSpPr>
          <p:spPr>
            <a:xfrm>
              <a:off x="5491197" y="1120060"/>
              <a:ext cx="1643870" cy="174323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 name="Google Shape;172;p7"/>
            <p:cNvSpPr/>
            <p:nvPr/>
          </p:nvSpPr>
          <p:spPr>
            <a:xfrm>
              <a:off x="7383629" y="1169397"/>
              <a:ext cx="1550821" cy="164456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 name="Google Shape;173;p7"/>
            <p:cNvSpPr txBox="1"/>
            <p:nvPr/>
          </p:nvSpPr>
          <p:spPr>
            <a:xfrm>
              <a:off x="7383629" y="1169397"/>
              <a:ext cx="1550821" cy="164456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77" name="Shape 177"/>
        <p:cNvGrpSpPr/>
        <p:nvPr/>
      </p:nvGrpSpPr>
      <p:grpSpPr>
        <a:xfrm>
          <a:off x="0" y="0"/>
          <a:ext cx="0" cy="0"/>
          <a:chOff x="0" y="0"/>
          <a:chExt cx="0" cy="0"/>
        </a:xfrm>
      </p:grpSpPr>
      <p:sp>
        <p:nvSpPr>
          <p:cNvPr id="178" name="Google Shape;178;p8"/>
          <p:cNvSpPr txBox="1"/>
          <p:nvPr/>
        </p:nvSpPr>
        <p:spPr>
          <a:xfrm>
            <a:off x="304800" y="154525"/>
            <a:ext cx="68658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a:solidFill>
                  <a:schemeClr val="lt1"/>
                </a:solidFill>
                <a:latin typeface="Arial" panose="020B0604020202020204"/>
                <a:ea typeface="Arial" panose="020B0604020202020204"/>
                <a:cs typeface="Arial" panose="020B0604020202020204"/>
                <a:sym typeface="Arial" panose="020B0604020202020204"/>
              </a:rPr>
              <a:t>Nội dung buổi học</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79" name="Google Shape;179;p8"/>
          <p:cNvSpPr txBox="1"/>
          <p:nvPr/>
        </p:nvSpPr>
        <p:spPr>
          <a:xfrm>
            <a:off x="595025" y="783570"/>
            <a:ext cx="7755600" cy="4890135"/>
          </a:xfrm>
          <a:prstGeom prst="rect">
            <a:avLst/>
          </a:prstGeom>
          <a:noFill/>
          <a:ln>
            <a:noFill/>
          </a:ln>
        </p:spPr>
        <p:txBody>
          <a:bodyPr spcFirstLastPara="1" wrap="square" lIns="91425" tIns="91425" rIns="91425" bIns="91425" anchor="t" anchorCtr="0">
            <a:spAutoFit/>
          </a:bodyPr>
          <a:lstStyle/>
          <a:p>
            <a:pPr marL="457200" marR="0" lvl="0" indent="-355600" algn="just" rtl="0">
              <a:lnSpc>
                <a:spcPct val="100000"/>
              </a:lnSpc>
              <a:spcBef>
                <a:spcPts val="0"/>
              </a:spcBef>
              <a:spcAft>
                <a:spcPts val="0"/>
              </a:spcAft>
              <a:buClr>
                <a:srgbClr val="000000"/>
              </a:buClr>
              <a:buSzPts val="20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Giới thiệu về lập trình bot giao dịch tự động: Tổng quan về Quant Trading, bao gồm sự hình thành và phát triển của nó cùng những thành tựu đã đạt được trong lĩnh vực tài chính số hóa. Các buổi sau sẽ giới thiệu về bot giao dịch tự động</a:t>
            </a: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57200" marR="0" lvl="0" indent="-228600" algn="just" rtl="0">
              <a:lnSpc>
                <a:spcPct val="100000"/>
              </a:lnSpc>
              <a:spcBef>
                <a:spcPts val="0"/>
              </a:spcBef>
              <a:spcAft>
                <a:spcPts val="0"/>
              </a:spcAft>
              <a:buClr>
                <a:srgbClr val="000000"/>
              </a:buClr>
              <a:buSzPts val="20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57200" marR="0" lvl="0" indent="-355600" algn="just" rtl="0">
              <a:lnSpc>
                <a:spcPct val="100000"/>
              </a:lnSpc>
              <a:spcBef>
                <a:spcPts val="0"/>
              </a:spcBef>
              <a:spcAft>
                <a:spcPts val="0"/>
              </a:spcAft>
              <a:buClr>
                <a:srgbClr val="000000"/>
              </a:buClr>
              <a:buSzPts val="20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Các kỹ năng quan trọng cần phải học và nắm vững để tham gia vào lập trình bot giao dịch tự động: Bao gồm</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 lập trình cơ bản với Python</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 kiến thức về </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Machine Learning</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 và </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cách thức áp dụng trong giao dịch tự động.</a:t>
            </a:r>
            <a:endParaRPr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57200" marR="0" lvl="0" indent="-228600" algn="just" rtl="0">
              <a:lnSpc>
                <a:spcPct val="100000"/>
              </a:lnSpc>
              <a:spcBef>
                <a:spcPts val="0"/>
              </a:spcBef>
              <a:spcAft>
                <a:spcPts val="0"/>
              </a:spcAft>
              <a:buClr>
                <a:srgbClr val="000000"/>
              </a:buClr>
              <a:buSzPts val="20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57200" marR="0" lvl="0" indent="-355600" algn="just" rtl="0">
              <a:lnSpc>
                <a:spcPct val="100000"/>
              </a:lnSpc>
              <a:spcBef>
                <a:spcPts val="0"/>
              </a:spcBef>
              <a:spcAft>
                <a:spcPts val="0"/>
              </a:spcAft>
              <a:buClr>
                <a:srgbClr val="000000"/>
              </a:buClr>
              <a:buSzPts val="20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Phương pháp học, bao gồm việc kết hợp </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lý thuyết</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 và </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thực hành</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 giúp học viên nhanh chóng áp dụng các kiến thức lập trình và Machine Learning vào xây dựng bot giao dịch của riêng mình.</a:t>
            </a: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57200" marR="0" lvl="0" indent="-228600" algn="just" rtl="0">
              <a:lnSpc>
                <a:spcPct val="100000"/>
              </a:lnSpc>
              <a:spcBef>
                <a:spcPts val="0"/>
              </a:spcBef>
              <a:spcAft>
                <a:spcPts val="0"/>
              </a:spcAft>
              <a:buClr>
                <a:srgbClr val="000000"/>
              </a:buClr>
              <a:buSzPts val="20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57200" marR="0" lvl="0" indent="-355600" algn="just" rtl="0">
              <a:lnSpc>
                <a:spcPct val="100000"/>
              </a:lnSpc>
              <a:spcBef>
                <a:spcPts val="0"/>
              </a:spcBef>
              <a:spcAft>
                <a:spcPts val="0"/>
              </a:spcAft>
              <a:buClr>
                <a:srgbClr val="000000"/>
              </a:buClr>
              <a:buSzPts val="20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Hướng dẫn cài đặt công cụ lập trình: Cài đặt và thiết lập các công cụ cần thiết, như </a:t>
            </a: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Python</a:t>
            </a: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 các thư viện hỗ trợ Machine Learning, và môi trường làm việc như </a:t>
            </a: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VSCode</a:t>
            </a: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83" name="Shape 183"/>
        <p:cNvGrpSpPr/>
        <p:nvPr/>
      </p:nvGrpSpPr>
      <p:grpSpPr>
        <a:xfrm>
          <a:off x="0" y="0"/>
          <a:ext cx="0" cy="0"/>
          <a:chOff x="0" y="0"/>
          <a:chExt cx="0" cy="0"/>
        </a:xfrm>
      </p:grpSpPr>
      <p:sp>
        <p:nvSpPr>
          <p:cNvPr id="184" name="Google Shape;184;p9"/>
          <p:cNvSpPr txBox="1"/>
          <p:nvPr/>
        </p:nvSpPr>
        <p:spPr>
          <a:xfrm>
            <a:off x="304800" y="139783"/>
            <a:ext cx="52080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a:solidFill>
                  <a:schemeClr val="lt1"/>
                </a:solidFill>
                <a:latin typeface="Arial" panose="020B0604020202020204"/>
                <a:ea typeface="Arial" panose="020B0604020202020204"/>
                <a:cs typeface="Arial" panose="020B0604020202020204"/>
                <a:sym typeface="Arial" panose="020B0604020202020204"/>
              </a:rPr>
              <a:t>Giới thiệu về Bot giao dịch</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85" name="Google Shape;185;p9"/>
          <p:cNvSpPr txBox="1"/>
          <p:nvPr/>
        </p:nvSpPr>
        <p:spPr>
          <a:xfrm>
            <a:off x="504900" y="781237"/>
            <a:ext cx="8134200" cy="4660265"/>
          </a:xfrm>
          <a:prstGeom prst="rect">
            <a:avLst/>
          </a:prstGeom>
          <a:noFill/>
          <a:ln>
            <a:noFill/>
          </a:ln>
        </p:spPr>
        <p:txBody>
          <a:bodyPr spcFirstLastPara="1" wrap="square" lIns="91425" tIns="45700" rIns="91425" bIns="45700" anchor="t" anchorCtr="0">
            <a:spAutoFit/>
          </a:bodyPr>
          <a:lstStyle/>
          <a:p>
            <a:pPr marL="444500" marR="0" lvl="0" indent="-342900" algn="just" rtl="0">
              <a:lnSpc>
                <a:spcPct val="150000"/>
              </a:lnSpc>
              <a:spcBef>
                <a:spcPts val="0"/>
              </a:spcBef>
              <a:spcAft>
                <a:spcPts val="0"/>
              </a:spcAft>
              <a:buClr>
                <a:schemeClr val="dk1"/>
              </a:buClr>
              <a:buSzPts val="20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Lập trình Bot: Là phương pháp </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giao dịch tài chính</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 áp dụng các kỹ thuật toán học, máy học, lập trình thuật toán và dữ liệu lịch sử để xác định các cơ hội đầu tư trên thị trường.</a:t>
            </a: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44500" marR="0" lvl="0" indent="-215900" algn="just" rtl="0">
              <a:lnSpc>
                <a:spcPct val="150000"/>
              </a:lnSpc>
              <a:spcBef>
                <a:spcPts val="0"/>
              </a:spcBef>
              <a:spcAft>
                <a:spcPts val="0"/>
              </a:spcAft>
              <a:buClr>
                <a:schemeClr val="dk1"/>
              </a:buClr>
              <a:buSzPts val="20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44500" marR="0" lvl="0" indent="-342900" algn="just" rtl="0">
              <a:lnSpc>
                <a:spcPct val="150000"/>
              </a:lnSpc>
              <a:spcBef>
                <a:spcPts val="0"/>
              </a:spcBef>
              <a:spcAft>
                <a:spcPts val="0"/>
              </a:spcAft>
              <a:buClr>
                <a:schemeClr val="dk1"/>
              </a:buClr>
              <a:buSzPts val="20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Ứng dụng mô hình toán học và Machine Learning: Để phân tích </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xu hướng</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 </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giá cả</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 và </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thông tin thị trường</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 nhằm mục đích đưa ra </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quyết định mua/bán </a:t>
            </a:r>
            <a:r>
              <a:rPr lang="en-US" sz="1800" b="1" i="0" u="none" strike="noStrike" cap="none">
                <a:solidFill>
                  <a:srgbClr val="FF0000"/>
                </a:solidFill>
                <a:latin typeface="Arial" panose="020B0604020202020204"/>
                <a:ea typeface="Arial" panose="020B0604020202020204"/>
                <a:cs typeface="Arial" panose="020B0604020202020204"/>
                <a:sym typeface="Arial" panose="020B0604020202020204"/>
              </a:rPr>
              <a:t>tự động </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hoặc </a:t>
            </a:r>
            <a:r>
              <a:rPr lang="en-US" sz="1800" b="1" i="0" u="none" strike="noStrike" cap="none">
                <a:solidFill>
                  <a:srgbClr val="FF0000"/>
                </a:solidFill>
                <a:latin typeface="Arial" panose="020B0604020202020204"/>
                <a:ea typeface="Arial" panose="020B0604020202020204"/>
                <a:cs typeface="Arial" panose="020B0604020202020204"/>
                <a:sym typeface="Arial" panose="020B0604020202020204"/>
              </a:rPr>
              <a:t>hỗ trợ quyết định của nhà đầu tư</a:t>
            </a:r>
            <a:endParaRPr sz="1800" b="1" i="0" u="none" strike="noStrike" cap="none">
              <a:solidFill>
                <a:srgbClr val="FF0000"/>
              </a:solidFill>
              <a:latin typeface="Arial" panose="020B0604020202020204"/>
              <a:ea typeface="Arial" panose="020B0604020202020204"/>
              <a:cs typeface="Arial" panose="020B0604020202020204"/>
              <a:sym typeface="Arial" panose="020B0604020202020204"/>
            </a:endParaRPr>
          </a:p>
          <a:p>
            <a:pPr marL="444500" marR="0" lvl="0" indent="-215900" algn="just" rtl="0">
              <a:lnSpc>
                <a:spcPct val="150000"/>
              </a:lnSpc>
              <a:spcBef>
                <a:spcPts val="0"/>
              </a:spcBef>
              <a:spcAft>
                <a:spcPts val="0"/>
              </a:spcAft>
              <a:buClr>
                <a:schemeClr val="dk1"/>
              </a:buClr>
              <a:buSzPts val="20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44500" marR="0" lvl="0" indent="-342900" algn="just" rtl="0">
              <a:lnSpc>
                <a:spcPct val="150000"/>
              </a:lnSpc>
              <a:spcBef>
                <a:spcPts val="0"/>
              </a:spcBef>
              <a:spcAft>
                <a:spcPts val="0"/>
              </a:spcAft>
              <a:buClr>
                <a:schemeClr val="dk1"/>
              </a:buClr>
              <a:buSzPts val="2000"/>
              <a:buFont typeface="Arial" panose="020B0604020202020204"/>
              <a:buChar char="•"/>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Tại sao giao dịch bot lại quan trọng</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 Phương pháp này giúp loại bỏ </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cảm xúc con người khỏi quyết định đầu tư</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 </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làm giảm rủi ro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và </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tăng khả năng tạo lợi nhuận dựa trên phân tích khách quan</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t>
            </a: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89" name="Shape 189"/>
        <p:cNvGrpSpPr/>
        <p:nvPr/>
      </p:nvGrpSpPr>
      <p:grpSpPr>
        <a:xfrm>
          <a:off x="0" y="0"/>
          <a:ext cx="0" cy="0"/>
          <a:chOff x="0" y="0"/>
          <a:chExt cx="0" cy="0"/>
        </a:xfrm>
      </p:grpSpPr>
      <p:sp>
        <p:nvSpPr>
          <p:cNvPr id="190" name="Google Shape;190;p10"/>
          <p:cNvSpPr txBox="1"/>
          <p:nvPr/>
        </p:nvSpPr>
        <p:spPr>
          <a:xfrm>
            <a:off x="304800" y="139783"/>
            <a:ext cx="52080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a:solidFill>
                  <a:schemeClr val="lt1"/>
                </a:solidFill>
                <a:latin typeface="Arial" panose="020B0604020202020204"/>
                <a:ea typeface="Arial" panose="020B0604020202020204"/>
                <a:cs typeface="Arial" panose="020B0604020202020204"/>
                <a:sym typeface="Arial" panose="020B0604020202020204"/>
              </a:rPr>
              <a:t>Giới thiệu về Quant Finance</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91" name="Google Shape;191;p10"/>
          <p:cNvSpPr txBox="1"/>
          <p:nvPr/>
        </p:nvSpPr>
        <p:spPr>
          <a:xfrm>
            <a:off x="504900" y="781237"/>
            <a:ext cx="8134200" cy="5791835"/>
          </a:xfrm>
          <a:prstGeom prst="rect">
            <a:avLst/>
          </a:prstGeom>
          <a:noFill/>
          <a:ln>
            <a:noFill/>
          </a:ln>
        </p:spPr>
        <p:txBody>
          <a:bodyPr spcFirstLastPara="1" wrap="square" lIns="91425" tIns="45700" rIns="91425" bIns="45700" anchor="t" anchorCtr="0">
            <a:spAutoFit/>
          </a:bodyPr>
          <a:lstStyle/>
          <a:p>
            <a:pPr marL="457200" marR="0" lvl="0" indent="-355600" algn="just" rtl="0">
              <a:lnSpc>
                <a:spcPct val="150000"/>
              </a:lnSpc>
              <a:spcBef>
                <a:spcPts val="0"/>
              </a:spcBef>
              <a:spcAft>
                <a:spcPts val="0"/>
              </a:spcAft>
              <a:buClr>
                <a:schemeClr val="dk1"/>
              </a:buClr>
              <a:buSzPts val="2000"/>
              <a:buFont typeface="Arial" panose="020B0604020202020204"/>
              <a:buChar char="●"/>
            </a:pPr>
            <a:r>
              <a:rPr lang="en-US" sz="1900" b="1" i="0" u="none" strike="noStrike" cap="none">
                <a:solidFill>
                  <a:srgbClr val="000000"/>
                </a:solidFill>
                <a:latin typeface="Arial" panose="020B0604020202020204"/>
                <a:ea typeface="Arial" panose="020B0604020202020204"/>
                <a:cs typeface="Arial" panose="020B0604020202020204"/>
                <a:sym typeface="Arial" panose="020B0604020202020204"/>
              </a:rPr>
              <a:t>Lịch sử phát triển:</a:t>
            </a:r>
            <a:r>
              <a:rPr lang="en-US" sz="1900" b="0" i="0" u="none" strike="noStrike" cap="none">
                <a:solidFill>
                  <a:srgbClr val="000000"/>
                </a:solidFill>
                <a:latin typeface="Arial" panose="020B0604020202020204"/>
                <a:ea typeface="Arial" panose="020B0604020202020204"/>
                <a:cs typeface="Arial" panose="020B0604020202020204"/>
                <a:sym typeface="Arial" panose="020B0604020202020204"/>
              </a:rPr>
              <a:t> Bắt đầu được phát triển vào những năm </a:t>
            </a:r>
            <a:r>
              <a:rPr lang="en-US" sz="1900" b="1" i="0" u="none" strike="noStrike" cap="none">
                <a:solidFill>
                  <a:srgbClr val="000000"/>
                </a:solidFill>
                <a:latin typeface="Arial" panose="020B0604020202020204"/>
                <a:ea typeface="Arial" panose="020B0604020202020204"/>
                <a:cs typeface="Arial" panose="020B0604020202020204"/>
                <a:sym typeface="Arial" panose="020B0604020202020204"/>
              </a:rPr>
              <a:t>1960</a:t>
            </a:r>
            <a:r>
              <a:rPr lang="en-US" sz="1900" b="0" i="0" u="none" strike="noStrike" cap="none">
                <a:solidFill>
                  <a:srgbClr val="000000"/>
                </a:solidFill>
                <a:latin typeface="Arial" panose="020B0604020202020204"/>
                <a:ea typeface="Arial" panose="020B0604020202020204"/>
                <a:cs typeface="Arial" panose="020B0604020202020204"/>
                <a:sym typeface="Arial" panose="020B0604020202020204"/>
              </a:rPr>
              <a:t>, khi các nhà </a:t>
            </a:r>
            <a:r>
              <a:rPr lang="en-US" sz="1900" b="1" i="0" u="none" strike="noStrike" cap="none">
                <a:solidFill>
                  <a:srgbClr val="FF0000"/>
                </a:solidFill>
                <a:latin typeface="Arial" panose="020B0604020202020204"/>
                <a:ea typeface="Arial" panose="020B0604020202020204"/>
                <a:cs typeface="Arial" panose="020B0604020202020204"/>
                <a:sym typeface="Arial" panose="020B0604020202020204"/>
              </a:rPr>
              <a:t>khoa học máy tính</a:t>
            </a:r>
            <a:r>
              <a:rPr lang="en-US" sz="1900" b="0" i="0" u="none" strike="noStrike" cap="none">
                <a:solidFill>
                  <a:srgbClr val="000000"/>
                </a:solidFill>
                <a:latin typeface="Arial" panose="020B0604020202020204"/>
                <a:ea typeface="Arial" panose="020B0604020202020204"/>
                <a:cs typeface="Arial" panose="020B0604020202020204"/>
                <a:sym typeface="Arial" panose="020B0604020202020204"/>
              </a:rPr>
              <a:t> bắt đầu áp dụng các </a:t>
            </a:r>
            <a:r>
              <a:rPr lang="en-US" sz="1900" b="1" i="0" u="none" strike="noStrike" cap="none">
                <a:solidFill>
                  <a:srgbClr val="000000"/>
                </a:solidFill>
                <a:latin typeface="Arial" panose="020B0604020202020204"/>
                <a:ea typeface="Arial" panose="020B0604020202020204"/>
                <a:cs typeface="Arial" panose="020B0604020202020204"/>
                <a:sym typeface="Arial" panose="020B0604020202020204"/>
              </a:rPr>
              <a:t>thuật toán cho giao dịch tài chính (giao thoa giữa máy tính và giao dịch)</a:t>
            </a:r>
            <a:r>
              <a:rPr lang="en-US" sz="1900" b="0" i="0" u="none" strike="noStrike" cap="none">
                <a:solidFill>
                  <a:srgbClr val="000000"/>
                </a:solidFill>
                <a:latin typeface="Arial" panose="020B0604020202020204"/>
                <a:ea typeface="Arial" panose="020B0604020202020204"/>
                <a:cs typeface="Arial" panose="020B0604020202020204"/>
                <a:sym typeface="Arial" panose="020B0604020202020204"/>
              </a:rPr>
              <a:t>: P</a:t>
            </a:r>
            <a:r>
              <a:rPr lang="en-US" sz="1900" b="0" i="0" u="none" strike="noStrike" cap="none">
                <a:solidFill>
                  <a:schemeClr val="dk1"/>
                </a:solidFill>
                <a:latin typeface="Arial" panose="020B0604020202020204"/>
                <a:ea typeface="Arial" panose="020B0604020202020204"/>
                <a:cs typeface="Arial" panose="020B0604020202020204"/>
                <a:sym typeface="Arial" panose="020B0604020202020204"/>
              </a:rPr>
              <a:t>hương pháp áp dụng những công cụ </a:t>
            </a:r>
            <a:r>
              <a:rPr lang="en-US" sz="1900" b="1" i="0" u="none" strike="noStrike" cap="none">
                <a:solidFill>
                  <a:schemeClr val="dk1"/>
                </a:solidFill>
                <a:latin typeface="Arial" panose="020B0604020202020204"/>
                <a:ea typeface="Arial" panose="020B0604020202020204"/>
                <a:cs typeface="Arial" panose="020B0604020202020204"/>
                <a:sym typeface="Arial" panose="020B0604020202020204"/>
              </a:rPr>
              <a:t>trong toán và xác suất thống kê</a:t>
            </a:r>
            <a:r>
              <a:rPr lang="en-US" sz="1900" b="0" i="0" u="none" strike="noStrike" cap="none">
                <a:solidFill>
                  <a:schemeClr val="dk1"/>
                </a:solidFill>
                <a:latin typeface="Arial" panose="020B0604020202020204"/>
                <a:ea typeface="Arial" panose="020B0604020202020204"/>
                <a:cs typeface="Arial" panose="020B0604020202020204"/>
                <a:sym typeface="Arial" panose="020B0604020202020204"/>
              </a:rPr>
              <a:t> để giải quyết những bài toán phức tạp trên thị trường tài chính (định giá cổ phiếu, phái sinh, chứng quyền; mô phỏng rủi ro, etc.)</a:t>
            </a:r>
            <a:endParaRPr sz="19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228600" algn="just" rtl="0">
              <a:lnSpc>
                <a:spcPct val="150000"/>
              </a:lnSpc>
              <a:spcBef>
                <a:spcPts val="0"/>
              </a:spcBef>
              <a:spcAft>
                <a:spcPts val="0"/>
              </a:spcAft>
              <a:buClr>
                <a:schemeClr val="dk1"/>
              </a:buClr>
              <a:buSzPts val="2000"/>
              <a:buFont typeface="Arial" panose="020B0604020202020204"/>
              <a:buNone/>
            </a:pPr>
            <a:endParaRPr sz="19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55600" algn="just" rtl="0">
              <a:lnSpc>
                <a:spcPct val="150000"/>
              </a:lnSpc>
              <a:spcBef>
                <a:spcPts val="0"/>
              </a:spcBef>
              <a:spcAft>
                <a:spcPts val="0"/>
              </a:spcAft>
              <a:buClr>
                <a:schemeClr val="dk1"/>
              </a:buClr>
              <a:buSzPts val="2000"/>
              <a:buFont typeface="Arial" panose="020B0604020202020204"/>
              <a:buChar char="●"/>
            </a:pPr>
            <a:r>
              <a:rPr lang="en-US" sz="1900" b="0" i="0" u="none" strike="noStrike" cap="none">
                <a:solidFill>
                  <a:schemeClr val="dk1"/>
                </a:solidFill>
                <a:latin typeface="Arial" panose="020B0604020202020204"/>
                <a:ea typeface="Arial" panose="020B0604020202020204"/>
                <a:cs typeface="Arial" panose="020B0604020202020204"/>
                <a:sym typeface="Arial" panose="020B0604020202020204"/>
              </a:rPr>
              <a:t>Ứng dụng trong công nghệ 4.0: Trong thời kỳ công nghệ thông tin 4.0 (bắt đầu 2011 </a:t>
            </a:r>
            <a:r>
              <a:rPr lang="en-US" sz="1900" b="1" i="0" u="none" strike="noStrike" cap="none">
                <a:solidFill>
                  <a:schemeClr val="dk1"/>
                </a:solidFill>
                <a:latin typeface="Arial" panose="020B0604020202020204"/>
                <a:ea typeface="Arial" panose="020B0604020202020204"/>
                <a:cs typeface="Arial" panose="020B0604020202020204"/>
                <a:sym typeface="Arial" panose="020B0604020202020204"/>
              </a:rPr>
              <a:t>khi chính phủ Đức tuyên bố Công nghiệp 4.0</a:t>
            </a:r>
            <a:r>
              <a:rPr lang="en-US" sz="1900" b="0" i="0" u="none" strike="noStrike" cap="none">
                <a:solidFill>
                  <a:schemeClr val="dk1"/>
                </a:solidFill>
                <a:latin typeface="Arial" panose="020B0604020202020204"/>
                <a:ea typeface="Arial" panose="020B0604020202020204"/>
                <a:cs typeface="Arial" panose="020B0604020202020204"/>
                <a:sym typeface="Arial" panose="020B0604020202020204"/>
              </a:rPr>
              <a:t>), Quant Finance </a:t>
            </a:r>
            <a:r>
              <a:rPr lang="en-US" sz="1900" b="1" i="0" u="none" strike="noStrike" cap="none">
                <a:solidFill>
                  <a:schemeClr val="dk1"/>
                </a:solidFill>
                <a:latin typeface="Arial" panose="020B0604020202020204"/>
                <a:ea typeface="Arial" panose="020B0604020202020204"/>
                <a:cs typeface="Arial" panose="020B0604020202020204"/>
                <a:sym typeface="Arial" panose="020B0604020202020204"/>
              </a:rPr>
              <a:t>cho phép tự động hóa</a:t>
            </a:r>
            <a:r>
              <a:rPr lang="en-US" sz="1900" b="0" i="0" u="none" strike="noStrike" cap="none">
                <a:solidFill>
                  <a:schemeClr val="dk1"/>
                </a:solidFill>
                <a:latin typeface="Arial" panose="020B0604020202020204"/>
                <a:ea typeface="Arial" panose="020B0604020202020204"/>
                <a:cs typeface="Arial" panose="020B0604020202020204"/>
                <a:sym typeface="Arial" panose="020B0604020202020204"/>
              </a:rPr>
              <a:t> việc đánh giá và ước lượng các </a:t>
            </a:r>
            <a:r>
              <a:rPr lang="en-US" sz="1900" b="1" i="0" u="none" strike="noStrike" cap="none">
                <a:solidFill>
                  <a:schemeClr val="dk1"/>
                </a:solidFill>
                <a:latin typeface="Arial" panose="020B0604020202020204"/>
                <a:ea typeface="Arial" panose="020B0604020202020204"/>
                <a:cs typeface="Arial" panose="020B0604020202020204"/>
                <a:sym typeface="Arial" panose="020B0604020202020204"/>
              </a:rPr>
              <a:t>sản phẩm tài chính nhanh và hiệu quả hơn, đem lại lợi thế cạnh tranh lớn.</a:t>
            </a:r>
            <a:endParaRPr sz="19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150000"/>
              </a:lnSpc>
              <a:spcBef>
                <a:spcPts val="0"/>
              </a:spcBef>
              <a:spcAft>
                <a:spcPts val="0"/>
              </a:spcAft>
              <a:buClr>
                <a:srgbClr val="000000"/>
              </a:buClr>
              <a:buSzPts val="2000"/>
              <a:buFont typeface="Arial" panose="020B0604020202020204"/>
              <a:buNone/>
            </a:pPr>
            <a:endParaRPr sz="19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95" name="Shape 195"/>
        <p:cNvGrpSpPr/>
        <p:nvPr/>
      </p:nvGrpSpPr>
      <p:grpSpPr>
        <a:xfrm>
          <a:off x="0" y="0"/>
          <a:ext cx="0" cy="0"/>
          <a:chOff x="0" y="0"/>
          <a:chExt cx="0" cy="0"/>
        </a:xfrm>
      </p:grpSpPr>
      <p:sp>
        <p:nvSpPr>
          <p:cNvPr id="196" name="Google Shape;196;p11"/>
          <p:cNvSpPr txBox="1"/>
          <p:nvPr/>
        </p:nvSpPr>
        <p:spPr>
          <a:xfrm>
            <a:off x="304800" y="139783"/>
            <a:ext cx="52080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a:solidFill>
                  <a:schemeClr val="lt1"/>
                </a:solidFill>
                <a:latin typeface="Arial" panose="020B0604020202020204"/>
                <a:ea typeface="Arial" panose="020B0604020202020204"/>
                <a:cs typeface="Arial" panose="020B0604020202020204"/>
                <a:sym typeface="Arial" panose="020B0604020202020204"/>
              </a:rPr>
              <a:t>Giới thiệu về Quant Finance</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97" name="Google Shape;197;p11"/>
          <p:cNvSpPr txBox="1"/>
          <p:nvPr/>
        </p:nvSpPr>
        <p:spPr>
          <a:xfrm>
            <a:off x="504900" y="781237"/>
            <a:ext cx="8134200" cy="5076300"/>
          </a:xfrm>
          <a:prstGeom prst="rect">
            <a:avLst/>
          </a:prstGeom>
          <a:noFill/>
          <a:ln>
            <a:noFill/>
          </a:ln>
        </p:spPr>
        <p:txBody>
          <a:bodyPr spcFirstLastPara="1" wrap="square" lIns="91425" tIns="45700" rIns="91425" bIns="45700" anchor="t" anchorCtr="0">
            <a:spAutoFit/>
          </a:bodyPr>
          <a:lstStyle/>
          <a:p>
            <a:pPr marL="444500" marR="0" lvl="0" indent="-342900" algn="just" rtl="0">
              <a:lnSpc>
                <a:spcPct val="150000"/>
              </a:lnSpc>
              <a:spcBef>
                <a:spcPts val="0"/>
              </a:spcBef>
              <a:spcAft>
                <a:spcPts val="0"/>
              </a:spcAft>
              <a:buClr>
                <a:schemeClr val="dk1"/>
              </a:buClr>
              <a:buSzPts val="20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Những người tiên phong trong Quant Finance:</a:t>
            </a: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50000"/>
              </a:lnSpc>
              <a:spcBef>
                <a:spcPts val="0"/>
              </a:spcBef>
              <a:spcAft>
                <a:spcPts val="0"/>
              </a:spcAft>
              <a:buClr>
                <a:schemeClr val="dk1"/>
              </a:buClr>
              <a:buSzPts val="2000"/>
              <a:buFont typeface="Arial" panose="020B0604020202020204"/>
              <a:buNone/>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 Bắt đầu "</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Từ những nỗ lực đầu tiên của các nhà toán học</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 như </a:t>
            </a:r>
            <a:r>
              <a:rPr lang="en-US" sz="1800" b="1" i="0" u="none" strike="noStrike" cap="none">
                <a:solidFill>
                  <a:srgbClr val="FF0000"/>
                </a:solidFill>
                <a:latin typeface="Arial" panose="020B0604020202020204"/>
                <a:ea typeface="Arial" panose="020B0604020202020204"/>
                <a:cs typeface="Arial" panose="020B0604020202020204"/>
                <a:sym typeface="Arial" panose="020B0604020202020204"/>
              </a:rPr>
              <a:t>Edward Thorp</a:t>
            </a:r>
            <a:r>
              <a:rPr lang="en-US" sz="1800" b="0" i="0" u="none" strike="noStrike" cap="none">
                <a:solidFill>
                  <a:srgbClr val="FF0000"/>
                </a:solidFill>
                <a:latin typeface="Arial" panose="020B0604020202020204"/>
                <a:ea typeface="Arial" panose="020B0604020202020204"/>
                <a:cs typeface="Arial" panose="020B0604020202020204"/>
                <a:sym typeface="Arial" panose="020B0604020202020204"/>
              </a:rPr>
              <a:t>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(tác giả của cuốn sách "</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Beat the Dealer</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 nổi tiếng với việc áp dụng lý </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thuyết xác suất vào blackjack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và </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sau đó là thị trường tài chính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 </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tiên phong áp dụng mô hình </a:t>
            </a:r>
            <a:r>
              <a:rPr lang="en-US" sz="1800" b="1" i="0" u="none" strike="noStrike" cap="none">
                <a:solidFill>
                  <a:srgbClr val="000000"/>
                </a:solidFill>
                <a:highlight>
                  <a:srgbClr val="FFFF00"/>
                </a:highlight>
                <a:latin typeface="Arial" panose="020B0604020202020204"/>
                <a:ea typeface="Arial" panose="020B0604020202020204"/>
                <a:cs typeface="Arial" panose="020B0604020202020204"/>
                <a:sym typeface="Arial" panose="020B0604020202020204"/>
              </a:rPr>
              <a:t>toán học</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 để tạo ra lợi thế</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t>
            </a: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50000"/>
              </a:lnSpc>
              <a:spcBef>
                <a:spcPts val="0"/>
              </a:spcBef>
              <a:spcAft>
                <a:spcPts val="0"/>
              </a:spcAft>
              <a:buClr>
                <a:schemeClr val="dk1"/>
              </a:buClr>
              <a:buSzPts val="2000"/>
              <a:buFont typeface="Arial" panose="020B0604020202020204"/>
              <a:buNone/>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 và các nhà đầu cơ như </a:t>
            </a:r>
            <a:r>
              <a:rPr lang="en-US" sz="1800" b="1" i="0" u="none" strike="noStrike" cap="none">
                <a:solidFill>
                  <a:srgbClr val="FF0000"/>
                </a:solidFill>
                <a:latin typeface="Arial" panose="020B0604020202020204"/>
                <a:ea typeface="Arial" panose="020B0604020202020204"/>
                <a:cs typeface="Arial" panose="020B0604020202020204"/>
                <a:sym typeface="Arial" panose="020B0604020202020204"/>
              </a:rPr>
              <a:t>Jesse Livermore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(là một nhà đầ</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u</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 cơ chứng khoán huyền thoại từ </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đầu thế kỷ 20</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 nổi tiếng với việc giao dịch dựa trên các mô hình và xu hướng thị trường mà </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không cần đến phân tích cơ bản</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 đến các hệ thống giao dịch tự động phức tạp của thế kỷ 21.“</a:t>
            </a: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44500" marR="0" lvl="0" indent="-342900" algn="just" rtl="0">
              <a:lnSpc>
                <a:spcPct val="150000"/>
              </a:lnSpc>
              <a:spcBef>
                <a:spcPts val="0"/>
              </a:spcBef>
              <a:spcAft>
                <a:spcPts val="0"/>
              </a:spcAft>
              <a:buClr>
                <a:schemeClr val="dk1"/>
              </a:buClr>
              <a:buSzPts val="2000"/>
              <a:buFont typeface="Arial" panose="020B0604020202020204"/>
              <a:buChar char="•"/>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Vai trò của Machine Learning và AI</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 </a:t>
            </a: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50000"/>
              </a:lnSpc>
              <a:spcBef>
                <a:spcPts val="0"/>
              </a:spcBef>
              <a:spcAft>
                <a:spcPts val="0"/>
              </a:spcAft>
              <a:buClr>
                <a:schemeClr val="dk1"/>
              </a:buClr>
              <a:buSzPts val="2000"/>
              <a:buFont typeface="Arial" panose="020B0604020202020204"/>
              <a:buNone/>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 "Gần đây, sự phát triển của </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Machine Learning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và </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AI</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 đã mở ra những khả năng mới trong việc </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phân tích</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 và </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dự đoán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thị trường tài chính.“</a:t>
            </a: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01" name="Shape 201"/>
        <p:cNvGrpSpPr/>
        <p:nvPr/>
      </p:nvGrpSpPr>
      <p:grpSpPr>
        <a:xfrm>
          <a:off x="0" y="0"/>
          <a:ext cx="0" cy="0"/>
          <a:chOff x="0" y="0"/>
          <a:chExt cx="0" cy="0"/>
        </a:xfrm>
      </p:grpSpPr>
      <p:sp>
        <p:nvSpPr>
          <p:cNvPr id="202" name="Google Shape;202;p12"/>
          <p:cNvSpPr txBox="1"/>
          <p:nvPr/>
        </p:nvSpPr>
        <p:spPr>
          <a:xfrm>
            <a:off x="304800" y="139783"/>
            <a:ext cx="52080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a:solidFill>
                  <a:schemeClr val="lt1"/>
                </a:solidFill>
                <a:latin typeface="Arial" panose="020B0604020202020204"/>
                <a:ea typeface="Arial" panose="020B0604020202020204"/>
                <a:cs typeface="Arial" panose="020B0604020202020204"/>
                <a:sym typeface="Arial" panose="020B0604020202020204"/>
              </a:rPr>
              <a:t>Các mô hình sẽ học</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03" name="Google Shape;203;p12"/>
          <p:cNvSpPr txBox="1"/>
          <p:nvPr/>
        </p:nvSpPr>
        <p:spPr>
          <a:xfrm>
            <a:off x="504900" y="781237"/>
            <a:ext cx="8134200" cy="5676265"/>
          </a:xfrm>
          <a:prstGeom prst="rect">
            <a:avLst/>
          </a:prstGeom>
          <a:noFill/>
          <a:ln>
            <a:noFill/>
          </a:ln>
        </p:spPr>
        <p:txBody>
          <a:bodyPr spcFirstLastPara="1" wrap="square" lIns="91425" tIns="45700" rIns="91425" bIns="45700" anchor="t" anchorCtr="0">
            <a:spAutoFit/>
          </a:bodyPr>
          <a:lstStyle/>
          <a:p>
            <a:pPr marL="101600" marR="0" lvl="0" indent="0" algn="just" rtl="0">
              <a:lnSpc>
                <a:spcPct val="150000"/>
              </a:lnSpc>
              <a:spcBef>
                <a:spcPts val="0"/>
              </a:spcBef>
              <a:spcAft>
                <a:spcPts val="0"/>
              </a:spcAft>
              <a:buNone/>
            </a:pPr>
            <a:r>
              <a:rPr lang="en-US" sz="1100" b="1" i="0" u="sng" strike="noStrike" cap="none">
                <a:solidFill>
                  <a:srgbClr val="000000"/>
                </a:solidFill>
                <a:latin typeface="Arial" panose="020B0604020202020204"/>
                <a:ea typeface="Arial" panose="020B0604020202020204"/>
                <a:cs typeface="Arial" panose="020B0604020202020204"/>
                <a:sym typeface="Arial" panose="020B0604020202020204"/>
              </a:rPr>
              <a:t>Các mô hình định lượng:</a:t>
            </a:r>
            <a:endParaRPr sz="1100" b="1" i="0" u="sng" strike="noStrike" cap="none">
              <a:solidFill>
                <a:srgbClr val="000000"/>
              </a:solidFill>
              <a:latin typeface="Arial" panose="020B0604020202020204"/>
              <a:ea typeface="Arial" panose="020B0604020202020204"/>
              <a:cs typeface="Arial" panose="020B0604020202020204"/>
              <a:sym typeface="Arial" panose="020B0604020202020204"/>
            </a:endParaRPr>
          </a:p>
          <a:p>
            <a:pPr marL="457200" marR="0" lvl="0" indent="-355600" algn="just" rtl="0">
              <a:lnSpc>
                <a:spcPct val="150000"/>
              </a:lnSpc>
              <a:spcBef>
                <a:spcPts val="0"/>
              </a:spcBef>
              <a:spcAft>
                <a:spcPts val="0"/>
              </a:spcAft>
              <a:buClr>
                <a:schemeClr val="dk1"/>
              </a:buClr>
              <a:buSzPts val="2000"/>
              <a:buFont typeface="Arial" panose="020B0604020202020204"/>
              <a:buChar char="●"/>
            </a:pPr>
            <a:r>
              <a:rPr lang="en-US" sz="1100" b="1" i="0" u="none" strike="noStrike" cap="none">
                <a:solidFill>
                  <a:srgbClr val="000000"/>
                </a:solidFill>
                <a:latin typeface="Arial" panose="020B0604020202020204"/>
                <a:ea typeface="Arial" panose="020B0604020202020204"/>
                <a:cs typeface="Arial" panose="020B0604020202020204"/>
                <a:sym typeface="Arial" panose="020B0604020202020204"/>
              </a:rPr>
              <a:t>Mô hình Mean Reversion</a:t>
            </a:r>
            <a:r>
              <a:rPr lang="en-US" sz="1100" b="0" i="0" u="none" strike="noStrike" cap="none">
                <a:solidFill>
                  <a:srgbClr val="000000"/>
                </a:solidFill>
                <a:latin typeface="Arial" panose="020B0604020202020204"/>
                <a:ea typeface="Arial" panose="020B0604020202020204"/>
                <a:cs typeface="Arial" panose="020B0604020202020204"/>
                <a:sym typeface="Arial" panose="020B0604020202020204"/>
              </a:rPr>
              <a:t>: Giả định rằng giá cổ phiếu sẽ quay trở </a:t>
            </a:r>
            <a:r>
              <a:rPr lang="en-US" sz="1100" b="1" i="0" u="none" strike="noStrike" cap="none">
                <a:solidFill>
                  <a:srgbClr val="000000"/>
                </a:solidFill>
                <a:latin typeface="Arial" panose="020B0604020202020204"/>
                <a:ea typeface="Arial" panose="020B0604020202020204"/>
                <a:cs typeface="Arial" panose="020B0604020202020204"/>
                <a:sym typeface="Arial" panose="020B0604020202020204"/>
              </a:rPr>
              <a:t>lại trung bình giá </a:t>
            </a:r>
            <a:r>
              <a:rPr lang="en-US" sz="1100" b="0" i="0" u="none" strike="noStrike" cap="none">
                <a:solidFill>
                  <a:srgbClr val="000000"/>
                </a:solidFill>
                <a:latin typeface="Arial" panose="020B0604020202020204"/>
                <a:ea typeface="Arial" panose="020B0604020202020204"/>
                <a:cs typeface="Arial" panose="020B0604020202020204"/>
                <a:sym typeface="Arial" panose="020B0604020202020204"/>
              </a:rPr>
              <a:t>của nó sau một thời gian biến động mạnh.</a:t>
            </a: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57200" marR="0" lvl="0" indent="-355600" algn="just" rtl="0">
              <a:lnSpc>
                <a:spcPct val="150000"/>
              </a:lnSpc>
              <a:spcBef>
                <a:spcPts val="0"/>
              </a:spcBef>
              <a:spcAft>
                <a:spcPts val="0"/>
              </a:spcAft>
              <a:buClr>
                <a:schemeClr val="dk1"/>
              </a:buClr>
              <a:buSzPts val="2000"/>
              <a:buFont typeface="Arial" panose="020B0604020202020204"/>
              <a:buChar char="●"/>
            </a:pPr>
            <a:r>
              <a:rPr lang="en-US" sz="1100" b="1" i="0" u="none" strike="noStrike" cap="none">
                <a:solidFill>
                  <a:srgbClr val="000000"/>
                </a:solidFill>
                <a:latin typeface="Arial" panose="020B0604020202020204"/>
                <a:ea typeface="Arial" panose="020B0604020202020204"/>
                <a:cs typeface="Arial" panose="020B0604020202020204"/>
                <a:sym typeface="Arial" panose="020B0604020202020204"/>
              </a:rPr>
              <a:t>Mô hình Momentum</a:t>
            </a:r>
            <a:r>
              <a:rPr lang="en-US" sz="1100" b="0" i="0" u="none" strike="noStrike" cap="none">
                <a:solidFill>
                  <a:srgbClr val="000000"/>
                </a:solidFill>
                <a:latin typeface="Arial" panose="020B0604020202020204"/>
                <a:ea typeface="Arial" panose="020B0604020202020204"/>
                <a:cs typeface="Arial" panose="020B0604020202020204"/>
                <a:sym typeface="Arial" panose="020B0604020202020204"/>
              </a:rPr>
              <a:t>: Dựa trên quan sát rằng cổ phiếu có xu hướng tiếp tục di chuyển theo cùng một hướng trong một khoảng thời gian nhất định.</a:t>
            </a: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57200" marR="0" lvl="0" indent="-355600" algn="just" rtl="0">
              <a:lnSpc>
                <a:spcPct val="150000"/>
              </a:lnSpc>
              <a:spcBef>
                <a:spcPts val="0"/>
              </a:spcBef>
              <a:spcAft>
                <a:spcPts val="0"/>
              </a:spcAft>
              <a:buClr>
                <a:schemeClr val="dk1"/>
              </a:buClr>
              <a:buSzPts val="2000"/>
              <a:buFont typeface="Arial" panose="020B0604020202020204"/>
              <a:buChar char="●"/>
            </a:pPr>
            <a:r>
              <a:rPr lang="en-US" sz="1100" b="1" i="0" u="none" strike="noStrike" cap="none">
                <a:solidFill>
                  <a:srgbClr val="000000"/>
                </a:solidFill>
                <a:latin typeface="Arial" panose="020B0604020202020204"/>
                <a:ea typeface="Arial" panose="020B0604020202020204"/>
                <a:cs typeface="Arial" panose="020B0604020202020204"/>
                <a:sym typeface="Arial" panose="020B0604020202020204"/>
              </a:rPr>
              <a:t>Pairs Trading</a:t>
            </a:r>
            <a:r>
              <a:rPr lang="en-US" sz="1100" b="0" i="0" u="none" strike="noStrike" cap="none">
                <a:solidFill>
                  <a:srgbClr val="000000"/>
                </a:solidFill>
                <a:latin typeface="Arial" panose="020B0604020202020204"/>
                <a:ea typeface="Arial" panose="020B0604020202020204"/>
                <a:cs typeface="Arial" panose="020B0604020202020204"/>
                <a:sym typeface="Arial" panose="020B0604020202020204"/>
              </a:rPr>
              <a:t>: Tìm kiếm hai cổ phiếu có mối quan </a:t>
            </a:r>
            <a:r>
              <a:rPr lang="en-US" sz="1100" b="1" i="0" u="none" strike="noStrike" cap="none">
                <a:solidFill>
                  <a:srgbClr val="000000"/>
                </a:solidFill>
                <a:latin typeface="Arial" panose="020B0604020202020204"/>
                <a:ea typeface="Arial" panose="020B0604020202020204"/>
                <a:cs typeface="Arial" panose="020B0604020202020204"/>
                <a:sym typeface="Arial" panose="020B0604020202020204"/>
              </a:rPr>
              <a:t>hệ giá cả chặt chẽ và đặt cược </a:t>
            </a:r>
            <a:r>
              <a:rPr lang="en-US" sz="1100" b="0" i="0" u="none" strike="noStrike" cap="none">
                <a:solidFill>
                  <a:srgbClr val="000000"/>
                </a:solidFill>
                <a:latin typeface="Arial" panose="020B0604020202020204"/>
                <a:ea typeface="Arial" panose="020B0604020202020204"/>
                <a:cs typeface="Arial" panose="020B0604020202020204"/>
                <a:sym typeface="Arial" panose="020B0604020202020204"/>
              </a:rPr>
              <a:t>vào việc chúng sẽ tiếp tục di chuyển cùng nhau.</a:t>
            </a: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57200" marR="0" lvl="0" indent="-355600" algn="just" rtl="0">
              <a:lnSpc>
                <a:spcPct val="150000"/>
              </a:lnSpc>
              <a:spcBef>
                <a:spcPts val="0"/>
              </a:spcBef>
              <a:spcAft>
                <a:spcPts val="0"/>
              </a:spcAft>
              <a:buClr>
                <a:schemeClr val="dk1"/>
              </a:buClr>
              <a:buSzPts val="2000"/>
              <a:buFont typeface="Arial" panose="020B0604020202020204"/>
              <a:buChar char="●"/>
            </a:pPr>
            <a:r>
              <a:rPr lang="en-US" sz="1100" b="1" i="0" u="none" strike="noStrike" cap="none">
                <a:solidFill>
                  <a:srgbClr val="000000"/>
                </a:solidFill>
                <a:latin typeface="Arial" panose="020B0604020202020204"/>
                <a:ea typeface="Arial" panose="020B0604020202020204"/>
                <a:cs typeface="Arial" panose="020B0604020202020204"/>
                <a:sym typeface="Arial" panose="020B0604020202020204"/>
              </a:rPr>
              <a:t>Mô hình Dựa trên Điểm số (Score-based models)</a:t>
            </a:r>
            <a:r>
              <a:rPr lang="en-US" sz="1100" b="0" i="0" u="none" strike="noStrike" cap="none">
                <a:solidFill>
                  <a:srgbClr val="000000"/>
                </a:solidFill>
                <a:latin typeface="Arial" panose="020B0604020202020204"/>
                <a:ea typeface="Arial" panose="020B0604020202020204"/>
                <a:cs typeface="Arial" panose="020B0604020202020204"/>
                <a:sym typeface="Arial" panose="020B0604020202020204"/>
              </a:rPr>
              <a:t>: Tạo ra các điểm số dựa trên một loạt yếu tố như tài chính, tin tức, và chỉ số kỹ thuật để xác định xem cổ phiếu có hấp dẫn để mua hay không.</a:t>
            </a: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50000"/>
              </a:lnSpc>
              <a:spcBef>
                <a:spcPts val="0"/>
              </a:spcBef>
              <a:spcAft>
                <a:spcPts val="0"/>
              </a:spcAft>
              <a:buNone/>
            </a:pPr>
            <a:r>
              <a:rPr lang="en-US" sz="1100" b="1" i="0" u="sng" strike="noStrike" cap="none">
                <a:solidFill>
                  <a:srgbClr val="000000"/>
                </a:solidFill>
                <a:latin typeface="Arial" panose="020B0604020202020204"/>
                <a:ea typeface="Arial" panose="020B0604020202020204"/>
                <a:cs typeface="Arial" panose="020B0604020202020204"/>
                <a:sym typeface="Arial" panose="020B0604020202020204"/>
              </a:rPr>
              <a:t>Các mô hình định lượng sẽ học:</a:t>
            </a:r>
            <a:endParaRPr sz="1100" b="1" i="0" u="sng" strike="noStrike" cap="none">
              <a:solidFill>
                <a:srgbClr val="000000"/>
              </a:solidFill>
              <a:latin typeface="Arial" panose="020B0604020202020204"/>
              <a:ea typeface="Arial" panose="020B0604020202020204"/>
              <a:cs typeface="Arial" panose="020B0604020202020204"/>
              <a:sym typeface="Arial" panose="020B0604020202020204"/>
            </a:endParaRPr>
          </a:p>
          <a:p>
            <a:pPr marL="273050" marR="0" lvl="0" indent="-171450" algn="just" rtl="0">
              <a:lnSpc>
                <a:spcPct val="150000"/>
              </a:lnSpc>
              <a:spcBef>
                <a:spcPts val="0"/>
              </a:spcBef>
              <a:spcAft>
                <a:spcPts val="0"/>
              </a:spcAft>
              <a:buClr>
                <a:schemeClr val="dk1"/>
              </a:buClr>
              <a:buSzPts val="2000"/>
              <a:buFont typeface="Arial" panose="020B0604020202020204"/>
              <a:buChar char="-"/>
            </a:pPr>
            <a:r>
              <a:rPr lang="en-US" sz="1100" b="0" i="0" u="none" strike="noStrike" cap="none">
                <a:solidFill>
                  <a:srgbClr val="000000"/>
                </a:solidFill>
                <a:latin typeface="Arial" panose="020B0604020202020204"/>
                <a:ea typeface="Arial" panose="020B0604020202020204"/>
                <a:cs typeface="Arial" panose="020B0604020202020204"/>
                <a:sym typeface="Arial" panose="020B0604020202020204"/>
              </a:rPr>
              <a:t>Mô hình </a:t>
            </a:r>
            <a:r>
              <a:rPr lang="en-US" sz="1100" b="1" i="0" u="none" strike="noStrike" cap="none">
                <a:solidFill>
                  <a:srgbClr val="000000"/>
                </a:solidFill>
                <a:latin typeface="Arial" panose="020B0604020202020204"/>
                <a:ea typeface="Arial" panose="020B0604020202020204"/>
                <a:cs typeface="Arial" panose="020B0604020202020204"/>
                <a:sym typeface="Arial" panose="020B0604020202020204"/>
              </a:rPr>
              <a:t>Doji chân dài</a:t>
            </a:r>
            <a:endParaRPr sz="11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73050" marR="0" lvl="0" indent="-171450" algn="just" rtl="0">
              <a:lnSpc>
                <a:spcPct val="150000"/>
              </a:lnSpc>
              <a:spcBef>
                <a:spcPts val="0"/>
              </a:spcBef>
              <a:spcAft>
                <a:spcPts val="0"/>
              </a:spcAft>
              <a:buClr>
                <a:schemeClr val="dk1"/>
              </a:buClr>
              <a:buSzPts val="2000"/>
              <a:buFont typeface="Arial" panose="020B0604020202020204"/>
              <a:buChar char="-"/>
            </a:pPr>
            <a:r>
              <a:rPr lang="en-US" sz="1100" b="0" i="0" u="none" strike="noStrike" cap="none">
                <a:solidFill>
                  <a:srgbClr val="000000"/>
                </a:solidFill>
                <a:latin typeface="Arial" panose="020B0604020202020204"/>
                <a:ea typeface="Arial" panose="020B0604020202020204"/>
                <a:cs typeface="Arial" panose="020B0604020202020204"/>
                <a:sym typeface="Arial" panose="020B0604020202020204"/>
              </a:rPr>
              <a:t>Mô hình </a:t>
            </a:r>
            <a:r>
              <a:rPr lang="en-US" sz="1100" b="1" i="0" u="none" strike="noStrike" cap="none">
                <a:solidFill>
                  <a:srgbClr val="000000"/>
                </a:solidFill>
                <a:latin typeface="Arial" panose="020B0604020202020204"/>
                <a:ea typeface="Arial" panose="020B0604020202020204"/>
                <a:cs typeface="Arial" panose="020B0604020202020204"/>
                <a:sym typeface="Arial" panose="020B0604020202020204"/>
              </a:rPr>
              <a:t>MA, ATR</a:t>
            </a:r>
            <a:endParaRPr sz="11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73050" marR="0" lvl="0" indent="-171450" algn="just" rtl="0">
              <a:lnSpc>
                <a:spcPct val="150000"/>
              </a:lnSpc>
              <a:spcBef>
                <a:spcPts val="0"/>
              </a:spcBef>
              <a:spcAft>
                <a:spcPts val="0"/>
              </a:spcAft>
              <a:buClr>
                <a:schemeClr val="dk1"/>
              </a:buClr>
              <a:buSzPts val="2000"/>
              <a:buFont typeface="Arial" panose="020B0604020202020204"/>
              <a:buChar char="-"/>
            </a:pPr>
            <a:r>
              <a:rPr lang="en-US" sz="1100" b="0" i="0" u="none" strike="noStrike" cap="none">
                <a:solidFill>
                  <a:srgbClr val="000000"/>
                </a:solidFill>
                <a:latin typeface="Arial" panose="020B0604020202020204"/>
                <a:ea typeface="Arial" panose="020B0604020202020204"/>
                <a:cs typeface="Arial" panose="020B0604020202020204"/>
                <a:sym typeface="Arial" panose="020B0604020202020204"/>
              </a:rPr>
              <a:t>Mô hình </a:t>
            </a:r>
            <a:r>
              <a:rPr lang="en-US" sz="1100" b="1" i="0" u="none" strike="noStrike" cap="none">
                <a:solidFill>
                  <a:srgbClr val="000000"/>
                </a:solidFill>
                <a:latin typeface="Arial" panose="020B0604020202020204"/>
                <a:ea typeface="Arial" panose="020B0604020202020204"/>
                <a:cs typeface="Arial" panose="020B0604020202020204"/>
                <a:sym typeface="Arial" panose="020B0604020202020204"/>
              </a:rPr>
              <a:t>SPY500, VIX</a:t>
            </a:r>
            <a:endParaRPr sz="11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73050" marR="0" lvl="0" indent="-171450" algn="just" rtl="0">
              <a:lnSpc>
                <a:spcPct val="150000"/>
              </a:lnSpc>
              <a:spcBef>
                <a:spcPts val="0"/>
              </a:spcBef>
              <a:spcAft>
                <a:spcPts val="0"/>
              </a:spcAft>
              <a:buClr>
                <a:schemeClr val="dk1"/>
              </a:buClr>
              <a:buSzPts val="2000"/>
              <a:buFont typeface="Arial" panose="020B0604020202020204"/>
              <a:buChar char="-"/>
            </a:pPr>
            <a:r>
              <a:rPr lang="en-US" sz="1100" b="0" i="0" u="none" strike="noStrike" cap="none">
                <a:solidFill>
                  <a:srgbClr val="000000"/>
                </a:solidFill>
                <a:latin typeface="Arial" panose="020B0604020202020204"/>
                <a:ea typeface="Arial" panose="020B0604020202020204"/>
                <a:cs typeface="Arial" panose="020B0604020202020204"/>
                <a:sym typeface="Arial" panose="020B0604020202020204"/>
              </a:rPr>
              <a:t>Mô hình </a:t>
            </a:r>
            <a:r>
              <a:rPr lang="en-US" sz="1100" b="1" i="0" u="none" strike="noStrike" cap="none">
                <a:solidFill>
                  <a:srgbClr val="000000"/>
                </a:solidFill>
                <a:latin typeface="Arial" panose="020B0604020202020204"/>
                <a:ea typeface="Arial" panose="020B0604020202020204"/>
                <a:cs typeface="Arial" panose="020B0604020202020204"/>
                <a:sym typeface="Arial" panose="020B0604020202020204"/>
              </a:rPr>
              <a:t>Bollinger Bands, RSI</a:t>
            </a:r>
            <a:endParaRPr sz="11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73050" marR="0" lvl="0" indent="-171450" algn="just" rtl="0">
              <a:lnSpc>
                <a:spcPct val="150000"/>
              </a:lnSpc>
              <a:spcBef>
                <a:spcPts val="0"/>
              </a:spcBef>
              <a:spcAft>
                <a:spcPts val="0"/>
              </a:spcAft>
              <a:buClr>
                <a:schemeClr val="dk1"/>
              </a:buClr>
              <a:buSzPts val="2000"/>
              <a:buFont typeface="Arial" panose="020B0604020202020204"/>
              <a:buChar char="-"/>
            </a:pPr>
            <a:r>
              <a:rPr lang="en-US" sz="1100" b="0" i="0" u="none" strike="noStrike" cap="none">
                <a:solidFill>
                  <a:srgbClr val="000000"/>
                </a:solidFill>
                <a:latin typeface="Arial" panose="020B0604020202020204"/>
                <a:ea typeface="Arial" panose="020B0604020202020204"/>
                <a:cs typeface="Arial" panose="020B0604020202020204"/>
                <a:sym typeface="Arial" panose="020B0604020202020204"/>
              </a:rPr>
              <a:t>Mô hình </a:t>
            </a:r>
            <a:r>
              <a:rPr lang="en-US" sz="1100" b="1" i="0" u="none" strike="noStrike" cap="none">
                <a:solidFill>
                  <a:srgbClr val="000000"/>
                </a:solidFill>
                <a:latin typeface="Arial" panose="020B0604020202020204"/>
                <a:ea typeface="Arial" panose="020B0604020202020204"/>
                <a:cs typeface="Arial" panose="020B0604020202020204"/>
                <a:sym typeface="Arial" panose="020B0604020202020204"/>
              </a:rPr>
              <a:t>MACD, SMA</a:t>
            </a:r>
            <a:endParaRPr sz="11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73050" marR="0" lvl="0" indent="-171450" algn="just" rtl="0">
              <a:lnSpc>
                <a:spcPct val="150000"/>
              </a:lnSpc>
              <a:spcBef>
                <a:spcPts val="0"/>
              </a:spcBef>
              <a:spcAft>
                <a:spcPts val="0"/>
              </a:spcAft>
              <a:buClr>
                <a:schemeClr val="dk1"/>
              </a:buClr>
              <a:buSzPts val="2000"/>
              <a:buFont typeface="Arial" panose="020B0604020202020204"/>
              <a:buChar char="-"/>
            </a:pPr>
            <a:r>
              <a:rPr lang="en-US" sz="1100" b="0" i="0" u="none" strike="noStrike" cap="none">
                <a:solidFill>
                  <a:schemeClr val="dk1"/>
                </a:solidFill>
                <a:latin typeface="Arial" panose="020B0604020202020204"/>
                <a:ea typeface="Arial" panose="020B0604020202020204"/>
                <a:cs typeface="Arial" panose="020B0604020202020204"/>
                <a:sym typeface="Arial" panose="020B0604020202020204"/>
              </a:rPr>
              <a:t>Mô hình </a:t>
            </a:r>
            <a:r>
              <a:rPr lang="en-US" sz="1100" b="1" i="0" u="none" strike="noStrike" cap="none">
                <a:solidFill>
                  <a:schemeClr val="dk1"/>
                </a:solidFill>
                <a:latin typeface="Arial" panose="020B0604020202020204"/>
                <a:ea typeface="Arial" panose="020B0604020202020204"/>
                <a:cs typeface="Arial" panose="020B0604020202020204"/>
                <a:sym typeface="Arial" panose="020B0604020202020204"/>
              </a:rPr>
              <a:t>ARIMA</a:t>
            </a:r>
            <a:endParaRPr sz="11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73050" marR="0" lvl="0" indent="-171450" algn="just" rtl="0">
              <a:lnSpc>
                <a:spcPct val="150000"/>
              </a:lnSpc>
              <a:spcBef>
                <a:spcPts val="0"/>
              </a:spcBef>
              <a:spcAft>
                <a:spcPts val="0"/>
              </a:spcAft>
              <a:buClr>
                <a:schemeClr val="dk1"/>
              </a:buClr>
              <a:buSzPts val="2000"/>
              <a:buFont typeface="Arial" panose="020B0604020202020204"/>
              <a:buChar char="-"/>
            </a:pPr>
            <a:r>
              <a:rPr lang="en-US" sz="1100" b="0" i="0" u="none" strike="noStrike" cap="none">
                <a:solidFill>
                  <a:schemeClr val="dk1"/>
                </a:solidFill>
                <a:latin typeface="Arial" panose="020B0604020202020204"/>
                <a:ea typeface="Arial" panose="020B0604020202020204"/>
                <a:cs typeface="Arial" panose="020B0604020202020204"/>
                <a:sym typeface="Arial" panose="020B0604020202020204"/>
              </a:rPr>
              <a:t>Mô hình </a:t>
            </a:r>
            <a:r>
              <a:rPr lang="en-US" sz="1100" b="1" i="0" u="none" strike="noStrike" cap="none">
                <a:solidFill>
                  <a:schemeClr val="dk1"/>
                </a:solidFill>
                <a:latin typeface="Arial" panose="020B0604020202020204"/>
                <a:ea typeface="Arial" panose="020B0604020202020204"/>
                <a:cs typeface="Arial" panose="020B0604020202020204"/>
                <a:sym typeface="Arial" panose="020B0604020202020204"/>
              </a:rPr>
              <a:t>Fibonaci Retracements</a:t>
            </a:r>
            <a:endParaRPr sz="11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73050" marR="0" lvl="0" indent="-171450" algn="just" rtl="0">
              <a:lnSpc>
                <a:spcPct val="150000"/>
              </a:lnSpc>
              <a:spcBef>
                <a:spcPts val="0"/>
              </a:spcBef>
              <a:spcAft>
                <a:spcPts val="0"/>
              </a:spcAft>
              <a:buClr>
                <a:schemeClr val="dk1"/>
              </a:buClr>
              <a:buSzPts val="2000"/>
              <a:buFont typeface="Arial" panose="020B0604020202020204"/>
              <a:buChar char="-"/>
            </a:pPr>
            <a:r>
              <a:rPr lang="en-US" sz="1100" b="0" i="0" u="none" strike="noStrike" cap="none">
                <a:solidFill>
                  <a:schemeClr val="dk1"/>
                </a:solidFill>
                <a:latin typeface="Arial" panose="020B0604020202020204"/>
                <a:ea typeface="Arial" panose="020B0604020202020204"/>
                <a:cs typeface="Arial" panose="020B0604020202020204"/>
                <a:sym typeface="Arial" panose="020B0604020202020204"/>
              </a:rPr>
              <a:t>Mô hinh </a:t>
            </a:r>
            <a:r>
              <a:rPr lang="en-US" sz="1100" b="1" i="0" u="none" strike="noStrike" cap="none">
                <a:solidFill>
                  <a:schemeClr val="dk1"/>
                </a:solidFill>
                <a:latin typeface="Arial" panose="020B0604020202020204"/>
                <a:ea typeface="Arial" panose="020B0604020202020204"/>
                <a:cs typeface="Arial" panose="020B0604020202020204"/>
                <a:sym typeface="Arial" panose="020B0604020202020204"/>
              </a:rPr>
              <a:t>IChimoku</a:t>
            </a:r>
            <a:endParaRPr sz="11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50000"/>
              </a:lnSpc>
              <a:spcBef>
                <a:spcPts val="0"/>
              </a:spcBef>
              <a:spcAft>
                <a:spcPts val="0"/>
              </a:spcAft>
              <a:buClr>
                <a:schemeClr val="dk1"/>
              </a:buClr>
              <a:buSzPts val="2000"/>
              <a:buFont typeface="Arial" panose="020B0604020202020204"/>
              <a:buNone/>
            </a:pPr>
            <a:r>
              <a:rPr lang="en-US" sz="1100" b="0" i="0" u="sng" strike="noStrike" cap="none">
                <a:solidFill>
                  <a:srgbClr val="000000"/>
                </a:solidFill>
                <a:latin typeface="Arial" panose="020B0604020202020204"/>
                <a:ea typeface="Arial" panose="020B0604020202020204"/>
                <a:cs typeface="Arial" panose="020B0604020202020204"/>
                <a:sym typeface="Arial" panose="020B0604020202020204"/>
              </a:rPr>
              <a:t>Mô hình </a:t>
            </a:r>
            <a:r>
              <a:rPr lang="en-US" sz="1100" b="1" i="0" u="sng" strike="noStrike" cap="none">
                <a:solidFill>
                  <a:srgbClr val="000000"/>
                </a:solidFill>
                <a:latin typeface="Arial" panose="020B0604020202020204"/>
                <a:ea typeface="Arial" panose="020B0604020202020204"/>
                <a:cs typeface="Arial" panose="020B0604020202020204"/>
                <a:sym typeface="Arial" panose="020B0604020202020204"/>
              </a:rPr>
              <a:t>Machine Learning</a:t>
            </a:r>
            <a:r>
              <a:rPr lang="en-US" sz="1100" b="0" i="0" u="sng" strike="noStrike" cap="none">
                <a:solidFill>
                  <a:srgbClr val="000000"/>
                </a:solidFill>
                <a:latin typeface="Arial" panose="020B0604020202020204"/>
                <a:ea typeface="Arial" panose="020B0604020202020204"/>
                <a:cs typeface="Arial" panose="020B0604020202020204"/>
                <a:sym typeface="Arial" panose="020B0604020202020204"/>
              </a:rPr>
              <a:t>:</a:t>
            </a:r>
            <a:r>
              <a:rPr lang="en-US" sz="1100" b="0" i="0" u="none" strike="noStrike" cap="none">
                <a:solidFill>
                  <a:srgbClr val="000000"/>
                </a:solidFill>
                <a:latin typeface="Arial" panose="020B0604020202020204"/>
                <a:ea typeface="Arial" panose="020B0604020202020204"/>
                <a:cs typeface="Arial" panose="020B0604020202020204"/>
                <a:sym typeface="Arial" panose="020B0604020202020204"/>
              </a:rPr>
              <a:t> Sử dụng các thuật toán học sâu và máy học để phân tích dữ liệu lớn và đưa ra dự đoán: </a:t>
            </a:r>
            <a:r>
              <a:rPr lang="en-US" sz="1100" b="1" i="0" u="none" strike="noStrike" cap="none">
                <a:solidFill>
                  <a:srgbClr val="000000"/>
                </a:solidFill>
                <a:latin typeface="Arial" panose="020B0604020202020204"/>
                <a:ea typeface="Arial" panose="020B0604020202020204"/>
                <a:cs typeface="Arial" panose="020B0604020202020204"/>
                <a:sym typeface="Arial" panose="020B0604020202020204"/>
              </a:rPr>
              <a:t>Hồi quy tuyến tính </a:t>
            </a:r>
            <a:r>
              <a:rPr lang="en-US" sz="1100" b="0" i="0" u="none" strike="noStrike" cap="none">
                <a:solidFill>
                  <a:srgbClr val="000000"/>
                </a:solidFill>
                <a:latin typeface="Arial" panose="020B0604020202020204"/>
                <a:ea typeface="Arial" panose="020B0604020202020204"/>
                <a:cs typeface="Arial" panose="020B0604020202020204"/>
                <a:sym typeface="Arial" panose="020B0604020202020204"/>
              </a:rPr>
              <a:t>và </a:t>
            </a:r>
            <a:r>
              <a:rPr lang="en-US" sz="1100" b="1" i="0" u="none" strike="noStrike" cap="none">
                <a:solidFill>
                  <a:srgbClr val="000000"/>
                </a:solidFill>
                <a:latin typeface="Arial" panose="020B0604020202020204"/>
                <a:ea typeface="Arial" panose="020B0604020202020204"/>
                <a:cs typeface="Arial" panose="020B0604020202020204"/>
                <a:sym typeface="Arial" panose="020B0604020202020204"/>
              </a:rPr>
              <a:t>Cây quyết định</a:t>
            </a:r>
            <a:endParaRPr sz="11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50000"/>
              </a:lnSpc>
              <a:spcBef>
                <a:spcPts val="0"/>
              </a:spcBef>
              <a:spcAft>
                <a:spcPts val="0"/>
              </a:spcAft>
              <a:buClr>
                <a:schemeClr val="dk1"/>
              </a:buClr>
              <a:buSzPts val="2000"/>
              <a:buFont typeface="Arial" panose="020B0604020202020204"/>
              <a:buNone/>
            </a:pPr>
            <a:r>
              <a:rPr lang="en-US" sz="1100" b="1" i="0" u="sng" strike="noStrike" cap="none">
                <a:solidFill>
                  <a:srgbClr val="000000"/>
                </a:solidFill>
                <a:latin typeface="Arial" panose="020B0604020202020204"/>
                <a:ea typeface="Arial" panose="020B0604020202020204"/>
                <a:cs typeface="Arial" panose="020B0604020202020204"/>
                <a:sym typeface="Arial" panose="020B0604020202020204"/>
              </a:rPr>
              <a:t>Áp dụng các mô hình trên vào Bot Autotrade</a:t>
            </a:r>
            <a:endParaRPr sz="1100" b="1" i="0" u="sng"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50000"/>
              </a:lnSpc>
              <a:spcBef>
                <a:spcPts val="0"/>
              </a:spcBef>
              <a:spcAft>
                <a:spcPts val="0"/>
              </a:spcAft>
              <a:buNone/>
            </a:pPr>
            <a:endParaRPr sz="1100" b="1" i="0" u="sng"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07" name="Shape 207"/>
        <p:cNvGrpSpPr/>
        <p:nvPr/>
      </p:nvGrpSpPr>
      <p:grpSpPr>
        <a:xfrm>
          <a:off x="0" y="0"/>
          <a:ext cx="0" cy="0"/>
          <a:chOff x="0" y="0"/>
          <a:chExt cx="0" cy="0"/>
        </a:xfrm>
      </p:grpSpPr>
      <p:sp>
        <p:nvSpPr>
          <p:cNvPr id="208" name="Google Shape;208;p13"/>
          <p:cNvSpPr txBox="1"/>
          <p:nvPr/>
        </p:nvSpPr>
        <p:spPr>
          <a:xfrm>
            <a:off x="304800" y="139783"/>
            <a:ext cx="52080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a:solidFill>
                  <a:schemeClr val="lt1"/>
                </a:solidFill>
                <a:latin typeface="Arial" panose="020B0604020202020204"/>
                <a:ea typeface="Arial" panose="020B0604020202020204"/>
                <a:cs typeface="Arial" panose="020B0604020202020204"/>
                <a:sym typeface="Arial" panose="020B0604020202020204"/>
              </a:rPr>
              <a:t>Các thị trường sẽ học</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09" name="Google Shape;209;p13"/>
          <p:cNvSpPr txBox="1"/>
          <p:nvPr/>
        </p:nvSpPr>
        <p:spPr>
          <a:xfrm>
            <a:off x="504900" y="781237"/>
            <a:ext cx="8134200" cy="2585283"/>
          </a:xfrm>
          <a:prstGeom prst="rect">
            <a:avLst/>
          </a:prstGeom>
          <a:noFill/>
          <a:ln>
            <a:noFill/>
          </a:ln>
        </p:spPr>
        <p:txBody>
          <a:bodyPr spcFirstLastPara="1" wrap="square" lIns="91425" tIns="45700" rIns="91425" bIns="45700" anchor="t" anchorCtr="0">
            <a:spAutoFit/>
          </a:bodyPr>
          <a:lstStyle/>
          <a:p>
            <a:pPr marL="101600" marR="0" lvl="0" indent="0" algn="just" rtl="0">
              <a:lnSpc>
                <a:spcPct val="150000"/>
              </a:lnSpc>
              <a:spcBef>
                <a:spcPts val="0"/>
              </a:spcBef>
              <a:spcAft>
                <a:spcPts val="0"/>
              </a:spcAft>
              <a:buNone/>
            </a:pPr>
            <a:r>
              <a:rPr lang="en-US" sz="1800" b="1" i="0" u="sng" strike="noStrike" cap="none">
                <a:solidFill>
                  <a:srgbClr val="000000"/>
                </a:solidFill>
                <a:latin typeface="Arial" panose="020B0604020202020204"/>
                <a:ea typeface="Arial" panose="020B0604020202020204"/>
                <a:cs typeface="Arial" panose="020B0604020202020204"/>
                <a:sym typeface="Arial" panose="020B0604020202020204"/>
              </a:rPr>
              <a:t>Các thị trường sẽ học</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a:t>
            </a:r>
            <a:endParaRPr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50000"/>
              </a:lnSpc>
              <a:spcBef>
                <a:spcPts val="0"/>
              </a:spcBef>
              <a:spcAft>
                <a:spcPts val="0"/>
              </a:spcAft>
              <a:buNone/>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Tất cả các thị trường,</a:t>
            </a:r>
            <a:endParaRPr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87350" marR="0" lvl="0" indent="-285750" algn="just" rtl="0">
              <a:lnSpc>
                <a:spcPct val="150000"/>
              </a:lnSpc>
              <a:spcBef>
                <a:spcPts val="0"/>
              </a:spcBef>
              <a:spcAft>
                <a:spcPts val="0"/>
              </a:spcAft>
              <a:buClr>
                <a:schemeClr val="dk1"/>
              </a:buClr>
              <a:buSzPts val="2000"/>
              <a:buFont typeface="Arial" panose="020B0604020202020204"/>
              <a:buChar char="-"/>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Từ Forex </a:t>
            </a:r>
            <a:endParaRPr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87350" marR="0" lvl="0" indent="-285750" algn="just" rtl="0">
              <a:lnSpc>
                <a:spcPct val="150000"/>
              </a:lnSpc>
              <a:spcBef>
                <a:spcPts val="0"/>
              </a:spcBef>
              <a:spcAft>
                <a:spcPts val="0"/>
              </a:spcAft>
              <a:buClr>
                <a:schemeClr val="dk1"/>
              </a:buClr>
              <a:buSzPts val="2000"/>
              <a:buFont typeface="Arial" panose="020B0604020202020204"/>
              <a:buChar char="-"/>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Đến Crypto </a:t>
            </a:r>
            <a:endParaRPr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87350" marR="0" lvl="0" indent="-285750" algn="just" rtl="0">
              <a:lnSpc>
                <a:spcPct val="150000"/>
              </a:lnSpc>
              <a:spcBef>
                <a:spcPts val="0"/>
              </a:spcBef>
              <a:spcAft>
                <a:spcPts val="0"/>
              </a:spcAft>
              <a:buClr>
                <a:schemeClr val="dk1"/>
              </a:buClr>
              <a:buSzPts val="2000"/>
              <a:buFont typeface="Arial" panose="020B0604020202020204"/>
              <a:buChar char="-"/>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Đến chứng khoán</a:t>
            </a:r>
            <a:endParaRPr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5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13" name="Shape 213"/>
        <p:cNvGrpSpPr/>
        <p:nvPr/>
      </p:nvGrpSpPr>
      <p:grpSpPr>
        <a:xfrm>
          <a:off x="0" y="0"/>
          <a:ext cx="0" cy="0"/>
          <a:chOff x="0" y="0"/>
          <a:chExt cx="0" cy="0"/>
        </a:xfrm>
      </p:grpSpPr>
      <p:sp>
        <p:nvSpPr>
          <p:cNvPr id="214" name="Google Shape;214;p14"/>
          <p:cNvSpPr txBox="1"/>
          <p:nvPr/>
        </p:nvSpPr>
        <p:spPr>
          <a:xfrm>
            <a:off x="304800" y="139783"/>
            <a:ext cx="88392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chemeClr val="lt1"/>
                </a:solidFill>
                <a:latin typeface="Arial" panose="020B0604020202020204"/>
                <a:ea typeface="Arial" panose="020B0604020202020204"/>
                <a:cs typeface="Arial" panose="020B0604020202020204"/>
                <a:sym typeface="Arial" panose="020B0604020202020204"/>
              </a:rPr>
              <a:t>Quant Finance - Lịch sử phát triển</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15" name="Google Shape;215;p14"/>
          <p:cNvSpPr txBox="1"/>
          <p:nvPr/>
        </p:nvSpPr>
        <p:spPr>
          <a:xfrm>
            <a:off x="504900" y="787031"/>
            <a:ext cx="8134200" cy="5434965"/>
          </a:xfrm>
          <a:prstGeom prst="rect">
            <a:avLst/>
          </a:prstGeom>
          <a:noFill/>
          <a:ln>
            <a:noFill/>
          </a:ln>
        </p:spPr>
        <p:txBody>
          <a:bodyPr spcFirstLastPara="1" wrap="square" lIns="90000"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panose="020B0604020202020204"/>
              <a:buNone/>
            </a:pPr>
            <a:r>
              <a:rPr lang="en-US" sz="1700" b="1" i="0" u="sng" strike="noStrike" cap="none">
                <a:solidFill>
                  <a:srgbClr val="000000"/>
                </a:solidFill>
                <a:latin typeface="Arial" panose="020B0604020202020204"/>
                <a:ea typeface="Arial" panose="020B0604020202020204"/>
                <a:cs typeface="Arial" panose="020B0604020202020204"/>
                <a:sym typeface="Arial" panose="020B0604020202020204"/>
              </a:rPr>
              <a:t>Giai đoạn đầu (1950-1970)</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20090" marR="0" lvl="0" indent="-720090" algn="just" rtl="0">
              <a:lnSpc>
                <a:spcPct val="100000"/>
              </a:lnSpc>
              <a:spcBef>
                <a:spcPts val="0"/>
              </a:spcBef>
              <a:spcAft>
                <a:spcPts val="0"/>
              </a:spcAft>
              <a:buClr>
                <a:srgbClr val="000000"/>
              </a:buClr>
              <a:buSzPts val="1700"/>
              <a:buFont typeface="Arial" panose="020B0604020202020204"/>
              <a:buNone/>
            </a:pP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1952: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Harry Markowitz</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phát triển lý thuyết đầu tư tối ưu: Xây dựng doanh mục đầu tư hiệu quả =&gt;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Định giá tài sản (</a:t>
            </a:r>
            <a:r>
              <a:rPr lang="en-US" sz="1700" b="1" i="0" u="none" strike="noStrike" cap="none">
                <a:solidFill>
                  <a:srgbClr val="000000"/>
                </a:solidFill>
                <a:latin typeface="Arial" panose="020B0604020202020204"/>
                <a:ea typeface="Arial" panose="020B0604020202020204"/>
                <a:cs typeface="Arial" panose="020B0604020202020204"/>
                <a:sym typeface="Arial" panose="020B0604020202020204"/>
              </a:rPr>
              <a:t>CAPM)</a:t>
            </a:r>
            <a:endParaRPr sz="17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20090" marR="0" lvl="0" indent="-720090" algn="just" rtl="0">
              <a:lnSpc>
                <a:spcPct val="100000"/>
              </a:lnSpc>
              <a:spcBef>
                <a:spcPts val="1600"/>
              </a:spcBef>
              <a:spcAft>
                <a:spcPts val="0"/>
              </a:spcAft>
              <a:buClr>
                <a:schemeClr val="dk1"/>
              </a:buClr>
              <a:buSzPts val="1500"/>
              <a:buFont typeface="Arial" panose="020B0604020202020204"/>
              <a:buNone/>
            </a:pP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1969:</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 Edward Thorp</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thành lập quỹ đầu tư Newport Partners, trading dựa trên phương pháp Statistical Arbitrage (chênh lệch giá)/ Pair Trading</a:t>
            </a:r>
            <a:endParaRPr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20090" marR="0" lvl="0" indent="-720090" algn="l" rtl="0">
              <a:lnSpc>
                <a:spcPct val="100000"/>
              </a:lnSpc>
              <a:spcBef>
                <a:spcPts val="0"/>
              </a:spcBef>
              <a:spcAft>
                <a:spcPts val="0"/>
              </a:spcAft>
              <a:buClr>
                <a:srgbClr val="000000"/>
              </a:buClr>
              <a:buSzPts val="1500"/>
              <a:buFont typeface="Arial" panose="020B0604020202020204"/>
              <a:buNone/>
            </a:pPr>
            <a:r>
              <a:rPr lang="en-US" sz="1700" b="0" i="0" u="none" strike="noStrike" cap="none">
                <a:solidFill>
                  <a:srgbClr val="000000"/>
                </a:solidFill>
                <a:latin typeface="Arial" panose="020B0604020202020204"/>
                <a:ea typeface="Arial" panose="020B0604020202020204"/>
                <a:cs typeface="Arial" panose="020B0604020202020204"/>
                <a:sym typeface="Arial" panose="020B0604020202020204"/>
              </a:rPr>
              <a:t>	</a:t>
            </a:r>
            <a:r>
              <a:rPr lang="en-US" sz="1700" b="1" i="0" u="none" strike="noStrike" cap="none">
                <a:solidFill>
                  <a:srgbClr val="000000"/>
                </a:solidFill>
                <a:latin typeface="Arial" panose="020B0604020202020204"/>
                <a:ea typeface="Arial" panose="020B0604020202020204"/>
                <a:cs typeface="Arial" panose="020B0604020202020204"/>
                <a:sym typeface="Arial" panose="020B0604020202020204"/>
              </a:rPr>
              <a:t>(Đánh bạc có kiến thức là đầu tư.)</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20090" marR="0" lvl="0" indent="-720090" algn="l" rtl="0">
              <a:lnSpc>
                <a:spcPct val="100000"/>
              </a:lnSpc>
              <a:spcBef>
                <a:spcPts val="0"/>
              </a:spcBef>
              <a:spcAft>
                <a:spcPts val="0"/>
              </a:spcAft>
              <a:buClr>
                <a:srgbClr val="000000"/>
              </a:buClr>
              <a:buSzPts val="1500"/>
              <a:buFont typeface="Arial" panose="020B0604020202020204"/>
              <a:buNone/>
            </a:pPr>
            <a:endParaRPr sz="17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Clr>
                <a:srgbClr val="000000"/>
              </a:buClr>
              <a:buSzPts val="1700"/>
              <a:buFont typeface="Arial" panose="020B0604020202020204"/>
              <a:buNone/>
            </a:pPr>
            <a:r>
              <a:rPr lang="en-US" sz="1700" b="1" i="0" u="sng" strike="noStrike" cap="none">
                <a:solidFill>
                  <a:srgbClr val="000000"/>
                </a:solidFill>
                <a:latin typeface="Arial" panose="020B0604020202020204"/>
                <a:ea typeface="Arial" panose="020B0604020202020204"/>
                <a:cs typeface="Arial" panose="020B0604020202020204"/>
                <a:sym typeface="Arial" panose="020B0604020202020204"/>
              </a:rPr>
              <a:t>Giai đoạn phát triển (1970-2000)</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20090" marR="0" lvl="0" indent="-720090" algn="just" rtl="0">
              <a:lnSpc>
                <a:spcPct val="100000"/>
              </a:lnSpc>
              <a:spcBef>
                <a:spcPts val="0"/>
              </a:spcBef>
              <a:spcAft>
                <a:spcPts val="0"/>
              </a:spcAft>
              <a:buClr>
                <a:srgbClr val="000000"/>
              </a:buClr>
              <a:buSzPts val="1700"/>
              <a:buFont typeface="Arial" panose="020B0604020202020204"/>
              <a:buNone/>
            </a:pPr>
            <a:r>
              <a:rPr lang="en-US" sz="1700" b="0" i="0" u="none" strike="noStrike" cap="none">
                <a:solidFill>
                  <a:srgbClr val="000000"/>
                </a:solidFill>
                <a:latin typeface="Arial" panose="020B0604020202020204"/>
                <a:ea typeface="Arial" panose="020B0604020202020204"/>
                <a:cs typeface="Arial" panose="020B0604020202020204"/>
                <a:sym typeface="Arial" panose="020B0604020202020204"/>
              </a:rPr>
              <a:t>1978: </a:t>
            </a:r>
            <a:r>
              <a:rPr lang="en-US" sz="1700" b="1" i="0" u="none" strike="noStrike" cap="none">
                <a:solidFill>
                  <a:srgbClr val="000000"/>
                </a:solidFill>
                <a:latin typeface="Arial" panose="020B0604020202020204"/>
                <a:ea typeface="Arial" panose="020B0604020202020204"/>
                <a:cs typeface="Arial" panose="020B0604020202020204"/>
                <a:sym typeface="Arial" panose="020B0604020202020204"/>
              </a:rPr>
              <a:t>Jim Simon</a:t>
            </a:r>
            <a:r>
              <a:rPr lang="en-US" sz="1700" b="0" i="0" u="none" strike="noStrike" cap="none">
                <a:solidFill>
                  <a:srgbClr val="000000"/>
                </a:solidFill>
                <a:latin typeface="Arial" panose="020B0604020202020204"/>
                <a:ea typeface="Arial" panose="020B0604020202020204"/>
                <a:cs typeface="Arial" panose="020B0604020202020204"/>
                <a:sym typeface="Arial" panose="020B0604020202020204"/>
              </a:rPr>
              <a:t> thành lập quỹ </a:t>
            </a:r>
            <a:r>
              <a:rPr lang="en-US" sz="1700" b="1" i="0" u="none" strike="noStrike" cap="none">
                <a:solidFill>
                  <a:srgbClr val="000000"/>
                </a:solidFill>
                <a:latin typeface="Arial" panose="020B0604020202020204"/>
                <a:ea typeface="Arial" panose="020B0604020202020204"/>
                <a:cs typeface="Arial" panose="020B0604020202020204"/>
                <a:sym typeface="Arial" panose="020B0604020202020204"/>
              </a:rPr>
              <a:t>Medallion</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quỹ quant nổi tiếng nhất. Từ năm 2001 đến nay, năm lợi nhuận thấp nhất của quỹ là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21%/ năm</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=&gt;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Dự đoán giá</a:t>
            </a:r>
            <a:endParaRPr sz="17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20090" marR="0" lvl="0" indent="-720090" algn="l" rtl="0">
              <a:lnSpc>
                <a:spcPct val="100000"/>
              </a:lnSpc>
              <a:spcBef>
                <a:spcPts val="0"/>
              </a:spcBef>
              <a:spcAft>
                <a:spcPts val="0"/>
              </a:spcAft>
              <a:buClr>
                <a:srgbClr val="000000"/>
              </a:buClr>
              <a:buSzPts val="1700"/>
              <a:buFont typeface="Arial" panose="020B0604020202020204"/>
              <a:buNone/>
            </a:pPr>
            <a:endParaRPr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20090" marR="0" lvl="0" indent="-720090" algn="just" rtl="0">
              <a:lnSpc>
                <a:spcPct val="100000"/>
              </a:lnSpc>
              <a:spcBef>
                <a:spcPts val="0"/>
              </a:spcBef>
              <a:spcAft>
                <a:spcPts val="0"/>
              </a:spcAft>
              <a:buClr>
                <a:srgbClr val="000000"/>
              </a:buClr>
              <a:buSzPts val="1500"/>
              <a:buFont typeface="Arial" panose="020B0604020202020204"/>
              <a:buNone/>
            </a:pPr>
            <a:r>
              <a:rPr lang="en-US" sz="1700" b="1" i="0" u="sng" strike="noStrike" cap="none">
                <a:solidFill>
                  <a:srgbClr val="000000"/>
                </a:solidFill>
                <a:latin typeface="Arial" panose="020B0604020202020204"/>
                <a:ea typeface="Arial" panose="020B0604020202020204"/>
                <a:cs typeface="Arial" panose="020B0604020202020204"/>
                <a:sym typeface="Arial" panose="020B0604020202020204"/>
              </a:rPr>
              <a:t>Giai đoạn hiện đại (2000-nay)</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20090" marR="0" lvl="0" indent="-720090" algn="just" rtl="0">
              <a:lnSpc>
                <a:spcPct val="100000"/>
              </a:lnSpc>
              <a:spcBef>
                <a:spcPts val="0"/>
              </a:spcBef>
              <a:spcAft>
                <a:spcPts val="0"/>
              </a:spcAft>
              <a:buClr>
                <a:srgbClr val="000000"/>
              </a:buClr>
              <a:buSzPts val="1500"/>
              <a:buFont typeface="Arial" panose="020B0604020202020204"/>
              <a:buNone/>
            </a:pPr>
            <a:r>
              <a:rPr lang="en-US" sz="1700" b="0" i="0" u="none" strike="noStrike" cap="none">
                <a:solidFill>
                  <a:srgbClr val="000000"/>
                </a:solidFill>
                <a:latin typeface="Arial" panose="020B0604020202020204"/>
                <a:ea typeface="Arial" panose="020B0604020202020204"/>
                <a:cs typeface="Arial" panose="020B0604020202020204"/>
                <a:sym typeface="Arial" panose="020B0604020202020204"/>
              </a:rPr>
              <a:t>2014</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Quỹ quant Virtu Financial Singapore công bố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1277 ngày lãi </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trên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1278</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ngày trade =&gt;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Dựa vào dữ liệu lớn và trí tuệ nhân tạo</a:t>
            </a:r>
            <a:endParaRPr sz="17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20090" marR="0" lvl="0" indent="-720090" algn="just" rtl="0">
              <a:lnSpc>
                <a:spcPct val="100000"/>
              </a:lnSpc>
              <a:spcBef>
                <a:spcPts val="0"/>
              </a:spcBef>
              <a:spcAft>
                <a:spcPts val="0"/>
              </a:spcAft>
              <a:buClr>
                <a:srgbClr val="000000"/>
              </a:buClr>
              <a:buSzPts val="15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t>Giai đoạn đầu (1950-1970): Giai đoạn này đánh dấu sự ra đời của tài chính định lượng với sự phát triển </a:t>
            </a:r>
            <a:r>
              <a:rPr lang="en-US" sz="1200" b="1" i="0" u="none" strike="noStrike" cap="none">
                <a:solidFill>
                  <a:srgbClr val="000000"/>
                </a:solidFill>
                <a:latin typeface="Arial" panose="020B0604020202020204"/>
                <a:ea typeface="Arial" panose="020B0604020202020204"/>
                <a:cs typeface="Arial" panose="020B0604020202020204"/>
                <a:sym typeface="Arial" panose="020B0604020202020204"/>
              </a:rPr>
              <a:t>của lý thuyết đầu tư tối ưu.</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t>Giai đoạn phát triển (1970-2000): Giai đoạn này đánh dấu sự phát triển của </a:t>
            </a:r>
            <a:r>
              <a:rPr lang="en-US" sz="1200" b="1" i="0" u="none" strike="noStrike" cap="none">
                <a:solidFill>
                  <a:srgbClr val="000000"/>
                </a:solidFill>
                <a:latin typeface="Arial" panose="020B0604020202020204"/>
                <a:ea typeface="Arial" panose="020B0604020202020204"/>
                <a:cs typeface="Arial" panose="020B0604020202020204"/>
                <a:sym typeface="Arial" panose="020B0604020202020204"/>
              </a:rPr>
              <a:t>các mô hình dự đoán thị trường.</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t>Giai đoạn hiện đại (2000-nay): Giai đoạn này đánh dấu sự phát triển của các </a:t>
            </a:r>
            <a:r>
              <a:rPr lang="en-US" sz="1200" b="1" i="0" u="none" strike="noStrike" cap="none">
                <a:solidFill>
                  <a:srgbClr val="000000"/>
                </a:solidFill>
                <a:latin typeface="Arial" panose="020B0604020202020204"/>
                <a:ea typeface="Arial" panose="020B0604020202020204"/>
                <a:cs typeface="Arial" panose="020B0604020202020204"/>
                <a:sym typeface="Arial" panose="020B0604020202020204"/>
              </a:rPr>
              <a:t>mô hình quản lý rủi ro </a:t>
            </a:r>
            <a:r>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t>dựa trên </a:t>
            </a:r>
            <a:r>
              <a:rPr lang="en-US" sz="1200" b="1" i="0" u="none" strike="noStrike" cap="none">
                <a:solidFill>
                  <a:srgbClr val="000000"/>
                </a:solidFill>
                <a:latin typeface="Arial" panose="020B0604020202020204"/>
                <a:ea typeface="Arial" panose="020B0604020202020204"/>
                <a:cs typeface="Arial" panose="020B0604020202020204"/>
                <a:sym typeface="Arial" panose="020B0604020202020204"/>
              </a:rPr>
              <a:t>dữ liệu lớn và trí tuệ nhân tạo.</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20090" marR="0" lvl="0" indent="-720090" algn="just" rtl="0">
              <a:lnSpc>
                <a:spcPct val="100000"/>
              </a:lnSpc>
              <a:spcBef>
                <a:spcPts val="0"/>
              </a:spcBef>
              <a:spcAft>
                <a:spcPts val="0"/>
              </a:spcAft>
              <a:buClr>
                <a:srgbClr val="000000"/>
              </a:buClr>
              <a:buSzPts val="15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19" name="Shape 219"/>
        <p:cNvGrpSpPr/>
        <p:nvPr/>
      </p:nvGrpSpPr>
      <p:grpSpPr>
        <a:xfrm>
          <a:off x="0" y="0"/>
          <a:ext cx="0" cy="0"/>
          <a:chOff x="0" y="0"/>
          <a:chExt cx="0" cy="0"/>
        </a:xfrm>
      </p:grpSpPr>
      <p:sp>
        <p:nvSpPr>
          <p:cNvPr id="220" name="Google Shape;220;p15"/>
          <p:cNvSpPr txBox="1"/>
          <p:nvPr/>
        </p:nvSpPr>
        <p:spPr>
          <a:xfrm>
            <a:off x="304800" y="139783"/>
            <a:ext cx="52080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a:solidFill>
                  <a:schemeClr val="lt1"/>
                </a:solidFill>
                <a:latin typeface="Arial" panose="020B0604020202020204"/>
                <a:ea typeface="Arial" panose="020B0604020202020204"/>
                <a:cs typeface="Arial" panose="020B0604020202020204"/>
                <a:sym typeface="Arial" panose="020B0604020202020204"/>
              </a:rPr>
              <a:t>Quant Finance - Lịch sử phát triển</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21" name="Google Shape;221;p15"/>
          <p:cNvSpPr/>
          <p:nvPr/>
        </p:nvSpPr>
        <p:spPr>
          <a:xfrm>
            <a:off x="304800" y="835765"/>
            <a:ext cx="4100945" cy="3231654"/>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Harry Markowitz</a:t>
            </a:r>
            <a:endParaRPr sz="17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Clr>
                <a:srgbClr val="000000"/>
              </a:buClr>
              <a:buSzPts val="1700"/>
              <a:buFont typeface="Arial" panose="020B0604020202020204"/>
              <a:buNone/>
            </a:pPr>
            <a:endParaRPr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107950" algn="just" rtl="0">
              <a:lnSpc>
                <a:spcPct val="100000"/>
              </a:lnSpc>
              <a:spcBef>
                <a:spcPts val="0"/>
              </a:spcBef>
              <a:spcAft>
                <a:spcPts val="0"/>
              </a:spcAft>
              <a:buClr>
                <a:srgbClr val="000000"/>
              </a:buClr>
              <a:buSzPts val="1700"/>
              <a:buFont typeface="Arial" panose="020B0604020202020204"/>
              <a:buChar char="•"/>
            </a:pP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Nhận giải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Nobel Kinh tế </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năm 1990 vì đã phát triển lý thuyết danh mục đầu tư hiện đại.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Modern Portfolio Theory – MPT</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107950" algn="just" rtl="0">
              <a:lnSpc>
                <a:spcPct val="100000"/>
              </a:lnSpc>
              <a:spcBef>
                <a:spcPts val="0"/>
              </a:spcBef>
              <a:spcAft>
                <a:spcPts val="0"/>
              </a:spcAft>
              <a:buClr>
                <a:srgbClr val="000000"/>
              </a:buClr>
              <a:buSzPts val="1700"/>
              <a:buFont typeface="Arial" panose="020B0604020202020204"/>
              <a:buChar char="•"/>
            </a:pP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Công trình của ông đã làm phổ biến các khái niệm như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đa dạng hóa </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và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tổng hợp rủi ro và lợi nhuận,</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chuyển sự chú ý từ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hiệu suất của từng cổ phiếu</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cụ thể sang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hiệu suất của toàn bộ danh mục đầu tư.</a:t>
            </a:r>
            <a:endParaRPr sz="17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222" name="Google Shape;222;p15" descr="Matson Money Welcomes Nobel Laureate, Dr. Harry Markowitz ..."/>
          <p:cNvPicPr preferRelativeResize="0"/>
          <p:nvPr/>
        </p:nvPicPr>
        <p:blipFill rotWithShape="1">
          <a:blip r:embed="rId2"/>
          <a:srcRect/>
          <a:stretch>
            <a:fillRect/>
          </a:stretch>
        </p:blipFill>
        <p:spPr>
          <a:xfrm>
            <a:off x="4854908" y="835765"/>
            <a:ext cx="4084446" cy="272429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26" name="Shape 226"/>
        <p:cNvGrpSpPr/>
        <p:nvPr/>
      </p:nvGrpSpPr>
      <p:grpSpPr>
        <a:xfrm>
          <a:off x="0" y="0"/>
          <a:ext cx="0" cy="0"/>
          <a:chOff x="0" y="0"/>
          <a:chExt cx="0" cy="0"/>
        </a:xfrm>
      </p:grpSpPr>
      <p:sp>
        <p:nvSpPr>
          <p:cNvPr id="227" name="Google Shape;227;p16"/>
          <p:cNvSpPr txBox="1"/>
          <p:nvPr/>
        </p:nvSpPr>
        <p:spPr>
          <a:xfrm>
            <a:off x="304799" y="139783"/>
            <a:ext cx="8506691"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a:solidFill>
                  <a:schemeClr val="lt1"/>
                </a:solidFill>
                <a:latin typeface="Arial" panose="020B0604020202020204"/>
                <a:ea typeface="Arial" panose="020B0604020202020204"/>
                <a:cs typeface="Arial" panose="020B0604020202020204"/>
                <a:sym typeface="Arial" panose="020B0604020202020204"/>
              </a:rPr>
              <a:t>Quant Finance - Lịch sử phát triển</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28" name="Google Shape;228;p16"/>
          <p:cNvSpPr txBox="1"/>
          <p:nvPr/>
        </p:nvSpPr>
        <p:spPr>
          <a:xfrm>
            <a:off x="452584" y="788358"/>
            <a:ext cx="8256539" cy="4564296"/>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Công thức Optimal Investor Harry (phát triển 1952, một phần của MPT ở trên) có thể được viết dưới dạng:</a:t>
            </a:r>
            <a:endParaRPr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115000"/>
              </a:lnSpc>
              <a:spcBef>
                <a:spcPts val="1500"/>
              </a:spcBef>
              <a:spcAft>
                <a:spcPts val="0"/>
              </a:spcAft>
              <a:buClr>
                <a:srgbClr val="000000"/>
              </a:buClr>
              <a:buSzPts val="1700"/>
              <a:buFont typeface="Arial" panose="020B0604020202020204"/>
              <a:buNone/>
            </a:pP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Tìm vector danh mục đầu tư tối ưu x sao cho:</a:t>
            </a:r>
            <a:endParaRPr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36550" algn="just" rtl="0">
              <a:lnSpc>
                <a:spcPct val="115000"/>
              </a:lnSpc>
              <a:spcBef>
                <a:spcPts val="1500"/>
              </a:spcBef>
              <a:spcAft>
                <a:spcPts val="0"/>
              </a:spcAft>
              <a:buClr>
                <a:srgbClr val="374151"/>
              </a:buClr>
              <a:buSzPts val="1700"/>
              <a:buFont typeface="Roboto"/>
              <a:buChar char="●"/>
            </a:pP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Độ lệch chuẩn (risk) được tối thiểu hoá: x^T Σ x</a:t>
            </a:r>
            <a:endParaRPr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36550" algn="just" rtl="0">
              <a:lnSpc>
                <a:spcPct val="115000"/>
              </a:lnSpc>
              <a:spcBef>
                <a:spcPts val="0"/>
              </a:spcBef>
              <a:spcAft>
                <a:spcPts val="0"/>
              </a:spcAft>
              <a:buClr>
                <a:srgbClr val="374151"/>
              </a:buClr>
              <a:buSzPts val="1700"/>
              <a:buFont typeface="Roboto"/>
              <a:buChar char="●"/>
            </a:pP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Tổng kỳ vọng lợi nhuận của các tài sản đạt mức tối thiểu r_min: r^T x &gt;= r_min</a:t>
            </a:r>
            <a:endParaRPr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36550" algn="just" rtl="0">
              <a:lnSpc>
                <a:spcPct val="115000"/>
              </a:lnSpc>
              <a:spcBef>
                <a:spcPts val="0"/>
              </a:spcBef>
              <a:spcAft>
                <a:spcPts val="0"/>
              </a:spcAft>
              <a:buClr>
                <a:srgbClr val="374151"/>
              </a:buClr>
              <a:buSzPts val="1700"/>
              <a:buFont typeface="Roboto"/>
              <a:buChar char="●"/>
            </a:pP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Tổng trọng số của danh mục đầu tư bằng 1: e^T x = 1</a:t>
            </a:r>
            <a:endParaRPr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115000"/>
              </a:lnSpc>
              <a:spcBef>
                <a:spcPts val="1500"/>
              </a:spcBef>
              <a:spcAft>
                <a:spcPts val="0"/>
              </a:spcAft>
              <a:buClr>
                <a:srgbClr val="000000"/>
              </a:buClr>
              <a:buSzPts val="1700"/>
              <a:buFont typeface="Arial" panose="020B0604020202020204"/>
              <a:buNone/>
            </a:pP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Trong đó:</a:t>
            </a:r>
            <a:endParaRPr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36550" algn="just" rtl="0">
              <a:lnSpc>
                <a:spcPct val="115000"/>
              </a:lnSpc>
              <a:spcBef>
                <a:spcPts val="1500"/>
              </a:spcBef>
              <a:spcAft>
                <a:spcPts val="0"/>
              </a:spcAft>
              <a:buClr>
                <a:srgbClr val="374151"/>
              </a:buClr>
              <a:buSzPts val="1700"/>
              <a:buFont typeface="Roboto"/>
              <a:buChar char="●"/>
            </a:pP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x là vector các phần tử của danh mục đầu tư</a:t>
            </a:r>
            <a:endParaRPr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36550" algn="just" rtl="0">
              <a:lnSpc>
                <a:spcPct val="115000"/>
              </a:lnSpc>
              <a:spcBef>
                <a:spcPts val="0"/>
              </a:spcBef>
              <a:spcAft>
                <a:spcPts val="0"/>
              </a:spcAft>
              <a:buClr>
                <a:srgbClr val="374151"/>
              </a:buClr>
              <a:buSzPts val="1700"/>
              <a:buFont typeface="Roboto"/>
              <a:buChar char="●"/>
            </a:pP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Σ là ma trận hiệp phương sai của các tài sản</a:t>
            </a:r>
            <a:endParaRPr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36550" algn="just" rtl="0">
              <a:lnSpc>
                <a:spcPct val="115000"/>
              </a:lnSpc>
              <a:spcBef>
                <a:spcPts val="0"/>
              </a:spcBef>
              <a:spcAft>
                <a:spcPts val="0"/>
              </a:spcAft>
              <a:buClr>
                <a:srgbClr val="374151"/>
              </a:buClr>
              <a:buSzPts val="1700"/>
              <a:buFont typeface="Roboto"/>
              <a:buChar char="●"/>
            </a:pP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r là vector các kỳ vọng lợi nhuận của các tài sản</a:t>
            </a:r>
            <a:endParaRPr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36550" algn="just" rtl="0">
              <a:lnSpc>
                <a:spcPct val="115000"/>
              </a:lnSpc>
              <a:spcBef>
                <a:spcPts val="0"/>
              </a:spcBef>
              <a:spcAft>
                <a:spcPts val="0"/>
              </a:spcAft>
              <a:buClr>
                <a:srgbClr val="374151"/>
              </a:buClr>
              <a:buSzPts val="1700"/>
              <a:buFont typeface="Roboto"/>
              <a:buChar char="●"/>
            </a:pP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r_min là mức kỳ vọng lợi nhuận tối thiểu được yêu cầu</a:t>
            </a:r>
            <a:endParaRPr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36550" algn="just" rtl="0">
              <a:lnSpc>
                <a:spcPct val="115000"/>
              </a:lnSpc>
              <a:spcBef>
                <a:spcPts val="0"/>
              </a:spcBef>
              <a:spcAft>
                <a:spcPts val="0"/>
              </a:spcAft>
              <a:buClr>
                <a:srgbClr val="374151"/>
              </a:buClr>
              <a:buSzPts val="1700"/>
              <a:buFont typeface="Roboto"/>
              <a:buChar char="●"/>
            </a:pP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e là vector đơn vị (tất cả các phần tử bằng 1)</a:t>
            </a:r>
            <a:endParaRPr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32" name="Shape 232"/>
        <p:cNvGrpSpPr/>
        <p:nvPr/>
      </p:nvGrpSpPr>
      <p:grpSpPr>
        <a:xfrm>
          <a:off x="0" y="0"/>
          <a:ext cx="0" cy="0"/>
          <a:chOff x="0" y="0"/>
          <a:chExt cx="0" cy="0"/>
        </a:xfrm>
      </p:grpSpPr>
      <p:sp>
        <p:nvSpPr>
          <p:cNvPr id="233" name="Google Shape;233;p17"/>
          <p:cNvSpPr txBox="1"/>
          <p:nvPr/>
        </p:nvSpPr>
        <p:spPr>
          <a:xfrm>
            <a:off x="304800" y="139783"/>
            <a:ext cx="8017164"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0" i="0" u="none" strike="noStrike" cap="none">
                <a:solidFill>
                  <a:schemeClr val="lt1"/>
                </a:solidFill>
                <a:latin typeface="Arial" panose="020B0604020202020204"/>
                <a:ea typeface="Arial" panose="020B0604020202020204"/>
                <a:cs typeface="Arial" panose="020B0604020202020204"/>
                <a:sym typeface="Arial" panose="020B0604020202020204"/>
              </a:rPr>
              <a:t>Quantitative Finance - Lịch sử phát triển</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234" name="Google Shape;234;p17"/>
          <p:cNvPicPr preferRelativeResize="0"/>
          <p:nvPr/>
        </p:nvPicPr>
        <p:blipFill rotWithShape="1">
          <a:blip r:embed="rId2"/>
          <a:srcRect/>
          <a:stretch>
            <a:fillRect/>
          </a:stretch>
        </p:blipFill>
        <p:spPr>
          <a:xfrm>
            <a:off x="73775" y="886750"/>
            <a:ext cx="2342575" cy="1465775"/>
          </a:xfrm>
          <a:prstGeom prst="rect">
            <a:avLst/>
          </a:prstGeom>
          <a:noFill/>
          <a:ln>
            <a:noFill/>
          </a:ln>
        </p:spPr>
      </p:pic>
      <p:sp>
        <p:nvSpPr>
          <p:cNvPr id="235" name="Google Shape;235;p17"/>
          <p:cNvSpPr txBox="1"/>
          <p:nvPr/>
        </p:nvSpPr>
        <p:spPr>
          <a:xfrm>
            <a:off x="510707" y="4338270"/>
            <a:ext cx="8134200" cy="2149779"/>
          </a:xfrm>
          <a:prstGeom prst="rect">
            <a:avLst/>
          </a:prstGeom>
          <a:noFill/>
          <a:ln>
            <a:noFill/>
          </a:ln>
        </p:spPr>
        <p:txBody>
          <a:bodyPr spcFirstLastPara="1" wrap="square" lIns="91425" tIns="45700" rIns="91425" bIns="45700" anchor="t" anchorCtr="0">
            <a:spAutoFit/>
          </a:bodyPr>
          <a:lstStyle/>
          <a:p>
            <a:pPr marL="457200" marR="0" lvl="0" indent="-304800" algn="just" rtl="0">
              <a:lnSpc>
                <a:spcPct val="115000"/>
              </a:lnSpc>
              <a:spcBef>
                <a:spcPts val="0"/>
              </a:spcBef>
              <a:spcAft>
                <a:spcPts val="0"/>
              </a:spcAft>
              <a:buClr>
                <a:srgbClr val="374151"/>
              </a:buClr>
              <a:buSzPts val="1200"/>
              <a:buFont typeface="Roboto"/>
              <a:buChar char="●"/>
            </a:pPr>
            <a:r>
              <a:rPr lang="en-US" sz="1400" b="1" i="0" u="none" strike="noStrike" cap="none">
                <a:solidFill>
                  <a:srgbClr val="374151"/>
                </a:solidFill>
                <a:latin typeface="Arial" panose="020B0604020202020204"/>
                <a:ea typeface="Arial" panose="020B0604020202020204"/>
                <a:cs typeface="Arial" panose="020B0604020202020204"/>
                <a:sym typeface="Arial" panose="020B0604020202020204"/>
              </a:rPr>
              <a:t>Edward Thorp </a:t>
            </a:r>
            <a:r>
              <a:rPr lang="en-US" sz="1400" b="0" i="0" u="none" strike="noStrike" cap="none">
                <a:solidFill>
                  <a:srgbClr val="374151"/>
                </a:solidFill>
                <a:latin typeface="Arial" panose="020B0604020202020204"/>
                <a:ea typeface="Arial" panose="020B0604020202020204"/>
                <a:cs typeface="Arial" panose="020B0604020202020204"/>
                <a:sym typeface="Arial" panose="020B0604020202020204"/>
              </a:rPr>
              <a:t>là một nhà toán học và nhà đầu tư nổi tiếng.</a:t>
            </a:r>
            <a:endParaRPr sz="1400" b="0" i="0" u="none" strike="noStrike" cap="none">
              <a:solidFill>
                <a:srgbClr val="374151"/>
              </a:solidFill>
              <a:latin typeface="Arial" panose="020B0604020202020204"/>
              <a:ea typeface="Arial" panose="020B0604020202020204"/>
              <a:cs typeface="Arial" panose="020B0604020202020204"/>
              <a:sym typeface="Arial" panose="020B0604020202020204"/>
            </a:endParaRPr>
          </a:p>
          <a:p>
            <a:pPr marL="457200" marR="0" lvl="0" indent="-304800" algn="just" rtl="0">
              <a:lnSpc>
                <a:spcPct val="115000"/>
              </a:lnSpc>
              <a:spcBef>
                <a:spcPts val="0"/>
              </a:spcBef>
              <a:spcAft>
                <a:spcPts val="0"/>
              </a:spcAft>
              <a:buClr>
                <a:srgbClr val="374151"/>
              </a:buClr>
              <a:buSzPts val="1200"/>
              <a:buFont typeface="Roboto"/>
              <a:buChar char="●"/>
            </a:pPr>
            <a:r>
              <a:rPr lang="en-US" sz="1400" b="0" i="0" u="none" strike="noStrike" cap="none">
                <a:solidFill>
                  <a:srgbClr val="374151"/>
                </a:solidFill>
                <a:latin typeface="Arial" panose="020B0604020202020204"/>
                <a:ea typeface="Arial" panose="020B0604020202020204"/>
                <a:cs typeface="Arial" panose="020B0604020202020204"/>
                <a:sym typeface="Arial" panose="020B0604020202020204"/>
              </a:rPr>
              <a:t>Ông đã phát triển những chiến lược đầu tư mới và kỹ thuật phân tích dữ liệu để đánh bại thị trường chứng khoán ví dụ như Statistical Arbitrage/ </a:t>
            </a:r>
            <a:r>
              <a:rPr lang="en-US" sz="1400" b="1" i="0" u="none" strike="noStrike" cap="none">
                <a:solidFill>
                  <a:srgbClr val="374151"/>
                </a:solidFill>
                <a:latin typeface="Arial" panose="020B0604020202020204"/>
                <a:ea typeface="Arial" panose="020B0604020202020204"/>
                <a:cs typeface="Arial" panose="020B0604020202020204"/>
                <a:sym typeface="Arial" panose="020B0604020202020204"/>
              </a:rPr>
              <a:t>Pair Trading</a:t>
            </a:r>
            <a:r>
              <a:rPr lang="en-US" sz="1400" b="0" i="0" u="none" strike="noStrike" cap="none">
                <a:solidFill>
                  <a:srgbClr val="374151"/>
                </a:solidFill>
                <a:latin typeface="Arial" panose="020B0604020202020204"/>
                <a:ea typeface="Arial" panose="020B0604020202020204"/>
                <a:cs typeface="Arial" panose="020B0604020202020204"/>
                <a:sym typeface="Arial" panose="020B0604020202020204"/>
              </a:rPr>
              <a:t>.</a:t>
            </a:r>
            <a:endParaRPr sz="1400" b="0" i="0" u="none" strike="noStrike" cap="none">
              <a:solidFill>
                <a:srgbClr val="374151"/>
              </a:solidFill>
              <a:latin typeface="Arial" panose="020B0604020202020204"/>
              <a:ea typeface="Arial" panose="020B0604020202020204"/>
              <a:cs typeface="Arial" panose="020B0604020202020204"/>
              <a:sym typeface="Arial" panose="020B0604020202020204"/>
            </a:endParaRPr>
          </a:p>
          <a:p>
            <a:pPr marL="457200" marR="0" lvl="0" indent="-304800" algn="just" rtl="0">
              <a:lnSpc>
                <a:spcPct val="115000"/>
              </a:lnSpc>
              <a:spcBef>
                <a:spcPts val="0"/>
              </a:spcBef>
              <a:spcAft>
                <a:spcPts val="0"/>
              </a:spcAft>
              <a:buClr>
                <a:srgbClr val="374151"/>
              </a:buClr>
              <a:buSzPts val="1200"/>
              <a:buFont typeface="Roboto"/>
              <a:buChar char="●"/>
            </a:pPr>
            <a:r>
              <a:rPr lang="en-US" sz="1400" b="0" i="0" u="none" strike="noStrike" cap="none">
                <a:solidFill>
                  <a:srgbClr val="374151"/>
                </a:solidFill>
                <a:latin typeface="Arial" panose="020B0604020202020204"/>
                <a:ea typeface="Arial" panose="020B0604020202020204"/>
                <a:cs typeface="Arial" panose="020B0604020202020204"/>
                <a:sym typeface="Arial" panose="020B0604020202020204"/>
              </a:rPr>
              <a:t>Thorp là tác giả của nhiều cuốn sách nổi tiếng trong lĩnh vực đầu tư và tài chính, bao gồm "Beat the Dealer" và "Beat the Market".</a:t>
            </a:r>
            <a:endParaRPr sz="1400" b="0" i="0" u="none" strike="noStrike" cap="none">
              <a:solidFill>
                <a:srgbClr val="374151"/>
              </a:solidFill>
              <a:latin typeface="Arial" panose="020B0604020202020204"/>
              <a:ea typeface="Arial" panose="020B0604020202020204"/>
              <a:cs typeface="Arial" panose="020B0604020202020204"/>
              <a:sym typeface="Arial" panose="020B0604020202020204"/>
            </a:endParaRPr>
          </a:p>
          <a:p>
            <a:pPr marL="457200" marR="0" lvl="0" indent="-304800" algn="just" rtl="0">
              <a:lnSpc>
                <a:spcPct val="115000"/>
              </a:lnSpc>
              <a:spcBef>
                <a:spcPts val="0"/>
              </a:spcBef>
              <a:spcAft>
                <a:spcPts val="0"/>
              </a:spcAft>
              <a:buClr>
                <a:srgbClr val="374151"/>
              </a:buClr>
              <a:buSzPts val="1200"/>
              <a:buFont typeface="Roboto"/>
              <a:buChar char="●"/>
            </a:pPr>
            <a:r>
              <a:rPr lang="en-US" sz="1400" b="0" i="0" u="none" strike="noStrike" cap="none">
                <a:solidFill>
                  <a:srgbClr val="374151"/>
                </a:solidFill>
                <a:latin typeface="Arial" panose="020B0604020202020204"/>
                <a:ea typeface="Arial" panose="020B0604020202020204"/>
                <a:cs typeface="Arial" panose="020B0604020202020204"/>
                <a:sym typeface="Arial" panose="020B0604020202020204"/>
              </a:rPr>
              <a:t>Ông là người sáng lập quỹ đầu tư </a:t>
            </a:r>
            <a:r>
              <a:rPr lang="en-US" sz="1400" b="1" i="0" u="none" strike="noStrike" cap="none">
                <a:solidFill>
                  <a:srgbClr val="374151"/>
                </a:solidFill>
                <a:latin typeface="Arial" panose="020B0604020202020204"/>
                <a:ea typeface="Arial" panose="020B0604020202020204"/>
                <a:cs typeface="Arial" panose="020B0604020202020204"/>
                <a:sym typeface="Arial" panose="020B0604020202020204"/>
              </a:rPr>
              <a:t>Newport Partners </a:t>
            </a:r>
            <a:r>
              <a:rPr lang="en-US" sz="1400" b="0" i="0" u="none" strike="noStrike" cap="none">
                <a:solidFill>
                  <a:srgbClr val="374151"/>
                </a:solidFill>
                <a:latin typeface="Arial" panose="020B0604020202020204"/>
                <a:ea typeface="Arial" panose="020B0604020202020204"/>
                <a:cs typeface="Arial" panose="020B0604020202020204"/>
                <a:sym typeface="Arial" panose="020B0604020202020204"/>
              </a:rPr>
              <a:t>và đã đạt được thành công lớn trong lĩnh vực này.</a:t>
            </a:r>
            <a:endParaRPr sz="1400" b="0" i="0" u="none" strike="noStrike" cap="none">
              <a:solidFill>
                <a:srgbClr val="374151"/>
              </a:solidFill>
              <a:latin typeface="Arial" panose="020B0604020202020204"/>
              <a:ea typeface="Arial" panose="020B0604020202020204"/>
              <a:cs typeface="Arial" panose="020B0604020202020204"/>
              <a:sym typeface="Arial" panose="020B0604020202020204"/>
            </a:endParaRPr>
          </a:p>
          <a:p>
            <a:pPr marL="0" marR="0" lvl="0" indent="0" algn="just" rtl="0">
              <a:lnSpc>
                <a:spcPct val="150000"/>
              </a:lnSpc>
              <a:spcBef>
                <a:spcPts val="0"/>
              </a:spcBef>
              <a:spcAft>
                <a:spcPts val="0"/>
              </a:spcAft>
              <a:buClr>
                <a:srgbClr val="000000"/>
              </a:buClr>
              <a:buSzPts val="1200"/>
              <a:buFont typeface="Arial" panose="020B0604020202020204"/>
              <a:buNone/>
            </a:pPr>
            <a:endParaRPr sz="1400" b="0" i="0" u="none" strike="noStrike" cap="none">
              <a:solidFill>
                <a:srgbClr val="374151"/>
              </a:solidFill>
              <a:highlight>
                <a:srgbClr val="F7F7F8"/>
              </a:highlight>
              <a:latin typeface="Arial" panose="020B0604020202020204"/>
              <a:ea typeface="Arial" panose="020B0604020202020204"/>
              <a:cs typeface="Arial" panose="020B0604020202020204"/>
              <a:sym typeface="Arial" panose="020B0604020202020204"/>
            </a:endParaRPr>
          </a:p>
        </p:txBody>
      </p:sp>
      <p:pic>
        <p:nvPicPr>
          <p:cNvPr id="236" name="Google Shape;236;p17"/>
          <p:cNvPicPr preferRelativeResize="0"/>
          <p:nvPr/>
        </p:nvPicPr>
        <p:blipFill rotWithShape="1">
          <a:blip r:embed="rId3"/>
          <a:srcRect/>
          <a:stretch>
            <a:fillRect/>
          </a:stretch>
        </p:blipFill>
        <p:spPr>
          <a:xfrm>
            <a:off x="2239550" y="886747"/>
            <a:ext cx="6668251" cy="3440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40" name="Shape 240"/>
        <p:cNvGrpSpPr/>
        <p:nvPr/>
      </p:nvGrpSpPr>
      <p:grpSpPr>
        <a:xfrm>
          <a:off x="0" y="0"/>
          <a:ext cx="0" cy="0"/>
          <a:chOff x="0" y="0"/>
          <a:chExt cx="0" cy="0"/>
        </a:xfrm>
      </p:grpSpPr>
      <p:sp>
        <p:nvSpPr>
          <p:cNvPr id="241" name="Google Shape;241;p18"/>
          <p:cNvSpPr txBox="1"/>
          <p:nvPr/>
        </p:nvSpPr>
        <p:spPr>
          <a:xfrm>
            <a:off x="248400" y="150525"/>
            <a:ext cx="91440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a:solidFill>
                  <a:schemeClr val="lt1"/>
                </a:solidFill>
                <a:latin typeface="Arial" panose="020B0604020202020204"/>
                <a:ea typeface="Arial" panose="020B0604020202020204"/>
                <a:cs typeface="Arial" panose="020B0604020202020204"/>
                <a:sym typeface="Arial" panose="020B0604020202020204"/>
              </a:rPr>
              <a:t>Cơ bản các sản phẩm tài chính</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42" name="Google Shape;242;p18"/>
          <p:cNvSpPr txBox="1"/>
          <p:nvPr/>
        </p:nvSpPr>
        <p:spPr>
          <a:xfrm>
            <a:off x="484032" y="788477"/>
            <a:ext cx="8134200" cy="477000"/>
          </a:xfrm>
          <a:prstGeom prst="rect">
            <a:avLst/>
          </a:prstGeom>
          <a:noFill/>
          <a:ln>
            <a:noFill/>
          </a:ln>
        </p:spPr>
        <p:txBody>
          <a:bodyPr spcFirstLastPara="1" wrap="square" lIns="91425" tIns="45700" rIns="91425" bIns="45700" anchor="t" anchorCtr="0">
            <a:spAutoFit/>
          </a:bodyPr>
          <a:lstStyle/>
          <a:p>
            <a:pPr marL="457200" marR="0" lvl="0" indent="-387350" algn="l" rtl="0">
              <a:lnSpc>
                <a:spcPct val="100000"/>
              </a:lnSpc>
              <a:spcBef>
                <a:spcPts val="0"/>
              </a:spcBef>
              <a:spcAft>
                <a:spcPts val="0"/>
              </a:spcAft>
              <a:buClr>
                <a:schemeClr val="dk1"/>
              </a:buClr>
              <a:buSzPts val="2500"/>
              <a:buFont typeface="Nunito"/>
              <a:buChar char="❏"/>
            </a:pPr>
            <a:r>
              <a:rPr lang="en-US" sz="2500" b="0" i="0" u="none" strike="noStrike" cap="none">
                <a:solidFill>
                  <a:schemeClr val="dk1"/>
                </a:solidFill>
                <a:latin typeface="Arial" panose="020B0604020202020204"/>
                <a:ea typeface="Arial" panose="020B0604020202020204"/>
                <a:cs typeface="Arial" panose="020B0604020202020204"/>
                <a:sym typeface="Arial" panose="020B0604020202020204"/>
              </a:rPr>
              <a:t>A. Kiến thức về các sản phẩm trong tài chính</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43" name="Google Shape;243;p18"/>
          <p:cNvSpPr txBox="1"/>
          <p:nvPr/>
        </p:nvSpPr>
        <p:spPr>
          <a:xfrm>
            <a:off x="563418" y="1774225"/>
            <a:ext cx="5264726" cy="101562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Clr>
                <a:srgbClr val="000000"/>
              </a:buClr>
              <a:buSzPts val="2000"/>
              <a:buFont typeface="Arial" panose="020B0604020202020204"/>
              <a:buNone/>
            </a:pPr>
            <a: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1. Tài sản</a:t>
            </a: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 Tất cả những thứ tài nguyên có thể mua/ bán </a:t>
            </a:r>
            <a: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hợp pháp</a:t>
            </a: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244" name="Google Shape;244;p18"/>
          <p:cNvPicPr preferRelativeResize="0"/>
          <p:nvPr/>
        </p:nvPicPr>
        <p:blipFill rotWithShape="1">
          <a:blip r:embed="rId2"/>
          <a:srcRect/>
          <a:stretch>
            <a:fillRect/>
          </a:stretch>
        </p:blipFill>
        <p:spPr>
          <a:xfrm>
            <a:off x="6041150" y="1887125"/>
            <a:ext cx="2729626" cy="40944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48" name="Shape 248"/>
        <p:cNvGrpSpPr/>
        <p:nvPr/>
      </p:nvGrpSpPr>
      <p:grpSpPr>
        <a:xfrm>
          <a:off x="0" y="0"/>
          <a:ext cx="0" cy="0"/>
          <a:chOff x="0" y="0"/>
          <a:chExt cx="0" cy="0"/>
        </a:xfrm>
      </p:grpSpPr>
      <p:sp>
        <p:nvSpPr>
          <p:cNvPr id="249" name="Google Shape;249;p19"/>
          <p:cNvSpPr txBox="1"/>
          <p:nvPr/>
        </p:nvSpPr>
        <p:spPr>
          <a:xfrm>
            <a:off x="248400" y="150525"/>
            <a:ext cx="91440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a:solidFill>
                  <a:schemeClr val="lt1"/>
                </a:solidFill>
                <a:latin typeface="Arial" panose="020B0604020202020204"/>
                <a:ea typeface="Arial" panose="020B0604020202020204"/>
                <a:cs typeface="Arial" panose="020B0604020202020204"/>
                <a:sym typeface="Arial" panose="020B0604020202020204"/>
              </a:rPr>
              <a:t>Cơ bản các sản phẩm tài chính</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50" name="Google Shape;250;p19"/>
          <p:cNvSpPr txBox="1"/>
          <p:nvPr/>
        </p:nvSpPr>
        <p:spPr>
          <a:xfrm>
            <a:off x="600364" y="1715225"/>
            <a:ext cx="1805185"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2. Cổ phiếu</a:t>
            </a:r>
            <a:endParaRPr sz="20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51" name="Google Shape;251;p19"/>
          <p:cNvSpPr txBox="1"/>
          <p:nvPr/>
        </p:nvSpPr>
        <p:spPr>
          <a:xfrm>
            <a:off x="1198950" y="2311005"/>
            <a:ext cx="7242900" cy="3263265"/>
          </a:xfrm>
          <a:prstGeom prst="rect">
            <a:avLst/>
          </a:prstGeom>
          <a:noFill/>
          <a:ln>
            <a:noFill/>
          </a:ln>
        </p:spPr>
        <p:txBody>
          <a:bodyPr spcFirstLastPara="1" wrap="square" lIns="91425" tIns="91425" rIns="91425" bIns="91425" anchor="t" anchorCtr="0">
            <a:spAutoFit/>
          </a:bodyPr>
          <a:lstStyle/>
          <a:p>
            <a:pPr marL="457200" marR="0" lvl="0" indent="-355600" algn="just" rtl="0">
              <a:lnSpc>
                <a:spcPct val="167000"/>
              </a:lnSpc>
              <a:spcBef>
                <a:spcPts val="1400"/>
              </a:spcBef>
              <a:spcAft>
                <a:spcPts val="0"/>
              </a:spcAft>
              <a:buClr>
                <a:srgbClr val="303947"/>
              </a:buClr>
              <a:buSzPts val="2000"/>
              <a:buFont typeface="Arial" panose="020B0604020202020204"/>
              <a:buChar char="●"/>
            </a:pPr>
            <a:r>
              <a:rPr lang="en-US" sz="2000" b="0" i="0" u="none" strike="noStrike" cap="none">
                <a:solidFill>
                  <a:srgbClr val="303947"/>
                </a:solidFill>
                <a:latin typeface="Arial" panose="020B0604020202020204"/>
                <a:ea typeface="Arial" panose="020B0604020202020204"/>
                <a:cs typeface="Arial" panose="020B0604020202020204"/>
                <a:sym typeface="Arial" panose="020B0604020202020204"/>
              </a:rPr>
              <a:t>Cổ phiếu là loại chứng khoán, được phát hành dưới dạng chứng chỉ, hoặc bút toán ghi sổ, </a:t>
            </a:r>
            <a:r>
              <a:rPr lang="en-US" sz="2000" b="1" i="0" u="none" strike="noStrike" cap="none">
                <a:solidFill>
                  <a:srgbClr val="303947"/>
                </a:solidFill>
                <a:latin typeface="Arial" panose="020B0604020202020204"/>
                <a:ea typeface="Arial" panose="020B0604020202020204"/>
                <a:cs typeface="Arial" panose="020B0604020202020204"/>
                <a:sym typeface="Arial" panose="020B0604020202020204"/>
              </a:rPr>
              <a:t>xác nhận quyền và lợi ích hợp pháp của nhà đầu tư</a:t>
            </a:r>
            <a:r>
              <a:rPr lang="en-US" sz="2000" b="0" i="0" u="none" strike="noStrike" cap="none">
                <a:solidFill>
                  <a:srgbClr val="303947"/>
                </a:solidFill>
                <a:latin typeface="Arial" panose="020B0604020202020204"/>
                <a:ea typeface="Arial" panose="020B0604020202020204"/>
                <a:cs typeface="Arial" panose="020B0604020202020204"/>
                <a:sym typeface="Arial" panose="020B0604020202020204"/>
              </a:rPr>
              <a:t>, khi tham gia vào hoạt động kinh doanh của doanh nghiệp.</a:t>
            </a:r>
            <a:endParaRPr sz="2000" b="0" i="0" u="none" strike="noStrike" cap="none">
              <a:solidFill>
                <a:srgbClr val="303947"/>
              </a:solidFill>
              <a:latin typeface="Arial" panose="020B0604020202020204"/>
              <a:ea typeface="Arial" panose="020B0604020202020204"/>
              <a:cs typeface="Arial" panose="020B0604020202020204"/>
              <a:sym typeface="Arial" panose="020B0604020202020204"/>
            </a:endParaRPr>
          </a:p>
          <a:p>
            <a:pPr marL="457200" marR="0" lvl="0" indent="-355600" algn="just" rtl="0">
              <a:lnSpc>
                <a:spcPct val="167000"/>
              </a:lnSpc>
              <a:spcBef>
                <a:spcPts val="0"/>
              </a:spcBef>
              <a:spcAft>
                <a:spcPts val="0"/>
              </a:spcAft>
              <a:buClr>
                <a:srgbClr val="303947"/>
              </a:buClr>
              <a:buSzPts val="2000"/>
              <a:buFont typeface="Arial" panose="020B0604020202020204"/>
              <a:buChar char="●"/>
            </a:pPr>
            <a:r>
              <a:rPr lang="en-US" sz="2000" b="0" i="0" u="none" strike="noStrike" cap="none">
                <a:solidFill>
                  <a:srgbClr val="303947"/>
                </a:solidFill>
                <a:latin typeface="Arial" panose="020B0604020202020204"/>
                <a:ea typeface="Arial" panose="020B0604020202020204"/>
                <a:cs typeface="Arial" panose="020B0604020202020204"/>
                <a:sym typeface="Arial" panose="020B0604020202020204"/>
              </a:rPr>
              <a:t>Người nắm giữ cổ phiếu trở thành </a:t>
            </a:r>
            <a:r>
              <a:rPr lang="en-US" sz="2000" b="1" i="0" u="none" strike="noStrike" cap="none">
                <a:solidFill>
                  <a:srgbClr val="303947"/>
                </a:solidFill>
                <a:latin typeface="Arial" panose="020B0604020202020204"/>
                <a:ea typeface="Arial" panose="020B0604020202020204"/>
                <a:cs typeface="Arial" panose="020B0604020202020204"/>
                <a:sym typeface="Arial" panose="020B0604020202020204"/>
              </a:rPr>
              <a:t>cổ đông </a:t>
            </a:r>
            <a:r>
              <a:rPr lang="en-US" sz="2000" b="0" i="0" u="none" strike="noStrike" cap="none">
                <a:solidFill>
                  <a:srgbClr val="303947"/>
                </a:solidFill>
                <a:latin typeface="Arial" panose="020B0604020202020204"/>
                <a:ea typeface="Arial" panose="020B0604020202020204"/>
                <a:cs typeface="Arial" panose="020B0604020202020204"/>
                <a:sym typeface="Arial" panose="020B0604020202020204"/>
              </a:rPr>
              <a:t>và </a:t>
            </a:r>
            <a:r>
              <a:rPr lang="en-US" sz="2000" b="1" i="0" u="none" strike="noStrike" cap="none">
                <a:solidFill>
                  <a:srgbClr val="303947"/>
                </a:solidFill>
                <a:latin typeface="Arial" panose="020B0604020202020204"/>
                <a:ea typeface="Arial" panose="020B0604020202020204"/>
                <a:cs typeface="Arial" panose="020B0604020202020204"/>
                <a:sym typeface="Arial" panose="020B0604020202020204"/>
              </a:rPr>
              <a:t>đồng thời là chủ sở hữu của công ty phát hành</a:t>
            </a:r>
            <a:r>
              <a:rPr lang="en-US" sz="2000" b="0" i="0" u="none" strike="noStrike" cap="none">
                <a:solidFill>
                  <a:srgbClr val="303947"/>
                </a:solidFill>
                <a:latin typeface="Arial" panose="020B0604020202020204"/>
                <a:ea typeface="Arial" panose="020B0604020202020204"/>
                <a:cs typeface="Arial" panose="020B0604020202020204"/>
                <a:sym typeface="Arial" panose="020B0604020202020204"/>
              </a:rPr>
              <a:t>.</a:t>
            </a:r>
            <a:endParaRPr sz="20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pic>
        <p:nvPicPr>
          <p:cNvPr id="252" name="Google Shape;252;p19"/>
          <p:cNvPicPr preferRelativeResize="0"/>
          <p:nvPr/>
        </p:nvPicPr>
        <p:blipFill rotWithShape="1">
          <a:blip r:embed="rId2"/>
          <a:srcRect/>
          <a:stretch>
            <a:fillRect/>
          </a:stretch>
        </p:blipFill>
        <p:spPr>
          <a:xfrm>
            <a:off x="2504195" y="1252637"/>
            <a:ext cx="1569042" cy="1222708"/>
          </a:xfrm>
          <a:prstGeom prst="rect">
            <a:avLst/>
          </a:prstGeom>
          <a:noFill/>
          <a:ln>
            <a:noFill/>
          </a:ln>
        </p:spPr>
      </p:pic>
      <p:sp>
        <p:nvSpPr>
          <p:cNvPr id="253" name="Google Shape;253;p19"/>
          <p:cNvSpPr txBox="1"/>
          <p:nvPr/>
        </p:nvSpPr>
        <p:spPr>
          <a:xfrm>
            <a:off x="484032" y="788477"/>
            <a:ext cx="8134200" cy="477000"/>
          </a:xfrm>
          <a:prstGeom prst="rect">
            <a:avLst/>
          </a:prstGeom>
          <a:noFill/>
          <a:ln>
            <a:noFill/>
          </a:ln>
        </p:spPr>
        <p:txBody>
          <a:bodyPr spcFirstLastPara="1" wrap="square" lIns="91425" tIns="45700" rIns="91425" bIns="45700" anchor="t" anchorCtr="0">
            <a:spAutoFit/>
          </a:bodyPr>
          <a:lstStyle/>
          <a:p>
            <a:pPr marL="457200" marR="0" lvl="0" indent="-387350" algn="l" rtl="0">
              <a:lnSpc>
                <a:spcPct val="100000"/>
              </a:lnSpc>
              <a:spcBef>
                <a:spcPts val="0"/>
              </a:spcBef>
              <a:spcAft>
                <a:spcPts val="0"/>
              </a:spcAft>
              <a:buClr>
                <a:schemeClr val="dk1"/>
              </a:buClr>
              <a:buSzPts val="2500"/>
              <a:buFont typeface="Nunito"/>
              <a:buChar char="❏"/>
            </a:pPr>
            <a:r>
              <a:rPr lang="en-US" sz="2500" b="0" i="0" u="none" strike="noStrike" cap="none">
                <a:solidFill>
                  <a:schemeClr val="dk1"/>
                </a:solidFill>
                <a:latin typeface="Arial" panose="020B0604020202020204"/>
                <a:ea typeface="Arial" panose="020B0604020202020204"/>
                <a:cs typeface="Arial" panose="020B0604020202020204"/>
                <a:sym typeface="Arial" panose="020B0604020202020204"/>
              </a:rPr>
              <a:t>A. Kiến thức về các sản phẩm trong tài chính</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57" name="Shape 257"/>
        <p:cNvGrpSpPr/>
        <p:nvPr/>
      </p:nvGrpSpPr>
      <p:grpSpPr>
        <a:xfrm>
          <a:off x="0" y="0"/>
          <a:ext cx="0" cy="0"/>
          <a:chOff x="0" y="0"/>
          <a:chExt cx="0" cy="0"/>
        </a:xfrm>
      </p:grpSpPr>
      <p:sp>
        <p:nvSpPr>
          <p:cNvPr id="258" name="Google Shape;258;p20"/>
          <p:cNvSpPr txBox="1"/>
          <p:nvPr/>
        </p:nvSpPr>
        <p:spPr>
          <a:xfrm>
            <a:off x="248400" y="150525"/>
            <a:ext cx="91440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a:solidFill>
                  <a:schemeClr val="lt1"/>
                </a:solidFill>
                <a:latin typeface="Arial" panose="020B0604020202020204"/>
                <a:ea typeface="Arial" panose="020B0604020202020204"/>
                <a:cs typeface="Arial" panose="020B0604020202020204"/>
                <a:sym typeface="Arial" panose="020B0604020202020204"/>
              </a:rPr>
              <a:t>Cơ bản các sản phẩm tài chính</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59" name="Google Shape;259;p20"/>
          <p:cNvSpPr txBox="1"/>
          <p:nvPr/>
        </p:nvSpPr>
        <p:spPr>
          <a:xfrm>
            <a:off x="637309" y="1664962"/>
            <a:ext cx="1638636"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3. Phái sinh</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260" name="Google Shape;260;p20"/>
          <p:cNvPicPr preferRelativeResize="0"/>
          <p:nvPr/>
        </p:nvPicPr>
        <p:blipFill rotWithShape="1">
          <a:blip r:embed="rId2"/>
          <a:srcRect/>
          <a:stretch>
            <a:fillRect/>
          </a:stretch>
        </p:blipFill>
        <p:spPr>
          <a:xfrm>
            <a:off x="3215200" y="2441675"/>
            <a:ext cx="3005400" cy="3033544"/>
          </a:xfrm>
          <a:prstGeom prst="rect">
            <a:avLst/>
          </a:prstGeom>
          <a:noFill/>
          <a:ln>
            <a:noFill/>
          </a:ln>
        </p:spPr>
      </p:pic>
      <p:sp>
        <p:nvSpPr>
          <p:cNvPr id="261" name="Google Shape;261;p20"/>
          <p:cNvSpPr txBox="1"/>
          <p:nvPr/>
        </p:nvSpPr>
        <p:spPr>
          <a:xfrm>
            <a:off x="460650" y="790075"/>
            <a:ext cx="8134200" cy="477000"/>
          </a:xfrm>
          <a:prstGeom prst="rect">
            <a:avLst/>
          </a:prstGeom>
          <a:noFill/>
          <a:ln>
            <a:noFill/>
          </a:ln>
        </p:spPr>
        <p:txBody>
          <a:bodyPr spcFirstLastPara="1" wrap="square" lIns="91425" tIns="45700" rIns="91425" bIns="45700" anchor="t" anchorCtr="0">
            <a:spAutoFit/>
          </a:bodyPr>
          <a:lstStyle/>
          <a:p>
            <a:pPr marL="457200" marR="0" lvl="0" indent="-387350" algn="l" rtl="0">
              <a:lnSpc>
                <a:spcPct val="100000"/>
              </a:lnSpc>
              <a:spcBef>
                <a:spcPts val="0"/>
              </a:spcBef>
              <a:spcAft>
                <a:spcPts val="0"/>
              </a:spcAft>
              <a:buClr>
                <a:schemeClr val="dk1"/>
              </a:buClr>
              <a:buSzPts val="2500"/>
              <a:buFont typeface="Nunito"/>
              <a:buChar char="❏"/>
            </a:pPr>
            <a:r>
              <a:rPr lang="en-US" sz="2500" b="0" i="0" u="none" strike="noStrike" cap="none">
                <a:solidFill>
                  <a:schemeClr val="dk1"/>
                </a:solidFill>
                <a:latin typeface="Arial" panose="020B0604020202020204"/>
                <a:ea typeface="Arial" panose="020B0604020202020204"/>
                <a:cs typeface="Arial" panose="020B0604020202020204"/>
                <a:sym typeface="Arial" panose="020B0604020202020204"/>
              </a:rPr>
              <a:t>A. Kiến thức về các sản phẩm trong tài chính</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65" name="Shape 265"/>
        <p:cNvGrpSpPr/>
        <p:nvPr/>
      </p:nvGrpSpPr>
      <p:grpSpPr>
        <a:xfrm>
          <a:off x="0" y="0"/>
          <a:ext cx="0" cy="0"/>
          <a:chOff x="0" y="0"/>
          <a:chExt cx="0" cy="0"/>
        </a:xfrm>
      </p:grpSpPr>
      <p:sp>
        <p:nvSpPr>
          <p:cNvPr id="266" name="Google Shape;266;p21"/>
          <p:cNvSpPr txBox="1"/>
          <p:nvPr/>
        </p:nvSpPr>
        <p:spPr>
          <a:xfrm>
            <a:off x="248400" y="150525"/>
            <a:ext cx="91440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a:solidFill>
                  <a:schemeClr val="lt1"/>
                </a:solidFill>
                <a:latin typeface="Arial" panose="020B0604020202020204"/>
                <a:ea typeface="Arial" panose="020B0604020202020204"/>
                <a:cs typeface="Arial" panose="020B0604020202020204"/>
                <a:sym typeface="Arial" panose="020B0604020202020204"/>
              </a:rPr>
              <a:t>Cơ bản các sản phẩm tài chính</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67" name="Google Shape;267;p21"/>
          <p:cNvSpPr txBox="1"/>
          <p:nvPr/>
        </p:nvSpPr>
        <p:spPr>
          <a:xfrm>
            <a:off x="753300" y="1488309"/>
            <a:ext cx="7945391" cy="4685868"/>
          </a:xfrm>
          <a:prstGeom prst="rect">
            <a:avLst/>
          </a:prstGeom>
          <a:noFill/>
          <a:ln>
            <a:noFill/>
          </a:ln>
        </p:spPr>
        <p:txBody>
          <a:bodyPr spcFirstLastPara="1" wrap="square" lIns="91425" tIns="91425" rIns="91425" bIns="91425" anchor="t" anchorCtr="0">
            <a:spAutoFit/>
          </a:bodyPr>
          <a:lstStyle/>
          <a:p>
            <a:pPr marL="101600" marR="0" lvl="0" indent="0" algn="just" rtl="0">
              <a:lnSpc>
                <a:spcPct val="150000"/>
              </a:lnSpc>
              <a:spcBef>
                <a:spcPts val="0"/>
              </a:spcBef>
              <a:spcAft>
                <a:spcPts val="0"/>
              </a:spcAft>
              <a:buNone/>
            </a:pPr>
            <a:r>
              <a:rPr lang="en-US" sz="1500" b="1" i="0" u="sng" strike="noStrike" cap="none">
                <a:solidFill>
                  <a:srgbClr val="000000"/>
                </a:solidFill>
                <a:latin typeface="Arial" panose="020B0604020202020204"/>
                <a:ea typeface="Arial" panose="020B0604020202020204"/>
                <a:cs typeface="Arial" panose="020B0604020202020204"/>
                <a:sym typeface="Arial" panose="020B0604020202020204"/>
              </a:rPr>
              <a:t>Các mô hình định lượng sẽ học:</a:t>
            </a:r>
            <a:endParaRPr sz="1500" b="1" i="0" u="sng" strike="noStrike" cap="none">
              <a:solidFill>
                <a:srgbClr val="000000"/>
              </a:solidFill>
              <a:latin typeface="Arial" panose="020B0604020202020204"/>
              <a:ea typeface="Arial" panose="020B0604020202020204"/>
              <a:cs typeface="Arial" panose="020B0604020202020204"/>
              <a:sym typeface="Arial" panose="020B0604020202020204"/>
            </a:endParaRPr>
          </a:p>
          <a:p>
            <a:pPr marL="273050" marR="0" lvl="0" indent="-171450" algn="just" rtl="0">
              <a:lnSpc>
                <a:spcPct val="150000"/>
              </a:lnSpc>
              <a:spcBef>
                <a:spcPts val="0"/>
              </a:spcBef>
              <a:spcAft>
                <a:spcPts val="0"/>
              </a:spcAft>
              <a:buClr>
                <a:schemeClr val="dk1"/>
              </a:buClr>
              <a:buSzPts val="2000"/>
              <a:buFont typeface="Arial" panose="020B0604020202020204"/>
              <a:buChar char="-"/>
            </a:pPr>
            <a:r>
              <a:rPr lang="en-US" sz="1500" b="0" i="0" u="none" strike="noStrike" cap="none">
                <a:solidFill>
                  <a:srgbClr val="000000"/>
                </a:solidFill>
                <a:latin typeface="Arial" panose="020B0604020202020204"/>
                <a:ea typeface="Arial" panose="020B0604020202020204"/>
                <a:cs typeface="Arial" panose="020B0604020202020204"/>
                <a:sym typeface="Arial" panose="020B0604020202020204"/>
              </a:rPr>
              <a:t>Mô hình </a:t>
            </a:r>
            <a:r>
              <a:rPr lang="en-US" sz="1500" b="1" i="0" u="none" strike="noStrike" cap="none">
                <a:solidFill>
                  <a:srgbClr val="000000"/>
                </a:solidFill>
                <a:latin typeface="Arial" panose="020B0604020202020204"/>
                <a:ea typeface="Arial" panose="020B0604020202020204"/>
                <a:cs typeface="Arial" panose="020B0604020202020204"/>
                <a:sym typeface="Arial" panose="020B0604020202020204"/>
              </a:rPr>
              <a:t>Doji chân dài</a:t>
            </a:r>
            <a:endParaRPr sz="15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73050" marR="0" lvl="0" indent="-171450" algn="just" rtl="0">
              <a:lnSpc>
                <a:spcPct val="150000"/>
              </a:lnSpc>
              <a:spcBef>
                <a:spcPts val="0"/>
              </a:spcBef>
              <a:spcAft>
                <a:spcPts val="0"/>
              </a:spcAft>
              <a:buClr>
                <a:schemeClr val="dk1"/>
              </a:buClr>
              <a:buSzPts val="2000"/>
              <a:buFont typeface="Arial" panose="020B0604020202020204"/>
              <a:buChar char="-"/>
            </a:pPr>
            <a:r>
              <a:rPr lang="en-US" sz="1500" b="0" i="0" u="none" strike="noStrike" cap="none">
                <a:solidFill>
                  <a:srgbClr val="000000"/>
                </a:solidFill>
                <a:latin typeface="Arial" panose="020B0604020202020204"/>
                <a:ea typeface="Arial" panose="020B0604020202020204"/>
                <a:cs typeface="Arial" panose="020B0604020202020204"/>
                <a:sym typeface="Arial" panose="020B0604020202020204"/>
              </a:rPr>
              <a:t>Mô hình </a:t>
            </a:r>
            <a:r>
              <a:rPr lang="en-US" sz="1500" b="1" i="0" u="none" strike="noStrike" cap="none">
                <a:solidFill>
                  <a:srgbClr val="000000"/>
                </a:solidFill>
                <a:latin typeface="Arial" panose="020B0604020202020204"/>
                <a:ea typeface="Arial" panose="020B0604020202020204"/>
                <a:cs typeface="Arial" panose="020B0604020202020204"/>
                <a:sym typeface="Arial" panose="020B0604020202020204"/>
              </a:rPr>
              <a:t>MA, ATR</a:t>
            </a:r>
            <a:endParaRPr sz="15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73050" marR="0" lvl="0" indent="-171450" algn="just" rtl="0">
              <a:lnSpc>
                <a:spcPct val="150000"/>
              </a:lnSpc>
              <a:spcBef>
                <a:spcPts val="0"/>
              </a:spcBef>
              <a:spcAft>
                <a:spcPts val="0"/>
              </a:spcAft>
              <a:buClr>
                <a:schemeClr val="dk1"/>
              </a:buClr>
              <a:buSzPts val="2000"/>
              <a:buFont typeface="Arial" panose="020B0604020202020204"/>
              <a:buChar char="-"/>
            </a:pPr>
            <a:r>
              <a:rPr lang="en-US" sz="1500" b="0" i="0" u="none" strike="noStrike" cap="none">
                <a:solidFill>
                  <a:srgbClr val="000000"/>
                </a:solidFill>
                <a:latin typeface="Arial" panose="020B0604020202020204"/>
                <a:ea typeface="Arial" panose="020B0604020202020204"/>
                <a:cs typeface="Arial" panose="020B0604020202020204"/>
                <a:sym typeface="Arial" panose="020B0604020202020204"/>
              </a:rPr>
              <a:t>Mô hình </a:t>
            </a:r>
            <a:r>
              <a:rPr lang="en-US" sz="1500" b="1" i="0" u="none" strike="noStrike" cap="none">
                <a:solidFill>
                  <a:srgbClr val="000000"/>
                </a:solidFill>
                <a:latin typeface="Arial" panose="020B0604020202020204"/>
                <a:ea typeface="Arial" panose="020B0604020202020204"/>
                <a:cs typeface="Arial" panose="020B0604020202020204"/>
                <a:sym typeface="Arial" panose="020B0604020202020204"/>
              </a:rPr>
              <a:t>SPY500, VIX</a:t>
            </a:r>
            <a:endParaRPr sz="15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73050" marR="0" lvl="0" indent="-171450" algn="just" rtl="0">
              <a:lnSpc>
                <a:spcPct val="150000"/>
              </a:lnSpc>
              <a:spcBef>
                <a:spcPts val="0"/>
              </a:spcBef>
              <a:spcAft>
                <a:spcPts val="0"/>
              </a:spcAft>
              <a:buClr>
                <a:schemeClr val="dk1"/>
              </a:buClr>
              <a:buSzPts val="2000"/>
              <a:buFont typeface="Arial" panose="020B0604020202020204"/>
              <a:buChar char="-"/>
            </a:pPr>
            <a:r>
              <a:rPr lang="en-US" sz="1500" b="0" i="0" u="none" strike="noStrike" cap="none">
                <a:solidFill>
                  <a:srgbClr val="000000"/>
                </a:solidFill>
                <a:latin typeface="Arial" panose="020B0604020202020204"/>
                <a:ea typeface="Arial" panose="020B0604020202020204"/>
                <a:cs typeface="Arial" panose="020B0604020202020204"/>
                <a:sym typeface="Arial" panose="020B0604020202020204"/>
              </a:rPr>
              <a:t>Mô hình </a:t>
            </a:r>
            <a:r>
              <a:rPr lang="en-US" sz="1500" b="1" i="0" u="none" strike="noStrike" cap="none">
                <a:solidFill>
                  <a:srgbClr val="000000"/>
                </a:solidFill>
                <a:latin typeface="Arial" panose="020B0604020202020204"/>
                <a:ea typeface="Arial" panose="020B0604020202020204"/>
                <a:cs typeface="Arial" panose="020B0604020202020204"/>
                <a:sym typeface="Arial" panose="020B0604020202020204"/>
              </a:rPr>
              <a:t>Bollinger Bands, RSI</a:t>
            </a:r>
            <a:endParaRPr sz="15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73050" marR="0" lvl="0" indent="-171450" algn="just" rtl="0">
              <a:lnSpc>
                <a:spcPct val="150000"/>
              </a:lnSpc>
              <a:spcBef>
                <a:spcPts val="0"/>
              </a:spcBef>
              <a:spcAft>
                <a:spcPts val="0"/>
              </a:spcAft>
              <a:buClr>
                <a:schemeClr val="dk1"/>
              </a:buClr>
              <a:buSzPts val="2000"/>
              <a:buFont typeface="Arial" panose="020B0604020202020204"/>
              <a:buChar char="-"/>
            </a:pPr>
            <a:r>
              <a:rPr lang="en-US" sz="1500" b="0" i="0" u="none" strike="noStrike" cap="none">
                <a:solidFill>
                  <a:srgbClr val="000000"/>
                </a:solidFill>
                <a:latin typeface="Arial" panose="020B0604020202020204"/>
                <a:ea typeface="Arial" panose="020B0604020202020204"/>
                <a:cs typeface="Arial" panose="020B0604020202020204"/>
                <a:sym typeface="Arial" panose="020B0604020202020204"/>
              </a:rPr>
              <a:t>Mô hình </a:t>
            </a:r>
            <a:r>
              <a:rPr lang="en-US" sz="1500" b="1" i="0" u="none" strike="noStrike" cap="none">
                <a:solidFill>
                  <a:srgbClr val="000000"/>
                </a:solidFill>
                <a:latin typeface="Arial" panose="020B0604020202020204"/>
                <a:ea typeface="Arial" panose="020B0604020202020204"/>
                <a:cs typeface="Arial" panose="020B0604020202020204"/>
                <a:sym typeface="Arial" panose="020B0604020202020204"/>
              </a:rPr>
              <a:t>MACD, SMA</a:t>
            </a:r>
            <a:endParaRPr sz="15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73050" marR="0" lvl="0" indent="-171450" algn="just" rtl="0">
              <a:lnSpc>
                <a:spcPct val="150000"/>
              </a:lnSpc>
              <a:spcBef>
                <a:spcPts val="0"/>
              </a:spcBef>
              <a:spcAft>
                <a:spcPts val="0"/>
              </a:spcAft>
              <a:buClr>
                <a:schemeClr val="dk1"/>
              </a:buClr>
              <a:buSzPts val="2000"/>
              <a:buFont typeface="Arial" panose="020B0604020202020204"/>
              <a:buChar char="-"/>
            </a:pPr>
            <a:r>
              <a:rPr lang="en-US" sz="1500" b="0" i="0" u="none" strike="noStrike" cap="none">
                <a:solidFill>
                  <a:srgbClr val="000000"/>
                </a:solidFill>
                <a:latin typeface="Arial" panose="020B0604020202020204"/>
                <a:ea typeface="Arial" panose="020B0604020202020204"/>
                <a:cs typeface="Arial" panose="020B0604020202020204"/>
                <a:sym typeface="Arial" panose="020B0604020202020204"/>
              </a:rPr>
              <a:t>Mô hình </a:t>
            </a:r>
            <a:r>
              <a:rPr lang="en-US" sz="1500" b="1" i="0" u="none" strike="noStrike" cap="none">
                <a:solidFill>
                  <a:srgbClr val="000000"/>
                </a:solidFill>
                <a:latin typeface="Arial" panose="020B0604020202020204"/>
                <a:ea typeface="Arial" panose="020B0604020202020204"/>
                <a:cs typeface="Arial" panose="020B0604020202020204"/>
                <a:sym typeface="Arial" panose="020B0604020202020204"/>
              </a:rPr>
              <a:t>ARIMA</a:t>
            </a:r>
            <a:endParaRPr sz="15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73050" marR="0" lvl="0" indent="-171450" algn="just" rtl="0">
              <a:lnSpc>
                <a:spcPct val="150000"/>
              </a:lnSpc>
              <a:spcBef>
                <a:spcPts val="0"/>
              </a:spcBef>
              <a:spcAft>
                <a:spcPts val="0"/>
              </a:spcAft>
              <a:buClr>
                <a:schemeClr val="dk1"/>
              </a:buClr>
              <a:buSzPts val="2000"/>
              <a:buFont typeface="Arial" panose="020B0604020202020204"/>
              <a:buChar char="-"/>
            </a:pPr>
            <a:r>
              <a:rPr lang="en-US" sz="1500" b="0" i="0" u="none" strike="noStrike" cap="none">
                <a:solidFill>
                  <a:srgbClr val="000000"/>
                </a:solidFill>
                <a:latin typeface="Arial" panose="020B0604020202020204"/>
                <a:ea typeface="Arial" panose="020B0604020202020204"/>
                <a:cs typeface="Arial" panose="020B0604020202020204"/>
                <a:sym typeface="Arial" panose="020B0604020202020204"/>
              </a:rPr>
              <a:t>Mô hình</a:t>
            </a:r>
            <a:r>
              <a:rPr lang="en-US" sz="1500" b="1" i="0" u="none" strike="noStrike" cap="none">
                <a:solidFill>
                  <a:srgbClr val="000000"/>
                </a:solidFill>
                <a:latin typeface="Arial" panose="020B0604020202020204"/>
                <a:ea typeface="Arial" panose="020B0604020202020204"/>
                <a:cs typeface="Arial" panose="020B0604020202020204"/>
                <a:sym typeface="Arial" panose="020B0604020202020204"/>
              </a:rPr>
              <a:t> Fibonaci Retracements</a:t>
            </a:r>
            <a:endParaRPr sz="15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73050" marR="0" lvl="0" indent="-171450" algn="just" rtl="0">
              <a:lnSpc>
                <a:spcPct val="150000"/>
              </a:lnSpc>
              <a:spcBef>
                <a:spcPts val="0"/>
              </a:spcBef>
              <a:spcAft>
                <a:spcPts val="0"/>
              </a:spcAft>
              <a:buClr>
                <a:schemeClr val="dk1"/>
              </a:buClr>
              <a:buSzPts val="2000"/>
              <a:buFont typeface="Arial" panose="020B0604020202020204"/>
              <a:buChar char="-"/>
            </a:pPr>
            <a:r>
              <a:rPr lang="en-US" sz="1500" b="0" i="0" u="none" strike="noStrike" cap="none">
                <a:solidFill>
                  <a:srgbClr val="000000"/>
                </a:solidFill>
                <a:latin typeface="Arial" panose="020B0604020202020204"/>
                <a:ea typeface="Arial" panose="020B0604020202020204"/>
                <a:cs typeface="Arial" panose="020B0604020202020204"/>
                <a:sym typeface="Arial" panose="020B0604020202020204"/>
              </a:rPr>
              <a:t>Mô hình </a:t>
            </a:r>
            <a:r>
              <a:rPr lang="en-US" sz="1500" b="1" i="0" u="none" strike="noStrike" cap="none">
                <a:solidFill>
                  <a:srgbClr val="000000"/>
                </a:solidFill>
                <a:latin typeface="Arial" panose="020B0604020202020204"/>
                <a:ea typeface="Arial" panose="020B0604020202020204"/>
                <a:cs typeface="Arial" panose="020B0604020202020204"/>
                <a:sym typeface="Arial" panose="020B0604020202020204"/>
              </a:rPr>
              <a:t>Ichimoku</a:t>
            </a:r>
            <a:endParaRPr sz="15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73050" marR="0" lvl="0" indent="-171450" algn="just" rtl="0">
              <a:lnSpc>
                <a:spcPct val="150000"/>
              </a:lnSpc>
              <a:spcBef>
                <a:spcPts val="0"/>
              </a:spcBef>
              <a:spcAft>
                <a:spcPts val="0"/>
              </a:spcAft>
              <a:buClr>
                <a:schemeClr val="dk1"/>
              </a:buClr>
              <a:buSzPts val="2000"/>
              <a:buFont typeface="Arial" panose="020B0604020202020204"/>
              <a:buChar char="-"/>
            </a:pPr>
            <a:r>
              <a:rPr lang="en-US" sz="1500" b="0" i="0" u="none" strike="noStrike" cap="none">
                <a:solidFill>
                  <a:srgbClr val="000000"/>
                </a:solidFill>
                <a:latin typeface="Arial" panose="020B0604020202020204"/>
                <a:ea typeface="Arial" panose="020B0604020202020204"/>
                <a:cs typeface="Arial" panose="020B0604020202020204"/>
                <a:sym typeface="Arial" panose="020B0604020202020204"/>
              </a:rPr>
              <a:t>Mô hình </a:t>
            </a:r>
            <a:r>
              <a:rPr lang="en-US" sz="1500" b="1" i="0" u="none" strike="noStrike" cap="none">
                <a:solidFill>
                  <a:srgbClr val="000000"/>
                </a:solidFill>
                <a:latin typeface="Arial" panose="020B0604020202020204"/>
                <a:ea typeface="Arial" panose="020B0604020202020204"/>
                <a:cs typeface="Arial" panose="020B0604020202020204"/>
                <a:sym typeface="Arial" panose="020B0604020202020204"/>
              </a:rPr>
              <a:t>Machine Learning</a:t>
            </a:r>
            <a:r>
              <a:rPr lang="en-US" sz="1500" b="0" i="0" u="none" strike="noStrike" cap="none">
                <a:solidFill>
                  <a:srgbClr val="000000"/>
                </a:solidFill>
                <a:latin typeface="Arial" panose="020B0604020202020204"/>
                <a:ea typeface="Arial" panose="020B0604020202020204"/>
                <a:cs typeface="Arial" panose="020B0604020202020204"/>
                <a:sym typeface="Arial" panose="020B0604020202020204"/>
              </a:rPr>
              <a:t>: Sử dụng các thuật toán học sâu và máy học để phân tích dữ liệu lớn và đưa ra dự đoán: </a:t>
            </a:r>
            <a:r>
              <a:rPr lang="en-US" sz="1500" b="1" i="0" u="none" strike="noStrike" cap="none">
                <a:solidFill>
                  <a:srgbClr val="000000"/>
                </a:solidFill>
                <a:latin typeface="Arial" panose="020B0604020202020204"/>
                <a:ea typeface="Arial" panose="020B0604020202020204"/>
                <a:cs typeface="Arial" panose="020B0604020202020204"/>
                <a:sym typeface="Arial" panose="020B0604020202020204"/>
              </a:rPr>
              <a:t>Hồi quy tuyến tính </a:t>
            </a:r>
            <a:r>
              <a:rPr lang="en-US" sz="1500" b="0" i="0" u="none" strike="noStrike" cap="none">
                <a:solidFill>
                  <a:srgbClr val="000000"/>
                </a:solidFill>
                <a:latin typeface="Arial" panose="020B0604020202020204"/>
                <a:ea typeface="Arial" panose="020B0604020202020204"/>
                <a:cs typeface="Arial" panose="020B0604020202020204"/>
                <a:sym typeface="Arial" panose="020B0604020202020204"/>
              </a:rPr>
              <a:t>và </a:t>
            </a:r>
            <a:r>
              <a:rPr lang="en-US" sz="1500" b="1" i="0" u="none" strike="noStrike" cap="none">
                <a:solidFill>
                  <a:srgbClr val="000000"/>
                </a:solidFill>
                <a:latin typeface="Arial" panose="020B0604020202020204"/>
                <a:ea typeface="Arial" panose="020B0604020202020204"/>
                <a:cs typeface="Arial" panose="020B0604020202020204"/>
                <a:sym typeface="Arial" panose="020B0604020202020204"/>
              </a:rPr>
              <a:t>Cây quyết định</a:t>
            </a:r>
            <a:endParaRPr sz="15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50000"/>
              </a:lnSpc>
              <a:spcBef>
                <a:spcPts val="0"/>
              </a:spcBef>
              <a:spcAft>
                <a:spcPts val="0"/>
              </a:spcAft>
              <a:buNone/>
            </a:pPr>
            <a:r>
              <a:rPr lang="en-US" sz="1500" b="1" i="0" u="sng" strike="noStrike" cap="none">
                <a:solidFill>
                  <a:srgbClr val="000000"/>
                </a:solidFill>
                <a:latin typeface="Arial" panose="020B0604020202020204"/>
                <a:ea typeface="Arial" panose="020B0604020202020204"/>
                <a:cs typeface="Arial" panose="020B0604020202020204"/>
                <a:sym typeface="Arial" panose="020B0604020202020204"/>
              </a:rPr>
              <a:t>Backtest dựa trên data (xây dựng DWH)</a:t>
            </a:r>
            <a:endParaRPr sz="1500" b="1" i="0" u="sng"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50000"/>
              </a:lnSpc>
              <a:spcBef>
                <a:spcPts val="0"/>
              </a:spcBef>
              <a:spcAft>
                <a:spcPts val="0"/>
              </a:spcAft>
              <a:buNone/>
            </a:pPr>
            <a:r>
              <a:rPr lang="en-US" sz="1500" b="1" i="0" u="sng" strike="noStrike" cap="none">
                <a:solidFill>
                  <a:srgbClr val="000000"/>
                </a:solidFill>
                <a:latin typeface="Arial" panose="020B0604020202020204"/>
                <a:ea typeface="Arial" panose="020B0604020202020204"/>
                <a:cs typeface="Arial" panose="020B0604020202020204"/>
                <a:sym typeface="Arial" panose="020B0604020202020204"/>
              </a:rPr>
              <a:t>Auto Trade</a:t>
            </a:r>
            <a:endParaRPr sz="1500" b="1" i="0" u="sng"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8" name="Google Shape;268;p21"/>
          <p:cNvSpPr txBox="1"/>
          <p:nvPr/>
        </p:nvSpPr>
        <p:spPr>
          <a:xfrm>
            <a:off x="460650" y="790075"/>
            <a:ext cx="8134200" cy="707846"/>
          </a:xfrm>
          <a:prstGeom prst="rect">
            <a:avLst/>
          </a:prstGeom>
          <a:noFill/>
          <a:ln>
            <a:noFill/>
          </a:ln>
        </p:spPr>
        <p:txBody>
          <a:bodyPr spcFirstLastPara="1" wrap="square" lIns="91425" tIns="45700" rIns="91425" bIns="45700" anchor="t" anchorCtr="0">
            <a:spAutoFit/>
          </a:bodyPr>
          <a:lstStyle/>
          <a:p>
            <a:pPr marL="457200" marR="0" lvl="0" indent="-387350" algn="just" rtl="0">
              <a:lnSpc>
                <a:spcPct val="100000"/>
              </a:lnSpc>
              <a:spcBef>
                <a:spcPts val="0"/>
              </a:spcBef>
              <a:spcAft>
                <a:spcPts val="0"/>
              </a:spcAft>
              <a:buClr>
                <a:schemeClr val="dk1"/>
              </a:buClr>
              <a:buSzPts val="2500"/>
              <a:buFont typeface="Nunito"/>
              <a:buChar char="❏"/>
            </a:pP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B. Cụ thể các chủ đề trong khóa học cho 3 thị trường </a:t>
            </a:r>
            <a: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FX (MT5), Crypto (Binance, MEXC), Chứng khoán (SSI, DNSE)</a:t>
            </a:r>
            <a:endParaRPr sz="20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72" name="Shape 272"/>
        <p:cNvGrpSpPr/>
        <p:nvPr/>
      </p:nvGrpSpPr>
      <p:grpSpPr>
        <a:xfrm>
          <a:off x="0" y="0"/>
          <a:ext cx="0" cy="0"/>
          <a:chOff x="0" y="0"/>
          <a:chExt cx="0" cy="0"/>
        </a:xfrm>
      </p:grpSpPr>
      <p:sp>
        <p:nvSpPr>
          <p:cNvPr id="273" name="Google Shape;273;p22"/>
          <p:cNvSpPr txBox="1"/>
          <p:nvPr/>
        </p:nvSpPr>
        <p:spPr>
          <a:xfrm>
            <a:off x="248400" y="150525"/>
            <a:ext cx="91440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a:solidFill>
                  <a:schemeClr val="lt1"/>
                </a:solidFill>
                <a:latin typeface="Arial" panose="020B0604020202020204"/>
                <a:ea typeface="Arial" panose="020B0604020202020204"/>
                <a:cs typeface="Arial" panose="020B0604020202020204"/>
                <a:sym typeface="Arial" panose="020B0604020202020204"/>
              </a:rPr>
              <a:t>Công cụ lập trình</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74" name="Google Shape;274;p22"/>
          <p:cNvSpPr txBox="1"/>
          <p:nvPr/>
        </p:nvSpPr>
        <p:spPr>
          <a:xfrm>
            <a:off x="447600" y="797650"/>
            <a:ext cx="8134200" cy="477000"/>
          </a:xfrm>
          <a:prstGeom prst="rect">
            <a:avLst/>
          </a:prstGeom>
          <a:noFill/>
          <a:ln>
            <a:noFill/>
          </a:ln>
        </p:spPr>
        <p:txBody>
          <a:bodyPr spcFirstLastPara="1" wrap="square" lIns="91425" tIns="45700" rIns="91425" bIns="45700" anchor="t" anchorCtr="0">
            <a:spAutoFit/>
          </a:bodyPr>
          <a:lstStyle/>
          <a:p>
            <a:pPr marL="457200" marR="0" lvl="0" indent="-387350" algn="l" rtl="0">
              <a:lnSpc>
                <a:spcPct val="100000"/>
              </a:lnSpc>
              <a:spcBef>
                <a:spcPts val="0"/>
              </a:spcBef>
              <a:spcAft>
                <a:spcPts val="0"/>
              </a:spcAft>
              <a:buClr>
                <a:schemeClr val="dk1"/>
              </a:buClr>
              <a:buSzPts val="2500"/>
              <a:buFont typeface="Nunito"/>
              <a:buChar char="❏"/>
            </a:pPr>
            <a:r>
              <a:rPr lang="en-US" sz="2500" b="0" i="0" u="none" strike="noStrike" cap="none">
                <a:solidFill>
                  <a:schemeClr val="dk1"/>
                </a:solidFill>
                <a:latin typeface="Arial" panose="020B0604020202020204"/>
                <a:ea typeface="Arial" panose="020B0604020202020204"/>
                <a:cs typeface="Arial" panose="020B0604020202020204"/>
                <a:sym typeface="Arial" panose="020B0604020202020204"/>
              </a:rPr>
              <a:t>C. Công cụ lập trình</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75" name="Google Shape;275;p22"/>
          <p:cNvSpPr txBox="1"/>
          <p:nvPr/>
        </p:nvSpPr>
        <p:spPr>
          <a:xfrm>
            <a:off x="709609" y="1460075"/>
            <a:ext cx="8221582" cy="3975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Ngôn ngữ lập trình Python 3.11.6</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79" name="Shape 279"/>
        <p:cNvGrpSpPr/>
        <p:nvPr/>
      </p:nvGrpSpPr>
      <p:grpSpPr>
        <a:xfrm>
          <a:off x="0" y="0"/>
          <a:ext cx="0" cy="0"/>
          <a:chOff x="0" y="0"/>
          <a:chExt cx="0" cy="0"/>
        </a:xfrm>
      </p:grpSpPr>
      <p:sp>
        <p:nvSpPr>
          <p:cNvPr id="280" name="Google Shape;280;p23"/>
          <p:cNvSpPr txBox="1"/>
          <p:nvPr/>
        </p:nvSpPr>
        <p:spPr>
          <a:xfrm>
            <a:off x="248400" y="150525"/>
            <a:ext cx="91440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a:solidFill>
                  <a:schemeClr val="lt1"/>
                </a:solidFill>
                <a:latin typeface="Arial" panose="020B0604020202020204"/>
                <a:ea typeface="Arial" panose="020B0604020202020204"/>
                <a:cs typeface="Arial" panose="020B0604020202020204"/>
                <a:sym typeface="Arial" panose="020B0604020202020204"/>
              </a:rPr>
              <a:t>Công cụ lập trình</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81" name="Google Shape;281;p23"/>
          <p:cNvSpPr txBox="1"/>
          <p:nvPr/>
        </p:nvSpPr>
        <p:spPr>
          <a:xfrm>
            <a:off x="369455" y="770456"/>
            <a:ext cx="8346606" cy="477000"/>
          </a:xfrm>
          <a:prstGeom prst="rect">
            <a:avLst/>
          </a:prstGeom>
          <a:noFill/>
          <a:ln>
            <a:noFill/>
          </a:ln>
        </p:spPr>
        <p:txBody>
          <a:bodyPr spcFirstLastPara="1" wrap="square" lIns="91425" tIns="45700" rIns="91425" bIns="45700" anchor="t" anchorCtr="0">
            <a:spAutoFit/>
          </a:bodyPr>
          <a:lstStyle/>
          <a:p>
            <a:pPr marL="457200" marR="0" lvl="0" indent="-387350" algn="l" rtl="0">
              <a:lnSpc>
                <a:spcPct val="100000"/>
              </a:lnSpc>
              <a:spcBef>
                <a:spcPts val="0"/>
              </a:spcBef>
              <a:spcAft>
                <a:spcPts val="0"/>
              </a:spcAft>
              <a:buClr>
                <a:schemeClr val="dk1"/>
              </a:buClr>
              <a:buSzPts val="2500"/>
              <a:buFont typeface="Nunito"/>
              <a:buChar char="❏"/>
            </a:pPr>
            <a:r>
              <a:rPr lang="en-US" sz="2500" b="0" i="0" u="none" strike="noStrike" cap="none">
                <a:solidFill>
                  <a:schemeClr val="dk1"/>
                </a:solidFill>
                <a:latin typeface="Arial" panose="020B0604020202020204"/>
                <a:ea typeface="Arial" panose="020B0604020202020204"/>
                <a:cs typeface="Arial" panose="020B0604020202020204"/>
                <a:sym typeface="Arial" panose="020B0604020202020204"/>
              </a:rPr>
              <a:t>C. Công cụ lập trình</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2" name="Google Shape;282;p23"/>
          <p:cNvSpPr txBox="1"/>
          <p:nvPr/>
        </p:nvSpPr>
        <p:spPr>
          <a:xfrm>
            <a:off x="504950" y="1499125"/>
            <a:ext cx="4733700" cy="3629660"/>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15000"/>
              </a:lnSpc>
              <a:spcBef>
                <a:spcPts val="0"/>
              </a:spcBef>
              <a:spcAft>
                <a:spcPts val="0"/>
              </a:spcAft>
              <a:buClr>
                <a:srgbClr val="000000"/>
              </a:buClr>
              <a:buSzPts val="2000"/>
              <a:buFont typeface="Arial" panose="020B0604020202020204"/>
              <a:buChar char="•"/>
            </a:pPr>
            <a: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Môi trường lập trình</a:t>
            </a:r>
            <a:endParaRPr sz="20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55600" algn="l" rtl="0">
              <a:lnSpc>
                <a:spcPct val="115000"/>
              </a:lnSpc>
              <a:spcBef>
                <a:spcPts val="0"/>
              </a:spcBef>
              <a:spcAft>
                <a:spcPts val="0"/>
              </a:spcAft>
              <a:buClr>
                <a:schemeClr val="dk1"/>
              </a:buClr>
              <a:buSzPts val="2000"/>
              <a:buFont typeface="Arial" panose="020B0604020202020204"/>
              <a:buChar char="-"/>
            </a:pP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Python</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55600" algn="l" rtl="0">
              <a:lnSpc>
                <a:spcPct val="115000"/>
              </a:lnSpc>
              <a:spcBef>
                <a:spcPts val="0"/>
              </a:spcBef>
              <a:spcAft>
                <a:spcPts val="0"/>
              </a:spcAft>
              <a:buClr>
                <a:schemeClr val="dk1"/>
              </a:buClr>
              <a:buSzPts val="2000"/>
              <a:buFont typeface="Arial" panose="020B0604020202020204"/>
              <a:buChar char="-"/>
            </a:pP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VSCode (Visual Studio Code)</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55600" algn="l" rtl="0">
              <a:lnSpc>
                <a:spcPct val="115000"/>
              </a:lnSpc>
              <a:spcBef>
                <a:spcPts val="0"/>
              </a:spcBef>
              <a:spcAft>
                <a:spcPts val="0"/>
              </a:spcAft>
              <a:buClr>
                <a:schemeClr val="dk1"/>
              </a:buClr>
              <a:buSzPts val="2000"/>
              <a:buFont typeface="Arial" panose="020B0604020202020204"/>
              <a:buChar char="-"/>
            </a:pP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&lt;write code -&gt; compile -&gt; run&gt;</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chemeClr val="dk1"/>
              </a:buClr>
              <a:buSzPts val="1100"/>
              <a:buFont typeface="Arial" panose="020B0604020202020204"/>
              <a:buNone/>
            </a:pP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just" rtl="0">
              <a:lnSpc>
                <a:spcPct val="115000"/>
              </a:lnSpc>
              <a:spcBef>
                <a:spcPts val="0"/>
              </a:spcBef>
              <a:spcAft>
                <a:spcPts val="0"/>
              </a:spcAft>
              <a:buClr>
                <a:srgbClr val="000000"/>
              </a:buClr>
              <a:buSzPts val="2000"/>
              <a:buFont typeface="Arial" panose="020B0604020202020204"/>
              <a:buChar char="•"/>
            </a:pPr>
            <a: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Một số trang web hữu dụng cho</a:t>
            </a:r>
            <a:b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br>
            <a: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tìm kiếm và debug</a:t>
            </a:r>
            <a:endParaRPr sz="20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55600" algn="l" rtl="0">
              <a:lnSpc>
                <a:spcPct val="115000"/>
              </a:lnSpc>
              <a:spcBef>
                <a:spcPts val="0"/>
              </a:spcBef>
              <a:spcAft>
                <a:spcPts val="0"/>
              </a:spcAft>
              <a:buClr>
                <a:schemeClr val="dk1"/>
              </a:buClr>
              <a:buSzPts val="2000"/>
              <a:buFont typeface="Arial" panose="020B0604020202020204"/>
              <a:buChar char="-"/>
            </a:pPr>
            <a:r>
              <a:rPr lang="en-US" sz="2000" b="0" i="0" u="sng" strike="noStrike" cap="none">
                <a:solidFill>
                  <a:schemeClr val="dk1"/>
                </a:solidFill>
                <a:latin typeface="Arial" panose="020B0604020202020204"/>
                <a:ea typeface="Arial" panose="020B0604020202020204"/>
                <a:cs typeface="Arial" panose="020B0604020202020204"/>
                <a:sym typeface="Arial" panose="020B0604020202020204"/>
                <a:hlinkClick r:id="rId2"/>
              </a:rPr>
              <a:t>https://stackoverflow.com/</a:t>
            </a: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55600" algn="l" rtl="0">
              <a:lnSpc>
                <a:spcPct val="115000"/>
              </a:lnSpc>
              <a:spcBef>
                <a:spcPts val="0"/>
              </a:spcBef>
              <a:spcAft>
                <a:spcPts val="0"/>
              </a:spcAft>
              <a:buClr>
                <a:schemeClr val="dk1"/>
              </a:buClr>
              <a:buSzPts val="2000"/>
              <a:buFont typeface="Arial" panose="020B0604020202020204"/>
              <a:buChar char="-"/>
            </a:pP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Lưu trữ mã nguồn: </a:t>
            </a:r>
            <a:r>
              <a:rPr lang="en-US" sz="2000" b="0" i="0" u="sng" strike="noStrike" cap="none">
                <a:solidFill>
                  <a:schemeClr val="dk1"/>
                </a:solidFill>
                <a:latin typeface="Arial" panose="020B0604020202020204"/>
                <a:ea typeface="Arial" panose="020B0604020202020204"/>
                <a:cs typeface="Arial" panose="020B0604020202020204"/>
                <a:sym typeface="Arial" panose="020B0604020202020204"/>
                <a:hlinkClick r:id="rId3"/>
              </a:rPr>
              <a:t>https://github.com/</a:t>
            </a: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283" name="Google Shape;283;p23"/>
          <p:cNvPicPr preferRelativeResize="0"/>
          <p:nvPr/>
        </p:nvPicPr>
        <p:blipFill rotWithShape="1">
          <a:blip r:embed="rId4"/>
          <a:srcRect/>
          <a:stretch>
            <a:fillRect/>
          </a:stretch>
        </p:blipFill>
        <p:spPr>
          <a:xfrm>
            <a:off x="5909505" y="2095588"/>
            <a:ext cx="754826" cy="754825"/>
          </a:xfrm>
          <a:prstGeom prst="rect">
            <a:avLst/>
          </a:prstGeom>
          <a:noFill/>
          <a:ln>
            <a:noFill/>
          </a:ln>
        </p:spPr>
      </p:pic>
      <p:pic>
        <p:nvPicPr>
          <p:cNvPr id="284" name="Google Shape;284;p23"/>
          <p:cNvPicPr preferRelativeResize="0"/>
          <p:nvPr/>
        </p:nvPicPr>
        <p:blipFill rotWithShape="1">
          <a:blip r:embed="rId5"/>
          <a:srcRect/>
          <a:stretch>
            <a:fillRect/>
          </a:stretch>
        </p:blipFill>
        <p:spPr>
          <a:xfrm>
            <a:off x="5375910" y="1343660"/>
            <a:ext cx="1821180" cy="60198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88" name="Shape 288"/>
        <p:cNvGrpSpPr/>
        <p:nvPr/>
      </p:nvGrpSpPr>
      <p:grpSpPr>
        <a:xfrm>
          <a:off x="0" y="0"/>
          <a:ext cx="0" cy="0"/>
          <a:chOff x="0" y="0"/>
          <a:chExt cx="0" cy="0"/>
        </a:xfrm>
      </p:grpSpPr>
      <p:sp>
        <p:nvSpPr>
          <p:cNvPr id="289" name="Google Shape;289;p24"/>
          <p:cNvSpPr txBox="1"/>
          <p:nvPr/>
        </p:nvSpPr>
        <p:spPr>
          <a:xfrm>
            <a:off x="304800" y="139783"/>
            <a:ext cx="52080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a:solidFill>
                  <a:schemeClr val="lt1"/>
                </a:solidFill>
                <a:latin typeface="Arial" panose="020B0604020202020204"/>
                <a:ea typeface="Arial" panose="020B0604020202020204"/>
                <a:cs typeface="Arial" panose="020B0604020202020204"/>
                <a:sym typeface="Arial" panose="020B0604020202020204"/>
              </a:rPr>
              <a:t>Install and try!</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90" name="Google Shape;290;p24"/>
          <p:cNvSpPr txBox="1"/>
          <p:nvPr/>
        </p:nvSpPr>
        <p:spPr>
          <a:xfrm>
            <a:off x="504900" y="1669700"/>
            <a:ext cx="81342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91" name="Google Shape;291;p24"/>
          <p:cNvSpPr txBox="1"/>
          <p:nvPr/>
        </p:nvSpPr>
        <p:spPr>
          <a:xfrm>
            <a:off x="504900" y="788472"/>
            <a:ext cx="8134200" cy="1628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First program:</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Print “Hello World!”</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95" name="Shape 295"/>
        <p:cNvGrpSpPr/>
        <p:nvPr/>
      </p:nvGrpSpPr>
      <p:grpSpPr>
        <a:xfrm>
          <a:off x="0" y="0"/>
          <a:ext cx="0" cy="0"/>
          <a:chOff x="0" y="0"/>
          <a:chExt cx="0" cy="0"/>
        </a:xfrm>
      </p:grpSpPr>
      <p:sp>
        <p:nvSpPr>
          <p:cNvPr id="296" name="Google Shape;296;p25"/>
          <p:cNvSpPr txBox="1"/>
          <p:nvPr/>
        </p:nvSpPr>
        <p:spPr>
          <a:xfrm>
            <a:off x="304800" y="139783"/>
            <a:ext cx="52080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a:solidFill>
                  <a:schemeClr val="lt1"/>
                </a:solidFill>
                <a:latin typeface="Arial" panose="020B0604020202020204"/>
                <a:ea typeface="Arial" panose="020B0604020202020204"/>
                <a:cs typeface="Arial" panose="020B0604020202020204"/>
                <a:sym typeface="Arial" panose="020B0604020202020204"/>
              </a:rPr>
              <a:t>Phương pháp học</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97" name="Google Shape;297;p25"/>
          <p:cNvSpPr txBox="1"/>
          <p:nvPr/>
        </p:nvSpPr>
        <p:spPr>
          <a:xfrm>
            <a:off x="504900" y="1669700"/>
            <a:ext cx="81342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98" name="Google Shape;298;p25"/>
          <p:cNvSpPr txBox="1"/>
          <p:nvPr/>
        </p:nvSpPr>
        <p:spPr>
          <a:xfrm>
            <a:off x="504900" y="779233"/>
            <a:ext cx="8134200" cy="532449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Trên lớp giảng viên sẽ:</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23850" algn="l" rtl="0">
              <a:lnSpc>
                <a:spcPct val="100000"/>
              </a:lnSpc>
              <a:spcBef>
                <a:spcPts val="1600"/>
              </a:spcBef>
              <a:spcAft>
                <a:spcPts val="0"/>
              </a:spcAft>
              <a:buClr>
                <a:schemeClr val="dk1"/>
              </a:buClr>
              <a:buSzPts val="1500"/>
              <a:buFont typeface="Nunito"/>
              <a:buChar char="-"/>
            </a:pP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Dạy lý thuyết</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23850" algn="l" rtl="0">
              <a:lnSpc>
                <a:spcPct val="100000"/>
              </a:lnSpc>
              <a:spcBef>
                <a:spcPts val="1600"/>
              </a:spcBef>
              <a:spcAft>
                <a:spcPts val="0"/>
              </a:spcAft>
              <a:buClr>
                <a:schemeClr val="dk1"/>
              </a:buClr>
              <a:buSzPts val="1500"/>
              <a:buFont typeface="Nunito"/>
              <a:buChar char="-"/>
            </a:pP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Hỗ trợ code chiến lược của học viên</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23850" algn="l" rtl="0">
              <a:lnSpc>
                <a:spcPct val="100000"/>
              </a:lnSpc>
              <a:spcBef>
                <a:spcPts val="1600"/>
              </a:spcBef>
              <a:spcAft>
                <a:spcPts val="0"/>
              </a:spcAft>
              <a:buClr>
                <a:schemeClr val="dk1"/>
              </a:buClr>
              <a:buSzPts val="1500"/>
              <a:buFont typeface="Nunito"/>
              <a:buChar char="-"/>
            </a:pP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Demo cách thực hiện</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600"/>
              </a:spcBef>
              <a:spcAft>
                <a:spcPts val="0"/>
              </a:spcAft>
              <a:buClr>
                <a:schemeClr val="dk1"/>
              </a:buClr>
              <a:buSzPts val="1500"/>
              <a:buFont typeface="Arial" panose="020B0604020202020204"/>
              <a:buNone/>
            </a:pP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Sau buổi học, học viên sẽ:</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23850" algn="l" rtl="0">
              <a:lnSpc>
                <a:spcPct val="100000"/>
              </a:lnSpc>
              <a:spcBef>
                <a:spcPts val="1600"/>
              </a:spcBef>
              <a:spcAft>
                <a:spcPts val="0"/>
              </a:spcAft>
              <a:buClr>
                <a:schemeClr val="dk1"/>
              </a:buClr>
              <a:buSzPts val="1500"/>
              <a:buFont typeface="Nunito"/>
              <a:buChar char="-"/>
            </a:pP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Hoàn chỉnh lại phần code của mình</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23850" algn="l" rtl="0">
              <a:lnSpc>
                <a:spcPct val="100000"/>
              </a:lnSpc>
              <a:spcBef>
                <a:spcPts val="1600"/>
              </a:spcBef>
              <a:spcAft>
                <a:spcPts val="0"/>
              </a:spcAft>
              <a:buClr>
                <a:schemeClr val="dk1"/>
              </a:buClr>
              <a:buSzPts val="1500"/>
              <a:buFont typeface="Nunito"/>
              <a:buChar char="-"/>
            </a:pP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Xem lại demo</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23850" algn="l" rtl="0">
              <a:lnSpc>
                <a:spcPct val="100000"/>
              </a:lnSpc>
              <a:spcBef>
                <a:spcPts val="1600"/>
              </a:spcBef>
              <a:spcAft>
                <a:spcPts val="0"/>
              </a:spcAft>
              <a:buClr>
                <a:schemeClr val="dk1"/>
              </a:buClr>
              <a:buSzPts val="1500"/>
              <a:buFont typeface="Nunito"/>
              <a:buChar char="-"/>
            </a:pP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Làm bài tập thực hành</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600"/>
              </a:spcBef>
              <a:spcAft>
                <a:spcPts val="0"/>
              </a:spcAft>
              <a:buClr>
                <a:schemeClr val="dk1"/>
              </a:buClr>
              <a:buSzPts val="2000"/>
              <a:buFont typeface="Arial" panose="020B0604020202020204"/>
              <a:buNone/>
            </a:pP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600"/>
              </a:spcBef>
              <a:spcAft>
                <a:spcPts val="0"/>
              </a:spcAft>
              <a:buClr>
                <a:schemeClr val="dk1"/>
              </a:buClr>
              <a:buSzPts val="1400"/>
              <a:buFont typeface="Arial" panose="020B0604020202020204"/>
              <a:buNone/>
            </a:pP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302" name="Shape 302"/>
        <p:cNvGrpSpPr/>
        <p:nvPr/>
      </p:nvGrpSpPr>
      <p:grpSpPr>
        <a:xfrm>
          <a:off x="0" y="0"/>
          <a:ext cx="0" cy="0"/>
          <a:chOff x="0" y="0"/>
          <a:chExt cx="0" cy="0"/>
        </a:xfrm>
      </p:grpSpPr>
      <p:sp>
        <p:nvSpPr>
          <p:cNvPr id="303" name="Google Shape;303;p26"/>
          <p:cNvSpPr txBox="1"/>
          <p:nvPr/>
        </p:nvSpPr>
        <p:spPr>
          <a:xfrm>
            <a:off x="304800" y="139775"/>
            <a:ext cx="8839200"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i="0" u="none" strike="noStrike" cap="none">
                <a:solidFill>
                  <a:schemeClr val="lt1"/>
                </a:solidFill>
                <a:latin typeface="Arial" panose="020B0604020202020204"/>
                <a:ea typeface="Arial" panose="020B0604020202020204"/>
                <a:cs typeface="Arial" panose="020B0604020202020204"/>
                <a:sym typeface="Arial" panose="020B0604020202020204"/>
              </a:rPr>
              <a:t>Lịch trình học</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304" name="Google Shape;304;p26"/>
          <p:cNvSpPr txBox="1"/>
          <p:nvPr/>
        </p:nvSpPr>
        <p:spPr>
          <a:xfrm>
            <a:off x="248550" y="793509"/>
            <a:ext cx="3636000" cy="1366488"/>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Giới thiệu tổng quan</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42900" algn="just" rtl="0">
              <a:lnSpc>
                <a:spcPct val="115000"/>
              </a:lnSpc>
              <a:spcBef>
                <a:spcPts val="0"/>
              </a:spcBef>
              <a:spcAft>
                <a:spcPts val="0"/>
              </a:spcAft>
              <a:buClr>
                <a:schemeClr val="dk1"/>
              </a:buClr>
              <a:buSzPts val="18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Quantitative finance</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42900" algn="just" rtl="0">
              <a:lnSpc>
                <a:spcPct val="115000"/>
              </a:lnSpc>
              <a:spcBef>
                <a:spcPts val="0"/>
              </a:spcBef>
              <a:spcAft>
                <a:spcPts val="0"/>
              </a:spcAft>
              <a:buClr>
                <a:schemeClr val="dk1"/>
              </a:buClr>
              <a:buSzPts val="18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Các sản phẩm tài chính</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42900" algn="just" rtl="0">
              <a:lnSpc>
                <a:spcPct val="115000"/>
              </a:lnSpc>
              <a:spcBef>
                <a:spcPts val="0"/>
              </a:spcBef>
              <a:spcAft>
                <a:spcPts val="0"/>
              </a:spcAft>
              <a:buClr>
                <a:schemeClr val="dk1"/>
              </a:buClr>
              <a:buSzPts val="18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Python</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305" name="Google Shape;305;p26"/>
          <p:cNvSpPr txBox="1"/>
          <p:nvPr/>
        </p:nvSpPr>
        <p:spPr>
          <a:xfrm>
            <a:off x="248550" y="2273161"/>
            <a:ext cx="3636000" cy="1685036"/>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Xây dựng chiến thuật đầu tư</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15000"/>
              </a:lnSpc>
              <a:spcBef>
                <a:spcPts val="0"/>
              </a:spcBef>
              <a:spcAft>
                <a:spcPts val="0"/>
              </a:spcAft>
              <a:buClr>
                <a:srgbClr val="000000"/>
              </a:buClr>
              <a:buSzPts val="18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VIX backtest</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15000"/>
              </a:lnSpc>
              <a:spcBef>
                <a:spcPts val="0"/>
              </a:spcBef>
              <a:spcAft>
                <a:spcPts val="0"/>
              </a:spcAft>
              <a:buClr>
                <a:srgbClr val="000000"/>
              </a:buClr>
              <a:buSzPts val="18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MA/ ATR backtest</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15000"/>
              </a:lnSpc>
              <a:spcBef>
                <a:spcPts val="0"/>
              </a:spcBef>
              <a:spcAft>
                <a:spcPts val="0"/>
              </a:spcAft>
              <a:buClr>
                <a:srgbClr val="000000"/>
              </a:buClr>
              <a:buSzPts val="18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Event-based backtest</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15000"/>
              </a:lnSpc>
              <a:spcBef>
                <a:spcPts val="0"/>
              </a:spcBef>
              <a:spcAft>
                <a:spcPts val="0"/>
              </a:spcAft>
              <a:buClr>
                <a:srgbClr val="000000"/>
              </a:buClr>
              <a:buSzPts val="18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Vectorized backtest</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306" name="Google Shape;306;p26"/>
          <p:cNvSpPr txBox="1"/>
          <p:nvPr/>
        </p:nvSpPr>
        <p:spPr>
          <a:xfrm>
            <a:off x="4324225" y="793509"/>
            <a:ext cx="4588866" cy="264068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Tìm hiểu về ngôn ngữ lập trình Python</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42900" algn="l" rtl="0">
              <a:lnSpc>
                <a:spcPct val="115000"/>
              </a:lnSpc>
              <a:spcBef>
                <a:spcPts val="0"/>
              </a:spcBef>
              <a:spcAft>
                <a:spcPts val="0"/>
              </a:spcAft>
              <a:buClr>
                <a:schemeClr val="dk1"/>
              </a:buClr>
              <a:buSzPts val="18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Python cơ bản</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42900" algn="l" rtl="0">
              <a:lnSpc>
                <a:spcPct val="115000"/>
              </a:lnSpc>
              <a:spcBef>
                <a:spcPts val="0"/>
              </a:spcBef>
              <a:spcAft>
                <a:spcPts val="0"/>
              </a:spcAft>
              <a:buClr>
                <a:schemeClr val="dk1"/>
              </a:buClr>
              <a:buSzPts val="18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Các thư viện hữu ích:</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20090" marR="0" lvl="0" indent="-342900" algn="l" rtl="0">
              <a:lnSpc>
                <a:spcPct val="115000"/>
              </a:lnSpc>
              <a:spcBef>
                <a:spcPts val="0"/>
              </a:spcBef>
              <a:spcAft>
                <a:spcPts val="0"/>
              </a:spcAft>
              <a:buClr>
                <a:schemeClr val="dk1"/>
              </a:buClr>
              <a:buSzPts val="18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Data analysis: pandas, numpy</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20090" marR="0" lvl="0" indent="-342900" algn="l" rtl="0">
              <a:lnSpc>
                <a:spcPct val="115000"/>
              </a:lnSpc>
              <a:spcBef>
                <a:spcPts val="0"/>
              </a:spcBef>
              <a:spcAft>
                <a:spcPts val="0"/>
              </a:spcAft>
              <a:buClr>
                <a:schemeClr val="dk1"/>
              </a:buClr>
              <a:buSzPts val="18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Data visualization: matplotlib, seaborn</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20090" marR="0" lvl="0" indent="-342900" algn="l" rtl="0">
              <a:lnSpc>
                <a:spcPct val="115000"/>
              </a:lnSpc>
              <a:spcBef>
                <a:spcPts val="0"/>
              </a:spcBef>
              <a:spcAft>
                <a:spcPts val="0"/>
              </a:spcAft>
              <a:buClr>
                <a:schemeClr val="dk1"/>
              </a:buClr>
              <a:buSzPts val="18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Crawl data: request, beautifulsoup</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42900" algn="l" rtl="0">
              <a:lnSpc>
                <a:spcPct val="115000"/>
              </a:lnSpc>
              <a:spcBef>
                <a:spcPts val="0"/>
              </a:spcBef>
              <a:spcAft>
                <a:spcPts val="0"/>
              </a:spcAft>
              <a:buClr>
                <a:schemeClr val="dk1"/>
              </a:buClr>
              <a:buSzPts val="18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Sử dụng Git/ tìm kiếm source code</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307" name="Google Shape;307;p26"/>
          <p:cNvSpPr txBox="1"/>
          <p:nvPr/>
        </p:nvSpPr>
        <p:spPr>
          <a:xfrm>
            <a:off x="4324225" y="3526556"/>
            <a:ext cx="4588866" cy="1047939"/>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Machine learning</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42900" algn="l" rtl="0">
              <a:lnSpc>
                <a:spcPct val="115000"/>
              </a:lnSpc>
              <a:spcBef>
                <a:spcPts val="0"/>
              </a:spcBef>
              <a:spcAft>
                <a:spcPts val="0"/>
              </a:spcAft>
              <a:buClr>
                <a:schemeClr val="dk1"/>
              </a:buClr>
              <a:buSzPts val="18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Linear Regression</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42900" algn="l" rtl="0">
              <a:lnSpc>
                <a:spcPct val="115000"/>
              </a:lnSpc>
              <a:spcBef>
                <a:spcPts val="0"/>
              </a:spcBef>
              <a:spcAft>
                <a:spcPts val="0"/>
              </a:spcAft>
              <a:buClr>
                <a:schemeClr val="dk1"/>
              </a:buClr>
              <a:buSzPts val="18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Decision Tree</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308" name="Google Shape;308;p26"/>
          <p:cNvSpPr txBox="1"/>
          <p:nvPr/>
        </p:nvSpPr>
        <p:spPr>
          <a:xfrm>
            <a:off x="4324225" y="5488683"/>
            <a:ext cx="4588866" cy="574476"/>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160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Final Project</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309" name="Google Shape;309;p26"/>
          <p:cNvSpPr txBox="1"/>
          <p:nvPr/>
        </p:nvSpPr>
        <p:spPr>
          <a:xfrm>
            <a:off x="248550" y="4050526"/>
            <a:ext cx="3636000" cy="1968191"/>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Xây dựng chiến lược theo kế hoạch giao dịch tự động</a:t>
            </a: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15000"/>
              </a:lnSpc>
              <a:spcBef>
                <a:spcPts val="0"/>
              </a:spcBef>
              <a:spcAft>
                <a:spcPts val="0"/>
              </a:spcAft>
              <a:buClr>
                <a:srgbClr val="000000"/>
              </a:buClr>
              <a:buSzPts val="1800"/>
              <a:buFont typeface="Arial" panose="020B0604020202020204"/>
              <a:buChar char="-"/>
            </a:pP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Chứng khoán SSI =&gt; DK API (CCCD den tai quay)</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15000"/>
              </a:lnSpc>
              <a:spcBef>
                <a:spcPts val="0"/>
              </a:spcBef>
              <a:spcAft>
                <a:spcPts val="0"/>
              </a:spcAft>
              <a:buClr>
                <a:srgbClr val="000000"/>
              </a:buClr>
              <a:buSzPts val="1800"/>
              <a:buFont typeface="Arial" panose="020B0604020202020204"/>
              <a:buChar char="-"/>
            </a:pP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Forex =&gt; API C#, Java, Python API MT5 (Ko phai MQL5)</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15000"/>
              </a:lnSpc>
              <a:spcBef>
                <a:spcPts val="0"/>
              </a:spcBef>
              <a:spcAft>
                <a:spcPts val="0"/>
              </a:spcAft>
              <a:buClr>
                <a:srgbClr val="000000"/>
              </a:buClr>
              <a:buSzPts val="1800"/>
              <a:buFont typeface="Arial" panose="020B0604020202020204"/>
              <a:buChar char="-"/>
            </a:pPr>
            <a:r>
              <a:rPr lang="en-US" sz="1400" b="0" i="0" u="none" strike="noStrike" cap="none">
                <a:solidFill>
                  <a:schemeClr val="dk1"/>
                </a:solidFill>
                <a:latin typeface="Arial" panose="020B0604020202020204"/>
                <a:ea typeface="Arial" panose="020B0604020202020204"/>
                <a:cs typeface="Arial" panose="020B0604020202020204"/>
                <a:sym typeface="Arial" panose="020B0604020202020204"/>
              </a:rPr>
              <a:t>Crypto</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310" name="Google Shape;310;p26"/>
          <p:cNvSpPr txBox="1"/>
          <p:nvPr/>
        </p:nvSpPr>
        <p:spPr>
          <a:xfrm>
            <a:off x="4324225" y="4920756"/>
            <a:ext cx="4588866" cy="574476"/>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160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5 bài tập</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314" name="Shape 314"/>
        <p:cNvGrpSpPr/>
        <p:nvPr/>
      </p:nvGrpSpPr>
      <p:grpSpPr>
        <a:xfrm>
          <a:off x="0" y="0"/>
          <a:ext cx="0" cy="0"/>
          <a:chOff x="0" y="0"/>
          <a:chExt cx="0" cy="0"/>
        </a:xfrm>
      </p:grpSpPr>
      <p:sp>
        <p:nvSpPr>
          <p:cNvPr id="315" name="Google Shape;315;p27"/>
          <p:cNvSpPr txBox="1"/>
          <p:nvPr/>
        </p:nvSpPr>
        <p:spPr>
          <a:xfrm>
            <a:off x="423975" y="1135207"/>
            <a:ext cx="8315700" cy="684900"/>
          </a:xfrm>
          <a:prstGeom prst="rect">
            <a:avLst/>
          </a:prstGeom>
          <a:noFill/>
          <a:ln>
            <a:noFill/>
          </a:ln>
        </p:spPr>
        <p:txBody>
          <a:bodyPr spcFirstLastPara="1" wrap="square" lIns="91425" tIns="45700" rIns="91425" bIns="45700" anchor="t" anchorCtr="0">
            <a:normAutofit fontScale="70000" lnSpcReduction="20000"/>
          </a:bodyPr>
          <a:lstStyle/>
          <a:p>
            <a:pPr marL="457200" marR="0" lvl="0" indent="0" algn="l" rtl="0">
              <a:lnSpc>
                <a:spcPct val="90000"/>
              </a:lnSpc>
              <a:spcBef>
                <a:spcPts val="1000"/>
              </a:spcBef>
              <a:spcAft>
                <a:spcPts val="0"/>
              </a:spcAft>
              <a:buClr>
                <a:srgbClr val="000000"/>
              </a:buClr>
              <a:buSzPct val="100000"/>
              <a:buFont typeface="Arial" panose="020B0604020202020204"/>
              <a:buNone/>
            </a:pPr>
            <a:r>
              <a:rPr lang="en-US" sz="2800" b="0" i="1" u="none" strike="noStrike" cap="none">
                <a:solidFill>
                  <a:schemeClr val="dk1"/>
                </a:solidFill>
                <a:latin typeface="Arial" panose="020B0604020202020204"/>
                <a:ea typeface="Arial" panose="020B0604020202020204"/>
                <a:cs typeface="Arial" panose="020B0604020202020204"/>
                <a:sym typeface="Arial" panose="020B0604020202020204"/>
              </a:rPr>
              <a:t>(Tổng kết lại, buổi học hôm nay học viên đã học được những gì?)</a:t>
            </a:r>
            <a:endParaRPr sz="2800" b="0" i="1"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316" name="Google Shape;316;p27"/>
          <p:cNvSpPr txBox="1"/>
          <p:nvPr/>
        </p:nvSpPr>
        <p:spPr>
          <a:xfrm>
            <a:off x="238900" y="102000"/>
            <a:ext cx="2610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chemeClr val="lt1"/>
                </a:solidFill>
                <a:latin typeface="Arial" panose="020B0604020202020204"/>
                <a:ea typeface="Arial" panose="020B0604020202020204"/>
                <a:cs typeface="Arial" panose="020B0604020202020204"/>
                <a:sym typeface="Arial" panose="020B0604020202020204"/>
              </a:rPr>
              <a:t>Tổng kết buổi học</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320" name="Shape 32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10762</Words>
  <Application>WPS Presentation</Application>
  <PresentationFormat/>
  <Paragraphs>289</Paragraphs>
  <Slides>28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28</vt:i4>
      </vt:variant>
    </vt:vector>
  </HeadingPairs>
  <TitlesOfParts>
    <vt:vector size="40" baseType="lpstr">
      <vt:lpstr>Arial</vt:lpstr>
      <vt:lpstr>SimSun</vt:lpstr>
      <vt:lpstr>Wingdings</vt:lpstr>
      <vt:lpstr>Arial</vt:lpstr>
      <vt:lpstr>Calibri</vt:lpstr>
      <vt:lpstr>Microsoft YaHei</vt:lpstr>
      <vt:lpstr>Arial Unicode MS</vt:lpstr>
      <vt:lpstr>Roboto</vt:lpstr>
      <vt:lpstr>Times New Roman</vt:lpstr>
      <vt:lpstr>Nunito</vt:lpstr>
      <vt:lpstr>Segoe Print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Huy</dc:creator>
  <cp:lastModifiedBy>Đặng Trí Thanh</cp:lastModifiedBy>
  <cp:revision>3</cp:revision>
  <dcterms:created xsi:type="dcterms:W3CDTF">2025-07-08T13:31:00Z</dcterms:created>
  <dcterms:modified xsi:type="dcterms:W3CDTF">2025-09-10T14:08:52Z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ABE47D8045714451AC0B1C0CE8C01D61_12</vt:lpwstr>
  </property>
  <property fmtid="{D5CDD505-2E9C-101B-9397-08002B2CF9AE}" pid="3" name="KSOProductBuildVer">
    <vt:lpwstr>1033-12.2.0.22549</vt:lpwstr>
  </property>
</Properties>
</file>