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1450"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1" Type="http://schemas.openxmlformats.org/officeDocument/2006/relationships/tableStyles" Target="tableStyles.xml"/><Relationship Id="rId40" Type="http://schemas.openxmlformats.org/officeDocument/2006/relationships/viewProps" Target="viewProps.xml"/><Relationship Id="rId4" Type="http://schemas.openxmlformats.org/officeDocument/2006/relationships/notesMaster" Target="notesMasters/notesMaster1.xml"/><Relationship Id="rId39" Type="http://schemas.openxmlformats.org/officeDocument/2006/relationships/presProps" Target="presProps.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vi-V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4"/>
        <p:cNvGrpSpPr/>
        <p:nvPr/>
      </p:nvGrpSpPr>
      <p:grpSpPr>
        <a:xfrm>
          <a:off x="0" y="0"/>
          <a:ext cx="0" cy="0"/>
          <a:chOff x="0" y="0"/>
          <a:chExt cx="0" cy="0"/>
        </a:xfrm>
      </p:grpSpPr>
      <p:sp>
        <p:nvSpPr>
          <p:cNvPr id="85" name="Google Shape;85;g20ee0ad7006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86" name="Google Shape;86;g20ee0ad7006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1" name="Google Shape;91;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98" name="Google Shape;98;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2"/>
        <p:cNvGrpSpPr/>
        <p:nvPr/>
      </p:nvGrpSpPr>
      <p:grpSpPr>
        <a:xfrm>
          <a:off x="0" y="0"/>
          <a:ext cx="0" cy="0"/>
          <a:chOff x="0" y="0"/>
          <a:chExt cx="0" cy="0"/>
        </a:xfrm>
      </p:grpSpPr>
      <p:sp>
        <p:nvSpPr>
          <p:cNvPr id="103" name="Google Shape;103;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4" name="Google Shape;104;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0" name="Google Shape;110;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16" name="Google Shape;116;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3"/>
        <p:cNvGrpSpPr/>
        <p:nvPr/>
      </p:nvGrpSpPr>
      <p:grpSpPr>
        <a:xfrm>
          <a:off x="0" y="0"/>
          <a:ext cx="0" cy="0"/>
          <a:chOff x="0" y="0"/>
          <a:chExt cx="0" cy="0"/>
        </a:xfrm>
      </p:grpSpPr>
      <p:sp>
        <p:nvSpPr>
          <p:cNvPr id="124" name="Google Shape;124;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25" name="Google Shape;125;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9"/>
        <p:cNvGrpSpPr/>
        <p:nvPr/>
      </p:nvGrpSpPr>
      <p:grpSpPr>
        <a:xfrm>
          <a:off x="0" y="0"/>
          <a:ext cx="0" cy="0"/>
          <a:chOff x="0" y="0"/>
          <a:chExt cx="0" cy="0"/>
        </a:xfrm>
      </p:grpSpPr>
      <p:sp>
        <p:nvSpPr>
          <p:cNvPr id="130" name="Google Shape;130;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1" name="Google Shape;131;p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5"/>
        <p:cNvGrpSpPr/>
        <p:nvPr/>
      </p:nvGrpSpPr>
      <p:grpSpPr>
        <a:xfrm>
          <a:off x="0" y="0"/>
          <a:ext cx="0" cy="0"/>
          <a:chOff x="0" y="0"/>
          <a:chExt cx="0" cy="0"/>
        </a:xfrm>
      </p:grpSpPr>
      <p:sp>
        <p:nvSpPr>
          <p:cNvPr id="136" name="Google Shape;13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37" name="Google Shape;137;p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1"/>
        <p:cNvGrpSpPr/>
        <p:nvPr/>
      </p:nvGrpSpPr>
      <p:grpSpPr>
        <a:xfrm>
          <a:off x="0" y="0"/>
          <a:ext cx="0" cy="0"/>
          <a:chOff x="0" y="0"/>
          <a:chExt cx="0" cy="0"/>
        </a:xfrm>
      </p:grpSpPr>
      <p:sp>
        <p:nvSpPr>
          <p:cNvPr id="142" name="Google Shape;142;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43" name="Google Shape;143;p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3" name="Google Shape;153;p1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7"/>
        <p:cNvGrpSpPr/>
        <p:nvPr/>
      </p:nvGrpSpPr>
      <p:grpSpPr>
        <a:xfrm>
          <a:off x="0" y="0"/>
          <a:ext cx="0" cy="0"/>
          <a:chOff x="0" y="0"/>
          <a:chExt cx="0" cy="0"/>
        </a:xfrm>
      </p:grpSpPr>
      <p:sp>
        <p:nvSpPr>
          <p:cNvPr id="158" name="Google Shape;158;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59" name="Google Shape;159;p1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3"/>
        <p:cNvGrpSpPr/>
        <p:nvPr/>
      </p:nvGrpSpPr>
      <p:grpSpPr>
        <a:xfrm>
          <a:off x="0" y="0"/>
          <a:ext cx="0" cy="0"/>
          <a:chOff x="0" y="0"/>
          <a:chExt cx="0" cy="0"/>
        </a:xfrm>
      </p:grpSpPr>
      <p:sp>
        <p:nvSpPr>
          <p:cNvPr id="164" name="Google Shape;164;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65" name="Google Shape;165;p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9"/>
        <p:cNvGrpSpPr/>
        <p:nvPr/>
      </p:nvGrpSpPr>
      <p:grpSpPr>
        <a:xfrm>
          <a:off x="0" y="0"/>
          <a:ext cx="0" cy="0"/>
          <a:chOff x="0" y="0"/>
          <a:chExt cx="0" cy="0"/>
        </a:xfrm>
      </p:grpSpPr>
      <p:sp>
        <p:nvSpPr>
          <p:cNvPr id="170" name="Google Shape;170;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1" name="Google Shape;171;p1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5"/>
        <p:cNvGrpSpPr/>
        <p:nvPr/>
      </p:nvGrpSpPr>
      <p:grpSpPr>
        <a:xfrm>
          <a:off x="0" y="0"/>
          <a:ext cx="0" cy="0"/>
          <a:chOff x="0" y="0"/>
          <a:chExt cx="0" cy="0"/>
        </a:xfrm>
      </p:grpSpPr>
      <p:sp>
        <p:nvSpPr>
          <p:cNvPr id="176" name="Google Shape;176;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77" name="Google Shape;177;p1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1"/>
        <p:cNvGrpSpPr/>
        <p:nvPr/>
      </p:nvGrpSpPr>
      <p:grpSpPr>
        <a:xfrm>
          <a:off x="0" y="0"/>
          <a:ext cx="0" cy="0"/>
          <a:chOff x="0" y="0"/>
          <a:chExt cx="0" cy="0"/>
        </a:xfrm>
      </p:grpSpPr>
      <p:sp>
        <p:nvSpPr>
          <p:cNvPr id="182" name="Google Shape;182;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3" name="Google Shape;183;p1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7"/>
        <p:cNvGrpSpPr/>
        <p:nvPr/>
      </p:nvGrpSpPr>
      <p:grpSpPr>
        <a:xfrm>
          <a:off x="0" y="0"/>
          <a:ext cx="0" cy="0"/>
          <a:chOff x="0" y="0"/>
          <a:chExt cx="0" cy="0"/>
        </a:xfrm>
      </p:grpSpPr>
      <p:sp>
        <p:nvSpPr>
          <p:cNvPr id="188" name="Google Shape;18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89" name="Google Shape;189;p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3"/>
        <p:cNvGrpSpPr/>
        <p:nvPr/>
      </p:nvGrpSpPr>
      <p:grpSpPr>
        <a:xfrm>
          <a:off x="0" y="0"/>
          <a:ext cx="0" cy="0"/>
          <a:chOff x="0" y="0"/>
          <a:chExt cx="0" cy="0"/>
        </a:xfrm>
      </p:grpSpPr>
      <p:sp>
        <p:nvSpPr>
          <p:cNvPr id="194" name="Google Shape;194;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95" name="Google Shape;195;p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9"/>
        <p:cNvGrpSpPr/>
        <p:nvPr/>
      </p:nvGrpSpPr>
      <p:grpSpPr>
        <a:xfrm>
          <a:off x="0" y="0"/>
          <a:ext cx="0" cy="0"/>
          <a:chOff x="0" y="0"/>
          <a:chExt cx="0" cy="0"/>
        </a:xfrm>
      </p:grpSpPr>
      <p:sp>
        <p:nvSpPr>
          <p:cNvPr id="200" name="Google Shape;200;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01" name="Google Shape;201;p1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05"/>
        <p:cNvGrpSpPr/>
        <p:nvPr/>
      </p:nvGrpSpPr>
      <p:grpSpPr>
        <a:xfrm>
          <a:off x="0" y="0"/>
          <a:ext cx="0" cy="0"/>
          <a:chOff x="0" y="0"/>
          <a:chExt cx="0" cy="0"/>
        </a:xfrm>
      </p:grpSpPr>
      <p:sp>
        <p:nvSpPr>
          <p:cNvPr id="206" name="Google Shape;206;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07" name="Google Shape;207;p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1"/>
        <p:cNvGrpSpPr/>
        <p:nvPr/>
      </p:nvGrpSpPr>
      <p:grpSpPr>
        <a:xfrm>
          <a:off x="0" y="0"/>
          <a:ext cx="0" cy="0"/>
          <a:chOff x="0" y="0"/>
          <a:chExt cx="0" cy="0"/>
        </a:xfrm>
      </p:grpSpPr>
      <p:sp>
        <p:nvSpPr>
          <p:cNvPr id="212" name="Google Shape;212;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3" name="Google Shape;213;p2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17"/>
        <p:cNvGrpSpPr/>
        <p:nvPr/>
      </p:nvGrpSpPr>
      <p:grpSpPr>
        <a:xfrm>
          <a:off x="0" y="0"/>
          <a:ext cx="0" cy="0"/>
          <a:chOff x="0" y="0"/>
          <a:chExt cx="0" cy="0"/>
        </a:xfrm>
      </p:grpSpPr>
      <p:sp>
        <p:nvSpPr>
          <p:cNvPr id="218" name="Google Shape;218;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19" name="Google Shape;219;p2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3"/>
        <p:cNvGrpSpPr/>
        <p:nvPr/>
      </p:nvGrpSpPr>
      <p:grpSpPr>
        <a:xfrm>
          <a:off x="0" y="0"/>
          <a:ext cx="0" cy="0"/>
          <a:chOff x="0" y="0"/>
          <a:chExt cx="0" cy="0"/>
        </a:xfrm>
      </p:grpSpPr>
      <p:sp>
        <p:nvSpPr>
          <p:cNvPr id="224" name="Google Shape;22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25" name="Google Shape;225;p2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29"/>
        <p:cNvGrpSpPr/>
        <p:nvPr/>
      </p:nvGrpSpPr>
      <p:grpSpPr>
        <a:xfrm>
          <a:off x="0" y="0"/>
          <a:ext cx="0" cy="0"/>
          <a:chOff x="0" y="0"/>
          <a:chExt cx="0" cy="0"/>
        </a:xfrm>
      </p:grpSpPr>
      <p:sp>
        <p:nvSpPr>
          <p:cNvPr id="230" name="Google Shape;230;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1" name="Google Shape;231;p2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35"/>
        <p:cNvGrpSpPr/>
        <p:nvPr/>
      </p:nvGrpSpPr>
      <p:grpSpPr>
        <a:xfrm>
          <a:off x="0" y="0"/>
          <a:ext cx="0" cy="0"/>
          <a:chOff x="0" y="0"/>
          <a:chExt cx="0" cy="0"/>
        </a:xfrm>
      </p:grpSpPr>
      <p:sp>
        <p:nvSpPr>
          <p:cNvPr id="236" name="Google Shape;23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37" name="Google Shape;237;p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2"/>
        <p:cNvGrpSpPr/>
        <p:nvPr/>
      </p:nvGrpSpPr>
      <p:grpSpPr>
        <a:xfrm>
          <a:off x="0" y="0"/>
          <a:ext cx="0" cy="0"/>
          <a:chOff x="0" y="0"/>
          <a:chExt cx="0" cy="0"/>
        </a:xfrm>
      </p:grpSpPr>
      <p:sp>
        <p:nvSpPr>
          <p:cNvPr id="243" name="Google Shape;243;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44" name="Google Shape;244;p3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49"/>
        <p:cNvGrpSpPr/>
        <p:nvPr/>
      </p:nvGrpSpPr>
      <p:grpSpPr>
        <a:xfrm>
          <a:off x="0" y="0"/>
          <a:ext cx="0" cy="0"/>
          <a:chOff x="0" y="0"/>
          <a:chExt cx="0" cy="0"/>
        </a:xfrm>
      </p:grpSpPr>
      <p:sp>
        <p:nvSpPr>
          <p:cNvPr id="250" name="Google Shape;250;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1" name="Google Shape;251;p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56"/>
        <p:cNvGrpSpPr/>
        <p:nvPr/>
      </p:nvGrpSpPr>
      <p:grpSpPr>
        <a:xfrm>
          <a:off x="0" y="0"/>
          <a:ext cx="0" cy="0"/>
          <a:chOff x="0" y="0"/>
          <a:chExt cx="0" cy="0"/>
        </a:xfrm>
      </p:grpSpPr>
      <p:sp>
        <p:nvSpPr>
          <p:cNvPr id="257" name="Google Shape;257;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58" name="Google Shape;258;p4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63"/>
        <p:cNvGrpSpPr/>
        <p:nvPr/>
      </p:nvGrpSpPr>
      <p:grpSpPr>
        <a:xfrm>
          <a:off x="0" y="0"/>
          <a:ext cx="0" cy="0"/>
          <a:chOff x="0" y="0"/>
          <a:chExt cx="0" cy="0"/>
        </a:xfrm>
      </p:grpSpPr>
      <p:sp>
        <p:nvSpPr>
          <p:cNvPr id="264" name="Google Shape;264;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65" name="Google Shape;265;p4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0"/>
        <p:cNvGrpSpPr/>
        <p:nvPr/>
      </p:nvGrpSpPr>
      <p:grpSpPr>
        <a:xfrm>
          <a:off x="0" y="0"/>
          <a:ext cx="0" cy="0"/>
          <a:chOff x="0" y="0"/>
          <a:chExt cx="0" cy="0"/>
        </a:xfrm>
      </p:grpSpPr>
      <p:sp>
        <p:nvSpPr>
          <p:cNvPr id="271" name="Google Shape;271;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72" name="Google Shape;272;p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77"/>
        <p:cNvGrpSpPr/>
        <p:nvPr/>
      </p:nvGrpSpPr>
      <p:grpSpPr>
        <a:xfrm>
          <a:off x="0" y="0"/>
          <a:ext cx="0" cy="0"/>
          <a:chOff x="0" y="0"/>
          <a:chExt cx="0" cy="0"/>
        </a:xfrm>
      </p:grpSpPr>
      <p:sp>
        <p:nvSpPr>
          <p:cNvPr id="278" name="Google Shape;278;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79" name="Google Shape;279;p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85"/>
        <p:cNvGrpSpPr/>
        <p:nvPr/>
      </p:nvGrpSpPr>
      <p:grpSpPr>
        <a:xfrm>
          <a:off x="0" y="0"/>
          <a:ext cx="0" cy="0"/>
          <a:chOff x="0" y="0"/>
          <a:chExt cx="0" cy="0"/>
        </a:xfrm>
      </p:grpSpPr>
      <p:sp>
        <p:nvSpPr>
          <p:cNvPr id="286" name="Google Shape;286;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87" name="Google Shape;287;p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1"/>
        <p:cNvGrpSpPr/>
        <p:nvPr/>
      </p:nvGrpSpPr>
      <p:grpSpPr>
        <a:xfrm>
          <a:off x="0" y="0"/>
          <a:ext cx="0" cy="0"/>
          <a:chOff x="0" y="0"/>
          <a:chExt cx="0" cy="0"/>
        </a:xfrm>
      </p:grpSpPr>
      <p:sp>
        <p:nvSpPr>
          <p:cNvPr id="292" name="Google Shape;292;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293" name="Google Shape;293;p4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299"/>
        <p:cNvGrpSpPr/>
        <p:nvPr/>
      </p:nvGrpSpPr>
      <p:grpSpPr>
        <a:xfrm>
          <a:off x="0" y="0"/>
          <a:ext cx="0" cy="0"/>
          <a:chOff x="0" y="0"/>
          <a:chExt cx="0" cy="0"/>
        </a:xfrm>
      </p:grpSpPr>
      <p:sp>
        <p:nvSpPr>
          <p:cNvPr id="300" name="Google Shape;300;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1" name="Google Shape;301;p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305"/>
        <p:cNvGrpSpPr/>
        <p:nvPr/>
      </p:nvGrpSpPr>
      <p:grpSpPr>
        <a:xfrm>
          <a:off x="0" y="0"/>
          <a:ext cx="0" cy="0"/>
          <a:chOff x="0" y="0"/>
          <a:chExt cx="0" cy="0"/>
        </a:xfrm>
      </p:grpSpPr>
      <p:sp>
        <p:nvSpPr>
          <p:cNvPr id="306" name="Google Shape;306;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307" name="Google Shape;307;p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15"/>
        <p:cNvGrpSpPr/>
        <p:nvPr/>
      </p:nvGrpSpPr>
      <p:grpSpPr>
        <a:xfrm>
          <a:off x="0" y="0"/>
          <a:ext cx="0" cy="0"/>
          <a:chOff x="0" y="0"/>
          <a:chExt cx="0" cy="0"/>
        </a:xfrm>
      </p:grpSpPr>
      <p:sp>
        <p:nvSpPr>
          <p:cNvPr id="16" name="Google Shape;16;p2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19"/>
        <p:cNvGrpSpPr/>
        <p:nvPr/>
      </p:nvGrpSpPr>
      <p:grpSpPr>
        <a:xfrm>
          <a:off x="0" y="0"/>
          <a:ext cx="0" cy="0"/>
          <a:chOff x="0" y="0"/>
          <a:chExt cx="0" cy="0"/>
        </a:xfrm>
      </p:grpSpPr>
      <p:sp>
        <p:nvSpPr>
          <p:cNvPr id="20" name="Google Shape;20;p29"/>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29"/>
          <p:cNvSpPr txBox="1">
            <a:spLocks noGrp="1"/>
          </p:cNvSpPr>
          <p:nvPr>
            <p:ph type="body" idx="1"/>
          </p:nvPr>
        </p:nvSpPr>
        <p:spPr>
          <a:xfrm>
            <a:off x="6286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29"/>
          <p:cNvSpPr txBox="1">
            <a:spLocks noGrp="1"/>
          </p:cNvSpPr>
          <p:nvPr>
            <p:ph type="body" idx="2"/>
          </p:nvPr>
        </p:nvSpPr>
        <p:spPr>
          <a:xfrm>
            <a:off x="4629150" y="1825625"/>
            <a:ext cx="38862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3" name="Google Shape;23;p2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6"/>
        <p:cNvGrpSpPr/>
        <p:nvPr/>
      </p:nvGrpSpPr>
      <p:grpSpPr>
        <a:xfrm>
          <a:off x="0" y="0"/>
          <a:ext cx="0" cy="0"/>
          <a:chOff x="0" y="0"/>
          <a:chExt cx="0" cy="0"/>
        </a:xfrm>
      </p:grpSpPr>
      <p:sp>
        <p:nvSpPr>
          <p:cNvPr id="27" name="Google Shape;27;p30"/>
          <p:cNvSpPr txBox="1">
            <a:spLocks noGrp="1"/>
          </p:cNvSpPr>
          <p:nvPr>
            <p:ph type="ctrTitle"/>
          </p:nvPr>
        </p:nvSpPr>
        <p:spPr>
          <a:xfrm>
            <a:off x="685800" y="1122363"/>
            <a:ext cx="77724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30"/>
          <p:cNvSpPr txBox="1">
            <a:spLocks noGrp="1"/>
          </p:cNvSpPr>
          <p:nvPr>
            <p:ph type="subTitle" idx="1"/>
          </p:nvPr>
        </p:nvSpPr>
        <p:spPr>
          <a:xfrm>
            <a:off x="1143000" y="3602038"/>
            <a:ext cx="6858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9" name="Google Shape;29;p3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3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3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31"/>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35" name="Google Shape;35;p3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3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3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8"/>
        <p:cNvGrpSpPr/>
        <p:nvPr/>
      </p:nvGrpSpPr>
      <p:grpSpPr>
        <a:xfrm>
          <a:off x="0" y="0"/>
          <a:ext cx="0" cy="0"/>
          <a:chOff x="0" y="0"/>
          <a:chExt cx="0" cy="0"/>
        </a:xfrm>
      </p:grpSpPr>
      <p:sp>
        <p:nvSpPr>
          <p:cNvPr id="39" name="Google Shape;39;p32"/>
          <p:cNvSpPr txBox="1">
            <a:spLocks noGrp="1"/>
          </p:cNvSpPr>
          <p:nvPr>
            <p:ph type="title"/>
          </p:nvPr>
        </p:nvSpPr>
        <p:spPr>
          <a:xfrm>
            <a:off x="623888" y="1709739"/>
            <a:ext cx="78867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32"/>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1" name="Google Shape;41;p3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3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3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4"/>
        <p:cNvGrpSpPr/>
        <p:nvPr/>
      </p:nvGrpSpPr>
      <p:grpSpPr>
        <a:xfrm>
          <a:off x="0" y="0"/>
          <a:ext cx="0" cy="0"/>
          <a:chOff x="0" y="0"/>
          <a:chExt cx="0" cy="0"/>
        </a:xfrm>
      </p:grpSpPr>
      <p:sp>
        <p:nvSpPr>
          <p:cNvPr id="45" name="Google Shape;45;p33"/>
          <p:cNvSpPr txBox="1">
            <a:spLocks noGrp="1"/>
          </p:cNvSpPr>
          <p:nvPr>
            <p:ph type="title"/>
          </p:nvPr>
        </p:nvSpPr>
        <p:spPr>
          <a:xfrm>
            <a:off x="629841"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33"/>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7" name="Google Shape;47;p33"/>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8" name="Google Shape;48;p33"/>
          <p:cNvSpPr txBox="1">
            <a:spLocks noGrp="1"/>
          </p:cNvSpPr>
          <p:nvPr>
            <p:ph type="body" idx="3"/>
          </p:nvPr>
        </p:nvSpPr>
        <p:spPr>
          <a:xfrm>
            <a:off x="4629150" y="1681163"/>
            <a:ext cx="38873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49" name="Google Shape;49;p33"/>
          <p:cNvSpPr txBox="1">
            <a:spLocks noGrp="1"/>
          </p:cNvSpPr>
          <p:nvPr>
            <p:ph type="body" idx="4"/>
          </p:nvPr>
        </p:nvSpPr>
        <p:spPr>
          <a:xfrm>
            <a:off x="4629150" y="2505075"/>
            <a:ext cx="3887391"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3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3"/>
        <p:cNvGrpSpPr/>
        <p:nvPr/>
      </p:nvGrpSpPr>
      <p:grpSpPr>
        <a:xfrm>
          <a:off x="0" y="0"/>
          <a:ext cx="0" cy="0"/>
          <a:chOff x="0" y="0"/>
          <a:chExt cx="0" cy="0"/>
        </a:xfrm>
      </p:grpSpPr>
      <p:sp>
        <p:nvSpPr>
          <p:cNvPr id="54" name="Google Shape;54;p34"/>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34"/>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4"/>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4"/>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58"/>
        <p:cNvGrpSpPr/>
        <p:nvPr/>
      </p:nvGrpSpPr>
      <p:grpSpPr>
        <a:xfrm>
          <a:off x="0" y="0"/>
          <a:ext cx="0" cy="0"/>
          <a:chOff x="0" y="0"/>
          <a:chExt cx="0" cy="0"/>
        </a:xfrm>
      </p:grpSpPr>
      <p:sp>
        <p:nvSpPr>
          <p:cNvPr id="59" name="Google Shape;59;p35"/>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35"/>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1" name="Google Shape;61;p35"/>
          <p:cNvSpPr txBox="1">
            <a:spLocks noGrp="1"/>
          </p:cNvSpPr>
          <p:nvPr>
            <p:ph type="body" idx="2"/>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2" name="Google Shape;62;p3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5"/>
        <p:cNvGrpSpPr/>
        <p:nvPr/>
      </p:nvGrpSpPr>
      <p:grpSpPr>
        <a:xfrm>
          <a:off x="0" y="0"/>
          <a:ext cx="0" cy="0"/>
          <a:chOff x="0" y="0"/>
          <a:chExt cx="0" cy="0"/>
        </a:xfrm>
      </p:grpSpPr>
      <p:sp>
        <p:nvSpPr>
          <p:cNvPr id="66" name="Google Shape;66;p36"/>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36"/>
          <p:cNvSpPr>
            <a:spLocks noGrp="1"/>
          </p:cNvSpPr>
          <p:nvPr>
            <p:ph type="pic" idx="2"/>
          </p:nvPr>
        </p:nvSpPr>
        <p:spPr>
          <a:xfrm>
            <a:off x="3887391" y="987426"/>
            <a:ext cx="4629150" cy="4873625"/>
          </a:xfrm>
          <a:prstGeom prst="rect">
            <a:avLst/>
          </a:prstGeom>
          <a:noFill/>
          <a:ln>
            <a:noFill/>
          </a:ln>
        </p:spPr>
      </p:sp>
      <p:sp>
        <p:nvSpPr>
          <p:cNvPr id="68" name="Google Shape;68;p36"/>
          <p:cNvSpPr txBox="1">
            <a:spLocks noGrp="1"/>
          </p:cNvSpPr>
          <p:nvPr>
            <p:ph type="body" idx="1"/>
          </p:nvPr>
        </p:nvSpPr>
        <p:spPr>
          <a:xfrm>
            <a:off x="629841" y="2057400"/>
            <a:ext cx="2949178"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3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2"/>
        <p:cNvGrpSpPr/>
        <p:nvPr/>
      </p:nvGrpSpPr>
      <p:grpSpPr>
        <a:xfrm>
          <a:off x="0" y="0"/>
          <a:ext cx="0" cy="0"/>
          <a:chOff x="0" y="0"/>
          <a:chExt cx="0" cy="0"/>
        </a:xfrm>
      </p:grpSpPr>
      <p:sp>
        <p:nvSpPr>
          <p:cNvPr id="73" name="Google Shape;73;p3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7"/>
          <p:cNvSpPr txBox="1">
            <a:spLocks noGrp="1"/>
          </p:cNvSpPr>
          <p:nvPr>
            <p:ph type="body" idx="1"/>
          </p:nvPr>
        </p:nvSpPr>
        <p:spPr>
          <a:xfrm rot="5400000">
            <a:off x="2396331" y="57944"/>
            <a:ext cx="4351338"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5" name="Google Shape;75;p3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78"/>
        <p:cNvGrpSpPr/>
        <p:nvPr/>
      </p:nvGrpSpPr>
      <p:grpSpPr>
        <a:xfrm>
          <a:off x="0" y="0"/>
          <a:ext cx="0" cy="0"/>
          <a:chOff x="0" y="0"/>
          <a:chExt cx="0" cy="0"/>
        </a:xfrm>
      </p:grpSpPr>
      <p:sp>
        <p:nvSpPr>
          <p:cNvPr id="79" name="Google Shape;79;p38"/>
          <p:cNvSpPr txBox="1">
            <a:spLocks noGrp="1"/>
          </p:cNvSpPr>
          <p:nvPr>
            <p:ph type="title"/>
          </p:nvPr>
        </p:nvSpPr>
        <p:spPr>
          <a:xfrm rot="5400000">
            <a:off x="4623594" y="2285207"/>
            <a:ext cx="5811838"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38"/>
          <p:cNvSpPr txBox="1">
            <a:spLocks noGrp="1"/>
          </p:cNvSpPr>
          <p:nvPr>
            <p:ph type="body" idx="1"/>
          </p:nvPr>
        </p:nvSpPr>
        <p:spPr>
          <a:xfrm rot="5400000">
            <a:off x="623094" y="370681"/>
            <a:ext cx="5811838" cy="58007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1" name="Google Shape;81;p3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27"/>
          <p:cNvSpPr txBox="1">
            <a:spLocks noGrp="1"/>
          </p:cNvSpPr>
          <p:nvPr>
            <p:ph type="title"/>
          </p:nvPr>
        </p:nvSpPr>
        <p:spPr>
          <a:xfrm>
            <a:off x="628650" y="365126"/>
            <a:ext cx="78867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27"/>
          <p:cNvSpPr txBox="1">
            <a:spLocks noGrp="1"/>
          </p:cNvSpPr>
          <p:nvPr>
            <p:ph type="body" idx="1"/>
          </p:nvPr>
        </p:nvSpPr>
        <p:spPr>
          <a:xfrm>
            <a:off x="628650" y="1825625"/>
            <a:ext cx="78867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2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2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2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vi-VN"/>
            </a:fld>
            <a:endParaRPr lang="vi-V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7.png"/><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25.xml"/><Relationship Id="rId3" Type="http://schemas.openxmlformats.org/officeDocument/2006/relationships/slideLayout" Target="../slideLayouts/slideLayout1.xml"/><Relationship Id="rId2" Type="http://schemas.openxmlformats.org/officeDocument/2006/relationships/image" Target="../media/image8.png"/><Relationship Id="rId1" Type="http://schemas.openxmlformats.org/officeDocument/2006/relationships/image" Target="../media/image3.jpe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xml"/><Relationship Id="rId2" Type="http://schemas.openxmlformats.org/officeDocument/2006/relationships/image" Target="../media/image9.png"/><Relationship Id="rId1" Type="http://schemas.openxmlformats.org/officeDocument/2006/relationships/image" Target="../media/image3.jpeg"/></Relationships>
</file>

<file path=ppt/slides/_rels/slide27.xml.rels><?xml version="1.0" encoding="UTF-8" standalone="yes"?>
<Relationships xmlns="http://schemas.openxmlformats.org/package/2006/relationships"><Relationship Id="rId4" Type="http://schemas.openxmlformats.org/officeDocument/2006/relationships/notesSlide" Target="../notesSlides/notesSlide27.xml"/><Relationship Id="rId3" Type="http://schemas.openxmlformats.org/officeDocument/2006/relationships/slideLayout" Target="../slideLayouts/slideLayout1.xml"/><Relationship Id="rId2" Type="http://schemas.openxmlformats.org/officeDocument/2006/relationships/image" Target="../media/image10.png"/><Relationship Id="rId1" Type="http://schemas.openxmlformats.org/officeDocument/2006/relationships/image" Target="../media/image3.jpe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8.xml"/><Relationship Id="rId3" Type="http://schemas.openxmlformats.org/officeDocument/2006/relationships/slideLayout" Target="../slideLayouts/slideLayout1.xml"/><Relationship Id="rId2" Type="http://schemas.openxmlformats.org/officeDocument/2006/relationships/image" Target="../media/image11.png"/><Relationship Id="rId1" Type="http://schemas.openxmlformats.org/officeDocument/2006/relationships/image" Target="../media/image3.jpe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12.png"/><Relationship Id="rId1" Type="http://schemas.openxmlformats.org/officeDocument/2006/relationships/image" Target="../media/image3.jpe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xml"/><Relationship Id="rId2" Type="http://schemas.openxmlformats.org/officeDocument/2006/relationships/image" Target="../media/image13.png"/><Relationship Id="rId1" Type="http://schemas.openxmlformats.org/officeDocument/2006/relationships/image" Target="../media/image3.jpeg"/></Relationships>
</file>

<file path=ppt/slides/_rels/slide31.xml.rels><?xml version="1.0" encoding="UTF-8" standalone="yes"?>
<Relationships xmlns="http://schemas.openxmlformats.org/package/2006/relationships"><Relationship Id="rId5" Type="http://schemas.openxmlformats.org/officeDocument/2006/relationships/notesSlide" Target="../notesSlides/notesSlide31.xml"/><Relationship Id="rId4" Type="http://schemas.openxmlformats.org/officeDocument/2006/relationships/slideLayout" Target="../slideLayouts/slideLayout1.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3.jpe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3.xml.rels><?xml version="1.0" encoding="UTF-8" standalone="yes"?>
<Relationships xmlns="http://schemas.openxmlformats.org/package/2006/relationships"><Relationship Id="rId5" Type="http://schemas.openxmlformats.org/officeDocument/2006/relationships/notesSlide" Target="../notesSlides/notesSlide33.xml"/><Relationship Id="rId4" Type="http://schemas.openxmlformats.org/officeDocument/2006/relationships/slideLayout" Target="../slideLayouts/slideLayout1.xml"/><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image" Target="../media/image3.jpe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xml"/><Relationship Id="rId1" Type="http://schemas.openxmlformats.org/officeDocument/2006/relationships/image" Target="../media/image1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g20ee0ad7006_1_0" descr="Logo&#10;&#10;Description automatically generated with medium confidence"/>
          <p:cNvPicPr preferRelativeResize="0"/>
          <p:nvPr/>
        </p:nvPicPr>
        <p:blipFill rotWithShape="1">
          <a:blip r:embed="rId1"/>
          <a:srcRect/>
          <a:stretch>
            <a:fillRect/>
          </a:stretch>
        </p:blipFill>
        <p:spPr>
          <a:xfrm>
            <a:off x="0" y="0"/>
            <a:ext cx="9144000" cy="685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2"/>
        <p:cNvGrpSpPr/>
        <p:nvPr/>
      </p:nvGrpSpPr>
      <p:grpSpPr>
        <a:xfrm>
          <a:off x="0" y="0"/>
          <a:ext cx="0" cy="0"/>
          <a:chOff x="0" y="0"/>
          <a:chExt cx="0" cy="0"/>
        </a:xfrm>
      </p:grpSpPr>
      <p:sp>
        <p:nvSpPr>
          <p:cNvPr id="93" name="Google Shape;93;p2"/>
          <p:cNvSpPr txBox="1"/>
          <p:nvPr/>
        </p:nvSpPr>
        <p:spPr>
          <a:xfrm>
            <a:off x="1710635" y="1809406"/>
            <a:ext cx="6531666" cy="520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rPr>
              <a:t>Lập trình Auto Trading</a:t>
            </a:r>
            <a:endParaRPr lang="en-US" altLang="vi-VN" sz="2800" b="1" i="0" u="none" strike="noStrike" cap="none">
              <a:solidFill>
                <a:srgbClr val="FF0000"/>
              </a:solidFill>
              <a:latin typeface="Arial" panose="020B0604020202020204"/>
              <a:ea typeface="Arial" panose="020B0604020202020204"/>
              <a:cs typeface="Arial" panose="020B0604020202020204"/>
              <a:sym typeface="Arial" panose="020B0604020202020204"/>
            </a:endParaRPr>
          </a:p>
        </p:txBody>
      </p:sp>
      <p:sp>
        <p:nvSpPr>
          <p:cNvPr id="94" name="Google Shape;94;p2"/>
          <p:cNvSpPr txBox="1"/>
          <p:nvPr/>
        </p:nvSpPr>
        <p:spPr>
          <a:xfrm>
            <a:off x="2781301" y="3025123"/>
            <a:ext cx="6191400" cy="1815841"/>
          </a:xfrm>
          <a:prstGeom prst="rect">
            <a:avLst/>
          </a:prstGeom>
          <a:noFill/>
          <a:ln>
            <a:noFill/>
          </a:ln>
        </p:spPr>
        <p:txBody>
          <a:bodyPr spcFirstLastPara="1" wrap="square" lIns="91425" tIns="45700" rIns="91425" bIns="45700" anchor="t" anchorCtr="0">
            <a:spAutoFit/>
          </a:bodyPr>
          <a:lstStyle/>
          <a:p>
            <a:pPr lvl="0" algn="just">
              <a:buSzPts val="2800"/>
            </a:pPr>
            <a:r>
              <a:rPr lang="vi-VN"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Chủ đề: Triển khai thực tế chiến lược </a:t>
            </a:r>
            <a:r>
              <a:rPr lang="vi-VN" sz="2800" b="1" i="1" u="none" strike="noStrike" cap="none" dirty="0" smtClean="0">
                <a:solidFill>
                  <a:srgbClr val="FF0000"/>
                </a:solidFill>
                <a:latin typeface="Arial" panose="020B0604020202020204"/>
                <a:ea typeface="Arial" panose="020B0604020202020204"/>
                <a:cs typeface="Arial" panose="020B0604020202020204"/>
                <a:sym typeface="Arial" panose="020B0604020202020204"/>
              </a:rPr>
              <a:t>cho </a:t>
            </a:r>
            <a:r>
              <a:rPr lang="vi-VN"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Crypto </a:t>
            </a:r>
            <a:r>
              <a:rPr lang="vi-VN" sz="2800" b="1" i="1" u="none" strike="noStrike" cap="none" dirty="0" smtClean="0">
                <a:solidFill>
                  <a:srgbClr val="FF0000"/>
                </a:solidFill>
                <a:latin typeface="Arial" panose="020B0604020202020204"/>
                <a:ea typeface="Arial" panose="020B0604020202020204"/>
                <a:cs typeface="Arial" panose="020B0604020202020204"/>
                <a:sym typeface="Arial" panose="020B0604020202020204"/>
              </a:rPr>
              <a:t>Binance</a:t>
            </a:r>
            <a:r>
              <a:rPr lang="en-US" sz="2800" b="1" i="1" u="none" strike="noStrike" cap="none" dirty="0" smtClean="0">
                <a:solidFill>
                  <a:srgbClr val="FF0000"/>
                </a:solidFill>
                <a:latin typeface="Arial" panose="020B0604020202020204"/>
                <a:ea typeface="Arial" panose="020B0604020202020204"/>
                <a:cs typeface="Arial" panose="020B0604020202020204"/>
                <a:sym typeface="Arial" panose="020B0604020202020204"/>
              </a:rPr>
              <a:t>, </a:t>
            </a:r>
            <a:r>
              <a:rPr lang="vi-VN" sz="2800" b="1" i="1" dirty="0">
                <a:solidFill>
                  <a:srgbClr val="FF0000"/>
                </a:solidFill>
              </a:rPr>
              <a:t>Forex MT5, </a:t>
            </a:r>
            <a:r>
              <a:rPr lang="vi-VN" sz="2800" b="1" i="1" u="none" strike="noStrike" cap="none" dirty="0">
                <a:solidFill>
                  <a:srgbClr val="FF0000"/>
                </a:solidFill>
                <a:latin typeface="Arial" panose="020B0604020202020204"/>
                <a:ea typeface="Arial" panose="020B0604020202020204"/>
                <a:cs typeface="Arial" panose="020B0604020202020204"/>
                <a:sym typeface="Arial" panose="020B0604020202020204"/>
              </a:rPr>
              <a:t>SSI</a:t>
            </a:r>
            <a:endParaRPr sz="1400" b="0" i="0" u="none" strike="noStrike" cap="none" dirty="0">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2800" b="1" i="1" u="none" strike="noStrike" cap="none" dirty="0">
              <a:solidFill>
                <a:srgbClr val="FF0000"/>
              </a:solidFill>
              <a:latin typeface="Arial" panose="020B0604020202020204"/>
              <a:ea typeface="Arial" panose="020B0604020202020204"/>
              <a:cs typeface="Arial" panose="020B0604020202020204"/>
              <a:sym typeface="Arial" panose="020B0604020202020204"/>
            </a:endParaRPr>
          </a:p>
        </p:txBody>
      </p:sp>
      <p:sp>
        <p:nvSpPr>
          <p:cNvPr id="95" name="Google Shape;95;p2"/>
          <p:cNvSpPr txBox="1"/>
          <p:nvPr/>
        </p:nvSpPr>
        <p:spPr>
          <a:xfrm>
            <a:off x="5482536" y="4841005"/>
            <a:ext cx="3661464" cy="7359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panose="020B0604020202020204"/>
              <a:buNone/>
            </a:pPr>
            <a:r>
              <a:rPr lang="vi-VN" sz="2800" b="0" i="1" u="none" strike="noStrike" cap="none">
                <a:solidFill>
                  <a:schemeClr val="dk1"/>
                </a:solidFill>
                <a:latin typeface="Arial" panose="020B0604020202020204"/>
                <a:ea typeface="Arial" panose="020B0604020202020204"/>
                <a:cs typeface="Arial" panose="020B0604020202020204"/>
                <a:sym typeface="Arial" panose="020B0604020202020204"/>
              </a:rPr>
              <a:t>GV. Đặng Trí Thanh</a:t>
            </a:r>
            <a:endParaRPr lang="vi-VN" sz="2800" b="0" i="1"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Clr>
                <a:srgbClr val="000000"/>
              </a:buClr>
              <a:buSzPts val="28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99"/>
        <p:cNvGrpSpPr/>
        <p:nvPr/>
      </p:nvGrpSpPr>
      <p:grpSpPr>
        <a:xfrm>
          <a:off x="0" y="0"/>
          <a:ext cx="0" cy="0"/>
          <a:chOff x="0" y="0"/>
          <a:chExt cx="0" cy="0"/>
        </a:xfrm>
      </p:grpSpPr>
      <p:sp>
        <p:nvSpPr>
          <p:cNvPr id="100" name="Google Shape;100;p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Nội dung chính</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01" name="Google Shape;101;p3"/>
          <p:cNvSpPr txBox="1"/>
          <p:nvPr/>
        </p:nvSpPr>
        <p:spPr>
          <a:xfrm>
            <a:off x="424875" y="767355"/>
            <a:ext cx="8285017"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None/>
            </a:pP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Thực hành tại lớp</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1600"/>
              </a:spcBef>
              <a:spcAft>
                <a:spcPts val="0"/>
              </a:spcAft>
              <a:buClr>
                <a:schemeClr val="dk1"/>
              </a:buClr>
              <a:buSzPts val="2000"/>
              <a:buFont typeface="Maven Pro"/>
              <a:buAutoNum type="arabicPeriod"/>
            </a:pPr>
            <a:r>
              <a:rPr lang="vi-VN"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Chiến </a:t>
            </a: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lược và Auto Trade Crypto </a:t>
            </a:r>
            <a:r>
              <a:rPr lang="vi-VN"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Binance</a:t>
            </a:r>
            <a:endParaRPr lang="en-US"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endParaRPr>
          </a:p>
          <a:p>
            <a:pPr marL="457200" indent="-355600">
              <a:lnSpc>
                <a:spcPct val="115000"/>
              </a:lnSpc>
              <a:spcBef>
                <a:spcPts val="1600"/>
              </a:spcBef>
              <a:buClr>
                <a:schemeClr val="dk1"/>
              </a:buClr>
              <a:buSzPts val="2000"/>
              <a:buFont typeface="Maven Pro"/>
              <a:buAutoNum type="arabicPeriod"/>
            </a:pPr>
            <a:r>
              <a:rPr lang="vi-VN" sz="1800" b="1" dirty="0">
                <a:solidFill>
                  <a:schemeClr val="dk1"/>
                </a:solidFill>
              </a:rPr>
              <a:t>Chiến lược và Auto Trade Forex</a:t>
            </a:r>
            <a:endParaRPr lang="vi-VN" sz="1800" b="1" dirty="0">
              <a:solidFill>
                <a:schemeClr val="dk1"/>
              </a:solidFill>
            </a:endParaRPr>
          </a:p>
          <a:p>
            <a:pPr marL="457200" marR="0" lvl="0" indent="-355600" algn="l" rtl="0">
              <a:lnSpc>
                <a:spcPct val="115000"/>
              </a:lnSpc>
              <a:spcBef>
                <a:spcPts val="1600"/>
              </a:spcBef>
              <a:spcAft>
                <a:spcPts val="0"/>
              </a:spcAft>
              <a:buClr>
                <a:schemeClr val="dk1"/>
              </a:buClr>
              <a:buSzPts val="2000"/>
              <a:buFont typeface="Maven Pro"/>
              <a:buAutoNum type="arabicPeriod"/>
            </a:pPr>
            <a:r>
              <a:rPr lang="vi-VN" sz="1800" b="1" i="0" u="none" strike="noStrike" cap="none" dirty="0" smtClean="0">
                <a:solidFill>
                  <a:schemeClr val="dk1"/>
                </a:solidFill>
                <a:latin typeface="Arial" panose="020B0604020202020204"/>
                <a:ea typeface="Arial" panose="020B0604020202020204"/>
                <a:cs typeface="Arial" panose="020B0604020202020204"/>
                <a:sym typeface="Arial" panose="020B0604020202020204"/>
              </a:rPr>
              <a:t>Chiến </a:t>
            </a:r>
            <a:r>
              <a:rPr lang="vi-VN" sz="1800" b="1" i="0" u="none" strike="noStrike" cap="none" dirty="0">
                <a:solidFill>
                  <a:schemeClr val="dk1"/>
                </a:solidFill>
                <a:latin typeface="Arial" panose="020B0604020202020204"/>
                <a:ea typeface="Arial" panose="020B0604020202020204"/>
                <a:cs typeface="Arial" panose="020B0604020202020204"/>
                <a:sym typeface="Arial" panose="020B0604020202020204"/>
              </a:rPr>
              <a:t>lược và Auto Trade SSI</a:t>
            </a:r>
            <a:endParaRPr sz="1800" b="1" i="0" u="none" strike="noStrike" cap="none" dirty="0">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05"/>
        <p:cNvGrpSpPr/>
        <p:nvPr/>
      </p:nvGrpSpPr>
      <p:grpSpPr>
        <a:xfrm>
          <a:off x="0" y="0"/>
          <a:ext cx="0" cy="0"/>
          <a:chOff x="0" y="0"/>
          <a:chExt cx="0" cy="0"/>
        </a:xfrm>
      </p:grpSpPr>
      <p:sp>
        <p:nvSpPr>
          <p:cNvPr id="106" name="Google Shape;106;p1"/>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Mô hình hệ thống</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07" name="Google Shape;107;p1"/>
          <p:cNvSpPr txBox="1"/>
          <p:nvPr/>
        </p:nvSpPr>
        <p:spPr>
          <a:xfrm>
            <a:off x="424875" y="776245"/>
            <a:ext cx="8285017" cy="3467400"/>
          </a:xfrm>
          <a:prstGeom prst="rect">
            <a:avLst/>
          </a:prstGeom>
          <a:noFill/>
          <a:ln>
            <a:noFill/>
          </a:ln>
        </p:spPr>
        <p:txBody>
          <a:bodyPr spcFirstLastPara="1" wrap="square" lIns="91425" tIns="91425" rIns="91425" bIns="91425" anchor="t" anchorCtr="0">
            <a:noAutofit/>
          </a:bodyPr>
          <a:lstStyle/>
          <a:p>
            <a:pPr marL="457200" marR="0" lvl="0" indent="-355600" algn="l" rtl="0">
              <a:lnSpc>
                <a:spcPct val="115000"/>
              </a:lnSpc>
              <a:spcBef>
                <a:spcPts val="1600"/>
              </a:spcBef>
              <a:spcAft>
                <a:spcPts val="0"/>
              </a:spcAft>
              <a:buClr>
                <a:schemeClr val="dk1"/>
              </a:buClr>
              <a:buSzPts val="2000"/>
              <a:buFont typeface="Maven Pro"/>
              <a:buAutoNum type="arabicPeriod"/>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Xây dựng chiến lược</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1600"/>
              </a:spcBef>
              <a:spcAft>
                <a:spcPts val="0"/>
              </a:spcAft>
              <a:buClr>
                <a:schemeClr val="dk1"/>
              </a:buClr>
              <a:buSzPts val="2000"/>
              <a:buFont typeface="Maven Pro"/>
              <a:buAutoNum type="arabicPeriod"/>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Lập trình</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1600"/>
              </a:spcBef>
              <a:spcAft>
                <a:spcPts val="0"/>
              </a:spcAft>
              <a:buClr>
                <a:schemeClr val="dk1"/>
              </a:buClr>
              <a:buSzPts val="2000"/>
              <a:buFont typeface="Maven Pro"/>
              <a:buAutoNum type="arabicPeriod"/>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Backtesting</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1600"/>
              </a:spcBef>
              <a:spcAft>
                <a:spcPts val="0"/>
              </a:spcAft>
              <a:buClr>
                <a:schemeClr val="dk1"/>
              </a:buClr>
              <a:buSzPts val="2000"/>
              <a:buFont typeface="Maven Pro"/>
              <a:buAutoNum type="arabicPeriod"/>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Tự động hóa</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1600"/>
              </a:spcBef>
              <a:spcAft>
                <a:spcPts val="0"/>
              </a:spcAft>
              <a:buClr>
                <a:schemeClr val="dk1"/>
              </a:buClr>
              <a:buSzPts val="2000"/>
              <a:buFont typeface="Maven Pro"/>
              <a:buAutoNum type="arabicPeriod"/>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OG: Order Good</a:t>
            </a:r>
            <a:endPar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57200" marR="0" lvl="0" indent="-355600" algn="l" rtl="0">
              <a:lnSpc>
                <a:spcPct val="115000"/>
              </a:lnSpc>
              <a:spcBef>
                <a:spcPts val="1600"/>
              </a:spcBef>
              <a:spcAft>
                <a:spcPts val="0"/>
              </a:spcAft>
              <a:buClr>
                <a:schemeClr val="dk1"/>
              </a:buClr>
              <a:buSzPts val="2000"/>
              <a:buFont typeface="Maven Pro"/>
              <a:buAutoNum type="arabicPeriod"/>
            </a:pPr>
            <a:r>
              <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rPr>
              <a:t>OF: Order Follower</a:t>
            </a:r>
            <a:endParaRPr lang="vi-VN"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1"/>
        <p:cNvGrpSpPr/>
        <p:nvPr/>
      </p:nvGrpSpPr>
      <p:grpSpPr>
        <a:xfrm>
          <a:off x="0" y="0"/>
          <a:ext cx="0" cy="0"/>
          <a:chOff x="0" y="0"/>
          <a:chExt cx="0" cy="0"/>
        </a:xfrm>
      </p:grpSpPr>
      <p:sp>
        <p:nvSpPr>
          <p:cNvPr id="112" name="Google Shape;112;p5"/>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13" name="Google Shape;113;p5"/>
          <p:cNvSpPr txBox="1"/>
          <p:nvPr/>
        </p:nvSpPr>
        <p:spPr>
          <a:xfrm>
            <a:off x="424875" y="76735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Đây là bước phát triển </a:t>
            </a:r>
            <a:r>
              <a:rPr lang="vi-VN" sz="1600" b="1" i="0" u="sng" strike="noStrike" cap="none">
                <a:solidFill>
                  <a:srgbClr val="000000"/>
                </a:solidFill>
                <a:latin typeface="Arial" panose="020B0604020202020204"/>
                <a:ea typeface="Arial" panose="020B0604020202020204"/>
                <a:cs typeface="Arial" panose="020B0604020202020204"/>
                <a:sym typeface="Arial" panose="020B0604020202020204"/>
              </a:rPr>
              <a:t>các quy tắc và điều kiện cho việc giao dịch</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Các quy tắc giao dịch rõ ràng và cụ thể. Những quy tắc này có thể dựa trên các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chỉ báo kỹ thuật</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mô hình giá</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hoặc các loại phân tích khác như phân tích cơ bản hoặc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tin tức</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Cụ thể hóa</a:t>
            </a: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 những quy tắc này thành các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hướng dẫn chi tiết về khi nào và làm thế nào để thực hiện giao dịch</a:t>
            </a:r>
            <a:r>
              <a:rPr lang="en-US" alt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 (BA bussiness analyst)</a:t>
            </a:r>
            <a:endPar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Ví dụ cho Chiến lược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Doji chân dài - Mua chứng khoán</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a:t>
            </a: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Tần Suất Giao Dịch</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Nến theo khung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nào</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=&gt;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Ngày</a:t>
            </a:r>
            <a:endPar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a:t>
            </a: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Biểu đồ giá</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Các chỉ số OHLC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Timeframe của sàn</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OHLC (Timeframe của mình: Ví dụ: 5m+2)</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a:t>
            </a: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Chỉ Báo Kỹ Thuật</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Sử dụng các chỉ báo như trung bình động, RSI (Relative Strength Index), MACD (Moving Average Convergence Divergence) để xác định điểm mua hoặc bán</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=&gt; </a:t>
            </a: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Tín hiệu Mua hoặc Bán</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17"/>
        <p:cNvGrpSpPr/>
        <p:nvPr/>
      </p:nvGrpSpPr>
      <p:grpSpPr>
        <a:xfrm>
          <a:off x="0" y="0"/>
          <a:ext cx="0" cy="0"/>
          <a:chOff x="0" y="0"/>
          <a:chExt cx="0" cy="0"/>
        </a:xfrm>
      </p:grpSpPr>
      <p:sp>
        <p:nvSpPr>
          <p:cNvPr id="118" name="Google Shape;118;p6"/>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19" name="Google Shape;119;p6"/>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Chiến lược Doji Chân dài – Mua</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342900" algn="l" rtl="0">
              <a:lnSpc>
                <a:spcPct val="115000"/>
              </a:lnSpc>
              <a:spcBef>
                <a:spcPts val="1600"/>
              </a:spcBef>
              <a:spcAft>
                <a:spcPts val="0"/>
              </a:spcAft>
              <a:buClr>
                <a:schemeClr val="dk1"/>
              </a:buClr>
              <a:buSzPts val="2000"/>
              <a:buFont typeface="Arial" panose="020B0604020202020204"/>
              <a:buAutoNum type="alphaLcParenR"/>
            </a:pPr>
            <a:r>
              <a:rPr lang="vi-VN" sz="1600" b="1" i="0" u="sng" strike="noStrike" cap="none">
                <a:solidFill>
                  <a:schemeClr val="dk1"/>
                </a:solidFill>
                <a:latin typeface="Arial" panose="020B0604020202020204"/>
                <a:ea typeface="Arial" panose="020B0604020202020204"/>
                <a:cs typeface="Arial" panose="020B0604020202020204"/>
                <a:sym typeface="Arial" panose="020B0604020202020204"/>
              </a:rPr>
              <a:t>Nhận diện nến Doji chân dài: </a:t>
            </a:r>
            <a:endParaRPr lang="vi-VN" sz="1600" b="1" i="0" u="sng" strike="noStrike" cap="none">
              <a:solidFill>
                <a:schemeClr val="dk1"/>
              </a:solidFill>
              <a:latin typeface="Arial" panose="020B0604020202020204"/>
              <a:ea typeface="Arial" panose="020B0604020202020204"/>
              <a:cs typeface="Arial" panose="020B0604020202020204"/>
              <a:sym typeface="Arial" panose="020B0604020202020204"/>
            </a:endParaRPr>
          </a:p>
          <a:p>
            <a:pPr marL="387350" marR="0" lvl="0" indent="-285750" algn="l" rtl="0">
              <a:lnSpc>
                <a:spcPct val="100000"/>
              </a:lnSpc>
              <a:spcBef>
                <a:spcPts val="1600"/>
              </a:spcBef>
              <a:spcAft>
                <a:spcPts val="0"/>
              </a:spcAft>
              <a:buClr>
                <a:schemeClr val="dk1"/>
              </a:buClr>
              <a:buSzPts val="2000"/>
              <a:buFont typeface="Arial" panose="020B0604020202020204"/>
              <a:buChar char="-"/>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Là nến Doji: Nến Doji là nến có giá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mở cửa và đóng cửa </a:t>
            </a:r>
            <a:r>
              <a:rPr lang="vi-VN" sz="1600" b="1" i="0" u="none" strike="noStrike" cap="none">
                <a:solidFill>
                  <a:srgbClr val="FFC000"/>
                </a:solidFill>
                <a:latin typeface="Arial" panose="020B0604020202020204"/>
                <a:ea typeface="Arial" panose="020B0604020202020204"/>
                <a:cs typeface="Arial" panose="020B0604020202020204"/>
                <a:sym typeface="Arial" panose="020B0604020202020204"/>
              </a:rPr>
              <a:t>gần bằng nhau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(không quan trọng giá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Open &gt; hơn hay &lt; giá Close</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387350" marR="0" lvl="0" indent="-285750" algn="l" rtl="0">
              <a:lnSpc>
                <a:spcPct val="100000"/>
              </a:lnSpc>
              <a:spcBef>
                <a:spcPts val="1600"/>
              </a:spcBef>
              <a:spcAft>
                <a:spcPts val="0"/>
              </a:spcAft>
              <a:buClr>
                <a:schemeClr val="dk1"/>
              </a:buClr>
              <a:buSzPts val="2000"/>
              <a:buFont typeface="Arial" panose="020B0604020202020204"/>
              <a:buChar char="-"/>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Là nến Doji có      </a:t>
            </a:r>
            <a:endPar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00000"/>
              </a:lnSpc>
              <a:spcBef>
                <a:spcPts val="1600"/>
              </a:spcBef>
              <a:spcAft>
                <a:spcPts val="0"/>
              </a:spcAft>
              <a:buNone/>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     +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Bóng nến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trên &gt;= 2 lần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thân nến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và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bóng nến dưới &gt;= 2 lần thân nến </a:t>
            </a:r>
            <a:endPar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20" name="Google Shape;120;p6"/>
          <p:cNvSpPr txBox="1"/>
          <p:nvPr/>
        </p:nvSpPr>
        <p:spPr>
          <a:xfrm>
            <a:off x="1260739" y="5508638"/>
            <a:ext cx="74157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panose="020B0604020202020204"/>
              <a:buNone/>
            </a:pPr>
            <a:r>
              <a:rPr lang="vi-VN" sz="1800" b="1" i="0" u="none" strike="noStrike" cap="none">
                <a:solidFill>
                  <a:srgbClr val="00B050"/>
                </a:solidFill>
                <a:latin typeface="Arial" panose="020B0604020202020204"/>
                <a:ea typeface="Arial" panose="020B0604020202020204"/>
                <a:cs typeface="Arial" panose="020B0604020202020204"/>
                <a:sym typeface="Arial" panose="020B0604020202020204"/>
              </a:rPr>
              <a:t>GIÁ MỞ CỦA &amp; GIÁ ĐÓNG CỬA GẦN NHƯ NẰM TẠI CÙNG 1 ĐIỂM</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21" name="Google Shape;121;p6"/>
          <p:cNvPicPr preferRelativeResize="0"/>
          <p:nvPr/>
        </p:nvPicPr>
        <p:blipFill rotWithShape="1">
          <a:blip r:embed="rId2"/>
          <a:srcRect/>
          <a:stretch>
            <a:fillRect/>
          </a:stretch>
        </p:blipFill>
        <p:spPr>
          <a:xfrm>
            <a:off x="304800" y="5355301"/>
            <a:ext cx="833200" cy="689000"/>
          </a:xfrm>
          <a:prstGeom prst="rect">
            <a:avLst/>
          </a:prstGeom>
          <a:noFill/>
          <a:ln>
            <a:noFill/>
          </a:ln>
        </p:spPr>
      </p:pic>
      <p:pic>
        <p:nvPicPr>
          <p:cNvPr id="122" name="Google Shape;122;p6"/>
          <p:cNvPicPr preferRelativeResize="0"/>
          <p:nvPr/>
        </p:nvPicPr>
        <p:blipFill rotWithShape="1">
          <a:blip r:embed="rId3"/>
          <a:srcRect/>
          <a:stretch>
            <a:fillRect/>
          </a:stretch>
        </p:blipFill>
        <p:spPr>
          <a:xfrm>
            <a:off x="1017930" y="3403425"/>
            <a:ext cx="2409482" cy="210521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26"/>
        <p:cNvGrpSpPr/>
        <p:nvPr/>
      </p:nvGrpSpPr>
      <p:grpSpPr>
        <a:xfrm>
          <a:off x="0" y="0"/>
          <a:ext cx="0" cy="0"/>
          <a:chOff x="0" y="0"/>
          <a:chExt cx="0" cy="0"/>
        </a:xfrm>
      </p:grpSpPr>
      <p:sp>
        <p:nvSpPr>
          <p:cNvPr id="127" name="Google Shape;127;p7"/>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28" name="Google Shape;128;p7"/>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1. Chiến lược Doji Chân dài – Mua (tt)</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Chiến lược vào lệnh:</a:t>
            </a:r>
            <a:endPar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Cần nến xác nhận: </a:t>
            </a: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Sau khi xuất hiện nến Doji chân dài =&gt; Cần 1 nến xác nhận xu hướng</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Quan sát nến tiếp theo:</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1" indent="0" algn="just" rtl="0">
              <a:lnSpc>
                <a:spcPct val="100000"/>
              </a:lnSpc>
              <a:spcBef>
                <a:spcPts val="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Nếu nến tiếp theo sau Doji là một nến giảm (màu đỏ hoặc đen) và đóng cửa dưới thân nến của Doji, điều này có thể được coi là một nến xác nhận giảm giá.</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1" indent="0" algn="just" rtl="0">
              <a:lnSpc>
                <a:spcPct val="100000"/>
              </a:lnSpc>
              <a:spcBef>
                <a:spcPts val="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Ngược lại, nếu nến tiếp theo là một nến tăng (màu xanh lá hoặc trắng) và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đóng cửa trên thân nến của Doji</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nó có thể là một nến xác nhận tăng giá.</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Code kiểm tra nến xác nhận sau nến Doji chân dài 1 nến: </a:t>
            </a: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Vậy nếu code để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kiểm tra nến xác nhận sau nến Doji chân dài 1 nến </a:t>
            </a: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thì chúng ta sẽ code gì?</a:t>
            </a:r>
            <a:endPar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1" indent="0" algn="just" rtl="0">
              <a:lnSpc>
                <a:spcPct val="115000"/>
              </a:lnSpc>
              <a:spcBef>
                <a:spcPts val="1600"/>
              </a:spcBef>
              <a:spcAft>
                <a:spcPts val="0"/>
              </a:spcAft>
              <a:buNone/>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 </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Nếu nến tiếp theo là một nến tăng (màu xanh lá hoặc trắng) và đóng cửa trên thân nến của Doji, nó có thể là một nến xác nhận tăng giá. =&gt; </a:t>
            </a: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Thực hiện chiến lược mua vào</a:t>
            </a:r>
            <a:endParaRPr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32"/>
        <p:cNvGrpSpPr/>
        <p:nvPr/>
      </p:nvGrpSpPr>
      <p:grpSpPr>
        <a:xfrm>
          <a:off x="0" y="0"/>
          <a:ext cx="0" cy="0"/>
          <a:chOff x="0" y="0"/>
          <a:chExt cx="0" cy="0"/>
        </a:xfrm>
      </p:grpSpPr>
      <p:sp>
        <p:nvSpPr>
          <p:cNvPr id="133" name="Google Shape;133;p8"/>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34" name="Google Shape;134;p8"/>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1. Chiến lược Doji Chân dài – Mua (tt)</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Tổng hợp tư duy code</a:t>
            </a:r>
            <a:endParaRPr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1/ Code nhận diện nến Doji chân dài: Vậy nếu code để nhận diện nến Doji chân dài thì chúng ta sẽ code gì?</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Kiểm tra giá mở cửa và đóng cửa có gần bằng nhau không?</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Kiểm tra bóng nến trên có lớn hơn hoặc bằng 2 lần thân nến không?</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Kiểm tra bóng nến dưới có lớn hơn hoặc bằng 2 lần thân nến không?</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2/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Code kiểm tra nến xác nhận sau nến Doji chân dài 1 nến</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Vậy nếu code để kiểm tra nến xác nhận sau nến Doji chân dài 1 nến thì chúng ta sẽ code gì?</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Nếu nến tiếp theo là một nến tăng (màu xanh lá hoặc trắng) và đóng cửa trên thân nến của Doji, nó có thể là một nến xác nhận tăng giá. =&gt; Thực hiện chiến lược mua vào</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38"/>
        <p:cNvGrpSpPr/>
        <p:nvPr/>
      </p:nvGrpSpPr>
      <p:grpSpPr>
        <a:xfrm>
          <a:off x="0" y="0"/>
          <a:ext cx="0" cy="0"/>
          <a:chOff x="0" y="0"/>
          <a:chExt cx="0" cy="0"/>
        </a:xfrm>
      </p:grpSpPr>
      <p:sp>
        <p:nvSpPr>
          <p:cNvPr id="139" name="Google Shape;139;p9"/>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40" name="Google Shape;140;p9"/>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l"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1. Chiến lược Doji Chân dài – Mua (tt)</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Code chiến lược: </a:t>
            </a:r>
            <a:endPar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387350" marR="0" lvl="0" indent="-285750" algn="l" rtl="0">
              <a:lnSpc>
                <a:spcPct val="115000"/>
              </a:lnSpc>
              <a:spcBef>
                <a:spcPts val="1600"/>
              </a:spcBef>
              <a:spcAft>
                <a:spcPts val="0"/>
              </a:spcAft>
              <a:buClr>
                <a:schemeClr val="dk1"/>
              </a:buClr>
              <a:buSzPts val="2000"/>
              <a:buFont typeface="Arial" panose="020B0604020202020204"/>
              <a:buChar char="-"/>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Vậy kiểm tra nến hiện tại có phải là nến tăng hay không =&gt; Nếu nến tăng thì kiểm tra nến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trước</a:t>
            </a: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 nến hiện tại 1 nến có phải là nến Doji chân dài hay không =&gt; Kiểm tra nến hiện tại có giá </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đóng cửa trên thân nến của Doji, nó có thể là một nến xác nhận tăng giá</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      =&gt; Nếu cả 2 điều kiện đó thỏa thì vào 1 lệnh mua</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44"/>
        <p:cNvGrpSpPr/>
        <p:nvPr/>
      </p:nvGrpSpPr>
      <p:grpSpPr>
        <a:xfrm>
          <a:off x="0" y="0"/>
          <a:ext cx="0" cy="0"/>
          <a:chOff x="0" y="0"/>
          <a:chExt cx="0" cy="0"/>
        </a:xfrm>
      </p:grpSpPr>
      <p:sp>
        <p:nvSpPr>
          <p:cNvPr id="145" name="Google Shape;145;p10"/>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46" name="Google Shape;146;p10"/>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Chiến lược Doji Chân dài – Mua</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342900" algn="l" rtl="0">
              <a:lnSpc>
                <a:spcPct val="115000"/>
              </a:lnSpc>
              <a:spcBef>
                <a:spcPts val="1600"/>
              </a:spcBef>
              <a:spcAft>
                <a:spcPts val="0"/>
              </a:spcAft>
              <a:buClr>
                <a:schemeClr val="dk1"/>
              </a:buClr>
              <a:buSzPts val="2000"/>
              <a:buFont typeface="Arial" panose="020B0604020202020204"/>
              <a:buAutoNum type="alphaLcParenR" startAt="2"/>
            </a:pPr>
            <a:r>
              <a:rPr lang="vi-VN" sz="1600" b="1" i="0" u="sng" strike="noStrike" cap="none">
                <a:solidFill>
                  <a:schemeClr val="dk1"/>
                </a:solidFill>
                <a:latin typeface="Arial" panose="020B0604020202020204"/>
                <a:ea typeface="Arial" panose="020B0604020202020204"/>
                <a:cs typeface="Arial" panose="020B0604020202020204"/>
                <a:sym typeface="Arial" panose="020B0604020202020204"/>
              </a:rPr>
              <a:t>Các loại nến Doji khác</a:t>
            </a:r>
            <a:endParaRPr sz="1600" b="1" i="0" u="sng"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47" name="Google Shape;147;p10"/>
          <p:cNvPicPr preferRelativeResize="0"/>
          <p:nvPr/>
        </p:nvPicPr>
        <p:blipFill rotWithShape="1">
          <a:blip r:embed="rId2"/>
          <a:srcRect/>
          <a:stretch>
            <a:fillRect/>
          </a:stretch>
        </p:blipFill>
        <p:spPr>
          <a:xfrm>
            <a:off x="304801" y="2696264"/>
            <a:ext cx="4479976" cy="1744166"/>
          </a:xfrm>
          <a:prstGeom prst="rect">
            <a:avLst/>
          </a:prstGeom>
          <a:noFill/>
          <a:ln>
            <a:noFill/>
          </a:ln>
        </p:spPr>
      </p:pic>
      <p:sp>
        <p:nvSpPr>
          <p:cNvPr id="148" name="Google Shape;148;p10"/>
          <p:cNvSpPr txBox="1"/>
          <p:nvPr/>
        </p:nvSpPr>
        <p:spPr>
          <a:xfrm>
            <a:off x="1260739" y="1897226"/>
            <a:ext cx="7415700"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dk1"/>
              </a:buClr>
              <a:buSzPts val="1100"/>
              <a:buFont typeface="Arial" panose="020B0604020202020204"/>
              <a:buNone/>
            </a:pPr>
            <a:r>
              <a:rPr lang="vi-VN" sz="1800" b="1" i="0" u="none" strike="noStrike" cap="none">
                <a:solidFill>
                  <a:srgbClr val="00B050"/>
                </a:solidFill>
                <a:latin typeface="Arial" panose="020B0604020202020204"/>
                <a:ea typeface="Arial" panose="020B0604020202020204"/>
                <a:cs typeface="Arial" panose="020B0604020202020204"/>
                <a:sym typeface="Arial" panose="020B0604020202020204"/>
              </a:rPr>
              <a:t>GIÁ MỞ CỦA &amp; GIÁ ĐÓNG CỬA GẦN NHƯ NẰM TẠI CÙNG 1 ĐIỂM</a:t>
            </a:r>
            <a:endParaRPr sz="18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149" name="Google Shape;149;p10"/>
          <p:cNvPicPr preferRelativeResize="0"/>
          <p:nvPr/>
        </p:nvPicPr>
        <p:blipFill rotWithShape="1">
          <a:blip r:embed="rId3"/>
          <a:srcRect/>
          <a:stretch>
            <a:fillRect/>
          </a:stretch>
        </p:blipFill>
        <p:spPr>
          <a:xfrm>
            <a:off x="304800" y="1743889"/>
            <a:ext cx="833200" cy="689000"/>
          </a:xfrm>
          <a:prstGeom prst="rect">
            <a:avLst/>
          </a:prstGeom>
          <a:noFill/>
          <a:ln>
            <a:noFill/>
          </a:ln>
        </p:spPr>
      </p:pic>
      <p:pic>
        <p:nvPicPr>
          <p:cNvPr id="150" name="Google Shape;150;p10"/>
          <p:cNvPicPr preferRelativeResize="0"/>
          <p:nvPr/>
        </p:nvPicPr>
        <p:blipFill rotWithShape="1">
          <a:blip r:embed="rId4"/>
          <a:srcRect/>
          <a:stretch>
            <a:fillRect/>
          </a:stretch>
        </p:blipFill>
        <p:spPr>
          <a:xfrm>
            <a:off x="4784777" y="2254031"/>
            <a:ext cx="4359223" cy="264870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54"/>
        <p:cNvGrpSpPr/>
        <p:nvPr/>
      </p:nvGrpSpPr>
      <p:grpSpPr>
        <a:xfrm>
          <a:off x="0" y="0"/>
          <a:ext cx="0" cy="0"/>
          <a:chOff x="0" y="0"/>
          <a:chExt cx="0" cy="0"/>
        </a:xfrm>
      </p:grpSpPr>
      <p:sp>
        <p:nvSpPr>
          <p:cNvPr id="155" name="Google Shape;155;p11"/>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56" name="Google Shape;156;p11"/>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2"/>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Chiến lược giao dịch theo chỉ số biến động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Chiến lược SPY500 – VIX)</a:t>
            </a:r>
            <a:endPar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15000"/>
              </a:lnSpc>
              <a:spcBef>
                <a:spcPts val="1600"/>
              </a:spcBef>
              <a:spcAft>
                <a:spcPts val="0"/>
              </a:spcAft>
              <a:buClr>
                <a:schemeClr val="dk1"/>
              </a:buClr>
              <a:buSzPts val="2000"/>
              <a:buFont typeface="Arial" panose="020B0604020202020204"/>
              <a:buChar char="-"/>
            </a:pPr>
            <a:r>
              <a:rPr lang="vi-VN" sz="1800" b="0" i="0" u="none" strike="noStrike" cap="none">
                <a:solidFill>
                  <a:schemeClr val="dk1"/>
                </a:solidFill>
                <a:latin typeface="Arial" panose="020B0604020202020204"/>
                <a:ea typeface="Arial" panose="020B0604020202020204"/>
                <a:cs typeface="Arial" panose="020B0604020202020204"/>
                <a:sym typeface="Arial" panose="020B0604020202020204"/>
              </a:rPr>
              <a:t>SPY là chứng chỉ quỹ: </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S&amp;P 500 ETF (SPY) theo dõi chỉ số S&amp;P 500, một trong những chỉ số chính của thị trường chứng khoán Mỹ, bao gồm cổ phiếu của 500 công ty lớn nhất tại Mỹ. Về lịch sử,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S&amp;P 500 thường có xu hướng tăng trưởng trong dài hạn</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nhưng không phải mỗi năm đều tăng. Giá trị của SPY, tương tự như S&amp;P 500, biến động dựa trên nhiều yếu tố, bao gồm tình hình kinh tế vĩ mô, chính sách tiền tệ, lợi nhuận của doanh nghiệp, và các sự kiện toàn cầu.</a:t>
            </a: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15000"/>
              </a:lnSpc>
              <a:spcBef>
                <a:spcPts val="1600"/>
              </a:spcBef>
              <a:spcAft>
                <a:spcPts val="0"/>
              </a:spcAft>
              <a:buClr>
                <a:schemeClr val="dk1"/>
              </a:buClr>
              <a:buSzPts val="2000"/>
              <a:buFont typeface="Arial" panose="020B0604020202020204"/>
              <a:buChar char="-"/>
            </a:pPr>
            <a:r>
              <a:rPr lang="vi-VN" sz="1800" b="0" i="0" u="none" strike="noStrike" cap="none">
                <a:solidFill>
                  <a:srgbClr val="FF0000"/>
                </a:solidFill>
                <a:latin typeface="Arial" panose="020B0604020202020204"/>
                <a:ea typeface="Arial" panose="020B0604020202020204"/>
                <a:cs typeface="Arial" panose="020B0604020202020204"/>
                <a:sym typeface="Arial" panose="020B0604020202020204"/>
              </a:rPr>
              <a:t>Giao dịch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SPY dựa vào chỉ số biến động thị trường (đo lường bởi VIX):</a:t>
            </a:r>
            <a:endPar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Mua và nắm giữ SPY</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Khi thị trường có biến động (VIX cao), chiến lược đề xuất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bán để giữ tiền mặt</a:t>
            </a:r>
            <a:endParaRPr sz="1600" b="0" i="0" u="none" strike="noStrike" cap="none">
              <a:solidFill>
                <a:srgbClr val="FF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 Khi thị trường ổn định (VIX thấp),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chiến lược lại đề xuất mua</a:t>
            </a:r>
            <a:endParaRPr sz="1600" b="0" i="0" u="none" strike="noStrike" cap="none">
              <a:solidFill>
                <a:srgbClr val="FF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44500" marR="0" lvl="0" indent="-215900" algn="just" rtl="0">
              <a:lnSpc>
                <a:spcPct val="115000"/>
              </a:lnSpc>
              <a:spcBef>
                <a:spcPts val="1600"/>
              </a:spcBef>
              <a:spcAft>
                <a:spcPts val="0"/>
              </a:spcAft>
              <a:buClr>
                <a:schemeClr val="dk1"/>
              </a:buClr>
              <a:buSzPts val="20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60"/>
        <p:cNvGrpSpPr/>
        <p:nvPr/>
      </p:nvGrpSpPr>
      <p:grpSpPr>
        <a:xfrm>
          <a:off x="0" y="0"/>
          <a:ext cx="0" cy="0"/>
          <a:chOff x="0" y="0"/>
          <a:chExt cx="0" cy="0"/>
        </a:xfrm>
      </p:grpSpPr>
      <p:sp>
        <p:nvSpPr>
          <p:cNvPr id="161" name="Google Shape;161;p12"/>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62" name="Google Shape;162;p12"/>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2"/>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Chiến lược giao dịch theo chỉ số biến động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Chiến lược SPY500 – VIX) (tt)</a:t>
            </a:r>
            <a:endPar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00000"/>
              </a:lnSpc>
              <a:spcBef>
                <a:spcPts val="0"/>
              </a:spcBef>
              <a:spcAft>
                <a:spcPts val="0"/>
              </a:spcAft>
              <a:buClr>
                <a:srgbClr val="000000"/>
              </a:buClr>
              <a:buSzPts val="1600"/>
              <a:buFont typeface="Arial" panose="020B0604020202020204"/>
              <a:buChar char="-"/>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Mua và Nắm Giữ SPY</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Chiến lược này dự định mua và nắm giữ SPY, một quỹ đầu tư ETF theo dõi chỉ số S&amp;P 500, trong những điều kiện nhất định của thị trường.</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00000"/>
              </a:lnSpc>
              <a:spcBef>
                <a:spcPts val="0"/>
              </a:spcBef>
              <a:spcAft>
                <a:spcPts val="0"/>
              </a:spcAft>
              <a:buClr>
                <a:srgbClr val="000000"/>
              </a:buClr>
              <a:buSzPts val="1600"/>
              <a:buFont typeface="Arial" panose="020B0604020202020204"/>
              <a:buChar char="-"/>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Bán Khi Biến Động Cao (VIX Cao)</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Khi chỉ số biến động VIX vượt qua một ngưỡng nhất định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trong trường hợp này là 30</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điều này coi như một dấu hiệu của sự biến động cao trong thị trường. Chiến lược này đề xuất việc bán SPY và giữ tiền mặt trong những thời kỳ như vậy. Điều này dựa trên quan điểm rằng khi thị trường biến động mạnh, việc giữ tiền mặt có thể là an toàn hơn so với việc giữ các tài sản có giá biến động lớn.</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285750" marR="0" lvl="0" indent="-285750" algn="just" rtl="0">
              <a:lnSpc>
                <a:spcPct val="100000"/>
              </a:lnSpc>
              <a:spcBef>
                <a:spcPts val="0"/>
              </a:spcBef>
              <a:spcAft>
                <a:spcPts val="0"/>
              </a:spcAft>
              <a:buClr>
                <a:srgbClr val="000000"/>
              </a:buClr>
              <a:buSzPts val="1600"/>
              <a:buFont typeface="Arial" panose="020B0604020202020204"/>
              <a:buChar char="-"/>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Mua Khi Thị Trường Ổn Định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VIX Thấp</a:t>
            </a: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Ngược lại, khi chỉ số VIX thấp, điều này cho thấy thị trường đang ổn định hơn, chiến lược này đề xuất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mua SP</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Y. Quan điểm ở đây là trong môi trường ít biến động, đầu tư vào thị trường chứng khoán (qua SPY) có thể mang lại lợi nhuận tốt hơn so với việc giữ tiền mặt.</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215900" algn="just" rtl="0">
              <a:lnSpc>
                <a:spcPct val="115000"/>
              </a:lnSpc>
              <a:spcBef>
                <a:spcPts val="1600"/>
              </a:spcBef>
              <a:spcAft>
                <a:spcPts val="0"/>
              </a:spcAft>
              <a:buClr>
                <a:schemeClr val="dk1"/>
              </a:buClr>
              <a:buSzPts val="20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66"/>
        <p:cNvGrpSpPr/>
        <p:nvPr/>
      </p:nvGrpSpPr>
      <p:grpSpPr>
        <a:xfrm>
          <a:off x="0" y="0"/>
          <a:ext cx="0" cy="0"/>
          <a:chOff x="0" y="0"/>
          <a:chExt cx="0" cy="0"/>
        </a:xfrm>
      </p:grpSpPr>
      <p:sp>
        <p:nvSpPr>
          <p:cNvPr id="167" name="Google Shape;167;p1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68" name="Google Shape;168;p1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2"/>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Chiến lược giao dịch theo chỉ số biến động (</a:t>
            </a: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Chiến lược SPY500 – VIX) (tt)</a:t>
            </a:r>
            <a:endPar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Code chiến lược:</a:t>
            </a:r>
            <a:endPar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387350" marR="0" lvl="0" indent="-285750" algn="l" rtl="0">
              <a:lnSpc>
                <a:spcPct val="115000"/>
              </a:lnSpc>
              <a:spcBef>
                <a:spcPts val="1600"/>
              </a:spcBef>
              <a:spcAft>
                <a:spcPts val="0"/>
              </a:spcAft>
              <a:buClr>
                <a:schemeClr val="dk1"/>
              </a:buClr>
              <a:buSzPts val="2000"/>
              <a:buFont typeface="Arial" panose="020B0604020202020204"/>
              <a:buChar char="-"/>
            </a:pP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Load data của 1 ngày mới nhất (hiện tại)</a:t>
            </a:r>
            <a:endPar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endParaRPr>
          </a:p>
          <a:p>
            <a:pPr marL="387350" marR="0" lvl="0" indent="-285750" algn="l" rtl="0">
              <a:lnSpc>
                <a:spcPct val="115000"/>
              </a:lnSpc>
              <a:spcBef>
                <a:spcPts val="1600"/>
              </a:spcBef>
              <a:spcAft>
                <a:spcPts val="0"/>
              </a:spcAft>
              <a:buClr>
                <a:schemeClr val="dk1"/>
              </a:buClr>
              <a:buSzPts val="2000"/>
              <a:buFont typeface="Arial" panose="020B0604020202020204"/>
              <a:buChar char="-"/>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Kiểm tra xem ngưỡng VIX: nếu VIX nhỏ hơn ngưỡng (</a:t>
            </a: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ví dụ như 30</a:t>
            </a: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 thì mua, ngược lại nếu VIX lớn hơn ngưỡng thì bán</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44500" marR="0" lvl="0" indent="-215900" algn="just" rtl="0">
              <a:lnSpc>
                <a:spcPct val="115000"/>
              </a:lnSpc>
              <a:spcBef>
                <a:spcPts val="1600"/>
              </a:spcBef>
              <a:spcAft>
                <a:spcPts val="0"/>
              </a:spcAft>
              <a:buClr>
                <a:schemeClr val="dk1"/>
              </a:buClr>
              <a:buSzPts val="2000"/>
              <a:buFont typeface="Arial" panose="020B0604020202020204"/>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2"/>
        <p:cNvGrpSpPr/>
        <p:nvPr/>
      </p:nvGrpSpPr>
      <p:grpSpPr>
        <a:xfrm>
          <a:off x="0" y="0"/>
          <a:ext cx="0" cy="0"/>
          <a:chOff x="0" y="0"/>
          <a:chExt cx="0" cy="0"/>
        </a:xfrm>
      </p:grpSpPr>
      <p:sp>
        <p:nvSpPr>
          <p:cNvPr id="173" name="Google Shape;173;p14"/>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74" name="Google Shape;174;p14"/>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3"/>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Chiến lược giao dịch MA, ATR</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Tính MA và ATR</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ma_</a:t>
            </a:r>
            <a:r>
              <a:rPr lang="vi-VN" sz="1400" b="0" i="0" u="none" strike="noStrike" cap="none">
                <a:solidFill>
                  <a:srgbClr val="FF0000"/>
                </a:solidFill>
                <a:latin typeface="Arial" panose="020B0604020202020204"/>
                <a:ea typeface="Arial" panose="020B0604020202020204"/>
                <a:cs typeface="Arial" panose="020B0604020202020204"/>
                <a:sym typeface="Arial" panose="020B0604020202020204"/>
              </a:rPr>
              <a:t>fast</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_period = 50</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ma_</a:t>
            </a:r>
            <a:r>
              <a:rPr lang="vi-VN" sz="1400" b="0" i="0" u="none" strike="noStrike" cap="none">
                <a:solidFill>
                  <a:srgbClr val="FF0000"/>
                </a:solidFill>
                <a:latin typeface="Arial" panose="020B0604020202020204"/>
                <a:ea typeface="Arial" panose="020B0604020202020204"/>
                <a:cs typeface="Arial" panose="020B0604020202020204"/>
                <a:sym typeface="Arial" panose="020B0604020202020204"/>
              </a:rPr>
              <a:t>slow</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_period = 200</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None/>
            </a:pPr>
            <a:r>
              <a:rPr lang="vi-VN" sz="1400" b="0" i="0" u="none" strike="noStrike" cap="none">
                <a:solidFill>
                  <a:srgbClr val="FF0000"/>
                </a:solidFill>
                <a:latin typeface="Arial" panose="020B0604020202020204"/>
                <a:ea typeface="Arial" panose="020B0604020202020204"/>
                <a:cs typeface="Arial" panose="020B0604020202020204"/>
                <a:sym typeface="Arial" panose="020B0604020202020204"/>
              </a:rPr>
              <a:t>atr</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_period = 14</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atr_threshold = 1000 # 1000 dong so voi gia thuc te 85 100</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Xác định tín hiệu mua</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1"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data['Signal'] = np.where((data['</a:t>
            </a:r>
            <a:r>
              <a:rPr lang="vi-VN" sz="1400" b="0" i="0" u="none" strike="noStrike" cap="none">
                <a:solidFill>
                  <a:srgbClr val="FF0000"/>
                </a:solidFill>
                <a:latin typeface="Arial" panose="020B0604020202020204"/>
                <a:ea typeface="Arial" panose="020B0604020202020204"/>
                <a:cs typeface="Arial" panose="020B0604020202020204"/>
                <a:sym typeface="Arial" panose="020B0604020202020204"/>
              </a:rPr>
              <a:t>MA_Fast</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&gt; data['</a:t>
            </a:r>
            <a:r>
              <a:rPr lang="vi-VN" sz="1400" b="0" i="0" u="none" strike="noStrike" cap="none">
                <a:solidFill>
                  <a:srgbClr val="FF0000"/>
                </a:solidFill>
                <a:latin typeface="Arial" panose="020B0604020202020204"/>
                <a:ea typeface="Arial" panose="020B0604020202020204"/>
                <a:cs typeface="Arial" panose="020B0604020202020204"/>
                <a:sym typeface="Arial" panose="020B0604020202020204"/>
              </a:rPr>
              <a:t>MA_Slow</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&amp; (data['ATR'] &lt;= atr_threshold), </a:t>
            </a:r>
            <a:r>
              <a:rPr lang="vi-VN" sz="1400" b="0" i="0" u="none" strike="noStrike" cap="none">
                <a:solidFill>
                  <a:srgbClr val="FF0000"/>
                </a:solidFill>
                <a:latin typeface="Arial" panose="020B0604020202020204"/>
                <a:ea typeface="Arial" panose="020B0604020202020204"/>
                <a:cs typeface="Arial" panose="020B0604020202020204"/>
                <a:sym typeface="Arial" panose="020B0604020202020204"/>
              </a:rPr>
              <a:t>1</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0)</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78"/>
        <p:cNvGrpSpPr/>
        <p:nvPr/>
      </p:nvGrpSpPr>
      <p:grpSpPr>
        <a:xfrm>
          <a:off x="0" y="0"/>
          <a:ext cx="0" cy="0"/>
          <a:chOff x="0" y="0"/>
          <a:chExt cx="0" cy="0"/>
        </a:xfrm>
      </p:grpSpPr>
      <p:sp>
        <p:nvSpPr>
          <p:cNvPr id="179" name="Google Shape;179;p15"/>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80" name="Google Shape;180;p15"/>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4"/>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Chiến lược giao dịch đường Bollinger Bands và RSI</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 Tính toán SMA và độ lệch chuẩn cho giá đóng cửa</a:t>
            </a: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window = 20</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data['SMA'] = data['Close'].rolling(window=window).mean()</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data['STD'] = data['Close'].rolling(window=window).std()</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b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b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 Tính toán Bollinger Bands</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data['Upper_Band'] = data['SMA'] + (data['STD'] * 2)</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data['Lower_Band'] = data['SMA'] - (data['STD'] * 2)</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b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b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 Thiết lập cửa sổ thời gian và tính RSI</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windowRSI = 14</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def compute_rsi(data, window=windowRSI):</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    delta = data.diff()</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    up, down = delta.copy(), delta.copy()</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    up[up &lt; 0] = 0</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    down[down &gt; 0] = 0</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    gain = up.rolling(window=window).mean()</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    loss = down.abs().rolling(window=window).mean()</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    RS = gain / loss</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    return 100 - (100 / (1 + RS))</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b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b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data['RSI'] = compute_rsi(data['Close'])</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b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b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 Tạo cột tín hiệu mua và bán</a:t>
            </a:r>
            <a:endParaRPr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data['Buy_Signal'] = ((data['Close'] &lt;= data['Lower_Band']) &amp; (data['RSI'] &lt; 30))</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rPr>
              <a:t>data['Sell_Signal'] = ((data['Close'] &gt;= data['Upper_Band']) &amp; (data['RSI'] &gt; 70))</a:t>
            </a:r>
            <a:endParaRPr lang="vi-VN" sz="12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2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84"/>
        <p:cNvGrpSpPr/>
        <p:nvPr/>
      </p:nvGrpSpPr>
      <p:grpSpPr>
        <a:xfrm>
          <a:off x="0" y="0"/>
          <a:ext cx="0" cy="0"/>
          <a:chOff x="0" y="0"/>
          <a:chExt cx="0" cy="0"/>
        </a:xfrm>
      </p:grpSpPr>
      <p:sp>
        <p:nvSpPr>
          <p:cNvPr id="185" name="Google Shape;185;p16"/>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1. Xây dựng chiến lược</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86" name="Google Shape;186;p16"/>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5"/>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Chiến lược giao dịch đường MACD và SMA</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Thiết lập cửa sổ thời gian cho SMA và độ lệch chuẩn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window = 20</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b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b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Tính toán SMA cho giá đóng cửa</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data['SMA'] = data['Close'].rolling(window=window).mean()</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b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b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Tính toán MACD</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EMA ngắn hạn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data['short_ema'] = data['Close'].</a:t>
            </a:r>
            <a:r>
              <a:rPr lang="vi-VN" sz="1400" b="0" i="0" u="none" strike="noStrike" cap="none">
                <a:solidFill>
                  <a:srgbClr val="FF0000"/>
                </a:solidFill>
                <a:latin typeface="Arial" panose="020B0604020202020204"/>
                <a:ea typeface="Arial" panose="020B0604020202020204"/>
                <a:cs typeface="Arial" panose="020B0604020202020204"/>
                <a:sym typeface="Arial" panose="020B0604020202020204"/>
              </a:rPr>
              <a:t>ewm(span=12</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adjust=False).mean() # Co the su dung 5</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EMA dài hạn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data['long_ema']  = data['Close'].</a:t>
            </a:r>
            <a:r>
              <a:rPr lang="vi-VN" sz="1400" b="0" i="0" u="none" strike="noStrike" cap="none">
                <a:solidFill>
                  <a:srgbClr val="FF0000"/>
                </a:solidFill>
                <a:latin typeface="Arial" panose="020B0604020202020204"/>
                <a:ea typeface="Arial" panose="020B0604020202020204"/>
                <a:cs typeface="Arial" panose="020B0604020202020204"/>
                <a:sym typeface="Arial" panose="020B0604020202020204"/>
              </a:rPr>
              <a:t>ewm(span=26</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adjust=False).mean() # Co the su dung 10</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Tính MACD</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data['MACD'] = data['short_ema']  - data['long_ema']</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Tính Signal Line</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data['Signal_Line'] = data['MACD'].ewm(span=9, adjust=False).mean()</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b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b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Tạo cột tín hiệu mua/bán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data['Buy_Signal'] = (data['MACD'] &gt; data['Signal_Line']) &amp; (data['Close'] &gt; data['SMA'])</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data['Sell_Signal'] = (data['MACD'] &lt; data['Signal_Line']) &amp; (data['Close'] &lt; data['SMA'])</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l" rtl="0">
              <a:lnSpc>
                <a:spcPct val="100000"/>
              </a:lnSpc>
              <a:spcBef>
                <a:spcPts val="0"/>
              </a:spcBef>
              <a:spcAft>
                <a:spcPts val="0"/>
              </a:spcAft>
              <a:buNone/>
            </a:pPr>
            <a:b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b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90"/>
        <p:cNvGrpSpPr/>
        <p:nvPr/>
      </p:nvGrpSpPr>
      <p:grpSpPr>
        <a:xfrm>
          <a:off x="0" y="0"/>
          <a:ext cx="0" cy="0"/>
          <a:chOff x="0" y="0"/>
          <a:chExt cx="0" cy="0"/>
        </a:xfrm>
      </p:grpSpPr>
      <p:sp>
        <p:nvSpPr>
          <p:cNvPr id="191" name="Google Shape;191;p17"/>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2. Lập trình</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92" name="Google Shape;192;p17"/>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Xem lại code các bài trước</a:t>
            </a:r>
            <a:endPar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rPr>
              <a:t>- Lập trình các chiến lược ở trên</a:t>
            </a:r>
            <a:endParaRPr lang="en-US"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196"/>
        <p:cNvGrpSpPr/>
        <p:nvPr/>
      </p:nvGrpSpPr>
      <p:grpSpPr>
        <a:xfrm>
          <a:off x="0" y="0"/>
          <a:ext cx="0" cy="0"/>
          <a:chOff x="0" y="0"/>
          <a:chExt cx="0" cy="0"/>
        </a:xfrm>
      </p:grpSpPr>
      <p:sp>
        <p:nvSpPr>
          <p:cNvPr id="197" name="Google Shape;197;p18"/>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3. Backtesting</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198" name="Google Shape;198;p18"/>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Xem lại code các bài trước</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02"/>
        <p:cNvGrpSpPr/>
        <p:nvPr/>
      </p:nvGrpSpPr>
      <p:grpSpPr>
        <a:xfrm>
          <a:off x="0" y="0"/>
          <a:ext cx="0" cy="0"/>
          <a:chOff x="0" y="0"/>
          <a:chExt cx="0" cy="0"/>
        </a:xfrm>
      </p:grpSpPr>
      <p:sp>
        <p:nvSpPr>
          <p:cNvPr id="203" name="Google Shape;203;p19"/>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4. Tự động hóa</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04" name="Google Shape;204;p19"/>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Xem lại code các bài trước</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08"/>
        <p:cNvGrpSpPr/>
        <p:nvPr/>
      </p:nvGrpSpPr>
      <p:grpSpPr>
        <a:xfrm>
          <a:off x="0" y="0"/>
          <a:ext cx="0" cy="0"/>
          <a:chOff x="0" y="0"/>
          <a:chExt cx="0" cy="0"/>
        </a:xfrm>
      </p:grpSpPr>
      <p:sp>
        <p:nvSpPr>
          <p:cNvPr id="209" name="Google Shape;209;p20"/>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5. Order Good</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10" name="Google Shape;210;p20"/>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600" b="0" i="0" u="none" strike="noStrike" cap="none">
                <a:solidFill>
                  <a:srgbClr val="FF0000"/>
                </a:solidFill>
                <a:latin typeface="Arial" panose="020B0604020202020204"/>
                <a:ea typeface="Arial" panose="020B0604020202020204"/>
                <a:cs typeface="Arial" panose="020B0604020202020204"/>
                <a:sym typeface="Arial" panose="020B0604020202020204"/>
              </a:rPr>
              <a:t>OG</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(Order Good): Đây là </a:t>
            </a: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một điểm kiểm tra hoặc một tín hiệu trong hệ thống giao dịch để xác định cơ hội giao dịch tốt</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hay một điểm vào lệnh tối ưu. Nó có thể dựa trên một </a:t>
            </a: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phân tích kỹ thuật, tin tức cơ bản hoặc một kết hợp của cả hai</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và chỉ ra rằng một</a:t>
            </a: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 lệnh mua hoặc bán có thể được thực hiện dựa trên các điều kiện đã được xác định trước.</a:t>
            </a:r>
            <a:endParaRPr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342900" algn="just" rtl="0">
              <a:lnSpc>
                <a:spcPct val="115000"/>
              </a:lnSpc>
              <a:spcBef>
                <a:spcPts val="1600"/>
              </a:spcBef>
              <a:spcAft>
                <a:spcPts val="0"/>
              </a:spcAft>
              <a:buClr>
                <a:schemeClr val="dk1"/>
              </a:buClr>
              <a:buSzPts val="2000"/>
              <a:buFont typeface="Arial" panose="020B0604020202020204"/>
              <a:buAutoNum type="arabicPeriod"/>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GetData</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15000"/>
              </a:lnSpc>
              <a:spcBef>
                <a:spcPts val="1600"/>
              </a:spcBef>
              <a:spcAft>
                <a:spcPts val="0"/>
              </a:spcAft>
              <a:buClr>
                <a:schemeClr val="dk1"/>
              </a:buClr>
              <a:buSzPts val="2000"/>
              <a:buFont typeface="Arial" panose="020B0604020202020204"/>
              <a:buChar char="-"/>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Sử dụng các module trong </a:t>
            </a:r>
            <a:r>
              <a:rPr 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Common</a:t>
            </a:r>
            <a:r>
              <a:rPr lang="en-US" altLang="vi-VN" sz="1600" b="1" i="0" u="none" strike="noStrike" cap="none">
                <a:solidFill>
                  <a:srgbClr val="FF0000"/>
                </a:solidFill>
                <a:latin typeface="Arial" panose="020B0604020202020204"/>
                <a:ea typeface="Arial" panose="020B0604020202020204"/>
                <a:cs typeface="Arial" panose="020B0604020202020204"/>
                <a:sym typeface="Arial" panose="020B0604020202020204"/>
              </a:rPr>
              <a:t>: CommonBinance, CommonYFinance...</a:t>
            </a:r>
            <a:endPar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387350" marR="0" lvl="0" indent="-285750" algn="just" rtl="0">
              <a:lnSpc>
                <a:spcPct val="115000"/>
              </a:lnSpc>
              <a:spcBef>
                <a:spcPts val="1600"/>
              </a:spcBef>
              <a:spcAft>
                <a:spcPts val="0"/>
              </a:spcAft>
              <a:buClr>
                <a:schemeClr val="dk1"/>
              </a:buClr>
              <a:buSzPts val="2000"/>
              <a:buFont typeface="Arial" panose="020B0604020202020204"/>
              <a:buChar char="-"/>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Bao gồm MT5, Binance, yfinance, SSI</a:t>
            </a:r>
            <a:endPar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2"/>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Xác định tín hiệu</a:t>
            </a:r>
            <a:r>
              <a:rPr lang="en-US" alt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 </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44500" marR="0" lvl="0" indent="-342900" algn="just" rtl="0">
              <a:lnSpc>
                <a:spcPct val="115000"/>
              </a:lnSpc>
              <a:spcBef>
                <a:spcPts val="1600"/>
              </a:spcBef>
              <a:spcAft>
                <a:spcPts val="0"/>
              </a:spcAft>
              <a:buClr>
                <a:schemeClr val="dk1"/>
              </a:buClr>
              <a:buSzPts val="2000"/>
              <a:buFont typeface="Arial" panose="020B0604020202020204"/>
              <a:buAutoNum type="arabicPeriod" startAt="2"/>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Bắn tín hiệu lên bộ nhớ</a:t>
            </a:r>
            <a:r>
              <a:rPr lang="en-US" alt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a:t>
            </a:r>
            <a:endParaRPr lang="en-US" alt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14"/>
        <p:cNvGrpSpPr/>
        <p:nvPr/>
      </p:nvGrpSpPr>
      <p:grpSpPr>
        <a:xfrm>
          <a:off x="0" y="0"/>
          <a:ext cx="0" cy="0"/>
          <a:chOff x="0" y="0"/>
          <a:chExt cx="0" cy="0"/>
        </a:xfrm>
      </p:grpSpPr>
      <p:sp>
        <p:nvSpPr>
          <p:cNvPr id="215" name="Google Shape;215;p21"/>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6. Order Follower</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16" name="Google Shape;216;p21"/>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OF (Order Follower)</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Khi một lệnh giao dịch đã được đặt (dựa trên "Order Good"), "Order Follower" là quá trình theo dõi lệnh đó. Điều này bao gồm việc quản lý lệnh, như đặt các lệnh dừng lỗ (stop-loss), chốt lời (take-profit), hoặc thậm chí là hủy lệnh nếu điều kiện thị trường thay đổi hoặc lệnh không được kích hoạt trong một khoảng thời gian nhất định.</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444500" marR="0" lvl="0" indent="-342900" algn="just" rtl="0">
              <a:lnSpc>
                <a:spcPct val="115000"/>
              </a:lnSpc>
              <a:spcBef>
                <a:spcPts val="1600"/>
              </a:spcBef>
              <a:spcAft>
                <a:spcPts val="0"/>
              </a:spcAft>
              <a:buClr>
                <a:schemeClr val="dk1"/>
              </a:buClr>
              <a:buSzPts val="2000"/>
              <a:buFont typeface="Arial" panose="020B0604020202020204"/>
              <a:buAutoNum type="arabicPeriod"/>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Đọc bộ nhớ</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444500" marR="0" lvl="0" indent="-342900" algn="just" rtl="0">
              <a:lnSpc>
                <a:spcPct val="115000"/>
              </a:lnSpc>
              <a:spcBef>
                <a:spcPts val="1600"/>
              </a:spcBef>
              <a:spcAft>
                <a:spcPts val="0"/>
              </a:spcAft>
              <a:buClr>
                <a:schemeClr val="dk1"/>
              </a:buClr>
              <a:buSzPts val="2000"/>
              <a:buFont typeface="Arial" panose="020B0604020202020204"/>
              <a:buAutoNum type="arabicPeriod"/>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Vào lệnh (OrderSend)</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l"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20"/>
        <p:cNvGrpSpPr/>
        <p:nvPr/>
      </p:nvGrpSpPr>
      <p:grpSpPr>
        <a:xfrm>
          <a:off x="0" y="0"/>
          <a:ext cx="0" cy="0"/>
          <a:chOff x="0" y="0"/>
          <a:chExt cx="0" cy="0"/>
        </a:xfrm>
      </p:grpSpPr>
      <p:sp>
        <p:nvSpPr>
          <p:cNvPr id="221" name="Google Shape;221;p22"/>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Binance CRYPTO</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2" name="Google Shape;222;p22"/>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26"/>
        <p:cNvGrpSpPr/>
        <p:nvPr/>
      </p:nvGrpSpPr>
      <p:grpSpPr>
        <a:xfrm>
          <a:off x="0" y="0"/>
          <a:ext cx="0" cy="0"/>
          <a:chOff x="0" y="0"/>
          <a:chExt cx="0" cy="0"/>
        </a:xfrm>
      </p:grpSpPr>
      <p:sp>
        <p:nvSpPr>
          <p:cNvPr id="227" name="Google Shape;227;p23"/>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Binance CRYPTO</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28" name="Google Shape;228;p2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Sàn </a:t>
            </a:r>
            <a:r>
              <a:rPr lang="vi-VN" sz="1600" b="1" i="0" u="none" strike="noStrike" cap="none">
                <a:solidFill>
                  <a:srgbClr val="000000"/>
                </a:solidFill>
              </a:rPr>
              <a:t>Binance </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cung cấp một loạt các dịch vụ tài chính và giao dịch liên quan đến </a:t>
            </a:r>
            <a:r>
              <a:rPr lang="vi-VN" sz="1600" b="1" i="0" u="none" strike="noStrike" cap="none">
                <a:solidFill>
                  <a:srgbClr val="000000"/>
                </a:solidFill>
              </a:rPr>
              <a:t>tiền mã hóa</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đây là một số dịch vụ chính:</a:t>
            </a:r>
            <a:endPar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FF0000"/>
                </a:solidFill>
                <a:latin typeface="Arial" panose="020B0604020202020204"/>
                <a:ea typeface="Arial" panose="020B0604020202020204"/>
                <a:cs typeface="Arial" panose="020B0604020202020204"/>
                <a:sym typeface="Arial" panose="020B0604020202020204"/>
              </a:rPr>
              <a:t>Spot Trading</a:t>
            </a:r>
            <a:r>
              <a:rPr lang="vi-VN" sz="1400" b="0" i="0" u="none" strike="noStrike" cap="none">
                <a:solidFill>
                  <a:srgbClr val="FF0000"/>
                </a:solidFill>
                <a:latin typeface="Arial" panose="020B0604020202020204"/>
                <a:ea typeface="Arial" panose="020B0604020202020204"/>
                <a:cs typeface="Arial" panose="020B0604020202020204"/>
                <a:sym typeface="Arial" panose="020B0604020202020204"/>
              </a:rPr>
              <a:t>:</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Giao dịch truyền thống </a:t>
            </a:r>
            <a:r>
              <a:rPr lang="vi-VN" sz="1400" b="1" i="0" u="none" strike="noStrike" cap="none">
                <a:solidFill>
                  <a:srgbClr val="000000"/>
                </a:solidFill>
                <a:latin typeface="Arial" panose="020B0604020202020204"/>
                <a:ea typeface="Arial" panose="020B0604020202020204"/>
                <a:cs typeface="Arial" panose="020B0604020202020204"/>
                <a:sym typeface="Arial" panose="020B0604020202020204"/>
              </a:rPr>
              <a:t>mua và bán</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tiền mã hóa ngay lập tức.</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chemeClr val="dk1"/>
                </a:solidFill>
                <a:latin typeface="Arial" panose="020B0604020202020204"/>
                <a:ea typeface="Arial" panose="020B0604020202020204"/>
                <a:cs typeface="Arial" panose="020B0604020202020204"/>
                <a:sym typeface="Arial" panose="020B0604020202020204"/>
              </a:rPr>
              <a:t>Futures Trading</a:t>
            </a:r>
            <a:r>
              <a:rPr lang="vi-VN" sz="1400" b="0" i="0" u="none" strike="noStrike" cap="none">
                <a:solidFill>
                  <a:schemeClr val="dk1"/>
                </a:solidFill>
                <a:latin typeface="Arial" panose="020B0604020202020204"/>
                <a:ea typeface="Arial" panose="020B0604020202020204"/>
                <a:cs typeface="Arial" panose="020B0604020202020204"/>
                <a:sym typeface="Arial" panose="020B0604020202020204"/>
              </a:rPr>
              <a:t>: </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Giao dịch hợp đồng tương lai cho phép đặt cọc ký quỹ và sử dụng đòn bẩy.</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000000"/>
                </a:solidFill>
                <a:latin typeface="Arial" panose="020B0604020202020204"/>
                <a:ea typeface="Arial" panose="020B0604020202020204"/>
                <a:cs typeface="Arial" panose="020B0604020202020204"/>
                <a:sym typeface="Arial" panose="020B0604020202020204"/>
              </a:rPr>
              <a:t>Margin Trading</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Giao dịch ký quỹ cho phép nhà đầu tư vay tiền để giao dịch với số lượng lớn hơn tài sản họ sở hữu.</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FF0000"/>
                </a:solidFill>
                <a:latin typeface="Arial" panose="020B0604020202020204"/>
                <a:ea typeface="Arial" panose="020B0604020202020204"/>
                <a:cs typeface="Arial" panose="020B0604020202020204"/>
                <a:sym typeface="Arial" panose="020B0604020202020204"/>
              </a:rPr>
              <a:t>Perpetual Futures Contracts</a:t>
            </a:r>
            <a:r>
              <a:rPr lang="vi-VN" sz="1400" b="0" i="0" u="none" strike="noStrike" cap="none">
                <a:solidFill>
                  <a:srgbClr val="FF0000"/>
                </a:solidFill>
                <a:latin typeface="Arial" panose="020B0604020202020204"/>
                <a:ea typeface="Arial" panose="020B0604020202020204"/>
                <a:cs typeface="Arial" panose="020B0604020202020204"/>
                <a:sym typeface="Arial" panose="020B0604020202020204"/>
              </a:rPr>
              <a:t>: </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Hợp đồng tương lai </a:t>
            </a:r>
            <a:r>
              <a:rPr lang="vi-VN" sz="1400" b="0" i="0" u="none" strike="noStrike" cap="none">
                <a:solidFill>
                  <a:srgbClr val="FF0000"/>
                </a:solidFill>
                <a:latin typeface="Arial" panose="020B0604020202020204"/>
                <a:ea typeface="Arial" panose="020B0604020202020204"/>
                <a:cs typeface="Arial" panose="020B0604020202020204"/>
                <a:sym typeface="Arial" panose="020B0604020202020204"/>
              </a:rPr>
              <a:t>vĩnh cửu không có ngày hết hạn</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và giá được liên kết chặt chẽ với giá giao ngay.</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000000"/>
                </a:solidFill>
                <a:latin typeface="Arial" panose="020B0604020202020204"/>
                <a:ea typeface="Arial" panose="020B0604020202020204"/>
                <a:cs typeface="Arial" panose="020B0604020202020204"/>
                <a:sym typeface="Arial" panose="020B0604020202020204"/>
              </a:rPr>
              <a:t>Staking</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Khóa một lượng tiền mã hóa nhất định để nhận thưởng, thường liên quan đến việc hỗ trợ các mạng lưới blockchain.</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000000"/>
                </a:solidFill>
                <a:latin typeface="Arial" panose="020B0604020202020204"/>
                <a:ea typeface="Arial" panose="020B0604020202020204"/>
                <a:cs typeface="Arial" panose="020B0604020202020204"/>
                <a:sym typeface="Arial" panose="020B0604020202020204"/>
              </a:rPr>
              <a:t>Savings Accounts</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Tài khoản tiết kiệm cho phép người dùng kiếm lãi từ việc gửi tiền mã hóa của họ.</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000000"/>
                </a:solidFill>
                <a:latin typeface="Arial" panose="020B0604020202020204"/>
                <a:ea typeface="Arial" panose="020B0604020202020204"/>
                <a:cs typeface="Arial" panose="020B0604020202020204"/>
                <a:sym typeface="Arial" panose="020B0604020202020204"/>
              </a:rPr>
              <a:t>Crypto Loans</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Cho phép vay tiền mã hóa với tài sản đảm bảo là một loại tiền mã hóa khác.</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000000"/>
                </a:solidFill>
                <a:latin typeface="Arial" panose="020B0604020202020204"/>
                <a:ea typeface="Arial" panose="020B0604020202020204"/>
                <a:cs typeface="Arial" panose="020B0604020202020204"/>
                <a:sym typeface="Arial" panose="020B0604020202020204"/>
              </a:rPr>
              <a:t>Launchpad</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Nền tảng để ra mắt các đồng tiền mã hóa mới (token sales).</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000000"/>
                </a:solidFill>
                <a:latin typeface="Arial" panose="020B0604020202020204"/>
                <a:ea typeface="Arial" panose="020B0604020202020204"/>
                <a:cs typeface="Arial" panose="020B0604020202020204"/>
                <a:sym typeface="Arial" panose="020B0604020202020204"/>
              </a:rPr>
              <a:t>P2P Trading</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Giao dịch ngang hàng cho phép người dùng mua và bán tiền mã hóa trực tiếp với nhau.</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000000"/>
                </a:solidFill>
                <a:latin typeface="Arial" panose="020B0604020202020204"/>
                <a:ea typeface="Arial" panose="020B0604020202020204"/>
                <a:cs typeface="Arial" panose="020B0604020202020204"/>
                <a:sym typeface="Arial" panose="020B0604020202020204"/>
              </a:rPr>
              <a:t>Crypto Derivatives and Options</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Sản phẩm phái sinh và quyền chọn tiền mã hóa.</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000000"/>
                </a:solidFill>
                <a:latin typeface="Arial" panose="020B0604020202020204"/>
                <a:ea typeface="Arial" panose="020B0604020202020204"/>
                <a:cs typeface="Arial" panose="020B0604020202020204"/>
                <a:sym typeface="Arial" panose="020B0604020202020204"/>
              </a:rPr>
              <a:t>DEX (Decentralized Exchange)</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Sàn giao dịch phi tập trung của Binance, cho phép giao dịch trực tiếp từ ví cá nhân mà không cần thông qua bên trung gian.</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000000"/>
                </a:solidFill>
                <a:latin typeface="Arial" panose="020B0604020202020204"/>
                <a:ea typeface="Arial" panose="020B0604020202020204"/>
                <a:cs typeface="Arial" panose="020B0604020202020204"/>
                <a:sym typeface="Arial" panose="020B0604020202020204"/>
              </a:rPr>
              <a:t>Binance Visa Card</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Thẻ Visa cho phép chi tiêu tiền mã hóa tại các cửa hàng.</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000000"/>
                </a:solidFill>
                <a:latin typeface="Arial" panose="020B0604020202020204"/>
                <a:ea typeface="Arial" panose="020B0604020202020204"/>
                <a:cs typeface="Arial" panose="020B0604020202020204"/>
                <a:sym typeface="Arial" panose="020B0604020202020204"/>
              </a:rPr>
              <a:t>Binance Smart Chain</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Blockchain riêng của Binance hỗ trợ hợp đồng thông minh và dApps.</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000000"/>
                </a:solidFill>
                <a:latin typeface="Arial" panose="020B0604020202020204"/>
                <a:ea typeface="Arial" panose="020B0604020202020204"/>
                <a:cs typeface="Arial" panose="020B0604020202020204"/>
                <a:sym typeface="Arial" panose="020B0604020202020204"/>
              </a:rPr>
              <a:t>Binance Academy</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Nền tảng giáo dục cung cấp thông tin về tiền mã hóa và blockchain.</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000000"/>
                </a:solidFill>
                <a:latin typeface="Arial" panose="020B0604020202020204"/>
                <a:ea typeface="Arial" panose="020B0604020202020204"/>
                <a:cs typeface="Arial" panose="020B0604020202020204"/>
                <a:sym typeface="Arial" panose="020B0604020202020204"/>
              </a:rPr>
              <a:t>Binance Charity</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Sáng kiến từ thiện sử dụng tiền mã hóa để hỗ trợ các mục tiêu xã hội.</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r>
              <a:rPr lang="vi-VN" sz="1400" b="1" i="0" u="none" strike="noStrike" cap="none">
                <a:solidFill>
                  <a:srgbClr val="000000"/>
                </a:solidFill>
                <a:latin typeface="Arial" panose="020B0604020202020204"/>
                <a:ea typeface="Arial" panose="020B0604020202020204"/>
                <a:cs typeface="Arial" panose="020B0604020202020204"/>
                <a:sym typeface="Arial" panose="020B0604020202020204"/>
              </a:rPr>
              <a:t>Binance Labs</a:t>
            </a:r>
            <a:r>
              <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rPr>
              <a:t>: Đơn vị tập trung vào đầu tư và hỗ trợ các dự án blockchain và tiền mã hóa.</a:t>
            </a:r>
            <a:endParaRPr lang="vi-VN"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0" algn="just" rtl="0">
              <a:lnSpc>
                <a:spcPct val="100000"/>
              </a:lnSpc>
              <a:spcBef>
                <a:spcPts val="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32"/>
        <p:cNvGrpSpPr/>
        <p:nvPr/>
      </p:nvGrpSpPr>
      <p:grpSpPr>
        <a:xfrm>
          <a:off x="0" y="0"/>
          <a:ext cx="0" cy="0"/>
          <a:chOff x="0" y="0"/>
          <a:chExt cx="0" cy="0"/>
        </a:xfrm>
      </p:grpSpPr>
      <p:sp>
        <p:nvSpPr>
          <p:cNvPr id="233" name="Google Shape;233;p24"/>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Binance CRYPTO</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34" name="Google Shape;234;p24"/>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endParaRPr sz="1600" b="1"/>
          </a:p>
          <a:p>
            <a:pPr marL="101600" marR="0" lvl="0" indent="0" algn="just" rtl="0">
              <a:lnSpc>
                <a:spcPct val="115000"/>
              </a:lnSpc>
              <a:spcBef>
                <a:spcPts val="1600"/>
              </a:spcBef>
              <a:spcAft>
                <a:spcPts val="0"/>
              </a:spcAft>
              <a:buNone/>
            </a:pPr>
            <a:r>
              <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rPr>
              <a:t>Spot:</a:t>
            </a:r>
            <a:endParaRPr lang="vi-VN" sz="16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Giao dịch spot trong Binance cho phép chúng ta mua và bán tiền mã hóa tức thì theo giá thị trường hiện tại. Đây là việc giao dịch trực tiếp tài sản mà chúng ta muốn sở hữu hoặc bán đi, và giao dịch được thanh toán ngay lập tức.</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1" i="0" u="none" strike="noStrike" cap="none">
                <a:solidFill>
                  <a:srgbClr val="000000"/>
                </a:solidFill>
              </a:rPr>
              <a:t>Không có sử dụng đòn bẩy trong giao dịch spot</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nên rủi ro liên quan đến việc giao dịch thường được giới hạn bởi số tiền chúng ta đã đầu tư. </a:t>
            </a:r>
            <a:r>
              <a:rPr lang="vi-VN" sz="1600" b="1" i="0" u="none" strike="noStrike" cap="none">
                <a:solidFill>
                  <a:srgbClr val="000000"/>
                </a:solidFill>
              </a:rPr>
              <a:t>Rủi ro thị trường vẫn tồn tại</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nhưng không có nguy cơ mất nhiều hơn số tiền đã đặt cọc.</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rPr>
              <a:t>Futures:</a:t>
            </a:r>
            <a:endParaRPr lang="vi-VN"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Giao dịch Futures trên Binance </a:t>
            </a:r>
            <a:r>
              <a:rPr lang="vi-VN" sz="1600" b="1" i="0" u="none" strike="noStrike" cap="none">
                <a:solidFill>
                  <a:srgbClr val="000000"/>
                </a:solidFill>
              </a:rPr>
              <a:t>sử dụng đòn bẩy</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có nghĩa là chúng ta có thể giao dịch với </a:t>
            </a:r>
            <a:r>
              <a:rPr lang="vi-VN" sz="1600" b="1" i="0" u="none" strike="noStrike" cap="none">
                <a:solidFill>
                  <a:srgbClr val="000000"/>
                </a:solidFill>
              </a:rPr>
              <a:t>số tiền lớn hơn số tiền chúng ta sở hữu</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Điều này </a:t>
            </a:r>
            <a:r>
              <a:rPr lang="vi-VN" sz="1600" b="1" i="0" u="none" strike="noStrike" cap="none">
                <a:solidFill>
                  <a:srgbClr val="000000"/>
                </a:solidFill>
              </a:rPr>
              <a:t>tăng cơ hội lợi nhuận</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cũng như rủi ro thua lỗ. </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38"/>
        <p:cNvGrpSpPr/>
        <p:nvPr/>
      </p:nvGrpSpPr>
      <p:grpSpPr>
        <a:xfrm>
          <a:off x="0" y="0"/>
          <a:ext cx="0" cy="0"/>
          <a:chOff x="0" y="0"/>
          <a:chExt cx="0" cy="0"/>
        </a:xfrm>
      </p:grpSpPr>
      <p:sp>
        <p:nvSpPr>
          <p:cNvPr id="239" name="Google Shape;239;p25"/>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Thiết lập API giao dịch trên Binance CRYPTO</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0" name="Google Shape;240;p25"/>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41" name="Google Shape;241;p25"/>
          <p:cNvPicPr preferRelativeResize="0"/>
          <p:nvPr/>
        </p:nvPicPr>
        <p:blipFill rotWithShape="1">
          <a:blip r:embed="rId2"/>
          <a:srcRect/>
          <a:stretch>
            <a:fillRect/>
          </a:stretch>
        </p:blipFill>
        <p:spPr>
          <a:xfrm>
            <a:off x="-4413" y="774440"/>
            <a:ext cx="9143592" cy="458133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45"/>
        <p:cNvGrpSpPr/>
        <p:nvPr/>
      </p:nvGrpSpPr>
      <p:grpSpPr>
        <a:xfrm>
          <a:off x="0" y="0"/>
          <a:ext cx="0" cy="0"/>
          <a:chOff x="0" y="0"/>
          <a:chExt cx="0" cy="0"/>
        </a:xfrm>
      </p:grpSpPr>
      <p:sp>
        <p:nvSpPr>
          <p:cNvPr id="246" name="Google Shape;246;p39"/>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Thiết lập API giao dịch trên Binance CRYPTO</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7" name="Google Shape;247;p39"/>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48" name="Google Shape;248;p39"/>
          <p:cNvPicPr preferRelativeResize="0"/>
          <p:nvPr/>
        </p:nvPicPr>
        <p:blipFill rotWithShape="1">
          <a:blip r:embed="rId2"/>
          <a:srcRect/>
          <a:stretch>
            <a:fillRect/>
          </a:stretch>
        </p:blipFill>
        <p:spPr>
          <a:xfrm>
            <a:off x="2152795" y="1236545"/>
            <a:ext cx="4829175" cy="38862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52"/>
        <p:cNvGrpSpPr/>
        <p:nvPr/>
      </p:nvGrpSpPr>
      <p:grpSpPr>
        <a:xfrm>
          <a:off x="0" y="0"/>
          <a:ext cx="0" cy="0"/>
          <a:chOff x="0" y="0"/>
          <a:chExt cx="0" cy="0"/>
        </a:xfrm>
      </p:grpSpPr>
      <p:sp>
        <p:nvSpPr>
          <p:cNvPr id="253" name="Google Shape;253;p40"/>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Thiết lập API giao dịch trên Binance CRYPTO</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54" name="Google Shape;254;p40"/>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55" name="Google Shape;255;p40"/>
          <p:cNvPicPr preferRelativeResize="0"/>
          <p:nvPr/>
        </p:nvPicPr>
        <p:blipFill rotWithShape="1">
          <a:blip r:embed="rId2"/>
          <a:srcRect/>
          <a:stretch>
            <a:fillRect/>
          </a:stretch>
        </p:blipFill>
        <p:spPr>
          <a:xfrm>
            <a:off x="0" y="774766"/>
            <a:ext cx="9144000" cy="4599341"/>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59"/>
        <p:cNvGrpSpPr/>
        <p:nvPr/>
      </p:nvGrpSpPr>
      <p:grpSpPr>
        <a:xfrm>
          <a:off x="0" y="0"/>
          <a:ext cx="0" cy="0"/>
          <a:chOff x="0" y="0"/>
          <a:chExt cx="0" cy="0"/>
        </a:xfrm>
      </p:grpSpPr>
      <p:sp>
        <p:nvSpPr>
          <p:cNvPr id="260" name="Google Shape;260;p41"/>
          <p:cNvSpPr txBox="1"/>
          <p:nvPr/>
        </p:nvSpPr>
        <p:spPr>
          <a:xfrm>
            <a:off x="304800" y="154525"/>
            <a:ext cx="6865800" cy="4617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Thiết lập API giao dịch trên Binance CRYPTO</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61" name="Google Shape;261;p41"/>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62" name="Google Shape;262;p41"/>
          <p:cNvPicPr preferRelativeResize="0"/>
          <p:nvPr/>
        </p:nvPicPr>
        <p:blipFill rotWithShape="1">
          <a:blip r:embed="rId2"/>
          <a:srcRect/>
          <a:stretch>
            <a:fillRect/>
          </a:stretch>
        </p:blipFill>
        <p:spPr>
          <a:xfrm>
            <a:off x="765159" y="767618"/>
            <a:ext cx="7604448" cy="5231019"/>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66"/>
        <p:cNvGrpSpPr/>
        <p:nvPr/>
      </p:nvGrpSpPr>
      <p:grpSpPr>
        <a:xfrm>
          <a:off x="0" y="0"/>
          <a:ext cx="0" cy="0"/>
          <a:chOff x="0" y="0"/>
          <a:chExt cx="0" cy="0"/>
        </a:xfrm>
      </p:grpSpPr>
      <p:sp>
        <p:nvSpPr>
          <p:cNvPr id="267" name="Google Shape;267;p42"/>
          <p:cNvSpPr txBox="1"/>
          <p:nvPr/>
        </p:nvSpPr>
        <p:spPr>
          <a:xfrm>
            <a:off x="304799" y="154525"/>
            <a:ext cx="841432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Cài đặt package để code Python Binance CRYPTO</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68" name="Google Shape;268;p42"/>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Từ màn hình VS Code, ta bấm ctrl + shift + ` để mở terminal và bấm: Pip install python-binance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69" name="Google Shape;269;p42"/>
          <p:cNvPicPr preferRelativeResize="0"/>
          <p:nvPr/>
        </p:nvPicPr>
        <p:blipFill rotWithShape="1">
          <a:blip r:embed="rId2"/>
          <a:srcRect/>
          <a:stretch>
            <a:fillRect/>
          </a:stretch>
        </p:blipFill>
        <p:spPr>
          <a:xfrm>
            <a:off x="1408923" y="1288785"/>
            <a:ext cx="7669763" cy="450869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73"/>
        <p:cNvGrpSpPr/>
        <p:nvPr/>
      </p:nvGrpSpPr>
      <p:grpSpPr>
        <a:xfrm>
          <a:off x="0" y="0"/>
          <a:ext cx="0" cy="0"/>
          <a:chOff x="0" y="0"/>
          <a:chExt cx="0" cy="0"/>
        </a:xfrm>
      </p:grpSpPr>
      <p:sp>
        <p:nvSpPr>
          <p:cNvPr id="274" name="Google Shape;274;p43"/>
          <p:cNvSpPr txBox="1"/>
          <p:nvPr/>
        </p:nvSpPr>
        <p:spPr>
          <a:xfrm>
            <a:off x="304799" y="154525"/>
            <a:ext cx="841432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Cài đặt package để code Python Binance CRYPTO</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75" name="Google Shape;275;p43"/>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Lấy dữ liệu lịch sử của Spot hoặc Futures</a:t>
            </a:r>
            <a:endPar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76" name="Google Shape;276;p43"/>
          <p:cNvPicPr preferRelativeResize="0"/>
          <p:nvPr/>
        </p:nvPicPr>
        <p:blipFill rotWithShape="1">
          <a:blip r:embed="rId2"/>
          <a:srcRect/>
          <a:stretch>
            <a:fillRect/>
          </a:stretch>
        </p:blipFill>
        <p:spPr>
          <a:xfrm>
            <a:off x="592161" y="1181812"/>
            <a:ext cx="8486525" cy="469321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80"/>
        <p:cNvGrpSpPr/>
        <p:nvPr/>
      </p:nvGrpSpPr>
      <p:grpSpPr>
        <a:xfrm>
          <a:off x="0" y="0"/>
          <a:ext cx="0" cy="0"/>
          <a:chOff x="0" y="0"/>
          <a:chExt cx="0" cy="0"/>
        </a:xfrm>
      </p:grpSpPr>
      <p:sp>
        <p:nvSpPr>
          <p:cNvPr id="281" name="Google Shape;281;p44"/>
          <p:cNvSpPr txBox="1"/>
          <p:nvPr/>
        </p:nvSpPr>
        <p:spPr>
          <a:xfrm>
            <a:off x="304799" y="154525"/>
            <a:ext cx="841432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Lập trình cho Spot</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82" name="Google Shape;282;p44"/>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Giao dịch spot trong Binance cho phép chúng ta mua và bán tiền mã hóa tức thì theo giá thị trường hiện tại. Đây là việc </a:t>
            </a:r>
            <a:r>
              <a:rPr lang="vi-VN" sz="1600" b="1" i="0" u="none" strike="noStrike" cap="none">
                <a:solidFill>
                  <a:srgbClr val="000000"/>
                </a:solidFill>
              </a:rPr>
              <a:t>giao dịch trực tiếp tài sản</a:t>
            </a: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 mà chúng ta muốn sở hữu hoặc bán đi, và giao dịch được thanh toán ngay lập tức.</a:t>
            </a:r>
            <a:endParaRPr sz="16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Màn hình Spot</a:t>
            </a:r>
            <a:endPar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Tài sản đang có trong Spot                         Lệnh đang mở/ lịch sử lệnh trong Spot</a:t>
            </a:r>
            <a:endPar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83" name="Google Shape;283;p44"/>
          <p:cNvPicPr preferRelativeResize="0"/>
          <p:nvPr/>
        </p:nvPicPr>
        <p:blipFill rotWithShape="1">
          <a:blip r:embed="rId2"/>
          <a:srcRect/>
          <a:stretch>
            <a:fillRect/>
          </a:stretch>
        </p:blipFill>
        <p:spPr>
          <a:xfrm>
            <a:off x="625150" y="2813939"/>
            <a:ext cx="3741577" cy="2046282"/>
          </a:xfrm>
          <a:prstGeom prst="rect">
            <a:avLst/>
          </a:prstGeom>
          <a:noFill/>
          <a:ln>
            <a:noFill/>
          </a:ln>
        </p:spPr>
      </p:pic>
      <p:pic>
        <p:nvPicPr>
          <p:cNvPr id="284" name="Google Shape;284;p44"/>
          <p:cNvPicPr preferRelativeResize="0"/>
          <p:nvPr/>
        </p:nvPicPr>
        <p:blipFill rotWithShape="1">
          <a:blip r:embed="rId3"/>
          <a:srcRect/>
          <a:stretch>
            <a:fillRect/>
          </a:stretch>
        </p:blipFill>
        <p:spPr>
          <a:xfrm>
            <a:off x="4488025" y="2813939"/>
            <a:ext cx="4568872" cy="184100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88"/>
        <p:cNvGrpSpPr/>
        <p:nvPr/>
      </p:nvGrpSpPr>
      <p:grpSpPr>
        <a:xfrm>
          <a:off x="0" y="0"/>
          <a:ext cx="0" cy="0"/>
          <a:chOff x="0" y="0"/>
          <a:chExt cx="0" cy="0"/>
        </a:xfrm>
      </p:grpSpPr>
      <p:sp>
        <p:nvSpPr>
          <p:cNvPr id="289" name="Google Shape;289;p45"/>
          <p:cNvSpPr txBox="1"/>
          <p:nvPr/>
        </p:nvSpPr>
        <p:spPr>
          <a:xfrm>
            <a:off x="304799" y="154525"/>
            <a:ext cx="841432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Lập trình cho Spot</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90" name="Google Shape;290;p45"/>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Code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294"/>
        <p:cNvGrpSpPr/>
        <p:nvPr/>
      </p:nvGrpSpPr>
      <p:grpSpPr>
        <a:xfrm>
          <a:off x="0" y="0"/>
          <a:ext cx="0" cy="0"/>
          <a:chOff x="0" y="0"/>
          <a:chExt cx="0" cy="0"/>
        </a:xfrm>
      </p:grpSpPr>
      <p:sp>
        <p:nvSpPr>
          <p:cNvPr id="295" name="Google Shape;295;p46"/>
          <p:cNvSpPr txBox="1"/>
          <p:nvPr/>
        </p:nvSpPr>
        <p:spPr>
          <a:xfrm>
            <a:off x="304799" y="154525"/>
            <a:ext cx="841432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Lập trình cho Future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96" name="Google Shape;296;p46"/>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Giao dịch Futures trên Binance sử dụng đòn bẩy, có nghĩa là chúng ta có thể giao dịch với số tiền lớn hơn số tiền chúng ta sở hữu. Điều này tăng cơ hội lợi nhuận cũng như rủi ro thua lỗ. </a:t>
            </a:r>
            <a:endParaRPr sz="1600" b="1"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Màn hình Future</a:t>
            </a:r>
            <a:endPar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a:p>
            <a:pPr marL="101600" marR="0" lvl="0" indent="0" algn="just" rtl="0">
              <a:lnSpc>
                <a:spcPct val="115000"/>
              </a:lnSpc>
              <a:spcBef>
                <a:spcPts val="1600"/>
              </a:spcBef>
              <a:spcAft>
                <a:spcPts val="0"/>
              </a:spcAft>
              <a:buNone/>
            </a:pPr>
            <a:r>
              <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rPr>
              <a:t>Tài sản Future                                                       Lịch sử vị thế Future</a:t>
            </a:r>
            <a:endParaRPr lang="vi-VN"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97" name="Google Shape;297;p46"/>
          <p:cNvPicPr preferRelativeResize="0"/>
          <p:nvPr/>
        </p:nvPicPr>
        <p:blipFill rotWithShape="1">
          <a:blip r:embed="rId2"/>
          <a:srcRect/>
          <a:stretch>
            <a:fillRect/>
          </a:stretch>
        </p:blipFill>
        <p:spPr>
          <a:xfrm>
            <a:off x="643812" y="2764129"/>
            <a:ext cx="4245430" cy="2568458"/>
          </a:xfrm>
          <a:prstGeom prst="rect">
            <a:avLst/>
          </a:prstGeom>
          <a:noFill/>
          <a:ln>
            <a:noFill/>
          </a:ln>
        </p:spPr>
      </p:pic>
      <p:pic>
        <p:nvPicPr>
          <p:cNvPr id="298" name="Google Shape;298;p46"/>
          <p:cNvPicPr preferRelativeResize="0"/>
          <p:nvPr/>
        </p:nvPicPr>
        <p:blipFill rotWithShape="1">
          <a:blip r:embed="rId3"/>
          <a:srcRect/>
          <a:stretch>
            <a:fillRect/>
          </a:stretch>
        </p:blipFill>
        <p:spPr>
          <a:xfrm>
            <a:off x="5108179" y="2764130"/>
            <a:ext cx="3999677" cy="1555944"/>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302"/>
        <p:cNvGrpSpPr/>
        <p:nvPr/>
      </p:nvGrpSpPr>
      <p:grpSpPr>
        <a:xfrm>
          <a:off x="0" y="0"/>
          <a:ext cx="0" cy="0"/>
          <a:chOff x="0" y="0"/>
          <a:chExt cx="0" cy="0"/>
        </a:xfrm>
      </p:grpSpPr>
      <p:sp>
        <p:nvSpPr>
          <p:cNvPr id="303" name="Google Shape;303;p47"/>
          <p:cNvSpPr txBox="1"/>
          <p:nvPr/>
        </p:nvSpPr>
        <p:spPr>
          <a:xfrm>
            <a:off x="304799" y="154525"/>
            <a:ext cx="8414325" cy="46162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panose="020B0604020202020204"/>
              <a:buNone/>
            </a:pPr>
            <a:r>
              <a:rPr lang="vi-VN" sz="2400" b="0" i="0" u="none" strike="noStrike" cap="none">
                <a:solidFill>
                  <a:schemeClr val="lt1"/>
                </a:solidFill>
                <a:latin typeface="Arial" panose="020B0604020202020204"/>
                <a:ea typeface="Arial" panose="020B0604020202020204"/>
                <a:cs typeface="Arial" panose="020B0604020202020204"/>
                <a:sym typeface="Arial" panose="020B0604020202020204"/>
              </a:rPr>
              <a:t>Lập trình cho Future</a:t>
            </a:r>
            <a:endParaRPr sz="24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304" name="Google Shape;304;p47"/>
          <p:cNvSpPr txBox="1"/>
          <p:nvPr/>
        </p:nvSpPr>
        <p:spPr>
          <a:xfrm>
            <a:off x="424875" y="616225"/>
            <a:ext cx="8285017" cy="3467400"/>
          </a:xfrm>
          <a:prstGeom prst="rect">
            <a:avLst/>
          </a:prstGeom>
          <a:noFill/>
          <a:ln>
            <a:noFill/>
          </a:ln>
        </p:spPr>
        <p:txBody>
          <a:bodyPr spcFirstLastPara="1" wrap="square" lIns="91425" tIns="91425" rIns="91425" bIns="91425" anchor="t" anchorCtr="0">
            <a:noAutofit/>
          </a:bodyPr>
          <a:lstStyle/>
          <a:p>
            <a:pPr marL="101600" marR="0" lvl="0" indent="0" algn="just" rtl="0">
              <a:lnSpc>
                <a:spcPct val="115000"/>
              </a:lnSpc>
              <a:spcBef>
                <a:spcPts val="1600"/>
              </a:spcBef>
              <a:spcAft>
                <a:spcPts val="0"/>
              </a:spcAft>
              <a:buNone/>
            </a:pPr>
            <a:r>
              <a:rPr lang="vi-VN" sz="1600" b="0" i="0" u="none" strike="noStrike" cap="none">
                <a:solidFill>
                  <a:srgbClr val="000000"/>
                </a:solidFill>
                <a:latin typeface="Arial" panose="020B0604020202020204"/>
                <a:ea typeface="Arial" panose="020B0604020202020204"/>
                <a:cs typeface="Arial" panose="020B0604020202020204"/>
                <a:sym typeface="Arial" panose="020B0604020202020204"/>
              </a:rPr>
              <a:t>Code</a:t>
            </a:r>
            <a:endParaRPr sz="16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a:blip r:embed="rId1"/>
          <a:stretch>
            <a:fillRect/>
          </a:stretch>
        </a:blipFill>
        <a:effectLst/>
      </p:bgPr>
    </p:bg>
    <p:spTree>
      <p:nvGrpSpPr>
        <p:cNvPr id="1" name="Shape 308"/>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12072</Words>
  <Application>WPS Slides</Application>
  <PresentationFormat>On-screen Show (4:3)</PresentationFormat>
  <Paragraphs>298</Paragraphs>
  <Slides>35</Slides>
  <Notes>35</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35</vt:i4>
      </vt:variant>
    </vt:vector>
  </HeadingPairs>
  <TitlesOfParts>
    <vt:vector size="45" baseType="lpstr">
      <vt:lpstr>Arial</vt:lpstr>
      <vt:lpstr>SimSun</vt:lpstr>
      <vt:lpstr>Wingdings</vt:lpstr>
      <vt:lpstr>Arial</vt:lpstr>
      <vt:lpstr>Calibri</vt:lpstr>
      <vt:lpstr>Maven Pro</vt:lpstr>
      <vt:lpstr>Segoe Print</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Huy</dc:creator>
  <cp:lastModifiedBy>Đặng Trí Thanh</cp:lastModifiedBy>
  <cp:revision>13</cp:revision>
  <dcterms:created xsi:type="dcterms:W3CDTF">2021-10-18T16:01:00Z</dcterms:created>
  <dcterms:modified xsi:type="dcterms:W3CDTF">2025-04-08T13:56:30Z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5BFFC0C617FB4EE59C810FF593BE70D5_12</vt:lpwstr>
  </property>
  <property fmtid="{D5CDD505-2E9C-101B-9397-08002B2CF9AE}" pid="3" name="KSOProductBuildVer">
    <vt:lpwstr>1033-12.2.0.20782</vt:lpwstr>
  </property>
</Properties>
</file>