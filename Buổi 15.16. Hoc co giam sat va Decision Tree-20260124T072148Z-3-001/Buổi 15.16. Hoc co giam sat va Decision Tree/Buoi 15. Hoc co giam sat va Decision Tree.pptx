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309" r:id="rId6"/>
    <p:sldId id="258" r:id="rId7"/>
    <p:sldId id="259" r:id="rId8"/>
    <p:sldId id="289" r:id="rId9"/>
    <p:sldId id="288" r:id="rId10"/>
    <p:sldId id="294" r:id="rId11"/>
    <p:sldId id="290" r:id="rId12"/>
    <p:sldId id="291" r:id="rId13"/>
    <p:sldId id="292" r:id="rId14"/>
    <p:sldId id="293" r:id="rId15"/>
    <p:sldId id="295" r:id="rId16"/>
    <p:sldId id="296" r:id="rId17"/>
    <p:sldId id="301" r:id="rId18"/>
    <p:sldId id="297" r:id="rId19"/>
    <p:sldId id="298" r:id="rId20"/>
    <p:sldId id="299" r:id="rId21"/>
    <p:sldId id="300" r:id="rId22"/>
    <p:sldId id="302" r:id="rId23"/>
    <p:sldId id="303" r:id="rId24"/>
    <p:sldId id="304" r:id="rId25"/>
    <p:sldId id="305" r:id="rId26"/>
    <p:sldId id="306" r:id="rId27"/>
    <p:sldId id="307" r:id="rId28"/>
    <p:sldId id="308" r:id="rId29"/>
    <p:sldId id="285" r:id="rId30"/>
  </p:sldIdLst>
  <p:sldSz cx="9144000" cy="6858000" type="screen4x3"/>
  <p:notesSz cx="6858000" cy="9144000"/>
  <p:embeddedFontLst>
    <p:embeddedFont>
      <p:font typeface="Calibri" panose="020F0502020204030204"/>
      <p:regular r:id="rId34"/>
      <p:bold r:id="rId35"/>
      <p:italic r:id="rId36"/>
      <p:boldItalic r:id="rId37"/>
    </p:embeddedFont>
    <p:embeddedFont>
      <p:font typeface="Maven Pro"/>
      <p:regular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font" Target="fonts/font5.fntdata"/><Relationship Id="rId37" Type="http://schemas.openxmlformats.org/officeDocument/2006/relationships/font" Target="fonts/font4.fntdata"/><Relationship Id="rId36" Type="http://schemas.openxmlformats.org/officeDocument/2006/relationships/font" Target="fonts/font3.fntdata"/><Relationship Id="rId35" Type="http://schemas.openxmlformats.org/officeDocument/2006/relationships/font" Target="fonts/font2.fntdata"/><Relationship Id="rId34" Type="http://schemas.openxmlformats.org/officeDocument/2006/relationships/font" Target="fonts/font1.fntdata"/><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436ef0b6e3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panose="020B0604020202020204"/>
              <a:buNone/>
            </a:pPr>
            <a:r>
              <a:rPr lang="vi-VN" sz="1100">
                <a:latin typeface="Arial" panose="020B0604020202020204"/>
                <a:ea typeface="Arial" panose="020B0604020202020204"/>
                <a:cs typeface="Arial" panose="020B0604020202020204"/>
                <a:sym typeface="Arial" panose="020B0604020202020204"/>
              </a:rPr>
              <a:t>Efficient Market Hypothesis, ChatGPT, etc.</a:t>
            </a:r>
            <a:endParaRPr lang="vi-VN" sz="1100">
              <a:latin typeface="Arial" panose="020B0604020202020204"/>
              <a:ea typeface="Arial" panose="020B0604020202020204"/>
              <a:cs typeface="Arial" panose="020B0604020202020204"/>
              <a:sym typeface="Arial" panose="020B0604020202020204"/>
            </a:endParaRPr>
          </a:p>
        </p:txBody>
      </p:sp>
      <p:sp>
        <p:nvSpPr>
          <p:cNvPr id="104" name="Google Shape;104;g2436ef0b6e3_0_1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8"/>
        <p:cNvGrpSpPr/>
        <p:nvPr/>
      </p:nvGrpSpPr>
      <p:grpSpPr>
        <a:xfrm>
          <a:off x="0" y="0"/>
          <a:ext cx="0" cy="0"/>
          <a:chOff x="0" y="0"/>
          <a:chExt cx="0" cy="0"/>
        </a:xfrm>
      </p:grpSpPr>
      <p:sp>
        <p:nvSpPr>
          <p:cNvPr id="279" name="Google Shape;27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Bot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 Decision tree</a:t>
            </a: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394036" y="4841000"/>
            <a:ext cx="3452988"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GV.</a:t>
            </a:r>
            <a:r>
              <a:rPr lang="vi-VN" sz="2800" i="1" dirty="0">
                <a:solidFill>
                  <a:schemeClr val="dk1"/>
                </a:solidFill>
              </a:rPr>
              <a:t>Đặng Trí </a:t>
            </a:r>
            <a:r>
              <a:rPr lang="vi-VN" sz="2800" i="1" dirty="0" smtClean="0">
                <a:solidFill>
                  <a:schemeClr val="dk1"/>
                </a:solidFill>
              </a:rPr>
              <a:t>Thanh</a:t>
            </a:r>
            <a:endParaRPr lang="en-US" sz="2800" i="1" dirty="0" smtClean="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Đặt</a:t>
            </a: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câu</a:t>
            </a: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hỏi</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Chúng</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ta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có</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như</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sau</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smtClean="0">
                <a:ln>
                  <a:noFill/>
                </a:ln>
                <a:solidFill>
                  <a:srgbClr val="FF0000"/>
                </a:solidFill>
                <a:effectLst/>
                <a:uLnTx/>
                <a:uFillTx/>
                <a:latin typeface="Arial" panose="020B0604020202020204"/>
                <a:ea typeface="Arial" panose="020B0604020202020204"/>
                <a:cs typeface="Arial" panose="020B0604020202020204"/>
                <a:sym typeface="Arial" panose="020B0604020202020204"/>
              </a:rPr>
              <a:t>ML, Momentum, RSI</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endPar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để</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làm</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sao</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thực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thi</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ML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này</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tự</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18523" y="2484529"/>
            <a:ext cx="4237876" cy="2068997"/>
          </a:xfrm>
          <a:prstGeom prst="rect">
            <a:avLst/>
          </a:prstGeom>
        </p:spPr>
      </p:pic>
      <p:pic>
        <p:nvPicPr>
          <p:cNvPr id="6" name="Picture 5"/>
          <p:cNvPicPr>
            <a:picLocks noChangeAspect="1"/>
          </p:cNvPicPr>
          <p:nvPr/>
        </p:nvPicPr>
        <p:blipFill>
          <a:blip r:embed="rId3"/>
          <a:stretch>
            <a:fillRect/>
          </a:stretch>
        </p:blipFill>
        <p:spPr>
          <a:xfrm>
            <a:off x="4985392" y="4159825"/>
            <a:ext cx="4078615" cy="201390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dirty="0">
                <a:solidFill>
                  <a:schemeClr val="lt1"/>
                </a:solidFill>
                <a:latin typeface="Arial" panose="020B0604020202020204"/>
                <a:ea typeface="Arial" panose="020B0604020202020204"/>
                <a:cs typeface="Arial" panose="020B0604020202020204"/>
                <a:sym typeface="Arial" panose="020B0604020202020204"/>
              </a:rPr>
              <a:t>Nội dung chính</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374289" y="501941"/>
            <a:ext cx="8391020" cy="34674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rgbClr val="000000"/>
              </a:buClr>
              <a:buSzPts val="2000"/>
              <a:buFont typeface="Arial" panose="020B0604020202020204"/>
              <a:buNone/>
            </a:pPr>
            <a:endParaRPr sz="2000" i="0" u="none" strike="noStrike" cap="none" dirty="0">
              <a:solidFill>
                <a:schemeClr val="dk1"/>
              </a:solidFill>
              <a:latin typeface="+mn-lt"/>
              <a:ea typeface="Maven Pro"/>
              <a:cs typeface="Maven Pro"/>
              <a:sym typeface="Maven Pro"/>
            </a:endParaRPr>
          </a:p>
          <a:p>
            <a:pPr marL="457200" marR="0" lvl="0" indent="-355600" algn="l" rtl="0">
              <a:lnSpc>
                <a:spcPct val="100000"/>
              </a:lnSpc>
              <a:spcBef>
                <a:spcPts val="0"/>
              </a:spcBef>
              <a:spcAft>
                <a:spcPts val="0"/>
              </a:spcAft>
              <a:buClr>
                <a:schemeClr val="dk1"/>
              </a:buClr>
              <a:buSzPts val="2000"/>
              <a:buFont typeface="Maven Pro"/>
              <a:buAutoNum type="arabicPeriod"/>
            </a:pPr>
            <a:r>
              <a:rPr lang="en-US" sz="2000" i="0" u="none" strike="noStrike" cap="none" dirty="0" err="1" smtClean="0">
                <a:solidFill>
                  <a:schemeClr val="dk1"/>
                </a:solidFill>
                <a:latin typeface="+mn-lt"/>
                <a:ea typeface="Maven Pro"/>
                <a:cs typeface="Maven Pro"/>
                <a:sym typeface="Maven Pro"/>
              </a:rPr>
              <a:t>Giới</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thiệu</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về</a:t>
            </a:r>
            <a:r>
              <a:rPr lang="en-US" sz="2000" i="0" u="none" strike="noStrike" cap="none" dirty="0" smtClean="0">
                <a:solidFill>
                  <a:schemeClr val="dk1"/>
                </a:solidFill>
                <a:latin typeface="+mn-lt"/>
                <a:ea typeface="Maven Pro"/>
                <a:cs typeface="Maven Pro"/>
                <a:sym typeface="Maven Pro"/>
              </a:rPr>
              <a:t> </a:t>
            </a:r>
            <a:r>
              <a:rPr lang="en-US" sz="2000" b="1" i="0" u="none" strike="noStrike" cap="none" dirty="0" smtClean="0">
                <a:solidFill>
                  <a:schemeClr val="dk1"/>
                </a:solidFill>
                <a:latin typeface="+mn-lt"/>
                <a:ea typeface="Maven Pro"/>
                <a:cs typeface="Maven Pro"/>
                <a:sym typeface="Maven Pro"/>
              </a:rPr>
              <a:t>ta-lib </a:t>
            </a:r>
            <a:r>
              <a:rPr lang="en-US" sz="2000" b="1" i="0" u="none" strike="noStrike" cap="none" dirty="0" err="1" smtClean="0">
                <a:solidFill>
                  <a:schemeClr val="dk1"/>
                </a:solidFill>
                <a:latin typeface="+mn-lt"/>
                <a:ea typeface="Maven Pro"/>
                <a:cs typeface="Maven Pro"/>
                <a:sym typeface="Maven Pro"/>
              </a:rPr>
              <a:t>và</a:t>
            </a:r>
            <a:r>
              <a:rPr lang="en-US" sz="2000" b="1" i="0" u="none" strike="noStrike" cap="none" dirty="0" smtClean="0">
                <a:solidFill>
                  <a:schemeClr val="dk1"/>
                </a:solidFill>
                <a:latin typeface="+mn-lt"/>
                <a:ea typeface="Maven Pro"/>
                <a:cs typeface="Maven Pro"/>
                <a:sym typeface="Maven Pro"/>
              </a:rPr>
              <a:t> pandas-ta</a:t>
            </a:r>
            <a:endParaRPr lang="en-US" sz="2000" b="1" i="0" u="none" strike="noStrike" cap="none" dirty="0" smtClean="0">
              <a:solidFill>
                <a:schemeClr val="dk1"/>
              </a:solidFill>
              <a:latin typeface="+mn-lt"/>
              <a:ea typeface="Maven Pro"/>
              <a:cs typeface="Maven Pro"/>
              <a:sym typeface="Maven Pro"/>
            </a:endParaRPr>
          </a:p>
          <a:p>
            <a:pPr marL="457200" marR="0" lvl="0" indent="-355600" algn="l" rtl="0">
              <a:lnSpc>
                <a:spcPct val="100000"/>
              </a:lnSpc>
              <a:spcBef>
                <a:spcPts val="0"/>
              </a:spcBef>
              <a:spcAft>
                <a:spcPts val="0"/>
              </a:spcAft>
              <a:buClr>
                <a:schemeClr val="dk1"/>
              </a:buClr>
              <a:buSzPts val="2000"/>
              <a:buFont typeface="Maven Pro"/>
              <a:buAutoNum type="arabicPeriod"/>
            </a:pPr>
            <a:r>
              <a:rPr lang="en-US" sz="2000" i="0" u="none" strike="noStrike" cap="none" dirty="0" err="1" smtClean="0">
                <a:solidFill>
                  <a:schemeClr val="dk1"/>
                </a:solidFill>
                <a:latin typeface="+mn-lt"/>
                <a:ea typeface="Maven Pro"/>
                <a:cs typeface="Maven Pro"/>
                <a:sym typeface="Maven Pro"/>
              </a:rPr>
              <a:t>Giới</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thiệu</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Học</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có</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giám</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sát</a:t>
            </a:r>
            <a:r>
              <a:rPr lang="en-US" sz="2000" i="0" u="none" strike="noStrike" cap="none" dirty="0" smtClean="0">
                <a:solidFill>
                  <a:schemeClr val="dk1"/>
                </a:solidFill>
                <a:latin typeface="+mn-lt"/>
                <a:ea typeface="Maven Pro"/>
                <a:cs typeface="Maven Pro"/>
                <a:sym typeface="Maven Pro"/>
              </a:rPr>
              <a:t> vs </a:t>
            </a:r>
            <a:r>
              <a:rPr lang="en-US" sz="2000" i="0" u="none" strike="noStrike" cap="none" dirty="0" err="1" smtClean="0">
                <a:solidFill>
                  <a:schemeClr val="dk1"/>
                </a:solidFill>
                <a:latin typeface="+mn-lt"/>
                <a:ea typeface="Maven Pro"/>
                <a:cs typeface="Maven Pro"/>
                <a:sym typeface="Maven Pro"/>
              </a:rPr>
              <a:t>học</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không</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có</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giám</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sát</a:t>
            </a:r>
            <a:endParaRPr lang="en-US" sz="2000" i="0" u="none" strike="noStrike" cap="none" dirty="0" smtClean="0">
              <a:solidFill>
                <a:schemeClr val="dk1"/>
              </a:solidFill>
              <a:latin typeface="+mn-lt"/>
              <a:ea typeface="Maven Pro"/>
              <a:cs typeface="Maven Pro"/>
              <a:sym typeface="Maven Pro"/>
            </a:endParaRPr>
          </a:p>
          <a:p>
            <a:pPr marL="457200" marR="0" lvl="0" indent="-355600" algn="l" rtl="0">
              <a:lnSpc>
                <a:spcPct val="100000"/>
              </a:lnSpc>
              <a:spcBef>
                <a:spcPts val="0"/>
              </a:spcBef>
              <a:spcAft>
                <a:spcPts val="0"/>
              </a:spcAft>
              <a:buClr>
                <a:schemeClr val="dk1"/>
              </a:buClr>
              <a:buSzPts val="2000"/>
              <a:buFont typeface="Maven Pro"/>
              <a:buAutoNum type="arabicPeriod"/>
            </a:pPr>
            <a:r>
              <a:rPr lang="en-US" sz="2000" i="0" u="none" strike="noStrike" cap="none" dirty="0" err="1" smtClean="0">
                <a:solidFill>
                  <a:schemeClr val="dk1"/>
                </a:solidFill>
                <a:latin typeface="+mn-lt"/>
                <a:ea typeface="Maven Pro"/>
                <a:cs typeface="Maven Pro"/>
                <a:sym typeface="Maven Pro"/>
              </a:rPr>
              <a:t>Học</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có</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giám</a:t>
            </a:r>
            <a:r>
              <a:rPr lang="en-US" sz="2000" i="0" u="none" strike="noStrike" cap="none" dirty="0" smtClean="0">
                <a:solidFill>
                  <a:schemeClr val="dk1"/>
                </a:solidFill>
                <a:latin typeface="+mn-lt"/>
                <a:ea typeface="Maven Pro"/>
                <a:cs typeface="Maven Pro"/>
                <a:sym typeface="Maven Pro"/>
              </a:rPr>
              <a:t> </a:t>
            </a:r>
            <a:r>
              <a:rPr lang="en-US" sz="2000" i="0" u="none" strike="noStrike" cap="none" dirty="0" err="1" smtClean="0">
                <a:solidFill>
                  <a:schemeClr val="dk1"/>
                </a:solidFill>
                <a:latin typeface="+mn-lt"/>
                <a:ea typeface="Maven Pro"/>
                <a:cs typeface="Maven Pro"/>
                <a:sym typeface="Maven Pro"/>
              </a:rPr>
              <a:t>sát</a:t>
            </a:r>
            <a:r>
              <a:rPr lang="en-US" sz="2000" i="0" u="none" strike="noStrike" cap="none" dirty="0" smtClean="0">
                <a:solidFill>
                  <a:schemeClr val="dk1"/>
                </a:solidFill>
                <a:latin typeface="+mn-lt"/>
                <a:ea typeface="Maven Pro"/>
                <a:cs typeface="Maven Pro"/>
                <a:sym typeface="Maven Pro"/>
              </a:rPr>
              <a:t>: </a:t>
            </a:r>
            <a:r>
              <a:rPr lang="vi-VN" sz="2000" b="1" i="0" u="none" strike="noStrike" cap="none" dirty="0" smtClean="0">
                <a:solidFill>
                  <a:schemeClr val="dk1"/>
                </a:solidFill>
                <a:latin typeface="+mn-lt"/>
                <a:ea typeface="Maven Pro"/>
                <a:cs typeface="Maven Pro"/>
                <a:sym typeface="Maven Pro"/>
              </a:rPr>
              <a:t>Decision </a:t>
            </a:r>
            <a:r>
              <a:rPr lang="vi-VN" sz="2000" b="1" i="0" u="none" strike="noStrike" cap="none" dirty="0">
                <a:solidFill>
                  <a:schemeClr val="dk1"/>
                </a:solidFill>
                <a:latin typeface="+mn-lt"/>
                <a:ea typeface="Maven Pro"/>
                <a:cs typeface="Maven Pro"/>
                <a:sym typeface="Maven Pro"/>
              </a:rPr>
              <a:t>tree</a:t>
            </a:r>
            <a:endParaRPr sz="2000" b="1" i="0" u="none" strike="noStrike" cap="none" dirty="0">
              <a:solidFill>
                <a:schemeClr val="dk1"/>
              </a:solidFill>
              <a:latin typeface="+mn-lt"/>
              <a:ea typeface="Maven Pro"/>
              <a:cs typeface="Maven Pro"/>
              <a:sym typeface="Maven Pro"/>
            </a:endParaRPr>
          </a:p>
          <a:p>
            <a:pPr marL="457200" marR="0" lvl="0" indent="-355600" algn="l" rtl="0">
              <a:lnSpc>
                <a:spcPct val="100000"/>
              </a:lnSpc>
              <a:spcBef>
                <a:spcPts val="0"/>
              </a:spcBef>
              <a:spcAft>
                <a:spcPts val="0"/>
              </a:spcAft>
              <a:buClr>
                <a:schemeClr val="dk1"/>
              </a:buClr>
              <a:buSzPts val="2000"/>
              <a:buFont typeface="Maven Pro"/>
              <a:buAutoNum type="arabicPeriod"/>
            </a:pPr>
            <a:r>
              <a:rPr lang="vi-VN" sz="2000" i="0" u="none" strike="noStrike" cap="none" dirty="0" smtClean="0">
                <a:solidFill>
                  <a:schemeClr val="dk1"/>
                </a:solidFill>
                <a:latin typeface="+mn-lt"/>
                <a:ea typeface="Maven Pro"/>
                <a:cs typeface="Maven Pro"/>
                <a:sym typeface="Maven Pro"/>
              </a:rPr>
              <a:t>Backtest</a:t>
            </a:r>
            <a:endParaRPr sz="2000"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2000"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Học</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có</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giám</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sát</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là</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gì</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5" name="Google Shape;152;g2240524f1f3_0_0"/>
          <p:cNvSpPr txBox="1"/>
          <p:nvPr/>
        </p:nvSpPr>
        <p:spPr>
          <a:xfrm>
            <a:off x="304800" y="822266"/>
            <a:ext cx="8423564" cy="800189"/>
          </a:xfrm>
          <a:prstGeom prst="rect">
            <a:avLst/>
          </a:prstGeom>
          <a:noFill/>
          <a:ln>
            <a:noFill/>
          </a:ln>
        </p:spPr>
        <p:txBody>
          <a:bodyPr spcFirstLastPara="1" wrap="square" lIns="91425" tIns="91425" rIns="91425" bIns="91425" anchor="t" anchorCtr="0">
            <a:spAutoFit/>
          </a:bodyPr>
          <a:lstStyle/>
          <a:p>
            <a:r>
              <a:rPr lang="en-US" sz="2000" dirty="0" err="1" smtClean="0">
                <a:solidFill>
                  <a:srgbClr val="002060"/>
                </a:solidFill>
                <a:latin typeface="5"/>
              </a:rPr>
              <a:t>Học</a:t>
            </a:r>
            <a:r>
              <a:rPr lang="en-US" sz="2000" dirty="0" smtClean="0">
                <a:solidFill>
                  <a:srgbClr val="002060"/>
                </a:solidFill>
                <a:latin typeface="5"/>
              </a:rPr>
              <a:t> </a:t>
            </a:r>
            <a:r>
              <a:rPr lang="en-US" sz="2000" dirty="0" err="1" smtClean="0">
                <a:solidFill>
                  <a:srgbClr val="002060"/>
                </a:solidFill>
                <a:latin typeface="5"/>
              </a:rPr>
              <a:t>có</a:t>
            </a:r>
            <a:r>
              <a:rPr lang="en-US" sz="2000" dirty="0" smtClean="0">
                <a:solidFill>
                  <a:srgbClr val="002060"/>
                </a:solidFill>
                <a:latin typeface="5"/>
              </a:rPr>
              <a:t> </a:t>
            </a:r>
            <a:r>
              <a:rPr lang="en-US" sz="2000" dirty="0" err="1" smtClean="0">
                <a:solidFill>
                  <a:srgbClr val="002060"/>
                </a:solidFill>
                <a:latin typeface="5"/>
              </a:rPr>
              <a:t>giám</a:t>
            </a:r>
            <a:r>
              <a:rPr lang="en-US" sz="2000" dirty="0" smtClean="0">
                <a:solidFill>
                  <a:srgbClr val="002060"/>
                </a:solidFill>
                <a:latin typeface="5"/>
              </a:rPr>
              <a:t> </a:t>
            </a:r>
            <a:r>
              <a:rPr lang="en-US" sz="2000" dirty="0" err="1" smtClean="0">
                <a:solidFill>
                  <a:srgbClr val="002060"/>
                </a:solidFill>
                <a:latin typeface="5"/>
              </a:rPr>
              <a:t>sát</a:t>
            </a:r>
            <a:br>
              <a:rPr lang="vi-VN" sz="2000" dirty="0"/>
            </a:br>
            <a:endParaRPr lang="en-US" sz="2000" dirty="0"/>
          </a:p>
        </p:txBody>
      </p:sp>
      <p:graphicFrame>
        <p:nvGraphicFramePr>
          <p:cNvPr id="2" name="Table 1"/>
          <p:cNvGraphicFramePr>
            <a:graphicFrameLocks noGrp="1"/>
          </p:cNvGraphicFramePr>
          <p:nvPr/>
        </p:nvGraphicFramePr>
        <p:xfrm>
          <a:off x="400221" y="1308389"/>
          <a:ext cx="8328143" cy="4519756"/>
        </p:xfrm>
        <a:graphic>
          <a:graphicData uri="http://schemas.openxmlformats.org/drawingml/2006/table">
            <a:tbl>
              <a:tblPr/>
              <a:tblGrid>
                <a:gridCol w="1945815"/>
                <a:gridCol w="6382328"/>
              </a:tblGrid>
              <a:tr h="1136251">
                <a:tc>
                  <a:txBody>
                    <a:bodyPr/>
                    <a:lstStyle/>
                    <a:p>
                      <a:pPr algn="just" fontAlgn="base"/>
                      <a:r>
                        <a:rPr lang="en-US" sz="1600" b="1">
                          <a:effectLst/>
                        </a:rPr>
                        <a:t>Định nghĩa</a:t>
                      </a:r>
                      <a:endParaRPr lang="en-US" sz="160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just" fontAlgn="base"/>
                      <a:r>
                        <a:rPr lang="vi-VN" sz="1600" dirty="0">
                          <a:effectLst/>
                        </a:rPr>
                        <a:t>Mô hình được huấn luyện trên </a:t>
                      </a:r>
                      <a:r>
                        <a:rPr lang="vi-VN" sz="1600" b="1" dirty="0">
                          <a:effectLst/>
                        </a:rPr>
                        <a:t>tập dữ liệu đã gắn nhãn</a:t>
                      </a:r>
                      <a:r>
                        <a:rPr lang="vi-VN" sz="1600" dirty="0">
                          <a:effectLst/>
                        </a:rPr>
                        <a:t>, nghĩa là mỗi mẫu dữ liệu đầu vào đã được chỉ định một đầu ra tương ứng.</a:t>
                      </a:r>
                      <a:endParaRPr lang="vi-VN" sz="1600" dirty="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782751">
                <a:tc>
                  <a:txBody>
                    <a:bodyPr/>
                    <a:lstStyle/>
                    <a:p>
                      <a:pPr algn="just" fontAlgn="base"/>
                      <a:r>
                        <a:rPr lang="en-US" sz="1600" b="1">
                          <a:effectLst/>
                        </a:rPr>
                        <a:t>Mục tiêu</a:t>
                      </a:r>
                      <a:endParaRPr lang="en-US" sz="160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just" fontAlgn="base"/>
                      <a:r>
                        <a:rPr lang="vi-VN" sz="1600" dirty="0">
                          <a:effectLst/>
                        </a:rPr>
                        <a:t>Dự đoán đầu ra chính xác hoặc phân loại dữ liệu vào các nhóm đã xác định trước.</a:t>
                      </a:r>
                      <a:endParaRPr lang="vi-VN" sz="1600" dirty="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429251">
                <a:tc>
                  <a:txBody>
                    <a:bodyPr/>
                    <a:lstStyle/>
                    <a:p>
                      <a:pPr algn="just" fontAlgn="base"/>
                      <a:r>
                        <a:rPr lang="vi-VN" sz="1600" b="1">
                          <a:effectLst/>
                        </a:rPr>
                        <a:t>Các phương pháp</a:t>
                      </a:r>
                      <a:endParaRPr lang="vi-VN" sz="160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just" fontAlgn="base"/>
                      <a:r>
                        <a:rPr lang="en-US" sz="1600" b="1" dirty="0" err="1">
                          <a:effectLst/>
                        </a:rPr>
                        <a:t>Hồi</a:t>
                      </a:r>
                      <a:r>
                        <a:rPr lang="en-US" sz="1600" b="1" dirty="0">
                          <a:effectLst/>
                        </a:rPr>
                        <a:t> </a:t>
                      </a:r>
                      <a:r>
                        <a:rPr lang="en-US" sz="1600" b="1" dirty="0" err="1">
                          <a:effectLst/>
                        </a:rPr>
                        <a:t>quy</a:t>
                      </a:r>
                      <a:r>
                        <a:rPr lang="en-US" sz="1600" b="1" dirty="0">
                          <a:effectLst/>
                        </a:rPr>
                        <a:t> (Regression), </a:t>
                      </a:r>
                      <a:r>
                        <a:rPr lang="en-US" sz="1600" b="1" dirty="0" err="1">
                          <a:effectLst/>
                        </a:rPr>
                        <a:t>Phân</a:t>
                      </a:r>
                      <a:r>
                        <a:rPr lang="en-US" sz="1600" b="1" dirty="0">
                          <a:effectLst/>
                        </a:rPr>
                        <a:t> </a:t>
                      </a:r>
                      <a:r>
                        <a:rPr lang="en-US" sz="1600" b="1" dirty="0" err="1">
                          <a:effectLst/>
                        </a:rPr>
                        <a:t>loại</a:t>
                      </a:r>
                      <a:r>
                        <a:rPr lang="en-US" sz="1600" b="1" dirty="0">
                          <a:effectLst/>
                        </a:rPr>
                        <a:t> (Classification)</a:t>
                      </a:r>
                      <a:endParaRPr lang="en-US" sz="1600" b="1" dirty="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606001">
                <a:tc>
                  <a:txBody>
                    <a:bodyPr/>
                    <a:lstStyle/>
                    <a:p>
                      <a:pPr algn="just" fontAlgn="base"/>
                      <a:r>
                        <a:rPr lang="en-US" sz="1600" b="1">
                          <a:effectLst/>
                        </a:rPr>
                        <a:t>Ví dụ</a:t>
                      </a:r>
                      <a:endParaRPr lang="en-US" sz="160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just" fontAlgn="base"/>
                      <a:r>
                        <a:rPr lang="en-US" sz="1600" b="1" dirty="0" err="1">
                          <a:effectLst/>
                        </a:rPr>
                        <a:t>Dự</a:t>
                      </a:r>
                      <a:r>
                        <a:rPr lang="en-US" sz="1600" b="1" dirty="0">
                          <a:effectLst/>
                        </a:rPr>
                        <a:t> </a:t>
                      </a:r>
                      <a:r>
                        <a:rPr lang="en-US" sz="1600" b="1" dirty="0" err="1">
                          <a:effectLst/>
                        </a:rPr>
                        <a:t>đoán</a:t>
                      </a:r>
                      <a:r>
                        <a:rPr lang="en-US" sz="1600" b="1" dirty="0">
                          <a:effectLst/>
                        </a:rPr>
                        <a:t> </a:t>
                      </a:r>
                      <a:r>
                        <a:rPr lang="en-US" sz="1600" b="1" dirty="0" err="1">
                          <a:effectLst/>
                        </a:rPr>
                        <a:t>giá</a:t>
                      </a:r>
                      <a:r>
                        <a:rPr lang="en-US" sz="1600" b="1" dirty="0">
                          <a:effectLst/>
                        </a:rPr>
                        <a:t> </a:t>
                      </a:r>
                      <a:r>
                        <a:rPr lang="en-US" sz="1600" b="1" dirty="0" err="1">
                          <a:effectLst/>
                        </a:rPr>
                        <a:t>nhà</a:t>
                      </a:r>
                      <a:r>
                        <a:rPr lang="en-US" sz="1600" b="1" dirty="0">
                          <a:effectLst/>
                        </a:rPr>
                        <a:t> (Regression), </a:t>
                      </a:r>
                      <a:r>
                        <a:rPr lang="en-US" sz="1600" b="1" dirty="0" err="1">
                          <a:effectLst/>
                        </a:rPr>
                        <a:t>Nhận</a:t>
                      </a:r>
                      <a:r>
                        <a:rPr lang="en-US" sz="1600" b="1" dirty="0">
                          <a:effectLst/>
                        </a:rPr>
                        <a:t> </a:t>
                      </a:r>
                      <a:r>
                        <a:rPr lang="en-US" sz="1600" b="1" dirty="0" err="1">
                          <a:effectLst/>
                        </a:rPr>
                        <a:t>dạng</a:t>
                      </a:r>
                      <a:r>
                        <a:rPr lang="en-US" sz="1600" b="1" dirty="0">
                          <a:effectLst/>
                        </a:rPr>
                        <a:t> </a:t>
                      </a:r>
                      <a:r>
                        <a:rPr lang="en-US" sz="1600" b="1" dirty="0" err="1">
                          <a:effectLst/>
                        </a:rPr>
                        <a:t>hình</a:t>
                      </a:r>
                      <a:r>
                        <a:rPr lang="en-US" sz="1600" b="1" dirty="0">
                          <a:effectLst/>
                        </a:rPr>
                        <a:t> </a:t>
                      </a:r>
                      <a:r>
                        <a:rPr lang="en-US" sz="1600" b="1" dirty="0" err="1">
                          <a:effectLst/>
                        </a:rPr>
                        <a:t>ảnh</a:t>
                      </a:r>
                      <a:r>
                        <a:rPr lang="en-US" sz="1600" b="1" dirty="0">
                          <a:effectLst/>
                        </a:rPr>
                        <a:t> (Classification)</a:t>
                      </a:r>
                      <a:endParaRPr lang="en-US" sz="1600" b="1" dirty="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782751">
                <a:tc>
                  <a:txBody>
                    <a:bodyPr/>
                    <a:lstStyle/>
                    <a:p>
                      <a:pPr algn="just" fontAlgn="base"/>
                      <a:r>
                        <a:rPr lang="en-US" sz="1600" b="1">
                          <a:effectLst/>
                        </a:rPr>
                        <a:t>Đánh giá mô hình</a:t>
                      </a:r>
                      <a:endParaRPr lang="en-US" sz="160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just" fontAlgn="base"/>
                      <a:r>
                        <a:rPr lang="vi-VN" sz="1600" b="1" dirty="0">
                          <a:effectLst/>
                        </a:rPr>
                        <a:t>Thường dựa trên độ chính </a:t>
                      </a:r>
                      <a:r>
                        <a:rPr lang="vi-VN" sz="1600" b="1" dirty="0" smtClean="0">
                          <a:effectLst/>
                        </a:rPr>
                        <a:t>xác</a:t>
                      </a:r>
                      <a:endParaRPr lang="vi-VN" sz="1600" b="1" dirty="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782751">
                <a:tc>
                  <a:txBody>
                    <a:bodyPr/>
                    <a:lstStyle/>
                    <a:p>
                      <a:pPr algn="just" fontAlgn="base"/>
                      <a:r>
                        <a:rPr lang="en-US" sz="1600" b="1">
                          <a:effectLst/>
                        </a:rPr>
                        <a:t>Ứng dụng</a:t>
                      </a:r>
                      <a:endParaRPr lang="en-US" sz="160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tcPr>
                </a:tc>
                <a:tc>
                  <a:txBody>
                    <a:bodyPr/>
                    <a:lstStyle/>
                    <a:p>
                      <a:pPr algn="just" fontAlgn="base"/>
                      <a:r>
                        <a:rPr lang="en-US" sz="1600" b="1" dirty="0" err="1">
                          <a:effectLst/>
                        </a:rPr>
                        <a:t>Những</a:t>
                      </a:r>
                      <a:r>
                        <a:rPr lang="en-US" sz="1600" b="1" dirty="0">
                          <a:effectLst/>
                        </a:rPr>
                        <a:t> </a:t>
                      </a:r>
                      <a:r>
                        <a:rPr lang="en-US" sz="1600" b="1" dirty="0" err="1">
                          <a:effectLst/>
                        </a:rPr>
                        <a:t>tình</a:t>
                      </a:r>
                      <a:r>
                        <a:rPr lang="en-US" sz="1600" b="1" dirty="0">
                          <a:effectLst/>
                        </a:rPr>
                        <a:t> </a:t>
                      </a:r>
                      <a:r>
                        <a:rPr lang="en-US" sz="1600" b="1" dirty="0" err="1">
                          <a:effectLst/>
                        </a:rPr>
                        <a:t>huống</a:t>
                      </a:r>
                      <a:r>
                        <a:rPr lang="en-US" sz="1600" b="1" dirty="0">
                          <a:effectLst/>
                        </a:rPr>
                        <a:t> </a:t>
                      </a:r>
                      <a:r>
                        <a:rPr lang="en-US" sz="1600" b="1" dirty="0" err="1">
                          <a:effectLst/>
                        </a:rPr>
                        <a:t>mà</a:t>
                      </a:r>
                      <a:r>
                        <a:rPr lang="en-US" sz="1600" b="1" dirty="0">
                          <a:effectLst/>
                        </a:rPr>
                        <a:t> </a:t>
                      </a:r>
                      <a:r>
                        <a:rPr lang="en-US" sz="1600" b="1" dirty="0" err="1">
                          <a:effectLst/>
                        </a:rPr>
                        <a:t>đầu</a:t>
                      </a:r>
                      <a:r>
                        <a:rPr lang="en-US" sz="1600" b="1" dirty="0">
                          <a:effectLst/>
                        </a:rPr>
                        <a:t> </a:t>
                      </a:r>
                      <a:r>
                        <a:rPr lang="en-US" sz="1600" b="1" dirty="0" err="1">
                          <a:effectLst/>
                        </a:rPr>
                        <a:t>ra</a:t>
                      </a:r>
                      <a:r>
                        <a:rPr lang="en-US" sz="1600" b="1" dirty="0">
                          <a:effectLst/>
                        </a:rPr>
                        <a:t> </a:t>
                      </a:r>
                      <a:r>
                        <a:rPr lang="en-US" sz="1600" b="1" dirty="0" err="1">
                          <a:effectLst/>
                        </a:rPr>
                        <a:t>đã</a:t>
                      </a:r>
                      <a:r>
                        <a:rPr lang="en-US" sz="1600" b="1" dirty="0">
                          <a:effectLst/>
                        </a:rPr>
                        <a:t> </a:t>
                      </a:r>
                      <a:r>
                        <a:rPr lang="en-US" sz="1600" b="1" dirty="0" err="1">
                          <a:effectLst/>
                        </a:rPr>
                        <a:t>biết</a:t>
                      </a:r>
                      <a:r>
                        <a:rPr lang="en-US" sz="1600" b="1" dirty="0">
                          <a:effectLst/>
                        </a:rPr>
                        <a:t> </a:t>
                      </a:r>
                      <a:r>
                        <a:rPr lang="en-US" sz="1600" b="1" dirty="0" err="1">
                          <a:effectLst/>
                        </a:rPr>
                        <a:t>và</a:t>
                      </a:r>
                      <a:r>
                        <a:rPr lang="en-US" sz="1600" b="1" dirty="0">
                          <a:effectLst/>
                        </a:rPr>
                        <a:t> </a:t>
                      </a:r>
                      <a:r>
                        <a:rPr lang="en-US" sz="1600" b="1" dirty="0" err="1">
                          <a:effectLst/>
                        </a:rPr>
                        <a:t>mục</a:t>
                      </a:r>
                      <a:r>
                        <a:rPr lang="en-US" sz="1600" b="1" dirty="0">
                          <a:effectLst/>
                        </a:rPr>
                        <a:t> </a:t>
                      </a:r>
                      <a:r>
                        <a:rPr lang="en-US" sz="1600" b="1" dirty="0" err="1">
                          <a:effectLst/>
                        </a:rPr>
                        <a:t>tiêu</a:t>
                      </a:r>
                      <a:r>
                        <a:rPr lang="en-US" sz="1600" b="1" dirty="0">
                          <a:effectLst/>
                        </a:rPr>
                        <a:t> </a:t>
                      </a:r>
                      <a:r>
                        <a:rPr lang="en-US" sz="1600" b="1" dirty="0" err="1">
                          <a:effectLst/>
                        </a:rPr>
                        <a:t>là</a:t>
                      </a:r>
                      <a:r>
                        <a:rPr lang="en-US" sz="1600" b="1" dirty="0">
                          <a:effectLst/>
                        </a:rPr>
                        <a:t> </a:t>
                      </a:r>
                      <a:r>
                        <a:rPr lang="en-US" sz="1600" b="1" dirty="0" err="1">
                          <a:effectLst/>
                        </a:rPr>
                        <a:t>dự</a:t>
                      </a:r>
                      <a:r>
                        <a:rPr lang="en-US" sz="1600" b="1" dirty="0">
                          <a:effectLst/>
                        </a:rPr>
                        <a:t> </a:t>
                      </a:r>
                      <a:r>
                        <a:rPr lang="en-US" sz="1600" b="1" dirty="0" err="1">
                          <a:effectLst/>
                        </a:rPr>
                        <a:t>đoán</a:t>
                      </a:r>
                      <a:r>
                        <a:rPr lang="en-US" sz="1600" b="1" dirty="0">
                          <a:effectLst/>
                        </a:rPr>
                        <a:t> </a:t>
                      </a:r>
                      <a:r>
                        <a:rPr lang="en-US" sz="1600" b="1" dirty="0" err="1">
                          <a:effectLst/>
                        </a:rPr>
                        <a:t>kết</a:t>
                      </a:r>
                      <a:r>
                        <a:rPr lang="en-US" sz="1600" b="1" dirty="0">
                          <a:effectLst/>
                        </a:rPr>
                        <a:t> </a:t>
                      </a:r>
                      <a:r>
                        <a:rPr lang="en-US" sz="1600" b="1" dirty="0" err="1">
                          <a:effectLst/>
                        </a:rPr>
                        <a:t>quả</a:t>
                      </a:r>
                      <a:r>
                        <a:rPr lang="en-US" sz="1600" b="1" dirty="0">
                          <a:effectLst/>
                        </a:rPr>
                        <a:t> </a:t>
                      </a:r>
                      <a:r>
                        <a:rPr lang="en-US" sz="1600" b="1" dirty="0" err="1">
                          <a:effectLst/>
                        </a:rPr>
                        <a:t>cho</a:t>
                      </a:r>
                      <a:r>
                        <a:rPr lang="en-US" sz="1600" b="1" dirty="0">
                          <a:effectLst/>
                        </a:rPr>
                        <a:t> </a:t>
                      </a:r>
                      <a:r>
                        <a:rPr lang="en-US" sz="1600" b="1" dirty="0" err="1">
                          <a:effectLst/>
                        </a:rPr>
                        <a:t>dữ</a:t>
                      </a:r>
                      <a:r>
                        <a:rPr lang="en-US" sz="1600" b="1" dirty="0">
                          <a:effectLst/>
                        </a:rPr>
                        <a:t> </a:t>
                      </a:r>
                      <a:r>
                        <a:rPr lang="en-US" sz="1600" b="1" dirty="0" err="1">
                          <a:effectLst/>
                        </a:rPr>
                        <a:t>liệu</a:t>
                      </a:r>
                      <a:r>
                        <a:rPr lang="en-US" sz="1600" b="1" dirty="0">
                          <a:effectLst/>
                        </a:rPr>
                        <a:t> </a:t>
                      </a:r>
                      <a:r>
                        <a:rPr lang="en-US" sz="1600" b="1" dirty="0" err="1">
                          <a:effectLst/>
                        </a:rPr>
                        <a:t>mới</a:t>
                      </a:r>
                      <a:r>
                        <a:rPr lang="en-US" sz="1600" b="1" dirty="0">
                          <a:effectLst/>
                        </a:rPr>
                        <a:t>.</a:t>
                      </a:r>
                      <a:endParaRPr lang="en-US" sz="1600" b="1" dirty="0">
                        <a:effectLst/>
                      </a:endParaRPr>
                    </a:p>
                  </a:txBody>
                  <a:tcPr marL="72927" marR="72927" marT="36464" marB="36464"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842356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Học</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có</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giám</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sát</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vs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học</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không</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giám</a:t>
            </a:r>
            <a:r>
              <a:rPr lang="en-US" sz="2400" b="0" i="0" u="none" strike="noStrike" cap="none" dirty="0" smtClean="0">
                <a:solidFill>
                  <a:schemeClr val="lt1"/>
                </a:solidFill>
                <a:latin typeface="Arial" panose="020B0604020202020204"/>
                <a:ea typeface="Arial" panose="020B0604020202020204"/>
                <a:cs typeface="Arial" panose="020B0604020202020204"/>
                <a:sym typeface="Arial" panose="020B0604020202020204"/>
              </a:rPr>
              <a:t> </a:t>
            </a:r>
            <a:r>
              <a:rPr lang="en-US" sz="2400" b="0" i="0" u="none" strike="noStrike" cap="none" dirty="0" err="1" smtClean="0">
                <a:solidFill>
                  <a:schemeClr val="lt1"/>
                </a:solidFill>
                <a:latin typeface="Arial" panose="020B0604020202020204"/>
                <a:ea typeface="Arial" panose="020B0604020202020204"/>
                <a:cs typeface="Arial" panose="020B0604020202020204"/>
                <a:sym typeface="Arial" panose="020B0604020202020204"/>
              </a:rPr>
              <a:t>sát</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5" name="Google Shape;152;g2240524f1f3_0_0"/>
          <p:cNvSpPr txBox="1"/>
          <p:nvPr/>
        </p:nvSpPr>
        <p:spPr>
          <a:xfrm>
            <a:off x="304800" y="822266"/>
            <a:ext cx="8423564" cy="800189"/>
          </a:xfrm>
          <a:prstGeom prst="rect">
            <a:avLst/>
          </a:prstGeom>
          <a:noFill/>
          <a:ln>
            <a:noFill/>
          </a:ln>
        </p:spPr>
        <p:txBody>
          <a:bodyPr spcFirstLastPara="1" wrap="square" lIns="91425" tIns="91425" rIns="91425" bIns="91425" anchor="t" anchorCtr="0">
            <a:spAutoFit/>
          </a:bodyPr>
          <a:lstStyle/>
          <a:p>
            <a:r>
              <a:rPr lang="en-US" sz="2000" dirty="0" err="1" smtClean="0">
                <a:solidFill>
                  <a:srgbClr val="002060"/>
                </a:solidFill>
                <a:latin typeface="5"/>
              </a:rPr>
              <a:t>Học</a:t>
            </a:r>
            <a:r>
              <a:rPr lang="en-US" sz="2000" dirty="0" smtClean="0">
                <a:solidFill>
                  <a:srgbClr val="002060"/>
                </a:solidFill>
                <a:latin typeface="5"/>
              </a:rPr>
              <a:t> </a:t>
            </a:r>
            <a:r>
              <a:rPr lang="en-US" sz="2000" dirty="0" err="1" smtClean="0">
                <a:solidFill>
                  <a:srgbClr val="002060"/>
                </a:solidFill>
                <a:latin typeface="5"/>
              </a:rPr>
              <a:t>có</a:t>
            </a:r>
            <a:r>
              <a:rPr lang="en-US" sz="2000" dirty="0" smtClean="0">
                <a:solidFill>
                  <a:srgbClr val="002060"/>
                </a:solidFill>
                <a:latin typeface="5"/>
              </a:rPr>
              <a:t> </a:t>
            </a:r>
            <a:r>
              <a:rPr lang="en-US" sz="2000" dirty="0" err="1" smtClean="0">
                <a:solidFill>
                  <a:srgbClr val="002060"/>
                </a:solidFill>
                <a:latin typeface="5"/>
              </a:rPr>
              <a:t>giám</a:t>
            </a:r>
            <a:r>
              <a:rPr lang="en-US" sz="2000" dirty="0" smtClean="0">
                <a:solidFill>
                  <a:srgbClr val="002060"/>
                </a:solidFill>
                <a:latin typeface="5"/>
              </a:rPr>
              <a:t> </a:t>
            </a:r>
            <a:r>
              <a:rPr lang="en-US" sz="2000" dirty="0" err="1" smtClean="0">
                <a:solidFill>
                  <a:srgbClr val="002060"/>
                </a:solidFill>
                <a:latin typeface="5"/>
              </a:rPr>
              <a:t>sát</a:t>
            </a:r>
            <a:r>
              <a:rPr lang="en-US" sz="2000" dirty="0" smtClean="0">
                <a:solidFill>
                  <a:srgbClr val="002060"/>
                </a:solidFill>
                <a:latin typeface="5"/>
              </a:rPr>
              <a:t> vs </a:t>
            </a:r>
            <a:r>
              <a:rPr lang="en-US" sz="2000" dirty="0" err="1" smtClean="0">
                <a:solidFill>
                  <a:srgbClr val="002060"/>
                </a:solidFill>
                <a:latin typeface="5"/>
              </a:rPr>
              <a:t>học</a:t>
            </a:r>
            <a:r>
              <a:rPr lang="en-US" sz="2000" dirty="0" smtClean="0">
                <a:solidFill>
                  <a:srgbClr val="002060"/>
                </a:solidFill>
                <a:latin typeface="5"/>
              </a:rPr>
              <a:t> </a:t>
            </a:r>
            <a:r>
              <a:rPr lang="en-US" sz="2000" dirty="0" err="1" smtClean="0">
                <a:solidFill>
                  <a:srgbClr val="002060"/>
                </a:solidFill>
                <a:latin typeface="5"/>
              </a:rPr>
              <a:t>không</a:t>
            </a:r>
            <a:r>
              <a:rPr lang="en-US" sz="2000" dirty="0" smtClean="0">
                <a:solidFill>
                  <a:srgbClr val="002060"/>
                </a:solidFill>
                <a:latin typeface="5"/>
              </a:rPr>
              <a:t> </a:t>
            </a:r>
            <a:r>
              <a:rPr lang="en-US" sz="2000" dirty="0" err="1" smtClean="0">
                <a:solidFill>
                  <a:srgbClr val="002060"/>
                </a:solidFill>
                <a:latin typeface="5"/>
              </a:rPr>
              <a:t>giám</a:t>
            </a:r>
            <a:r>
              <a:rPr lang="en-US" sz="2000" dirty="0" smtClean="0">
                <a:solidFill>
                  <a:srgbClr val="002060"/>
                </a:solidFill>
                <a:latin typeface="5"/>
              </a:rPr>
              <a:t> </a:t>
            </a:r>
            <a:r>
              <a:rPr lang="en-US" sz="2000" dirty="0" err="1" smtClean="0">
                <a:solidFill>
                  <a:srgbClr val="002060"/>
                </a:solidFill>
                <a:latin typeface="5"/>
              </a:rPr>
              <a:t>sát</a:t>
            </a:r>
            <a:br>
              <a:rPr lang="vi-VN" sz="2000" dirty="0"/>
            </a:br>
            <a:endParaRPr lang="en-US" sz="2000" dirty="0"/>
          </a:p>
        </p:txBody>
      </p:sp>
      <p:graphicFrame>
        <p:nvGraphicFramePr>
          <p:cNvPr id="3" name="Table 2"/>
          <p:cNvGraphicFramePr>
            <a:graphicFrameLocks noGrp="1"/>
          </p:cNvGraphicFramePr>
          <p:nvPr/>
        </p:nvGraphicFramePr>
        <p:xfrm>
          <a:off x="414511" y="1299153"/>
          <a:ext cx="8313852" cy="4686012"/>
        </p:xfrm>
        <a:graphic>
          <a:graphicData uri="http://schemas.openxmlformats.org/drawingml/2006/table">
            <a:tbl>
              <a:tblPr/>
              <a:tblGrid>
                <a:gridCol w="2282507"/>
                <a:gridCol w="3260061"/>
                <a:gridCol w="2771284"/>
              </a:tblGrid>
              <a:tr h="408524">
                <a:tc>
                  <a:txBody>
                    <a:bodyPr/>
                    <a:lstStyle/>
                    <a:p>
                      <a:pPr fontAlgn="b"/>
                      <a:r>
                        <a:rPr lang="en-US" sz="1600" b="1" dirty="0" err="1">
                          <a:effectLst/>
                        </a:rPr>
                        <a:t>Tiêu</a:t>
                      </a:r>
                      <a:r>
                        <a:rPr lang="en-US" sz="1600" b="1" dirty="0">
                          <a:effectLst/>
                        </a:rPr>
                        <a:t> </a:t>
                      </a:r>
                      <a:r>
                        <a:rPr lang="en-US" sz="1600" b="1" dirty="0" err="1">
                          <a:effectLst/>
                        </a:rPr>
                        <a:t>Chí</a:t>
                      </a:r>
                      <a:endParaRPr lang="en-US" sz="1600" b="1" dirty="0">
                        <a:effectLst/>
                      </a:endParaRPr>
                    </a:p>
                  </a:txBody>
                  <a:tcPr marL="66944" marR="66944" marT="33472" marB="33472"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
                      <a:r>
                        <a:rPr lang="en-US" sz="1600" b="1">
                          <a:effectLst/>
                        </a:rPr>
                        <a:t>Học Có Giám Sát</a:t>
                      </a:r>
                      <a:endParaRPr lang="en-US" sz="1600" b="1">
                        <a:effectLst/>
                      </a:endParaRPr>
                    </a:p>
                  </a:txBody>
                  <a:tcPr marL="66944" marR="66944" marT="33472" marB="33472"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
                      <a:r>
                        <a:rPr lang="en-US" sz="1600" b="1">
                          <a:effectLst/>
                        </a:rPr>
                        <a:t>Học Không Giám Sát</a:t>
                      </a:r>
                      <a:endParaRPr lang="en-US" sz="1600" b="1">
                        <a:effectLst/>
                      </a:endParaRPr>
                    </a:p>
                  </a:txBody>
                  <a:tcPr marL="66944" marR="66944" marT="33472" marB="33472" anchor="b">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762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576740">
                <a:tc>
                  <a:txBody>
                    <a:bodyPr/>
                    <a:lstStyle/>
                    <a:p>
                      <a:pPr fontAlgn="base"/>
                      <a:r>
                        <a:rPr lang="en-US" sz="1600" b="1">
                          <a:effectLst/>
                        </a:rPr>
                        <a:t>Dữ liệu</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just" fontAlgn="base"/>
                      <a:r>
                        <a:rPr lang="vi-VN" sz="1600" b="1" dirty="0">
                          <a:effectLst/>
                        </a:rPr>
                        <a:t>Dữ liệu được gắn nhãn (đầu vào và đầu ra)</a:t>
                      </a:r>
                      <a:endParaRPr lang="vi-VN" sz="1600" b="1"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just" fontAlgn="base"/>
                      <a:r>
                        <a:rPr lang="en-US" sz="1600" dirty="0" err="1">
                          <a:effectLst/>
                        </a:rPr>
                        <a:t>Chỉ</a:t>
                      </a:r>
                      <a:r>
                        <a:rPr lang="en-US" sz="1600" dirty="0">
                          <a:effectLst/>
                        </a:rPr>
                        <a:t> </a:t>
                      </a:r>
                      <a:r>
                        <a:rPr lang="en-US" sz="1600" dirty="0" err="1">
                          <a:effectLst/>
                        </a:rPr>
                        <a:t>có</a:t>
                      </a:r>
                      <a:r>
                        <a:rPr lang="en-US" sz="1600" dirty="0">
                          <a:effectLst/>
                        </a:rPr>
                        <a:t> </a:t>
                      </a:r>
                      <a:r>
                        <a:rPr lang="en-US" sz="1600" dirty="0" err="1">
                          <a:effectLst/>
                        </a:rPr>
                        <a:t>dữ</a:t>
                      </a:r>
                      <a:r>
                        <a:rPr lang="en-US" sz="1600" dirty="0">
                          <a:effectLst/>
                        </a:rPr>
                        <a:t> </a:t>
                      </a:r>
                      <a:r>
                        <a:rPr lang="en-US" sz="1600" dirty="0" err="1">
                          <a:effectLst/>
                        </a:rPr>
                        <a:t>liệu</a:t>
                      </a:r>
                      <a:r>
                        <a:rPr lang="en-US" sz="1600" dirty="0">
                          <a:effectLst/>
                        </a:rPr>
                        <a:t> </a:t>
                      </a:r>
                      <a:r>
                        <a:rPr lang="en-US" sz="1600" dirty="0" err="1">
                          <a:effectLst/>
                        </a:rPr>
                        <a:t>đầu</a:t>
                      </a:r>
                      <a:r>
                        <a:rPr lang="en-US" sz="1600" dirty="0">
                          <a:effectLst/>
                        </a:rPr>
                        <a:t> </a:t>
                      </a:r>
                      <a:r>
                        <a:rPr lang="en-US" sz="1600" dirty="0" err="1">
                          <a:effectLst/>
                        </a:rPr>
                        <a:t>vào</a:t>
                      </a:r>
                      <a:r>
                        <a:rPr lang="en-US" sz="1600" dirty="0">
                          <a:effectLst/>
                        </a:rPr>
                        <a:t>, </a:t>
                      </a:r>
                      <a:r>
                        <a:rPr lang="en-US" sz="1600" dirty="0" err="1">
                          <a:effectLst/>
                        </a:rPr>
                        <a:t>không</a:t>
                      </a:r>
                      <a:r>
                        <a:rPr lang="en-US" sz="1600" dirty="0">
                          <a:effectLst/>
                        </a:rPr>
                        <a:t> </a:t>
                      </a:r>
                      <a:r>
                        <a:rPr lang="en-US" sz="1600" dirty="0" err="1">
                          <a:effectLst/>
                        </a:rPr>
                        <a:t>có</a:t>
                      </a:r>
                      <a:r>
                        <a:rPr lang="en-US" sz="1600" dirty="0">
                          <a:effectLst/>
                        </a:rPr>
                        <a:t> </a:t>
                      </a:r>
                      <a:r>
                        <a:rPr lang="en-US" sz="1600" dirty="0" err="1">
                          <a:effectLst/>
                        </a:rPr>
                        <a:t>nhãn</a:t>
                      </a:r>
                      <a:endParaRPr lang="en-US" sz="1600"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408524">
                <a:tc>
                  <a:txBody>
                    <a:bodyPr/>
                    <a:lstStyle/>
                    <a:p>
                      <a:pPr fontAlgn="base"/>
                      <a:r>
                        <a:rPr lang="en-US" sz="1600" b="1">
                          <a:effectLst/>
                        </a:rPr>
                        <a:t>Mục đích</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b="1" dirty="0" err="1">
                          <a:effectLst/>
                        </a:rPr>
                        <a:t>Dự</a:t>
                      </a:r>
                      <a:r>
                        <a:rPr lang="en-US" sz="1600" b="1" dirty="0">
                          <a:effectLst/>
                        </a:rPr>
                        <a:t> </a:t>
                      </a:r>
                      <a:r>
                        <a:rPr lang="en-US" sz="1600" b="1" dirty="0" err="1">
                          <a:effectLst/>
                        </a:rPr>
                        <a:t>đoán</a:t>
                      </a:r>
                      <a:r>
                        <a:rPr lang="en-US" sz="1600" b="1" dirty="0">
                          <a:effectLst/>
                        </a:rPr>
                        <a:t> </a:t>
                      </a:r>
                      <a:r>
                        <a:rPr lang="en-US" sz="1600" dirty="0" err="1">
                          <a:effectLst/>
                        </a:rPr>
                        <a:t>hoặc</a:t>
                      </a:r>
                      <a:r>
                        <a:rPr lang="en-US" sz="1600" dirty="0">
                          <a:effectLst/>
                        </a:rPr>
                        <a:t> </a:t>
                      </a:r>
                      <a:r>
                        <a:rPr lang="en-US" sz="1600" dirty="0" err="1">
                          <a:effectLst/>
                        </a:rPr>
                        <a:t>phân</a:t>
                      </a:r>
                      <a:r>
                        <a:rPr lang="en-US" sz="1600" dirty="0">
                          <a:effectLst/>
                        </a:rPr>
                        <a:t> </a:t>
                      </a:r>
                      <a:r>
                        <a:rPr lang="en-US" sz="1600" dirty="0" err="1">
                          <a:effectLst/>
                        </a:rPr>
                        <a:t>loại</a:t>
                      </a:r>
                      <a:endParaRPr lang="en-US" sz="1600"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dirty="0" err="1">
                          <a:effectLst/>
                        </a:rPr>
                        <a:t>Phân</a:t>
                      </a:r>
                      <a:r>
                        <a:rPr lang="en-US" sz="1600" dirty="0">
                          <a:effectLst/>
                        </a:rPr>
                        <a:t> </a:t>
                      </a:r>
                      <a:r>
                        <a:rPr lang="en-US" sz="1600" dirty="0" err="1">
                          <a:effectLst/>
                        </a:rPr>
                        <a:t>cụm</a:t>
                      </a:r>
                      <a:r>
                        <a:rPr lang="en-US" sz="1600" dirty="0">
                          <a:effectLst/>
                        </a:rPr>
                        <a:t> </a:t>
                      </a:r>
                      <a:r>
                        <a:rPr lang="en-US" sz="1600" dirty="0" err="1">
                          <a:effectLst/>
                        </a:rPr>
                        <a:t>hoặc</a:t>
                      </a:r>
                      <a:r>
                        <a:rPr lang="en-US" sz="1600" dirty="0">
                          <a:effectLst/>
                        </a:rPr>
                        <a:t> </a:t>
                      </a:r>
                      <a:r>
                        <a:rPr lang="en-US" sz="1600" dirty="0" err="1">
                          <a:effectLst/>
                        </a:rPr>
                        <a:t>giảm</a:t>
                      </a:r>
                      <a:r>
                        <a:rPr lang="en-US" sz="1600" dirty="0">
                          <a:effectLst/>
                        </a:rPr>
                        <a:t> </a:t>
                      </a:r>
                      <a:r>
                        <a:rPr lang="en-US" sz="1600" dirty="0" err="1">
                          <a:effectLst/>
                        </a:rPr>
                        <a:t>chiều</a:t>
                      </a:r>
                      <a:endParaRPr lang="en-US" sz="1600"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576740">
                <a:tc>
                  <a:txBody>
                    <a:bodyPr/>
                    <a:lstStyle/>
                    <a:p>
                      <a:pPr fontAlgn="base"/>
                      <a:r>
                        <a:rPr lang="vi-VN" sz="1600" b="1">
                          <a:effectLst/>
                        </a:rPr>
                        <a:t>Phương pháp</a:t>
                      </a:r>
                      <a:endParaRPr lang="vi-VN"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b="1" dirty="0" err="1">
                          <a:effectLst/>
                        </a:rPr>
                        <a:t>Hồi</a:t>
                      </a:r>
                      <a:r>
                        <a:rPr lang="en-US" sz="1600" b="1" dirty="0">
                          <a:effectLst/>
                        </a:rPr>
                        <a:t> </a:t>
                      </a:r>
                      <a:r>
                        <a:rPr lang="en-US" sz="1600" b="1" dirty="0" err="1">
                          <a:effectLst/>
                        </a:rPr>
                        <a:t>quy</a:t>
                      </a:r>
                      <a:r>
                        <a:rPr lang="en-US" sz="1600" b="1" dirty="0">
                          <a:effectLst/>
                        </a:rPr>
                        <a:t>, </a:t>
                      </a:r>
                      <a:r>
                        <a:rPr lang="en-US" sz="1600" b="1" dirty="0" err="1">
                          <a:effectLst/>
                        </a:rPr>
                        <a:t>Phân</a:t>
                      </a:r>
                      <a:r>
                        <a:rPr lang="en-US" sz="1600" b="1" dirty="0">
                          <a:effectLst/>
                        </a:rPr>
                        <a:t> </a:t>
                      </a:r>
                      <a:r>
                        <a:rPr lang="en-US" sz="1600" b="1" dirty="0" err="1">
                          <a:effectLst/>
                        </a:rPr>
                        <a:t>loại</a:t>
                      </a:r>
                      <a:endParaRPr lang="en-US" sz="1600" b="1"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a:effectLst/>
                        </a:rPr>
                        <a:t>K-means, PCA, Hierarchical Clustering</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576740">
                <a:tc>
                  <a:txBody>
                    <a:bodyPr/>
                    <a:lstStyle/>
                    <a:p>
                      <a:pPr fontAlgn="base"/>
                      <a:r>
                        <a:rPr lang="en-US" sz="1600" b="1">
                          <a:effectLst/>
                        </a:rPr>
                        <a:t>Ví dụ</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b="1" dirty="0" err="1">
                          <a:effectLst/>
                        </a:rPr>
                        <a:t>Dự</a:t>
                      </a:r>
                      <a:r>
                        <a:rPr lang="en-US" sz="1600" b="1" dirty="0">
                          <a:effectLst/>
                        </a:rPr>
                        <a:t> </a:t>
                      </a:r>
                      <a:r>
                        <a:rPr lang="en-US" sz="1600" b="1" dirty="0" err="1">
                          <a:effectLst/>
                        </a:rPr>
                        <a:t>đoán</a:t>
                      </a:r>
                      <a:r>
                        <a:rPr lang="en-US" sz="1600" b="1" dirty="0">
                          <a:effectLst/>
                        </a:rPr>
                        <a:t> </a:t>
                      </a:r>
                      <a:r>
                        <a:rPr lang="en-US" sz="1600" b="1" dirty="0" err="1">
                          <a:effectLst/>
                        </a:rPr>
                        <a:t>giá</a:t>
                      </a:r>
                      <a:r>
                        <a:rPr lang="en-US" sz="1600" b="1" dirty="0">
                          <a:effectLst/>
                        </a:rPr>
                        <a:t> </a:t>
                      </a:r>
                      <a:r>
                        <a:rPr lang="en-US" sz="1600" b="1" dirty="0" err="1">
                          <a:effectLst/>
                        </a:rPr>
                        <a:t>nhà</a:t>
                      </a:r>
                      <a:r>
                        <a:rPr lang="en-US" sz="1600" b="1" dirty="0">
                          <a:effectLst/>
                        </a:rPr>
                        <a:t>, </a:t>
                      </a:r>
                      <a:r>
                        <a:rPr lang="en-US" sz="1600" b="1" dirty="0" err="1">
                          <a:effectLst/>
                        </a:rPr>
                        <a:t>phân</a:t>
                      </a:r>
                      <a:r>
                        <a:rPr lang="en-US" sz="1600" b="1" dirty="0">
                          <a:effectLst/>
                        </a:rPr>
                        <a:t> </a:t>
                      </a:r>
                      <a:r>
                        <a:rPr lang="en-US" sz="1600" b="1" dirty="0" err="1">
                          <a:effectLst/>
                        </a:rPr>
                        <a:t>loại</a:t>
                      </a:r>
                      <a:r>
                        <a:rPr lang="en-US" sz="1600" b="1" dirty="0">
                          <a:effectLst/>
                        </a:rPr>
                        <a:t> email </a:t>
                      </a:r>
                      <a:r>
                        <a:rPr lang="en-US" sz="1600" b="1" dirty="0" err="1">
                          <a:effectLst/>
                        </a:rPr>
                        <a:t>rác</a:t>
                      </a:r>
                      <a:endParaRPr lang="en-US" sz="1600" b="1"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algn="just" fontAlgn="base"/>
                      <a:r>
                        <a:rPr lang="en-US" sz="1600" b="1" dirty="0" err="1">
                          <a:effectLst/>
                        </a:rPr>
                        <a:t>Phân</a:t>
                      </a:r>
                      <a:r>
                        <a:rPr lang="en-US" sz="1600" b="1" dirty="0">
                          <a:effectLst/>
                        </a:rPr>
                        <a:t> </a:t>
                      </a:r>
                      <a:r>
                        <a:rPr lang="en-US" sz="1600" b="1" dirty="0" err="1">
                          <a:effectLst/>
                        </a:rPr>
                        <a:t>cụm</a:t>
                      </a:r>
                      <a:r>
                        <a:rPr lang="en-US" sz="1600" b="1" dirty="0">
                          <a:effectLst/>
                        </a:rPr>
                        <a:t> </a:t>
                      </a:r>
                      <a:r>
                        <a:rPr lang="en-US" sz="1600" b="1" dirty="0" err="1">
                          <a:effectLst/>
                        </a:rPr>
                        <a:t>khách</a:t>
                      </a:r>
                      <a:r>
                        <a:rPr lang="en-US" sz="1600" b="1" dirty="0">
                          <a:effectLst/>
                        </a:rPr>
                        <a:t> </a:t>
                      </a:r>
                      <a:r>
                        <a:rPr lang="en-US" sz="1600" b="1" dirty="0" err="1">
                          <a:effectLst/>
                        </a:rPr>
                        <a:t>hàng</a:t>
                      </a:r>
                      <a:r>
                        <a:rPr lang="en-US" sz="1600" b="1" dirty="0">
                          <a:effectLst/>
                        </a:rPr>
                        <a:t>, </a:t>
                      </a:r>
                      <a:r>
                        <a:rPr lang="en-US" sz="1600" b="1" dirty="0" err="1">
                          <a:effectLst/>
                        </a:rPr>
                        <a:t>phát</a:t>
                      </a:r>
                      <a:r>
                        <a:rPr lang="en-US" sz="1600" b="1" dirty="0">
                          <a:effectLst/>
                        </a:rPr>
                        <a:t> </a:t>
                      </a:r>
                      <a:r>
                        <a:rPr lang="en-US" sz="1600" b="1" dirty="0" err="1">
                          <a:effectLst/>
                        </a:rPr>
                        <a:t>hiện</a:t>
                      </a:r>
                      <a:r>
                        <a:rPr lang="en-US" sz="1600" b="1" dirty="0">
                          <a:effectLst/>
                        </a:rPr>
                        <a:t> </a:t>
                      </a:r>
                      <a:r>
                        <a:rPr lang="en-US" sz="1600" b="1" dirty="0" err="1">
                          <a:effectLst/>
                        </a:rPr>
                        <a:t>gian</a:t>
                      </a:r>
                      <a:r>
                        <a:rPr lang="en-US" sz="1600" b="1" dirty="0">
                          <a:effectLst/>
                        </a:rPr>
                        <a:t> </a:t>
                      </a:r>
                      <a:r>
                        <a:rPr lang="en-US" sz="1600" b="1" dirty="0" err="1">
                          <a:effectLst/>
                        </a:rPr>
                        <a:t>lận</a:t>
                      </a:r>
                      <a:endParaRPr lang="en-US" sz="1600" b="1"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576740">
                <a:tc>
                  <a:txBody>
                    <a:bodyPr/>
                    <a:lstStyle/>
                    <a:p>
                      <a:pPr fontAlgn="base"/>
                      <a:r>
                        <a:rPr lang="en-US" sz="1600" b="1">
                          <a:effectLst/>
                        </a:rPr>
                        <a:t>Đánh giá mô hình</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b="1" dirty="0" err="1" smtClean="0">
                          <a:effectLst/>
                        </a:rPr>
                        <a:t>Dựa</a:t>
                      </a:r>
                      <a:r>
                        <a:rPr lang="en-US" sz="1600" b="1" baseline="0" dirty="0" smtClean="0">
                          <a:effectLst/>
                        </a:rPr>
                        <a:t> </a:t>
                      </a:r>
                      <a:r>
                        <a:rPr lang="en-US" sz="1600" b="1" baseline="0" dirty="0" err="1" smtClean="0">
                          <a:effectLst/>
                        </a:rPr>
                        <a:t>trên</a:t>
                      </a:r>
                      <a:r>
                        <a:rPr lang="en-US" sz="1600" b="1" baseline="0" dirty="0" smtClean="0">
                          <a:effectLst/>
                        </a:rPr>
                        <a:t> </a:t>
                      </a:r>
                      <a:r>
                        <a:rPr lang="en-US" sz="1600" b="1" baseline="0" dirty="0" err="1" smtClean="0">
                          <a:effectLst/>
                        </a:rPr>
                        <a:t>độ</a:t>
                      </a:r>
                      <a:r>
                        <a:rPr lang="en-US" sz="1600" b="1" baseline="0" dirty="0" smtClean="0">
                          <a:effectLst/>
                        </a:rPr>
                        <a:t> </a:t>
                      </a:r>
                      <a:r>
                        <a:rPr lang="en-US" sz="1600" b="1" baseline="0" dirty="0" err="1" smtClean="0">
                          <a:effectLst/>
                        </a:rPr>
                        <a:t>chính</a:t>
                      </a:r>
                      <a:r>
                        <a:rPr lang="en-US" sz="1600" b="1" baseline="0" dirty="0" smtClean="0">
                          <a:effectLst/>
                        </a:rPr>
                        <a:t> </a:t>
                      </a:r>
                      <a:r>
                        <a:rPr lang="en-US" sz="1600" b="1" baseline="0" dirty="0" err="1" smtClean="0">
                          <a:effectLst/>
                        </a:rPr>
                        <a:t>xác</a:t>
                      </a:r>
                      <a:endParaRPr lang="en-US" sz="1600" b="1"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dirty="0">
                          <a:effectLst/>
                        </a:rPr>
                        <a:t>Silhouette Score, </a:t>
                      </a:r>
                      <a:r>
                        <a:rPr lang="en-US" sz="1600" dirty="0" err="1">
                          <a:effectLst/>
                        </a:rPr>
                        <a:t>Calinski-Harabasz</a:t>
                      </a:r>
                      <a:r>
                        <a:rPr lang="en-US" sz="1600" dirty="0">
                          <a:effectLst/>
                        </a:rPr>
                        <a:t> Index</a:t>
                      </a:r>
                      <a:endParaRPr lang="en-US" sz="1600"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576740">
                <a:tc>
                  <a:txBody>
                    <a:bodyPr/>
                    <a:lstStyle/>
                    <a:p>
                      <a:pPr fontAlgn="base"/>
                      <a:r>
                        <a:rPr lang="vi-VN" sz="1600" b="1">
                          <a:effectLst/>
                        </a:rPr>
                        <a:t>Kỹ thuật thường dùng</a:t>
                      </a:r>
                      <a:endParaRPr lang="vi-VN"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fr-FR" sz="1600" b="1" dirty="0" err="1" smtClean="0">
                          <a:effectLst/>
                        </a:rPr>
                        <a:t>Hồi</a:t>
                      </a:r>
                      <a:r>
                        <a:rPr lang="fr-FR" sz="1600" b="1" baseline="0" dirty="0" smtClean="0">
                          <a:effectLst/>
                        </a:rPr>
                        <a:t> </a:t>
                      </a:r>
                      <a:r>
                        <a:rPr lang="fr-FR" sz="1600" b="1" baseline="0" dirty="0" err="1" smtClean="0">
                          <a:effectLst/>
                        </a:rPr>
                        <a:t>quy</a:t>
                      </a:r>
                      <a:r>
                        <a:rPr lang="fr-FR" sz="1600" b="1" baseline="0" dirty="0" smtClean="0">
                          <a:effectLst/>
                        </a:rPr>
                        <a:t> </a:t>
                      </a:r>
                      <a:r>
                        <a:rPr lang="fr-FR" sz="1600" b="1" baseline="0" dirty="0" err="1" smtClean="0">
                          <a:effectLst/>
                        </a:rPr>
                        <a:t>tuyến</a:t>
                      </a:r>
                      <a:r>
                        <a:rPr lang="fr-FR" sz="1600" b="1" baseline="0" dirty="0" smtClean="0">
                          <a:effectLst/>
                        </a:rPr>
                        <a:t> </a:t>
                      </a:r>
                      <a:r>
                        <a:rPr lang="fr-FR" sz="1600" b="1" baseline="0" dirty="0" err="1" smtClean="0">
                          <a:effectLst/>
                        </a:rPr>
                        <a:t>tính</a:t>
                      </a:r>
                      <a:r>
                        <a:rPr lang="fr-FR" sz="1600" b="1" baseline="0" dirty="0" smtClean="0">
                          <a:effectLst/>
                        </a:rPr>
                        <a:t>, </a:t>
                      </a:r>
                      <a:r>
                        <a:rPr lang="fr-FR" sz="1600" b="1" baseline="0" dirty="0" err="1" smtClean="0">
                          <a:effectLst/>
                        </a:rPr>
                        <a:t>Cây</a:t>
                      </a:r>
                      <a:r>
                        <a:rPr lang="fr-FR" sz="1600" b="1" baseline="0" dirty="0" smtClean="0">
                          <a:effectLst/>
                        </a:rPr>
                        <a:t> </a:t>
                      </a:r>
                      <a:r>
                        <a:rPr lang="fr-FR" sz="1600" b="1" baseline="0" dirty="0" err="1" smtClean="0">
                          <a:effectLst/>
                        </a:rPr>
                        <a:t>quyết</a:t>
                      </a:r>
                      <a:r>
                        <a:rPr lang="fr-FR" sz="1600" b="1" baseline="0" dirty="0" smtClean="0">
                          <a:effectLst/>
                        </a:rPr>
                        <a:t> </a:t>
                      </a:r>
                      <a:r>
                        <a:rPr lang="fr-FR" sz="1600" b="1" baseline="0" dirty="0" err="1" smtClean="0">
                          <a:effectLst/>
                        </a:rPr>
                        <a:t>định</a:t>
                      </a:r>
                      <a:endParaRPr lang="fr-FR" sz="1600" b="1"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a:effectLst/>
                        </a:rPr>
                        <a:t>PCA, t-SNE, DBSCAN</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408524">
                <a:tc>
                  <a:txBody>
                    <a:bodyPr/>
                    <a:lstStyle/>
                    <a:p>
                      <a:pPr fontAlgn="base"/>
                      <a:r>
                        <a:rPr lang="en-US" sz="1600" b="1">
                          <a:effectLst/>
                        </a:rPr>
                        <a:t>Điều kiện</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vi-VN" sz="1600" dirty="0">
                          <a:effectLst/>
                        </a:rPr>
                        <a:t>Cần dữ liệu đã được gắn nhãn</a:t>
                      </a:r>
                      <a:endParaRPr lang="vi-VN" sz="1600"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c>
                  <a:txBody>
                    <a:bodyPr/>
                    <a:lstStyle/>
                    <a:p>
                      <a:pPr fontAlgn="base"/>
                      <a:r>
                        <a:rPr lang="en-US" sz="1600">
                          <a:effectLst/>
                        </a:rPr>
                        <a:t>Không cần dữ liệu gắn nhãn</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12700" cap="flat" cmpd="sng" algn="ctr">
                      <a:solidFill>
                        <a:srgbClr val="D9D9E3"/>
                      </a:solidFill>
                      <a:prstDash val="solid"/>
                      <a:round/>
                      <a:headEnd type="none" w="med" len="med"/>
                      <a:tailEnd type="none" w="med" len="med"/>
                    </a:lnB>
                  </a:tcPr>
                </a:tc>
              </a:tr>
              <a:tr h="576740">
                <a:tc>
                  <a:txBody>
                    <a:bodyPr/>
                    <a:lstStyle/>
                    <a:p>
                      <a:pPr fontAlgn="base"/>
                      <a:r>
                        <a:rPr lang="en-US" sz="1600" b="1">
                          <a:effectLst/>
                        </a:rPr>
                        <a:t>Ứng dụng</a:t>
                      </a:r>
                      <a:endParaRPr lang="en-US" sz="160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tcPr>
                </a:tc>
                <a:tc>
                  <a:txBody>
                    <a:bodyPr/>
                    <a:lstStyle/>
                    <a:p>
                      <a:pPr fontAlgn="base"/>
                      <a:r>
                        <a:rPr lang="en-US" sz="1600" b="1" dirty="0" err="1">
                          <a:effectLst/>
                        </a:rPr>
                        <a:t>Các</a:t>
                      </a:r>
                      <a:r>
                        <a:rPr lang="en-US" sz="1600" b="1" dirty="0">
                          <a:effectLst/>
                        </a:rPr>
                        <a:t> </a:t>
                      </a:r>
                      <a:r>
                        <a:rPr lang="en-US" sz="1600" b="1" dirty="0" err="1">
                          <a:effectLst/>
                        </a:rPr>
                        <a:t>tác</a:t>
                      </a:r>
                      <a:r>
                        <a:rPr lang="en-US" sz="1600" b="1" dirty="0">
                          <a:effectLst/>
                        </a:rPr>
                        <a:t> </a:t>
                      </a:r>
                      <a:r>
                        <a:rPr lang="en-US" sz="1600" b="1" dirty="0" err="1">
                          <a:effectLst/>
                        </a:rPr>
                        <a:t>vụ</a:t>
                      </a:r>
                      <a:r>
                        <a:rPr lang="en-US" sz="1600" b="1" dirty="0">
                          <a:effectLst/>
                        </a:rPr>
                        <a:t> </a:t>
                      </a:r>
                      <a:r>
                        <a:rPr lang="en-US" sz="1600" b="1" dirty="0" err="1">
                          <a:effectLst/>
                        </a:rPr>
                        <a:t>dự</a:t>
                      </a:r>
                      <a:r>
                        <a:rPr lang="en-US" sz="1600" b="1" dirty="0">
                          <a:effectLst/>
                        </a:rPr>
                        <a:t> </a:t>
                      </a:r>
                      <a:r>
                        <a:rPr lang="en-US" sz="1600" b="1" dirty="0" err="1">
                          <a:effectLst/>
                        </a:rPr>
                        <a:t>đoán</a:t>
                      </a:r>
                      <a:r>
                        <a:rPr lang="en-US" sz="1600" b="1" dirty="0">
                          <a:effectLst/>
                        </a:rPr>
                        <a:t> </a:t>
                      </a:r>
                      <a:r>
                        <a:rPr lang="en-US" sz="1600" b="1" dirty="0" err="1">
                          <a:effectLst/>
                        </a:rPr>
                        <a:t>và</a:t>
                      </a:r>
                      <a:r>
                        <a:rPr lang="en-US" sz="1600" b="1" dirty="0">
                          <a:effectLst/>
                        </a:rPr>
                        <a:t> </a:t>
                      </a:r>
                      <a:r>
                        <a:rPr lang="en-US" sz="1600" b="1" dirty="0" err="1">
                          <a:effectLst/>
                        </a:rPr>
                        <a:t>tự</a:t>
                      </a:r>
                      <a:r>
                        <a:rPr lang="en-US" sz="1600" b="1" dirty="0">
                          <a:effectLst/>
                        </a:rPr>
                        <a:t> </a:t>
                      </a:r>
                      <a:r>
                        <a:rPr lang="en-US" sz="1600" b="1" dirty="0" err="1">
                          <a:effectLst/>
                        </a:rPr>
                        <a:t>động</a:t>
                      </a:r>
                      <a:r>
                        <a:rPr lang="en-US" sz="1600" b="1" dirty="0">
                          <a:effectLst/>
                        </a:rPr>
                        <a:t> </a:t>
                      </a:r>
                      <a:r>
                        <a:rPr lang="en-US" sz="1600" b="1" dirty="0" err="1">
                          <a:effectLst/>
                        </a:rPr>
                        <a:t>hóa</a:t>
                      </a:r>
                      <a:endParaRPr lang="en-US" sz="1600" b="1"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tcPr>
                </a:tc>
                <a:tc>
                  <a:txBody>
                    <a:bodyPr/>
                    <a:lstStyle/>
                    <a:p>
                      <a:pPr fontAlgn="base"/>
                      <a:r>
                        <a:rPr lang="en-US" sz="1600" dirty="0" err="1">
                          <a:effectLst/>
                        </a:rPr>
                        <a:t>Khám</a:t>
                      </a:r>
                      <a:r>
                        <a:rPr lang="en-US" sz="1600" dirty="0">
                          <a:effectLst/>
                        </a:rPr>
                        <a:t> </a:t>
                      </a:r>
                      <a:r>
                        <a:rPr lang="en-US" sz="1600" dirty="0" err="1">
                          <a:effectLst/>
                        </a:rPr>
                        <a:t>phá</a:t>
                      </a:r>
                      <a:r>
                        <a:rPr lang="en-US" sz="1600" dirty="0">
                          <a:effectLst/>
                        </a:rPr>
                        <a:t> </a:t>
                      </a:r>
                      <a:r>
                        <a:rPr lang="en-US" sz="1600" dirty="0" err="1">
                          <a:effectLst/>
                        </a:rPr>
                        <a:t>dữ</a:t>
                      </a:r>
                      <a:r>
                        <a:rPr lang="en-US" sz="1600" dirty="0">
                          <a:effectLst/>
                        </a:rPr>
                        <a:t> </a:t>
                      </a:r>
                      <a:r>
                        <a:rPr lang="en-US" sz="1600" dirty="0" err="1">
                          <a:effectLst/>
                        </a:rPr>
                        <a:t>liệu</a:t>
                      </a:r>
                      <a:r>
                        <a:rPr lang="en-US" sz="1600" dirty="0">
                          <a:effectLst/>
                        </a:rPr>
                        <a:t> </a:t>
                      </a:r>
                      <a:r>
                        <a:rPr lang="en-US" sz="1600" dirty="0" err="1">
                          <a:effectLst/>
                        </a:rPr>
                        <a:t>và</a:t>
                      </a:r>
                      <a:r>
                        <a:rPr lang="en-US" sz="1600" dirty="0">
                          <a:effectLst/>
                        </a:rPr>
                        <a:t> </a:t>
                      </a:r>
                      <a:r>
                        <a:rPr lang="en-US" sz="1600" dirty="0" err="1">
                          <a:effectLst/>
                        </a:rPr>
                        <a:t>mẫu</a:t>
                      </a:r>
                      <a:r>
                        <a:rPr lang="en-US" sz="1600" dirty="0">
                          <a:effectLst/>
                        </a:rPr>
                        <a:t> </a:t>
                      </a:r>
                      <a:r>
                        <a:rPr lang="en-US" sz="1600" dirty="0" err="1">
                          <a:effectLst/>
                        </a:rPr>
                        <a:t>không</a:t>
                      </a:r>
                      <a:r>
                        <a:rPr lang="en-US" sz="1600" dirty="0">
                          <a:effectLst/>
                        </a:rPr>
                        <a:t> </a:t>
                      </a:r>
                      <a:r>
                        <a:rPr lang="en-US" sz="1600" dirty="0" err="1">
                          <a:effectLst/>
                        </a:rPr>
                        <a:t>rõ</a:t>
                      </a:r>
                      <a:r>
                        <a:rPr lang="en-US" sz="1600" dirty="0">
                          <a:effectLst/>
                        </a:rPr>
                        <a:t> </a:t>
                      </a:r>
                      <a:r>
                        <a:rPr lang="en-US" sz="1600" dirty="0" err="1">
                          <a:effectLst/>
                        </a:rPr>
                        <a:t>ràng</a:t>
                      </a:r>
                      <a:endParaRPr lang="en-US" sz="1600" dirty="0">
                        <a:effectLst/>
                      </a:endParaRPr>
                    </a:p>
                  </a:txBody>
                  <a:tcPr marL="66944" marR="66944" marT="33472" marB="33472" anchor="ctr">
                    <a:lnL w="7620" cap="flat" cmpd="sng" algn="ctr">
                      <a:solidFill>
                        <a:srgbClr val="D9D9E3"/>
                      </a:solidFill>
                      <a:prstDash val="solid"/>
                      <a:round/>
                      <a:headEnd type="none" w="med" len="med"/>
                      <a:tailEnd type="none" w="med" len="med"/>
                    </a:lnL>
                    <a:lnR w="7620" cap="flat" cmpd="sng" algn="ctr">
                      <a:solidFill>
                        <a:srgbClr val="D9D9E3"/>
                      </a:solidFill>
                      <a:prstDash val="solid"/>
                      <a:round/>
                      <a:headEnd type="none" w="med" len="med"/>
                      <a:tailEnd type="none" w="med" len="med"/>
                    </a:lnR>
                    <a:lnT w="12700" cap="flat" cmpd="sng" algn="ctr">
                      <a:solidFill>
                        <a:srgbClr val="D9D9E3"/>
                      </a:solidFill>
                      <a:prstDash val="solid"/>
                      <a:round/>
                      <a:headEnd type="none" w="med" len="med"/>
                      <a:tailEnd type="none" w="med" len="med"/>
                    </a:lnT>
                    <a:lnB w="7620" cap="flat" cmpd="sng" algn="ctr">
                      <a:solidFill>
                        <a:srgbClr val="D9D9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 name="Google Shape;152;g2240524f1f3_0_0"/>
          <p:cNvSpPr txBox="1"/>
          <p:nvPr/>
        </p:nvSpPr>
        <p:spPr>
          <a:xfrm>
            <a:off x="304800" y="822266"/>
            <a:ext cx="8423564" cy="4490085"/>
          </a:xfrm>
          <a:prstGeom prst="rect">
            <a:avLst/>
          </a:prstGeom>
          <a:noFill/>
          <a:ln>
            <a:noFill/>
          </a:ln>
        </p:spPr>
        <p:txBody>
          <a:bodyPr spcFirstLastPara="1" wrap="square" lIns="91425" tIns="91425" rIns="91425" bIns="91425" anchor="t" anchorCtr="0">
            <a:spAutoFit/>
          </a:bodyPr>
          <a:lstStyle/>
          <a:p>
            <a:pPr algn="l"/>
            <a:r>
              <a:rPr lang="vi-VN" sz="2000" dirty="0">
                <a:solidFill>
                  <a:srgbClr val="002060"/>
                </a:solidFill>
                <a:latin typeface="+mj-lt"/>
                <a:cs typeface="+mj-lt"/>
              </a:rPr>
              <a:t>Cây quyết đị</a:t>
            </a:r>
            <a:r>
              <a:rPr lang="vi-VN" sz="2000" dirty="0">
                <a:solidFill>
                  <a:srgbClr val="002060"/>
                </a:solidFill>
                <a:latin typeface="+mj-lt"/>
                <a:cs typeface="+mj-lt"/>
              </a:rPr>
              <a:t>nh (Decision Tree): là</a:t>
            </a:r>
            <a:br>
              <a:rPr lang="vi-VN" sz="2000" dirty="0">
                <a:solidFill>
                  <a:srgbClr val="002060"/>
                </a:solidFill>
                <a:latin typeface="+mj-lt"/>
                <a:cs typeface="+mj-lt"/>
              </a:rPr>
            </a:br>
            <a:r>
              <a:rPr lang="vi-VN" sz="2000" dirty="0">
                <a:solidFill>
                  <a:srgbClr val="002060"/>
                </a:solidFill>
                <a:latin typeface="+mj-lt"/>
                <a:cs typeface="+mj-lt"/>
              </a:rPr>
              <a:t>mộ</a:t>
            </a:r>
            <a:r>
              <a:rPr lang="vi-VN" sz="2000" dirty="0">
                <a:solidFill>
                  <a:srgbClr val="002060"/>
                </a:solidFill>
                <a:latin typeface="+mj-lt"/>
                <a:cs typeface="+mj-lt"/>
              </a:rPr>
              <a:t>t phương pháp họ</a:t>
            </a:r>
            <a:r>
              <a:rPr lang="vi-VN" sz="2000" dirty="0">
                <a:solidFill>
                  <a:srgbClr val="002060"/>
                </a:solidFill>
                <a:latin typeface="+mj-lt"/>
                <a:cs typeface="+mj-lt"/>
              </a:rPr>
              <a:t>c máy dựa trên</a:t>
            </a:r>
            <a:br>
              <a:rPr lang="vi-VN" sz="2000" dirty="0">
                <a:solidFill>
                  <a:srgbClr val="002060"/>
                </a:solidFill>
                <a:latin typeface="+mj-lt"/>
                <a:cs typeface="+mj-lt"/>
              </a:rPr>
            </a:br>
            <a:r>
              <a:rPr lang="vi-VN" sz="2000" b="1" dirty="0">
                <a:solidFill>
                  <a:srgbClr val="002060"/>
                </a:solidFill>
                <a:latin typeface="+mj-lt"/>
                <a:cs typeface="+mj-lt"/>
              </a:rPr>
              <a:t>cấ</a:t>
            </a:r>
            <a:r>
              <a:rPr lang="vi-VN" sz="2000" b="1" dirty="0">
                <a:solidFill>
                  <a:srgbClr val="002060"/>
                </a:solidFill>
                <a:latin typeface="+mj-lt"/>
                <a:cs typeface="+mj-lt"/>
              </a:rPr>
              <a:t>u trúc phân tầng</a:t>
            </a:r>
            <a:r>
              <a:rPr lang="vi-VN" sz="2000" dirty="0">
                <a:solidFill>
                  <a:srgbClr val="002060"/>
                </a:solidFill>
                <a:latin typeface="+mj-lt"/>
                <a:cs typeface="+mj-lt"/>
              </a:rPr>
              <a:t> để </a:t>
            </a:r>
            <a:r>
              <a:rPr lang="vi-VN" sz="2000" dirty="0">
                <a:solidFill>
                  <a:srgbClr val="002060"/>
                </a:solidFill>
                <a:latin typeface="+mj-lt"/>
                <a:cs typeface="+mj-lt"/>
              </a:rPr>
              <a:t>dự đ</a:t>
            </a:r>
            <a:r>
              <a:rPr lang="vi-VN" sz="2000" dirty="0">
                <a:solidFill>
                  <a:srgbClr val="002060"/>
                </a:solidFill>
                <a:latin typeface="+mj-lt"/>
                <a:cs typeface="+mj-lt"/>
              </a:rPr>
              <a:t>oán kế</a:t>
            </a:r>
            <a:r>
              <a:rPr lang="vi-VN" sz="2000" dirty="0">
                <a:solidFill>
                  <a:srgbClr val="002060"/>
                </a:solidFill>
                <a:latin typeface="+mj-lt"/>
                <a:cs typeface="+mj-lt"/>
              </a:rPr>
              <a:t>t</a:t>
            </a:r>
            <a:br>
              <a:rPr lang="vi-VN" sz="2000" dirty="0">
                <a:solidFill>
                  <a:srgbClr val="002060"/>
                </a:solidFill>
                <a:latin typeface="+mj-lt"/>
                <a:cs typeface="+mj-lt"/>
              </a:rPr>
            </a:br>
            <a:r>
              <a:rPr lang="vi-VN" sz="2000" dirty="0">
                <a:solidFill>
                  <a:srgbClr val="002060"/>
                </a:solidFill>
                <a:latin typeface="+mj-lt"/>
                <a:cs typeface="+mj-lt"/>
              </a:rPr>
              <a:t>quả </a:t>
            </a:r>
            <a:r>
              <a:rPr lang="vi-VN" sz="2000" dirty="0">
                <a:solidFill>
                  <a:srgbClr val="002060"/>
                </a:solidFill>
                <a:latin typeface="+mj-lt"/>
                <a:cs typeface="+mj-lt"/>
              </a:rPr>
              <a:t>củ</a:t>
            </a:r>
            <a:r>
              <a:rPr lang="vi-VN" sz="2000" dirty="0">
                <a:solidFill>
                  <a:srgbClr val="002060"/>
                </a:solidFill>
                <a:latin typeface="+mj-lt"/>
                <a:cs typeface="+mj-lt"/>
              </a:rPr>
              <a:t>a biế</a:t>
            </a:r>
            <a:r>
              <a:rPr lang="vi-VN" sz="2000" dirty="0">
                <a:solidFill>
                  <a:srgbClr val="002060"/>
                </a:solidFill>
                <a:latin typeface="+mj-lt"/>
                <a:cs typeface="+mj-lt"/>
              </a:rPr>
              <a:t>n phụ </a:t>
            </a:r>
            <a:r>
              <a:rPr lang="vi-VN" sz="2000" dirty="0">
                <a:solidFill>
                  <a:srgbClr val="002060"/>
                </a:solidFill>
                <a:latin typeface="+mj-lt"/>
                <a:cs typeface="+mj-lt"/>
              </a:rPr>
              <a:t>thuộ</a:t>
            </a:r>
            <a:r>
              <a:rPr lang="vi-VN" sz="2000" dirty="0">
                <a:solidFill>
                  <a:srgbClr val="002060"/>
                </a:solidFill>
                <a:latin typeface="+mj-lt"/>
                <a:cs typeface="+mj-lt"/>
              </a:rPr>
              <a:t>c.</a:t>
            </a:r>
            <a:br>
              <a:rPr lang="vi-VN" sz="2000" dirty="0">
                <a:solidFill>
                  <a:srgbClr val="002060"/>
                </a:solidFill>
                <a:latin typeface="+mj-lt"/>
                <a:cs typeface="+mj-lt"/>
              </a:rPr>
            </a:br>
            <a:r>
              <a:rPr lang="vi-VN" sz="2000" dirty="0">
                <a:solidFill>
                  <a:srgbClr val="002060"/>
                </a:solidFill>
                <a:latin typeface="+mj-lt"/>
                <a:cs typeface="+mj-lt"/>
              </a:rPr>
              <a:t>❖Có th</a:t>
            </a:r>
            <a:r>
              <a:rPr lang="vi-VN" sz="2000" dirty="0">
                <a:solidFill>
                  <a:srgbClr val="002060"/>
                </a:solidFill>
                <a:latin typeface="+mj-lt"/>
                <a:cs typeface="+mj-lt"/>
              </a:rPr>
              <a:t>ể gi</a:t>
            </a:r>
            <a:r>
              <a:rPr lang="vi-VN" sz="2000" dirty="0">
                <a:solidFill>
                  <a:srgbClr val="002060"/>
                </a:solidFill>
                <a:latin typeface="+mj-lt"/>
                <a:cs typeface="+mj-lt"/>
              </a:rPr>
              <a:t>ải quy</a:t>
            </a:r>
            <a:r>
              <a:rPr lang="vi-VN" sz="2000" dirty="0">
                <a:solidFill>
                  <a:srgbClr val="002060"/>
                </a:solidFill>
                <a:latin typeface="+mj-lt"/>
                <a:cs typeface="+mj-lt"/>
              </a:rPr>
              <a:t>ết c</a:t>
            </a:r>
            <a:r>
              <a:rPr lang="vi-VN" sz="2000" dirty="0">
                <a:solidFill>
                  <a:srgbClr val="002060"/>
                </a:solidFill>
                <a:latin typeface="+mj-lt"/>
                <a:cs typeface="+mj-lt"/>
              </a:rPr>
              <a:t>ả bài </a:t>
            </a:r>
            <a:r>
              <a:rPr lang="vi-VN" sz="2000" dirty="0" smtClean="0">
                <a:solidFill>
                  <a:srgbClr val="002060"/>
                </a:solidFill>
                <a:latin typeface="+mj-lt"/>
                <a:cs typeface="+mj-lt"/>
              </a:rPr>
              <a:t>toán</a:t>
            </a:r>
            <a:r>
              <a:rPr lang="en-US" sz="2000" dirty="0" smtClean="0">
                <a:solidFill>
                  <a:srgbClr val="002060"/>
                </a:solidFill>
                <a:latin typeface="+mj-lt"/>
                <a:cs typeface="+mj-lt"/>
              </a:rPr>
              <a:t> </a:t>
            </a:r>
            <a:r>
              <a:rPr lang="vi-VN" sz="2000" dirty="0" smtClean="0">
                <a:solidFill>
                  <a:srgbClr val="002060"/>
                </a:solidFill>
                <a:latin typeface="+mj-lt"/>
                <a:cs typeface="+mj-lt"/>
              </a:rPr>
              <a:t>phân</a:t>
            </a:r>
            <a:endParaRPr lang="en-US" sz="2000" dirty="0" smtClean="0">
              <a:solidFill>
                <a:srgbClr val="002060"/>
              </a:solidFill>
              <a:latin typeface="+mj-lt"/>
              <a:cs typeface="+mj-lt"/>
            </a:endParaRPr>
          </a:p>
          <a:p>
            <a:pPr algn="l"/>
            <a:r>
              <a:rPr lang="vi-VN" sz="2000" dirty="0" smtClean="0">
                <a:solidFill>
                  <a:srgbClr val="002060"/>
                </a:solidFill>
                <a:latin typeface="+mj-lt"/>
                <a:cs typeface="+mj-lt"/>
              </a:rPr>
              <a:t>l</a:t>
            </a:r>
            <a:r>
              <a:rPr lang="vi-VN" sz="2000" dirty="0" smtClean="0">
                <a:solidFill>
                  <a:srgbClr val="002060"/>
                </a:solidFill>
                <a:latin typeface="+mj-lt"/>
                <a:cs typeface="+mj-lt"/>
              </a:rPr>
              <a:t>ớp </a:t>
            </a:r>
            <a:r>
              <a:rPr lang="vi-VN" sz="2000" dirty="0">
                <a:solidFill>
                  <a:srgbClr val="002060"/>
                </a:solidFill>
                <a:latin typeface="+mj-lt"/>
                <a:cs typeface="+mj-lt"/>
              </a:rPr>
              <a:t>và hồ</a:t>
            </a:r>
            <a:r>
              <a:rPr lang="vi-VN" sz="2000" dirty="0">
                <a:solidFill>
                  <a:srgbClr val="002060"/>
                </a:solidFill>
                <a:latin typeface="+mj-lt"/>
                <a:cs typeface="+mj-lt"/>
              </a:rPr>
              <a:t>i quy</a:t>
            </a:r>
            <a:br>
              <a:rPr lang="vi-VN" sz="2000" dirty="0">
                <a:solidFill>
                  <a:srgbClr val="002060"/>
                </a:solidFill>
                <a:latin typeface="+mj-lt"/>
                <a:cs typeface="+mj-lt"/>
              </a:rPr>
            </a:br>
            <a:r>
              <a:rPr lang="vi-VN" sz="2000" dirty="0">
                <a:solidFill>
                  <a:srgbClr val="002060"/>
                </a:solidFill>
                <a:latin typeface="+mj-lt"/>
                <a:cs typeface="+mj-lt"/>
              </a:rPr>
              <a:t>❖Ví d</a:t>
            </a:r>
            <a:r>
              <a:rPr lang="vi-VN" sz="2000" dirty="0">
                <a:solidFill>
                  <a:srgbClr val="002060"/>
                </a:solidFill>
                <a:latin typeface="+mj-lt"/>
                <a:cs typeface="+mj-lt"/>
              </a:rPr>
              <a:t>ụ: phân l</a:t>
            </a:r>
            <a:r>
              <a:rPr lang="vi-VN" sz="2000" dirty="0">
                <a:solidFill>
                  <a:srgbClr val="002060"/>
                </a:solidFill>
                <a:latin typeface="+mj-lt"/>
                <a:cs typeface="+mj-lt"/>
              </a:rPr>
              <a:t>ớp </a:t>
            </a:r>
            <a:r>
              <a:rPr lang="vi-VN" sz="2000" dirty="0">
                <a:solidFill>
                  <a:srgbClr val="002060"/>
                </a:solidFill>
                <a:latin typeface="+mj-lt"/>
                <a:cs typeface="+mj-lt"/>
              </a:rPr>
              <a:t>động v</a:t>
            </a:r>
            <a:r>
              <a:rPr lang="vi-VN" sz="2000" dirty="0">
                <a:solidFill>
                  <a:srgbClr val="002060"/>
                </a:solidFill>
                <a:latin typeface="+mj-lt"/>
                <a:cs typeface="+mj-lt"/>
              </a:rPr>
              <a:t>ật </a:t>
            </a:r>
            <a:r>
              <a:rPr lang="vi-VN" sz="2000" dirty="0" smtClean="0">
                <a:solidFill>
                  <a:srgbClr val="002060"/>
                </a:solidFill>
                <a:latin typeface="+mj-lt"/>
                <a:cs typeface="+mj-lt"/>
              </a:rPr>
              <a:t>d</a:t>
            </a:r>
            <a:r>
              <a:rPr lang="vi-VN" sz="2000" dirty="0" smtClean="0">
                <a:solidFill>
                  <a:srgbClr val="002060"/>
                </a:solidFill>
                <a:latin typeface="+mj-lt"/>
                <a:cs typeface="+mj-lt"/>
              </a:rPr>
              <a:t>ựa</a:t>
            </a:r>
            <a:r>
              <a:rPr lang="en-US" sz="2000" dirty="0" smtClean="0">
                <a:solidFill>
                  <a:srgbClr val="002060"/>
                </a:solidFill>
                <a:latin typeface="+mj-lt"/>
                <a:cs typeface="+mj-lt"/>
              </a:rPr>
              <a:t> </a:t>
            </a:r>
            <a:r>
              <a:rPr lang="vi-VN" sz="2000" dirty="0" smtClean="0">
                <a:solidFill>
                  <a:srgbClr val="002060"/>
                </a:solidFill>
                <a:latin typeface="+mj-lt"/>
                <a:cs typeface="+mj-lt"/>
              </a:rPr>
              <a:t>vào</a:t>
            </a:r>
            <a:endParaRPr lang="en-US" sz="2000" dirty="0" smtClean="0">
              <a:solidFill>
                <a:srgbClr val="002060"/>
              </a:solidFill>
              <a:latin typeface="+mj-lt"/>
              <a:cs typeface="+mj-lt"/>
            </a:endParaRPr>
          </a:p>
          <a:p>
            <a:pPr algn="l"/>
            <a:r>
              <a:rPr lang="vi-VN" sz="2000" dirty="0" smtClean="0">
                <a:solidFill>
                  <a:srgbClr val="FF0000"/>
                </a:solidFill>
                <a:latin typeface="+mj-lt"/>
                <a:cs typeface="+mj-lt"/>
              </a:rPr>
              <a:t>màu </a:t>
            </a:r>
            <a:r>
              <a:rPr lang="vi-VN" sz="2000" dirty="0">
                <a:solidFill>
                  <a:srgbClr val="FF0000"/>
                </a:solidFill>
                <a:latin typeface="+mj-lt"/>
                <a:cs typeface="+mj-lt"/>
              </a:rPr>
              <a:t>s</a:t>
            </a:r>
            <a:r>
              <a:rPr lang="vi-VN" sz="2000" dirty="0">
                <a:solidFill>
                  <a:srgbClr val="FF0000"/>
                </a:solidFill>
                <a:latin typeface="+mj-lt"/>
                <a:cs typeface="+mj-lt"/>
              </a:rPr>
              <a:t>ắc và chi</a:t>
            </a:r>
            <a:r>
              <a:rPr lang="vi-VN" sz="2000" dirty="0">
                <a:solidFill>
                  <a:srgbClr val="FF0000"/>
                </a:solidFill>
                <a:latin typeface="+mj-lt"/>
                <a:cs typeface="+mj-lt"/>
              </a:rPr>
              <a:t>ều </a:t>
            </a:r>
            <a:r>
              <a:rPr lang="vi-VN" sz="2000" dirty="0" smtClean="0">
                <a:solidFill>
                  <a:srgbClr val="FF0000"/>
                </a:solidFill>
                <a:latin typeface="+mj-lt"/>
                <a:cs typeface="+mj-lt"/>
              </a:rPr>
              <a:t>cao</a:t>
            </a:r>
            <a:endParaRPr lang="en-US" sz="2000" dirty="0" smtClean="0">
              <a:solidFill>
                <a:srgbClr val="FF0000"/>
              </a:solidFill>
              <a:latin typeface="+mj-lt"/>
              <a:cs typeface="+mj-lt"/>
            </a:endParaRPr>
          </a:p>
          <a:p>
            <a:endParaRPr lang="en-US" sz="2000" dirty="0">
              <a:solidFill>
                <a:srgbClr val="002060"/>
              </a:solidFill>
              <a:latin typeface="5"/>
            </a:endParaRPr>
          </a:p>
          <a:p>
            <a:endParaRPr lang="en-US" sz="2000" dirty="0" smtClean="0">
              <a:solidFill>
                <a:srgbClr val="002060"/>
              </a:solidFill>
              <a:latin typeface="5"/>
            </a:endParaRPr>
          </a:p>
          <a:p>
            <a:endParaRPr lang="en-US" sz="2000" dirty="0">
              <a:solidFill>
                <a:srgbClr val="002060"/>
              </a:solidFill>
              <a:latin typeface="5"/>
            </a:endParaRPr>
          </a:p>
          <a:p>
            <a:r>
              <a:rPr lang="en-US" sz="2000" dirty="0" err="1" smtClean="0">
                <a:solidFill>
                  <a:srgbClr val="002060"/>
                </a:solidFill>
                <a:latin typeface="Arial" panose="020B0604020202020204" pitchFamily="34" charset="0"/>
                <a:cs typeface="Arial" panose="020B0604020202020204" pitchFamily="34" charset="0"/>
              </a:rPr>
              <a:t>Cài</a:t>
            </a:r>
            <a:r>
              <a:rPr lang="en-US" sz="2000" dirty="0" smtClean="0">
                <a:solidFill>
                  <a:srgbClr val="002060"/>
                </a:solidFill>
                <a:latin typeface="Arial" panose="020B0604020202020204" pitchFamily="34" charset="0"/>
                <a:cs typeface="Arial" panose="020B0604020202020204" pitchFamily="34" charset="0"/>
              </a:rPr>
              <a:t> </a:t>
            </a:r>
            <a:r>
              <a:rPr lang="en-US" sz="2000" dirty="0" err="1" smtClean="0">
                <a:solidFill>
                  <a:srgbClr val="002060"/>
                </a:solidFill>
                <a:latin typeface="Arial" panose="020B0604020202020204" pitchFamily="34" charset="0"/>
                <a:cs typeface="Arial" panose="020B0604020202020204" pitchFamily="34" charset="0"/>
              </a:rPr>
              <a:t>đặt</a:t>
            </a:r>
            <a:r>
              <a:rPr lang="en-US" sz="2000" dirty="0" smtClean="0">
                <a:solidFill>
                  <a:srgbClr val="002060"/>
                </a:solidFill>
                <a:latin typeface="Arial" panose="020B0604020202020204" pitchFamily="34" charset="0"/>
                <a:cs typeface="Arial" panose="020B0604020202020204" pitchFamily="34" charset="0"/>
              </a:rPr>
              <a:t> code Python:</a:t>
            </a:r>
            <a:endParaRPr lang="en-US" sz="2000" dirty="0" smtClean="0">
              <a:solidFill>
                <a:srgbClr val="002060"/>
              </a:solidFill>
              <a:latin typeface="Arial" panose="020B0604020202020204" pitchFamily="34" charset="0"/>
              <a:cs typeface="Arial" panose="020B0604020202020204" pitchFamily="34" charset="0"/>
            </a:endParaRPr>
          </a:p>
          <a:p>
            <a:r>
              <a:rPr lang="en-US" sz="2000" dirty="0" smtClean="0">
                <a:solidFill>
                  <a:srgbClr val="FF0000"/>
                </a:solidFill>
              </a:rPr>
              <a:t>Pip install</a:t>
            </a:r>
            <a:r>
              <a:rPr lang="vi-VN" sz="2000" dirty="0" smtClean="0">
                <a:solidFill>
                  <a:srgbClr val="FF0000"/>
                </a:solidFill>
              </a:rPr>
              <a:t> </a:t>
            </a:r>
            <a:r>
              <a:rPr lang="vi-VN" sz="2000" dirty="0">
                <a:solidFill>
                  <a:srgbClr val="FF0000"/>
                </a:solidFill>
              </a:rPr>
              <a:t>scikit-learn  </a:t>
            </a:r>
            <a:br>
              <a:rPr lang="vi-VN" sz="2000" dirty="0"/>
            </a:br>
            <a:endParaRPr lang="en-US" sz="2000" dirty="0"/>
          </a:p>
        </p:txBody>
      </p:sp>
      <p:pic>
        <p:nvPicPr>
          <p:cNvPr id="3" name="Picture 2"/>
          <p:cNvPicPr>
            <a:picLocks noChangeAspect="1"/>
          </p:cNvPicPr>
          <p:nvPr/>
        </p:nvPicPr>
        <p:blipFill>
          <a:blip r:embed="rId2"/>
          <a:stretch>
            <a:fillRect/>
          </a:stretch>
        </p:blipFill>
        <p:spPr>
          <a:xfrm>
            <a:off x="5135880" y="822325"/>
            <a:ext cx="4007485" cy="381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1315893" y="1033607"/>
            <a:ext cx="6419850" cy="38671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 name="Google Shape;152;g2240524f1f3_0_0"/>
          <p:cNvSpPr txBox="1"/>
          <p:nvPr/>
        </p:nvSpPr>
        <p:spPr>
          <a:xfrm>
            <a:off x="304800" y="822266"/>
            <a:ext cx="8423564" cy="800189"/>
          </a:xfrm>
          <a:prstGeom prst="rect">
            <a:avLst/>
          </a:prstGeom>
          <a:noFill/>
          <a:ln>
            <a:noFill/>
          </a:ln>
        </p:spPr>
        <p:txBody>
          <a:bodyPr spcFirstLastPara="1" wrap="square" lIns="91425" tIns="91425" rIns="91425" bIns="91425" anchor="t" anchorCtr="0">
            <a:spAutoFit/>
          </a:bodyPr>
          <a:lstStyle/>
          <a:p>
            <a:br>
              <a:rPr lang="vi-VN" sz="2000" dirty="0"/>
            </a:br>
            <a:endParaRPr lang="en-US" sz="2000" dirty="0"/>
          </a:p>
        </p:txBody>
      </p:sp>
      <p:pic>
        <p:nvPicPr>
          <p:cNvPr id="2" name="Picture 1"/>
          <p:cNvPicPr>
            <a:picLocks noChangeAspect="1"/>
          </p:cNvPicPr>
          <p:nvPr/>
        </p:nvPicPr>
        <p:blipFill>
          <a:blip r:embed="rId2"/>
          <a:stretch>
            <a:fillRect/>
          </a:stretch>
        </p:blipFill>
        <p:spPr>
          <a:xfrm>
            <a:off x="387927" y="822266"/>
            <a:ext cx="8340437" cy="52275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 name="Google Shape;152;g2240524f1f3_0_0"/>
          <p:cNvSpPr txBox="1"/>
          <p:nvPr/>
        </p:nvSpPr>
        <p:spPr>
          <a:xfrm>
            <a:off x="304800" y="822266"/>
            <a:ext cx="8423564" cy="800189"/>
          </a:xfrm>
          <a:prstGeom prst="rect">
            <a:avLst/>
          </a:prstGeom>
          <a:noFill/>
          <a:ln>
            <a:noFill/>
          </a:ln>
        </p:spPr>
        <p:txBody>
          <a:bodyPr spcFirstLastPara="1" wrap="square" lIns="91425" tIns="91425" rIns="91425" bIns="91425" anchor="t" anchorCtr="0">
            <a:spAutoFit/>
          </a:bodyPr>
          <a:lstStyle/>
          <a:p>
            <a:br>
              <a:rPr lang="vi-VN" sz="2000" dirty="0"/>
            </a:br>
            <a:endParaRPr lang="en-US" sz="2000" dirty="0"/>
          </a:p>
        </p:txBody>
      </p:sp>
      <p:pic>
        <p:nvPicPr>
          <p:cNvPr id="3" name="Picture 2"/>
          <p:cNvPicPr>
            <a:picLocks noChangeAspect="1"/>
          </p:cNvPicPr>
          <p:nvPr/>
        </p:nvPicPr>
        <p:blipFill>
          <a:blip r:embed="rId2"/>
          <a:stretch>
            <a:fillRect/>
          </a:stretch>
        </p:blipFill>
        <p:spPr>
          <a:xfrm>
            <a:off x="304800" y="822266"/>
            <a:ext cx="8468302" cy="56693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 name="Google Shape;152;g2240524f1f3_0_0"/>
          <p:cNvSpPr txBox="1"/>
          <p:nvPr/>
        </p:nvSpPr>
        <p:spPr>
          <a:xfrm>
            <a:off x="304800" y="822266"/>
            <a:ext cx="8423564" cy="4551680"/>
          </a:xfrm>
          <a:prstGeom prst="rect">
            <a:avLst/>
          </a:prstGeom>
          <a:noFill/>
          <a:ln>
            <a:noFill/>
          </a:ln>
        </p:spPr>
        <p:txBody>
          <a:bodyPr spcFirstLastPara="1" wrap="square" lIns="91425" tIns="91425" rIns="91425" bIns="91425" anchor="t" anchorCtr="0">
            <a:spAutoFit/>
          </a:bodyPr>
          <a:lstStyle/>
          <a:p>
            <a:pPr algn="just"/>
            <a:r>
              <a:rPr lang="vi-VN" sz="1800" dirty="0" smtClean="0"/>
              <a:t>Dưới </a:t>
            </a:r>
            <a:r>
              <a:rPr lang="vi-VN" sz="1800" dirty="0"/>
              <a:t>đây là giải thích cho các số liệu hiển thị trên mỗi nút của cây</a:t>
            </a:r>
            <a:r>
              <a:rPr lang="vi-VN" sz="1800" dirty="0" smtClean="0"/>
              <a:t>:</a:t>
            </a:r>
            <a:endParaRPr lang="en-US" sz="1800" dirty="0" smtClean="0"/>
          </a:p>
          <a:p>
            <a:pPr marL="285750" indent="-285750" algn="just">
              <a:buFontTx/>
              <a:buChar char="-"/>
            </a:pPr>
            <a:r>
              <a:rPr lang="vi-VN" sz="1800" b="1" dirty="0" smtClean="0"/>
              <a:t>Gini</a:t>
            </a:r>
            <a:r>
              <a:rPr lang="vi-VN" sz="1800" dirty="0"/>
              <a:t>: Đây là chỉ số Gini, một thước đo của sự "</a:t>
            </a:r>
            <a:r>
              <a:rPr lang="vi-VN" sz="1800" b="1" dirty="0"/>
              <a:t>tạp nham</a:t>
            </a:r>
            <a:r>
              <a:rPr lang="vi-VN" sz="1800" dirty="0"/>
              <a:t>" hoặc độ "</a:t>
            </a:r>
            <a:r>
              <a:rPr lang="vi-VN" sz="1800" b="1" dirty="0"/>
              <a:t>không tinh khiết</a:t>
            </a:r>
            <a:r>
              <a:rPr lang="vi-VN" sz="1800" dirty="0"/>
              <a:t>" tại một nút. Giá trị của Gini nằm trong khoảng </a:t>
            </a:r>
            <a:r>
              <a:rPr lang="vi-VN" sz="1800" b="1" dirty="0"/>
              <a:t>từ 0 (hoàn hảo</a:t>
            </a:r>
            <a:r>
              <a:rPr lang="vi-VN" sz="1800" dirty="0"/>
              <a:t>, tất cả </a:t>
            </a:r>
            <a:r>
              <a:rPr lang="vi-VN" sz="1800" b="1" dirty="0"/>
              <a:t>các mẫu tại một nút thuộc một lớp duy nhất</a:t>
            </a:r>
            <a:r>
              <a:rPr lang="vi-VN" sz="1800" dirty="0"/>
              <a:t>) đến </a:t>
            </a:r>
            <a:r>
              <a:rPr lang="vi-VN" sz="1800" b="1" dirty="0"/>
              <a:t>1</a:t>
            </a:r>
            <a:r>
              <a:rPr lang="vi-VN" sz="1800" dirty="0"/>
              <a:t> (tệ nhất, các mẫu được phân bố đều giữa các lớp). Cụ thể, chỉ số Gini được tính như sau: </a:t>
            </a:r>
            <a:r>
              <a:rPr lang="vi-VN" sz="1800" b="1" i="1" dirty="0" smtClean="0"/>
              <a:t>Gini</a:t>
            </a:r>
            <a:r>
              <a:rPr lang="vi-VN" sz="1800" b="1" dirty="0" smtClean="0"/>
              <a:t>=1</a:t>
            </a:r>
            <a:r>
              <a:rPr lang="vi-VN" sz="1800" b="1" dirty="0"/>
              <a:t>−∑(</a:t>
            </a:r>
            <a:r>
              <a:rPr lang="vi-VN" sz="1800" b="1" i="1" dirty="0"/>
              <a:t>pi</a:t>
            </a:r>
            <a:r>
              <a:rPr lang="vi-VN" sz="1800" b="1" dirty="0"/>
              <a:t>​)2 </a:t>
            </a:r>
            <a:r>
              <a:rPr lang="vi-VN" sz="1800" dirty="0"/>
              <a:t>với </a:t>
            </a:r>
            <a:r>
              <a:rPr lang="vi-VN" sz="1800" b="1" i="1" dirty="0" smtClean="0"/>
              <a:t>pi</a:t>
            </a:r>
            <a:r>
              <a:rPr lang="vi-VN" sz="1800" b="1" dirty="0"/>
              <a:t>​</a:t>
            </a:r>
            <a:r>
              <a:rPr lang="vi-VN" sz="1800" dirty="0"/>
              <a:t> là tỷ lệ mẫu thuộc về một lớp cụ thể tại nút đó</a:t>
            </a:r>
            <a:r>
              <a:rPr lang="vi-VN" sz="1800" dirty="0" smtClean="0"/>
              <a:t>.</a:t>
            </a:r>
            <a:endParaRPr lang="en-US" sz="1800" dirty="0" smtClean="0"/>
          </a:p>
          <a:p>
            <a:pPr algn="just"/>
            <a:r>
              <a:rPr lang="en-US" sz="1800" dirty="0"/>
              <a:t>	</a:t>
            </a:r>
            <a:r>
              <a:rPr lang="vi-VN" dirty="0"/>
              <a:t>Giá trị </a:t>
            </a:r>
            <a:r>
              <a:rPr lang="vi-VN" dirty="0" smtClean="0"/>
              <a:t>của</a:t>
            </a:r>
            <a:r>
              <a:rPr lang="en-US" dirty="0" smtClean="0"/>
              <a:t> </a:t>
            </a:r>
            <a:r>
              <a:rPr lang="vi-VN" i="1" dirty="0" smtClean="0"/>
              <a:t>pi</a:t>
            </a:r>
            <a:r>
              <a:rPr lang="vi-VN" dirty="0"/>
              <a:t>​ trong công thức Gini là tỷ lệ các mẫu thuộc về một lớp cụ thể tại một nút. Để tính </a:t>
            </a:r>
            <a:r>
              <a:rPr lang="vi-VN" i="1" dirty="0" smtClean="0"/>
              <a:t>pi</a:t>
            </a:r>
            <a:r>
              <a:rPr lang="vi-VN" dirty="0"/>
              <a:t>​ cho một lớp, bạn lấy </a:t>
            </a:r>
            <a:r>
              <a:rPr lang="vi-VN" b="1" dirty="0"/>
              <a:t>số lượng mẫu của lớp đó tại nút </a:t>
            </a:r>
            <a:r>
              <a:rPr lang="vi-VN" dirty="0"/>
              <a:t>và </a:t>
            </a:r>
            <a:r>
              <a:rPr lang="vi-VN" b="1" dirty="0"/>
              <a:t>chia cho tổng số mẫu tại nút đó</a:t>
            </a:r>
            <a:r>
              <a:rPr lang="vi-VN" dirty="0"/>
              <a:t>.</a:t>
            </a:r>
            <a:endParaRPr lang="en-US" sz="1800" dirty="0" smtClean="0"/>
          </a:p>
          <a:p>
            <a:pPr marL="285750" indent="-285750" algn="just">
              <a:buFontTx/>
              <a:buChar char="-"/>
            </a:pPr>
            <a:r>
              <a:rPr lang="vi-VN" sz="1800" b="1" dirty="0" smtClean="0"/>
              <a:t>Samples</a:t>
            </a:r>
            <a:r>
              <a:rPr lang="vi-VN" sz="1800" dirty="0"/>
              <a:t>: </a:t>
            </a:r>
            <a:r>
              <a:rPr lang="vi-VN" sz="1800" b="1" dirty="0"/>
              <a:t>Số lượng mẫu dữ liệu tại nút</a:t>
            </a:r>
            <a:r>
              <a:rPr lang="vi-VN" sz="1800" dirty="0"/>
              <a:t>. Đây là số lượng các mẫu từ tập dữ liệu huấn luyện mà tại đó quyết định được đưa ra dựa trên các đặc trưng</a:t>
            </a:r>
            <a:r>
              <a:rPr lang="vi-VN" sz="1800" dirty="0" smtClean="0"/>
              <a:t>.</a:t>
            </a:r>
            <a:endParaRPr lang="en-US" sz="1800" dirty="0" smtClean="0"/>
          </a:p>
          <a:p>
            <a:pPr marL="285750" indent="-285750" algn="just">
              <a:buFontTx/>
              <a:buChar char="-"/>
            </a:pPr>
            <a:r>
              <a:rPr lang="vi-VN" sz="1800" b="1" dirty="0" smtClean="0"/>
              <a:t>Value</a:t>
            </a:r>
            <a:r>
              <a:rPr lang="vi-VN" sz="1800" dirty="0"/>
              <a:t>: Một mảng cho biết số lượng mẫu từ mỗi lớp tại nút đó. Ví dụ, nếu có value = [</a:t>
            </a:r>
            <a:r>
              <a:rPr lang="vi-VN" sz="1800" b="1" dirty="0"/>
              <a:t>3, 2, 2, 1</a:t>
            </a:r>
            <a:r>
              <a:rPr lang="vi-VN" sz="1800" dirty="0"/>
              <a:t>] thì có nghĩa là có </a:t>
            </a:r>
            <a:r>
              <a:rPr lang="vi-VN" sz="1800" b="1" dirty="0"/>
              <a:t>ba mẫu thuộc lớp đầu tiên</a:t>
            </a:r>
            <a:r>
              <a:rPr lang="vi-VN" sz="1800" dirty="0"/>
              <a:t>, </a:t>
            </a:r>
            <a:r>
              <a:rPr lang="vi-VN" sz="1800" b="1" dirty="0"/>
              <a:t>hai mẫu thuộc lớp thứ hai</a:t>
            </a:r>
            <a:r>
              <a:rPr lang="vi-VN" sz="1800" dirty="0"/>
              <a:t>, v.v</a:t>
            </a:r>
            <a:r>
              <a:rPr lang="vi-VN" sz="1800" dirty="0" smtClean="0"/>
              <a:t>.</a:t>
            </a:r>
            <a:endParaRPr lang="en-US" sz="1800" dirty="0" smtClean="0"/>
          </a:p>
          <a:p>
            <a:pPr marL="285750" indent="-285750" algn="just">
              <a:buFontTx/>
              <a:buChar char="-"/>
            </a:pPr>
            <a:r>
              <a:rPr lang="vi-VN" sz="1800" b="1" dirty="0" smtClean="0"/>
              <a:t>Class</a:t>
            </a:r>
            <a:r>
              <a:rPr lang="vi-VN" sz="1800" dirty="0"/>
              <a:t>: Lớp phổ biến nhất tại nút. Khi dùng cây quyết định để phân loại, lớp này sẽ được chọn để dự đoán kết quả cho mẫu mới nếu chúng theo đường đi qua nút này</a:t>
            </a:r>
            <a:r>
              <a:rPr lang="vi-VN" sz="1800" dirty="0" smtClean="0"/>
              <a: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2"/>
          <a:stretch>
            <a:fillRect/>
          </a:stretch>
        </p:blipFill>
        <p:spPr>
          <a:xfrm>
            <a:off x="304800" y="785116"/>
            <a:ext cx="6104105" cy="523699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461635"/>
          </a:xfrm>
          <a:prstGeom prst="rect">
            <a:avLst/>
          </a:prstGeom>
          <a:noFill/>
          <a:ln>
            <a:noFill/>
          </a:ln>
        </p:spPr>
        <p:txBody>
          <a:bodyPr spcFirstLastPara="1" wrap="square" lIns="91425" tIns="91425" rIns="91425" bIns="91425" anchor="t" anchorCtr="0">
            <a:spAutoFit/>
          </a:bodyPr>
          <a:lstStyle/>
          <a:p>
            <a:pPr algn="just"/>
            <a:r>
              <a:rPr lang="en-US" sz="1800" dirty="0" err="1" smtClean="0"/>
              <a:t>Một</a:t>
            </a:r>
            <a:r>
              <a:rPr lang="en-US" sz="1800" dirty="0" smtClean="0"/>
              <a:t> </a:t>
            </a:r>
            <a:r>
              <a:rPr lang="en-US" sz="1800" dirty="0" err="1" smtClean="0"/>
              <a:t>số</a:t>
            </a:r>
            <a:r>
              <a:rPr lang="en-US" sz="1800" dirty="0" smtClean="0"/>
              <a:t> </a:t>
            </a:r>
            <a:r>
              <a:rPr lang="en-US" sz="1800" dirty="0" err="1" smtClean="0"/>
              <a:t>ví</a:t>
            </a:r>
            <a:r>
              <a:rPr lang="en-US" sz="1800" dirty="0" smtClean="0"/>
              <a:t> </a:t>
            </a:r>
            <a:r>
              <a:rPr lang="en-US" sz="1800" dirty="0" err="1" smtClean="0"/>
              <a:t>dụ</a:t>
            </a:r>
            <a:r>
              <a:rPr lang="en-US" sz="1800" dirty="0" smtClean="0"/>
              <a:t>: Xin </a:t>
            </a:r>
            <a:r>
              <a:rPr lang="en-US" sz="1800" dirty="0" err="1" smtClean="0"/>
              <a:t>việc</a:t>
            </a:r>
            <a:endParaRPr lang="en-US" sz="1800" dirty="0"/>
          </a:p>
        </p:txBody>
      </p:sp>
      <p:pic>
        <p:nvPicPr>
          <p:cNvPr id="2" name="Picture 1"/>
          <p:cNvPicPr>
            <a:picLocks noChangeAspect="1"/>
          </p:cNvPicPr>
          <p:nvPr/>
        </p:nvPicPr>
        <p:blipFill>
          <a:blip r:embed="rId2"/>
          <a:stretch>
            <a:fillRect/>
          </a:stretch>
        </p:blipFill>
        <p:spPr>
          <a:xfrm>
            <a:off x="433964" y="1366143"/>
            <a:ext cx="5440363" cy="43432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5" name="Picture 4"/>
          <p:cNvPicPr>
            <a:picLocks noChangeAspect="1"/>
          </p:cNvPicPr>
          <p:nvPr/>
        </p:nvPicPr>
        <p:blipFill>
          <a:blip r:embed="rId2"/>
          <a:stretch>
            <a:fillRect/>
          </a:stretch>
        </p:blipFill>
        <p:spPr>
          <a:xfrm>
            <a:off x="193963" y="796349"/>
            <a:ext cx="8724069" cy="31568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2708403"/>
          </a:xfrm>
          <a:prstGeom prst="rect">
            <a:avLst/>
          </a:prstGeom>
          <a:noFill/>
          <a:ln>
            <a:noFill/>
          </a:ln>
        </p:spPr>
        <p:txBody>
          <a:bodyPr spcFirstLastPara="1" wrap="square" lIns="91425" tIns="91425" rIns="91425" bIns="91425" anchor="t" anchorCtr="0">
            <a:spAutoFit/>
          </a:bodyPr>
          <a:lstStyle/>
          <a:p>
            <a:r>
              <a:rPr lang="vi-VN" sz="1600" b="1" dirty="0"/>
              <a:t>Độ lệch chuẩn</a:t>
            </a:r>
            <a:r>
              <a:rPr lang="vi-VN" sz="1600" dirty="0"/>
              <a:t>: được xây dựng từ nút gốc và liên quan đến việc phân chia dữ</a:t>
            </a:r>
            <a:br>
              <a:rPr lang="vi-VN" sz="1600" dirty="0"/>
            </a:br>
            <a:r>
              <a:rPr lang="vi-VN" sz="1600" dirty="0"/>
              <a:t>liệu thành các tập con chứa các thực thể có giá trị tương đồng.</a:t>
            </a:r>
            <a:br>
              <a:rPr lang="vi-VN" sz="1600" dirty="0"/>
            </a:br>
            <a:r>
              <a:rPr lang="vi-VN" sz="1600" dirty="0"/>
              <a:t>❖Độ lệch chuẩn cho một thuộc tính</a:t>
            </a:r>
            <a:br>
              <a:rPr lang="vi-VN" sz="1600" dirty="0"/>
            </a:br>
            <a:r>
              <a:rPr lang="vi-VN" sz="1600" dirty="0"/>
              <a:t>❖Độ lệch chuẩn cho nhiều thuộc tính </a:t>
            </a:r>
            <a:br>
              <a:rPr lang="vi-VN" sz="1800" dirty="0"/>
            </a:br>
            <a:endParaRPr lang="en-US" sz="1800" dirty="0" smtClean="0"/>
          </a:p>
          <a:p>
            <a:r>
              <a:rPr lang="en-US" sz="1600" dirty="0" err="1" smtClean="0"/>
              <a:t>Độ</a:t>
            </a:r>
            <a:r>
              <a:rPr lang="en-US" sz="1600" dirty="0" smtClean="0"/>
              <a:t> </a:t>
            </a:r>
            <a:r>
              <a:rPr lang="en-US" sz="1600" dirty="0" err="1" smtClean="0"/>
              <a:t>lệch</a:t>
            </a:r>
            <a:r>
              <a:rPr lang="en-US" sz="1600" dirty="0" smtClean="0"/>
              <a:t> </a:t>
            </a:r>
            <a:r>
              <a:rPr lang="en-US" sz="1600" dirty="0" err="1" smtClean="0"/>
              <a:t>chuẩn</a:t>
            </a:r>
            <a:r>
              <a:rPr lang="en-US" sz="1600" dirty="0" smtClean="0"/>
              <a:t> </a:t>
            </a:r>
            <a:r>
              <a:rPr lang="en-US" sz="1600" dirty="0" err="1" smtClean="0"/>
              <a:t>cho</a:t>
            </a:r>
            <a:r>
              <a:rPr lang="en-US" sz="1600" dirty="0" smtClean="0"/>
              <a:t> 1 </a:t>
            </a:r>
            <a:r>
              <a:rPr lang="en-US" sz="1600" dirty="0" err="1" smtClean="0"/>
              <a:t>số</a:t>
            </a:r>
            <a:r>
              <a:rPr lang="en-US" sz="1600" dirty="0" smtClean="0"/>
              <a:t> </a:t>
            </a:r>
            <a:r>
              <a:rPr lang="en-US" sz="1600" dirty="0" err="1" smtClean="0"/>
              <a:t>thuộc</a:t>
            </a:r>
            <a:r>
              <a:rPr lang="en-US" sz="1600" dirty="0" smtClean="0"/>
              <a:t> </a:t>
            </a:r>
            <a:r>
              <a:rPr lang="en-US" sz="1600" dirty="0" err="1" smtClean="0"/>
              <a:t>tính</a:t>
            </a:r>
            <a:endParaRPr lang="en-US" sz="1600" dirty="0" smtClean="0"/>
          </a:p>
          <a:p>
            <a:pPr marL="285750" indent="-285750">
              <a:buFontTx/>
              <a:buChar char="-"/>
            </a:pPr>
            <a:r>
              <a:rPr lang="en-US" sz="1600" dirty="0" err="1" smtClean="0"/>
              <a:t>Độ</a:t>
            </a:r>
            <a:r>
              <a:rPr lang="en-US" sz="1600" dirty="0" smtClean="0"/>
              <a:t> </a:t>
            </a:r>
            <a:r>
              <a:rPr lang="en-US" sz="1600" dirty="0" err="1"/>
              <a:t>lệch</a:t>
            </a:r>
            <a:r>
              <a:rPr lang="en-US" sz="1600" dirty="0"/>
              <a:t> </a:t>
            </a:r>
            <a:r>
              <a:rPr lang="en-US" sz="1600" dirty="0" err="1"/>
              <a:t>chuẩn</a:t>
            </a:r>
            <a:r>
              <a:rPr lang="en-US" sz="1600" dirty="0"/>
              <a:t> (S) </a:t>
            </a:r>
            <a:r>
              <a:rPr lang="en-US" sz="1600" dirty="0" err="1"/>
              <a:t>dùng</a:t>
            </a:r>
            <a:r>
              <a:rPr lang="en-US" sz="1600" dirty="0"/>
              <a:t> </a:t>
            </a:r>
            <a:r>
              <a:rPr lang="en-US" sz="1600" dirty="0" err="1"/>
              <a:t>cho</a:t>
            </a:r>
            <a:r>
              <a:rPr lang="en-US" sz="1600" dirty="0"/>
              <a:t> </a:t>
            </a:r>
            <a:r>
              <a:rPr lang="en-US" sz="1600" dirty="0" err="1"/>
              <a:t>việc</a:t>
            </a:r>
            <a:r>
              <a:rPr lang="en-US" sz="1600" dirty="0"/>
              <a:t> </a:t>
            </a:r>
            <a:r>
              <a:rPr lang="en-US" sz="1600" dirty="0" err="1"/>
              <a:t>rẽ</a:t>
            </a:r>
            <a:r>
              <a:rPr lang="en-US" sz="1600" dirty="0"/>
              <a:t> </a:t>
            </a:r>
            <a:r>
              <a:rPr lang="en-US" sz="1600" dirty="0" err="1"/>
              <a:t>nhánh</a:t>
            </a:r>
            <a:r>
              <a:rPr lang="en-US" sz="1600" dirty="0"/>
              <a:t> (</a:t>
            </a:r>
            <a:r>
              <a:rPr lang="en-US" sz="1600" dirty="0" err="1"/>
              <a:t>branchin</a:t>
            </a:r>
            <a:r>
              <a:rPr lang="en-US" sz="1600" dirty="0" smtClean="0"/>
              <a:t>)</a:t>
            </a:r>
            <a:endParaRPr lang="en-US" sz="1600" dirty="0" smtClean="0"/>
          </a:p>
          <a:p>
            <a:pPr marL="285750" indent="-285750">
              <a:buFontTx/>
              <a:buChar char="-"/>
            </a:pPr>
            <a:r>
              <a:rPr lang="en-US" sz="1600" dirty="0" err="1"/>
              <a:t>H</a:t>
            </a:r>
            <a:r>
              <a:rPr lang="en-US" sz="1600" dirty="0" err="1" smtClean="0"/>
              <a:t>ệ</a:t>
            </a:r>
            <a:r>
              <a:rPr lang="en-US" sz="1600" dirty="0" smtClean="0"/>
              <a:t> </a:t>
            </a:r>
            <a:r>
              <a:rPr lang="en-US" sz="1600" dirty="0" err="1"/>
              <a:t>số</a:t>
            </a:r>
            <a:r>
              <a:rPr lang="en-US" sz="1600" dirty="0"/>
              <a:t> </a:t>
            </a:r>
            <a:r>
              <a:rPr lang="en-US" sz="1600" dirty="0" err="1"/>
              <a:t>biến</a:t>
            </a:r>
            <a:r>
              <a:rPr lang="en-US" sz="1600" dirty="0"/>
              <a:t> </a:t>
            </a:r>
            <a:r>
              <a:rPr lang="en-US" sz="1600" dirty="0" err="1"/>
              <a:t>thiên</a:t>
            </a:r>
            <a:r>
              <a:rPr lang="en-US" sz="1600" dirty="0"/>
              <a:t> (CV) </a:t>
            </a:r>
            <a:r>
              <a:rPr lang="en-US" sz="1600" dirty="0" err="1"/>
              <a:t>quyết</a:t>
            </a:r>
            <a:r>
              <a:rPr lang="en-US" sz="1600" dirty="0"/>
              <a:t> </a:t>
            </a:r>
            <a:r>
              <a:rPr lang="en-US" sz="1600" dirty="0" err="1"/>
              <a:t>định</a:t>
            </a:r>
            <a:r>
              <a:rPr lang="en-US" sz="1600" dirty="0"/>
              <a:t> </a:t>
            </a:r>
            <a:r>
              <a:rPr lang="en-US" sz="1600" dirty="0" err="1"/>
              <a:t>việc</a:t>
            </a:r>
            <a:r>
              <a:rPr lang="en-US" sz="1600" dirty="0"/>
              <a:t> </a:t>
            </a:r>
            <a:r>
              <a:rPr lang="en-US" sz="1600" dirty="0" err="1"/>
              <a:t>dừng</a:t>
            </a:r>
            <a:r>
              <a:rPr lang="en-US" sz="1600" dirty="0"/>
              <a:t> </a:t>
            </a:r>
            <a:r>
              <a:rPr lang="en-US" sz="1600" dirty="0" err="1"/>
              <a:t>rẽ</a:t>
            </a:r>
            <a:r>
              <a:rPr lang="en-US" sz="1600" dirty="0"/>
              <a:t> </a:t>
            </a:r>
            <a:r>
              <a:rPr lang="en-US" sz="1600" dirty="0" err="1" smtClean="0"/>
              <a:t>nhánh</a:t>
            </a:r>
            <a:endParaRPr lang="en-US" sz="1600" dirty="0" smtClean="0"/>
          </a:p>
          <a:p>
            <a:pPr marL="285750" indent="-285750">
              <a:buFontTx/>
              <a:buChar char="-"/>
            </a:pPr>
            <a:r>
              <a:rPr lang="en-US" sz="1600" dirty="0" err="1" smtClean="0"/>
              <a:t>Trung</a:t>
            </a:r>
            <a:r>
              <a:rPr lang="en-US" sz="1600" dirty="0" smtClean="0"/>
              <a:t> </a:t>
            </a:r>
            <a:r>
              <a:rPr lang="en-US" sz="1600" dirty="0" err="1"/>
              <a:t>bình</a:t>
            </a:r>
            <a:r>
              <a:rPr lang="en-US" sz="1600" dirty="0"/>
              <a:t> (</a:t>
            </a:r>
            <a:r>
              <a:rPr lang="en-US" sz="1600" dirty="0" err="1"/>
              <a:t>Avg</a:t>
            </a:r>
            <a:r>
              <a:rPr lang="en-US" sz="1600" dirty="0"/>
              <a:t>) </a:t>
            </a:r>
            <a:r>
              <a:rPr lang="en-US" sz="1600" dirty="0" err="1"/>
              <a:t>là</a:t>
            </a:r>
            <a:r>
              <a:rPr lang="en-US" sz="1600" dirty="0"/>
              <a:t> </a:t>
            </a:r>
            <a:r>
              <a:rPr lang="en-US" sz="1600" dirty="0" err="1"/>
              <a:t>giá</a:t>
            </a:r>
            <a:r>
              <a:rPr lang="en-US" sz="1600" dirty="0"/>
              <a:t> </a:t>
            </a:r>
            <a:r>
              <a:rPr lang="en-US" sz="1600" dirty="0" err="1"/>
              <a:t>trị</a:t>
            </a:r>
            <a:r>
              <a:rPr lang="en-US" sz="1600" dirty="0"/>
              <a:t> </a:t>
            </a:r>
            <a:r>
              <a:rPr lang="en-US" sz="1600" dirty="0" err="1"/>
              <a:t>của</a:t>
            </a:r>
            <a:r>
              <a:rPr lang="en-US" sz="1600" dirty="0"/>
              <a:t> </a:t>
            </a:r>
            <a:r>
              <a:rPr lang="en-US" sz="1600" dirty="0" err="1"/>
              <a:t>nút</a:t>
            </a:r>
            <a:r>
              <a:rPr lang="en-US" sz="1600" dirty="0"/>
              <a:t> </a:t>
            </a:r>
            <a:r>
              <a:rPr lang="en-US" sz="1600" dirty="0" err="1"/>
              <a:t>lá</a:t>
            </a:r>
            <a:r>
              <a:rPr lang="en-US" sz="1600" dirty="0"/>
              <a:t> </a:t>
            </a:r>
            <a:br>
              <a:rPr lang="en-US" sz="1800" dirty="0"/>
            </a:br>
            <a:endParaRPr lang="en-US" sz="1800" dirty="0"/>
          </a:p>
        </p:txBody>
      </p:sp>
      <p:pic>
        <p:nvPicPr>
          <p:cNvPr id="3" name="Picture 2"/>
          <p:cNvPicPr>
            <a:picLocks noChangeAspect="1"/>
          </p:cNvPicPr>
          <p:nvPr/>
        </p:nvPicPr>
        <p:blipFill>
          <a:blip r:embed="rId2"/>
          <a:stretch>
            <a:fillRect/>
          </a:stretch>
        </p:blipFill>
        <p:spPr>
          <a:xfrm>
            <a:off x="434109" y="3254998"/>
            <a:ext cx="6953380" cy="26377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430857"/>
          </a:xfrm>
          <a:prstGeom prst="rect">
            <a:avLst/>
          </a:prstGeom>
          <a:noFill/>
          <a:ln>
            <a:noFill/>
          </a:ln>
        </p:spPr>
        <p:txBody>
          <a:bodyPr spcFirstLastPara="1" wrap="square" lIns="91425" tIns="91425" rIns="91425" bIns="91425" anchor="t" anchorCtr="0">
            <a:spAutoFit/>
          </a:bodyPr>
          <a:lstStyle/>
          <a:p>
            <a:r>
              <a:rPr lang="en-US" sz="1600" dirty="0" err="1" smtClean="0"/>
              <a:t>Độ</a:t>
            </a:r>
            <a:r>
              <a:rPr lang="en-US" sz="1600" dirty="0" smtClean="0"/>
              <a:t> </a:t>
            </a:r>
            <a:r>
              <a:rPr lang="en-US" sz="1600" dirty="0" err="1"/>
              <a:t>lệch</a:t>
            </a:r>
            <a:r>
              <a:rPr lang="en-US" sz="1600" dirty="0"/>
              <a:t> </a:t>
            </a:r>
            <a:r>
              <a:rPr lang="en-US" sz="1600" dirty="0" err="1"/>
              <a:t>chuẩn</a:t>
            </a:r>
            <a:r>
              <a:rPr lang="en-US" sz="1600" dirty="0"/>
              <a:t> </a:t>
            </a:r>
            <a:r>
              <a:rPr lang="en-US" sz="1600" dirty="0" err="1"/>
              <a:t>cho</a:t>
            </a:r>
            <a:r>
              <a:rPr lang="en-US" sz="1600" dirty="0"/>
              <a:t> </a:t>
            </a:r>
            <a:r>
              <a:rPr lang="en-US" sz="1600" dirty="0" err="1"/>
              <a:t>đa</a:t>
            </a:r>
            <a:r>
              <a:rPr lang="en-US" sz="1600" dirty="0"/>
              <a:t> </a:t>
            </a:r>
            <a:r>
              <a:rPr lang="en-US" sz="1600" dirty="0" err="1"/>
              <a:t>thuộc</a:t>
            </a:r>
            <a:r>
              <a:rPr lang="en-US" sz="1600" dirty="0"/>
              <a:t> </a:t>
            </a:r>
            <a:r>
              <a:rPr lang="en-US" sz="1600" dirty="0" err="1"/>
              <a:t>tính</a:t>
            </a:r>
            <a:r>
              <a:rPr lang="en-US" sz="1600" dirty="0"/>
              <a:t> (target </a:t>
            </a:r>
            <a:r>
              <a:rPr lang="en-US" sz="1600" dirty="0" err="1"/>
              <a:t>và</a:t>
            </a:r>
            <a:r>
              <a:rPr lang="en-US" sz="1600" dirty="0"/>
              <a:t> predictor</a:t>
            </a:r>
            <a:r>
              <a:rPr lang="en-US" sz="1600" dirty="0" smtClean="0"/>
              <a:t>):</a:t>
            </a:r>
            <a:endParaRPr lang="en-US" sz="1600" dirty="0"/>
          </a:p>
        </p:txBody>
      </p:sp>
      <p:pic>
        <p:nvPicPr>
          <p:cNvPr id="2" name="Picture 1"/>
          <p:cNvPicPr>
            <a:picLocks noChangeAspect="1"/>
          </p:cNvPicPr>
          <p:nvPr/>
        </p:nvPicPr>
        <p:blipFill>
          <a:blip r:embed="rId2"/>
          <a:stretch>
            <a:fillRect/>
          </a:stretch>
        </p:blipFill>
        <p:spPr>
          <a:xfrm>
            <a:off x="438218" y="1253122"/>
            <a:ext cx="6553709" cy="48479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2123628"/>
          </a:xfrm>
          <a:prstGeom prst="rect">
            <a:avLst/>
          </a:prstGeom>
          <a:noFill/>
          <a:ln>
            <a:noFill/>
          </a:ln>
        </p:spPr>
        <p:txBody>
          <a:bodyPr spcFirstLastPara="1" wrap="square" lIns="91425" tIns="91425" rIns="91425" bIns="91425" anchor="t" anchorCtr="0">
            <a:spAutoFit/>
          </a:bodyPr>
          <a:lstStyle/>
          <a:p>
            <a:r>
              <a:rPr lang="vi-VN" dirty="0" smtClean="0"/>
              <a:t>Phương </a:t>
            </a:r>
            <a:r>
              <a:rPr lang="vi-VN" dirty="0"/>
              <a:t>pháp giảm độ lệch chuẩn (Standard Deviation Reduction</a:t>
            </a:r>
            <a:r>
              <a:rPr lang="vi-VN" dirty="0" smtClean="0"/>
              <a:t>)</a:t>
            </a:r>
            <a:endParaRPr lang="en-US" dirty="0" smtClean="0"/>
          </a:p>
          <a:p>
            <a:r>
              <a:rPr lang="en-US" dirty="0"/>
              <a:t>❖B1: </a:t>
            </a:r>
            <a:r>
              <a:rPr lang="en-US" dirty="0" err="1"/>
              <a:t>Tính</a:t>
            </a:r>
            <a:r>
              <a:rPr lang="en-US" dirty="0"/>
              <a:t> </a:t>
            </a:r>
            <a:r>
              <a:rPr lang="en-US" dirty="0" err="1"/>
              <a:t>độ</a:t>
            </a:r>
            <a:r>
              <a:rPr lang="en-US" dirty="0"/>
              <a:t> </a:t>
            </a:r>
            <a:r>
              <a:rPr lang="en-US" dirty="0" err="1"/>
              <a:t>lệch</a:t>
            </a:r>
            <a:r>
              <a:rPr lang="en-US" dirty="0"/>
              <a:t> </a:t>
            </a:r>
            <a:r>
              <a:rPr lang="en-US" dirty="0" err="1"/>
              <a:t>chuẩn</a:t>
            </a:r>
            <a:r>
              <a:rPr lang="en-US" dirty="0"/>
              <a:t> </a:t>
            </a:r>
            <a:r>
              <a:rPr lang="en-US" dirty="0" err="1"/>
              <a:t>của</a:t>
            </a:r>
            <a:r>
              <a:rPr lang="en-US" dirty="0"/>
              <a:t> </a:t>
            </a:r>
            <a:r>
              <a:rPr lang="en-US" dirty="0" err="1"/>
              <a:t>mục</a:t>
            </a:r>
            <a:r>
              <a:rPr lang="en-US" dirty="0"/>
              <a:t> </a:t>
            </a:r>
            <a:r>
              <a:rPr lang="en-US" dirty="0" err="1"/>
              <a:t>tiêu</a:t>
            </a:r>
            <a:br>
              <a:rPr lang="en-US" dirty="0"/>
            </a:br>
            <a:r>
              <a:rPr lang="en-US" dirty="0"/>
              <a:t>❖B2: </a:t>
            </a:r>
            <a:r>
              <a:rPr lang="en-US" dirty="0" err="1"/>
              <a:t>Tính</a:t>
            </a:r>
            <a:r>
              <a:rPr lang="en-US" dirty="0"/>
              <a:t> </a:t>
            </a:r>
            <a:r>
              <a:rPr lang="en-US" dirty="0" err="1"/>
              <a:t>độ</a:t>
            </a:r>
            <a:r>
              <a:rPr lang="en-US" dirty="0"/>
              <a:t> </a:t>
            </a:r>
            <a:r>
              <a:rPr lang="en-US" dirty="0" err="1"/>
              <a:t>giảm</a:t>
            </a:r>
            <a:r>
              <a:rPr lang="en-US" dirty="0"/>
              <a:t> </a:t>
            </a:r>
            <a:r>
              <a:rPr lang="en-US" dirty="0" err="1"/>
              <a:t>độ</a:t>
            </a:r>
            <a:r>
              <a:rPr lang="en-US" dirty="0"/>
              <a:t> </a:t>
            </a:r>
            <a:r>
              <a:rPr lang="en-US" dirty="0" err="1"/>
              <a:t>lệch</a:t>
            </a:r>
            <a:r>
              <a:rPr lang="en-US" dirty="0"/>
              <a:t> </a:t>
            </a:r>
            <a:r>
              <a:rPr lang="en-US" dirty="0" err="1"/>
              <a:t>chuẩn</a:t>
            </a:r>
            <a:br>
              <a:rPr lang="en-US" dirty="0"/>
            </a:br>
            <a:r>
              <a:rPr lang="en-US" dirty="0"/>
              <a:t>❖B3: </a:t>
            </a:r>
            <a:r>
              <a:rPr lang="en-US" dirty="0" err="1"/>
              <a:t>Chọn</a:t>
            </a:r>
            <a:r>
              <a:rPr lang="en-US" dirty="0"/>
              <a:t> </a:t>
            </a:r>
            <a:r>
              <a:rPr lang="en-US" dirty="0" err="1"/>
              <a:t>thuộc</a:t>
            </a:r>
            <a:r>
              <a:rPr lang="en-US" dirty="0"/>
              <a:t> </a:t>
            </a:r>
            <a:r>
              <a:rPr lang="en-US" dirty="0" err="1"/>
              <a:t>tính</a:t>
            </a:r>
            <a:r>
              <a:rPr lang="en-US" dirty="0"/>
              <a:t> </a:t>
            </a:r>
            <a:r>
              <a:rPr lang="en-US" dirty="0" err="1"/>
              <a:t>phân</a:t>
            </a:r>
            <a:r>
              <a:rPr lang="en-US" dirty="0"/>
              <a:t> chia</a:t>
            </a:r>
            <a:br>
              <a:rPr lang="en-US" dirty="0"/>
            </a:br>
            <a:r>
              <a:rPr lang="en-US" dirty="0"/>
              <a:t>❖B4: </a:t>
            </a:r>
            <a:r>
              <a:rPr lang="en-US" dirty="0" err="1"/>
              <a:t>Phân</a:t>
            </a:r>
            <a:r>
              <a:rPr lang="en-US" dirty="0"/>
              <a:t> chia </a:t>
            </a:r>
            <a:r>
              <a:rPr lang="en-US" dirty="0" err="1"/>
              <a:t>dữ</a:t>
            </a:r>
            <a:r>
              <a:rPr lang="en-US" dirty="0"/>
              <a:t> </a:t>
            </a:r>
            <a:r>
              <a:rPr lang="en-US" dirty="0" err="1" smtClean="0"/>
              <a:t>liệu</a:t>
            </a:r>
            <a:endParaRPr lang="en-US" dirty="0" smtClean="0"/>
          </a:p>
          <a:p>
            <a:endParaRPr lang="en-US" dirty="0"/>
          </a:p>
          <a:p>
            <a:r>
              <a:rPr lang="en-US" dirty="0"/>
              <a:t>B1: </a:t>
            </a:r>
            <a:r>
              <a:rPr lang="en-US" dirty="0" err="1"/>
              <a:t>Tính</a:t>
            </a:r>
            <a:r>
              <a:rPr lang="en-US" dirty="0"/>
              <a:t> </a:t>
            </a:r>
            <a:r>
              <a:rPr lang="en-US" dirty="0" err="1"/>
              <a:t>độ</a:t>
            </a:r>
            <a:r>
              <a:rPr lang="en-US" dirty="0"/>
              <a:t> </a:t>
            </a:r>
            <a:r>
              <a:rPr lang="en-US" dirty="0" err="1"/>
              <a:t>lệch</a:t>
            </a:r>
            <a:r>
              <a:rPr lang="en-US" dirty="0"/>
              <a:t> </a:t>
            </a:r>
            <a:r>
              <a:rPr lang="en-US" dirty="0" err="1"/>
              <a:t>chuẩn</a:t>
            </a:r>
            <a:r>
              <a:rPr lang="en-US" dirty="0"/>
              <a:t> </a:t>
            </a:r>
            <a:r>
              <a:rPr lang="en-US" dirty="0" err="1"/>
              <a:t>của</a:t>
            </a:r>
            <a:r>
              <a:rPr lang="en-US" dirty="0"/>
              <a:t> </a:t>
            </a:r>
            <a:r>
              <a:rPr lang="en-US" dirty="0" err="1"/>
              <a:t>mục</a:t>
            </a:r>
            <a:r>
              <a:rPr lang="en-US" dirty="0"/>
              <a:t> </a:t>
            </a:r>
            <a:r>
              <a:rPr lang="en-US" dirty="0" err="1"/>
              <a:t>tiêu</a:t>
            </a:r>
            <a:br>
              <a:rPr lang="en-US" dirty="0"/>
            </a:br>
            <a:r>
              <a:rPr lang="en-US" dirty="0"/>
              <a:t>❖Standard deviation (Hours Played) = 9.32 </a:t>
            </a:r>
            <a:br>
              <a:rPr lang="en-US" dirty="0"/>
            </a:br>
            <a:r>
              <a:rPr lang="en-US" dirty="0"/>
              <a:t> </a:t>
            </a:r>
            <a:endParaRPr lang="en-US" sz="1600" dirty="0"/>
          </a:p>
        </p:txBody>
      </p:sp>
      <p:pic>
        <p:nvPicPr>
          <p:cNvPr id="3" name="Picture 2"/>
          <p:cNvPicPr>
            <a:picLocks noChangeAspect="1"/>
          </p:cNvPicPr>
          <p:nvPr/>
        </p:nvPicPr>
        <p:blipFill>
          <a:blip r:embed="rId2"/>
          <a:stretch>
            <a:fillRect/>
          </a:stretch>
        </p:blipFill>
        <p:spPr>
          <a:xfrm>
            <a:off x="410007" y="2770403"/>
            <a:ext cx="7381875" cy="28003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1538853"/>
          </a:xfrm>
          <a:prstGeom prst="rect">
            <a:avLst/>
          </a:prstGeom>
          <a:noFill/>
          <a:ln>
            <a:noFill/>
          </a:ln>
        </p:spPr>
        <p:txBody>
          <a:bodyPr spcFirstLastPara="1" wrap="square" lIns="91425" tIns="91425" rIns="91425" bIns="91425" anchor="t" anchorCtr="0">
            <a:spAutoFit/>
          </a:bodyPr>
          <a:lstStyle/>
          <a:p>
            <a:r>
              <a:rPr lang="vi-VN" dirty="0"/>
              <a:t>B2: Tính độ giảm độ lệch chuẩn</a:t>
            </a:r>
            <a:br>
              <a:rPr lang="vi-VN" dirty="0"/>
            </a:br>
            <a:r>
              <a:rPr lang="vi-VN" dirty="0"/>
              <a:t>❖Chia tập dữ liệu được theo các thuộc tính</a:t>
            </a:r>
            <a:br>
              <a:rPr lang="vi-VN" dirty="0"/>
            </a:br>
            <a:r>
              <a:rPr lang="vi-VN" dirty="0"/>
              <a:t>❖Tính độ lệch chuẩn cho mỗi nhánh</a:t>
            </a:r>
            <a:br>
              <a:rPr lang="vi-VN" dirty="0"/>
            </a:br>
            <a:r>
              <a:rPr lang="vi-VN" dirty="0"/>
              <a:t>❖Lấy độ lệch chuẩn kết quả trừ đi độ lệch chuẩn trước khi phân chia</a:t>
            </a:r>
            <a:br>
              <a:rPr lang="vi-VN" dirty="0"/>
            </a:br>
            <a:r>
              <a:rPr lang="vi-VN" dirty="0"/>
              <a:t>❖=&gt; kết quả là độ lệch chuẩn giảm tải</a:t>
            </a:r>
            <a:r>
              <a:rPr lang="vi-VN" sz="1600" dirty="0"/>
              <a:t> </a:t>
            </a:r>
            <a:br>
              <a:rPr lang="vi-VN" sz="1600" dirty="0"/>
            </a:br>
            <a:endParaRPr lang="en-US" sz="1600" dirty="0"/>
          </a:p>
        </p:txBody>
      </p:sp>
      <p:pic>
        <p:nvPicPr>
          <p:cNvPr id="2" name="Picture 1"/>
          <p:cNvPicPr>
            <a:picLocks noChangeAspect="1"/>
          </p:cNvPicPr>
          <p:nvPr/>
        </p:nvPicPr>
        <p:blipFill>
          <a:blip r:embed="rId2"/>
          <a:stretch>
            <a:fillRect/>
          </a:stretch>
        </p:blipFill>
        <p:spPr>
          <a:xfrm>
            <a:off x="304800" y="2211964"/>
            <a:ext cx="4419600" cy="2600325"/>
          </a:xfrm>
          <a:prstGeom prst="rect">
            <a:avLst/>
          </a:prstGeom>
        </p:spPr>
      </p:pic>
      <p:pic>
        <p:nvPicPr>
          <p:cNvPr id="5" name="Picture 4"/>
          <p:cNvPicPr>
            <a:picLocks noChangeAspect="1"/>
          </p:cNvPicPr>
          <p:nvPr/>
        </p:nvPicPr>
        <p:blipFill>
          <a:blip r:embed="rId3"/>
          <a:stretch>
            <a:fillRect/>
          </a:stretch>
        </p:blipFill>
        <p:spPr>
          <a:xfrm>
            <a:off x="4857750" y="2211964"/>
            <a:ext cx="4286250" cy="17907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646300"/>
          </a:xfrm>
          <a:prstGeom prst="rect">
            <a:avLst/>
          </a:prstGeom>
          <a:noFill/>
          <a:ln>
            <a:noFill/>
          </a:ln>
        </p:spPr>
        <p:txBody>
          <a:bodyPr spcFirstLastPara="1" wrap="square" lIns="91425" tIns="91425" rIns="91425" bIns="91425" anchor="t" anchorCtr="0">
            <a:spAutoFit/>
          </a:bodyPr>
          <a:lstStyle/>
          <a:p>
            <a:r>
              <a:rPr lang="vi-VN" dirty="0"/>
              <a:t>B3: Thuộc tính có SDR lớn nhất được chọn làm thuộc tính phân chia </a:t>
            </a:r>
            <a:br>
              <a:rPr lang="vi-VN" dirty="0"/>
            </a:br>
            <a:endParaRPr lang="en-US" sz="1600" dirty="0"/>
          </a:p>
        </p:txBody>
      </p:sp>
      <p:pic>
        <p:nvPicPr>
          <p:cNvPr id="3" name="Picture 2"/>
          <p:cNvPicPr>
            <a:picLocks noChangeAspect="1"/>
          </p:cNvPicPr>
          <p:nvPr/>
        </p:nvPicPr>
        <p:blipFill>
          <a:blip r:embed="rId2"/>
          <a:stretch>
            <a:fillRect/>
          </a:stretch>
        </p:blipFill>
        <p:spPr>
          <a:xfrm>
            <a:off x="184726" y="1247016"/>
            <a:ext cx="6003638" cy="461188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5816947"/>
          </a:xfrm>
          <a:prstGeom prst="rect">
            <a:avLst/>
          </a:prstGeom>
          <a:noFill/>
          <a:ln>
            <a:noFill/>
          </a:ln>
        </p:spPr>
        <p:txBody>
          <a:bodyPr spcFirstLastPara="1" wrap="square" lIns="91425" tIns="91425" rIns="91425" bIns="91425" anchor="t" anchorCtr="0">
            <a:spAutoFit/>
          </a:bodyPr>
          <a:lstStyle/>
          <a:p>
            <a:r>
              <a:rPr lang="vi-VN" dirty="0"/>
              <a:t>B4a: Chia tập dữ liệu dựa trên thuộc tính được chọn. Tiến trình được thực</a:t>
            </a:r>
            <a:br>
              <a:rPr lang="vi-VN" dirty="0"/>
            </a:br>
            <a:r>
              <a:rPr lang="vi-VN" dirty="0"/>
              <a:t>hiện cho nút trung gian cho đến khi toàn bộ dữ liệu được xử lý </a:t>
            </a: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vi-VN" dirty="0" smtClean="0"/>
              <a:t>Chú </a:t>
            </a:r>
            <a:r>
              <a:rPr lang="vi-VN" dirty="0"/>
              <a:t>ý: Trong thực tế, chúng ta cần phải có điều kiện dừng. Ví dụ : khi CV nhỏ hơn một ngưỡng nào đó</a:t>
            </a:r>
            <a:br>
              <a:rPr lang="vi-VN" dirty="0"/>
            </a:br>
            <a:r>
              <a:rPr lang="vi-VN" dirty="0"/>
              <a:t>(e.g. 10%) và/hoặc quá ít thực thể để chia nhánh (e.g. 3) </a:t>
            </a:r>
            <a:br>
              <a:rPr lang="vi-VN" dirty="0"/>
            </a:br>
            <a:br>
              <a:rPr lang="vi-VN" dirty="0"/>
            </a:br>
            <a:endParaRPr lang="en-US" sz="1600" dirty="0"/>
          </a:p>
        </p:txBody>
      </p:sp>
      <p:pic>
        <p:nvPicPr>
          <p:cNvPr id="2" name="Picture 1"/>
          <p:cNvPicPr>
            <a:picLocks noChangeAspect="1"/>
          </p:cNvPicPr>
          <p:nvPr/>
        </p:nvPicPr>
        <p:blipFill>
          <a:blip r:embed="rId2"/>
          <a:stretch>
            <a:fillRect/>
          </a:stretch>
        </p:blipFill>
        <p:spPr>
          <a:xfrm>
            <a:off x="437348" y="1434630"/>
            <a:ext cx="7311961" cy="38718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5601503"/>
          </a:xfrm>
          <a:prstGeom prst="rect">
            <a:avLst/>
          </a:prstGeom>
          <a:noFill/>
          <a:ln>
            <a:noFill/>
          </a:ln>
        </p:spPr>
        <p:txBody>
          <a:bodyPr spcFirstLastPara="1" wrap="square" lIns="91425" tIns="91425" rIns="91425" bIns="91425" anchor="t" anchorCtr="0">
            <a:spAutoFit/>
          </a:bodyPr>
          <a:lstStyle/>
          <a:p>
            <a:r>
              <a:rPr lang="vi-VN" dirty="0"/>
              <a:t>B4b: Tập hợp con "Overcast" không cần tách thêm vì CV của nó (8%) nhỏ</a:t>
            </a:r>
            <a:br>
              <a:rPr lang="vi-VN" dirty="0"/>
            </a:br>
            <a:r>
              <a:rPr lang="vi-VN" dirty="0"/>
              <a:t>hơn ngưỡng (10%). Nút lá có liên quan lấy giá trị trung bình của tập con</a:t>
            </a:r>
            <a:br>
              <a:rPr lang="vi-VN" dirty="0"/>
            </a:br>
            <a:r>
              <a:rPr lang="vi-VN" dirty="0"/>
              <a:t>"Overcast". </a:t>
            </a:r>
            <a:br>
              <a:rPr lang="vi-VN" dirty="0"/>
            </a:br>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br>
              <a:rPr lang="vi-VN" dirty="0"/>
            </a:br>
            <a:br>
              <a:rPr lang="vi-VN" dirty="0"/>
            </a:br>
            <a:endParaRPr lang="en-US" sz="1600" dirty="0"/>
          </a:p>
        </p:txBody>
      </p:sp>
      <p:pic>
        <p:nvPicPr>
          <p:cNvPr id="3" name="Picture 2"/>
          <p:cNvPicPr>
            <a:picLocks noChangeAspect="1"/>
          </p:cNvPicPr>
          <p:nvPr/>
        </p:nvPicPr>
        <p:blipFill>
          <a:blip r:embed="rId2"/>
          <a:stretch>
            <a:fillRect/>
          </a:stretch>
        </p:blipFill>
        <p:spPr>
          <a:xfrm>
            <a:off x="180686" y="1565997"/>
            <a:ext cx="8908788" cy="327385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5386060"/>
          </a:xfrm>
          <a:prstGeom prst="rect">
            <a:avLst/>
          </a:prstGeom>
          <a:noFill/>
          <a:ln>
            <a:noFill/>
          </a:ln>
        </p:spPr>
        <p:txBody>
          <a:bodyPr spcFirstLastPara="1" wrap="square" lIns="91425" tIns="91425" rIns="91425" bIns="91425" anchor="t" anchorCtr="0">
            <a:spAutoFit/>
          </a:bodyPr>
          <a:lstStyle/>
          <a:p>
            <a:r>
              <a:rPr lang="vi-VN" dirty="0"/>
              <a:t>B4c: Tuy nhiên, nhánh "Sunny" có CV (28%) cao hơn ngưỡng (10%) cần được</a:t>
            </a:r>
            <a:br>
              <a:rPr lang="vi-VN" dirty="0"/>
            </a:br>
            <a:r>
              <a:rPr lang="vi-VN" dirty="0"/>
              <a:t>tách thêm. Chúng ta chọn "Windy" là nút tốt nhất tốt nhất sau "Outlook" vì</a:t>
            </a:r>
            <a:br>
              <a:rPr lang="vi-VN" dirty="0"/>
            </a:br>
            <a:r>
              <a:rPr lang="vi-VN" dirty="0"/>
              <a:t>nút này có SDR lớn nhất </a:t>
            </a:r>
            <a:br>
              <a:rPr lang="vi-VN" dirty="0"/>
            </a:b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br>
              <a:rPr lang="vi-VN" dirty="0"/>
            </a:br>
            <a:br>
              <a:rPr lang="vi-VN" dirty="0"/>
            </a:br>
            <a:endParaRPr lang="en-US" sz="1600" dirty="0"/>
          </a:p>
        </p:txBody>
      </p:sp>
      <p:pic>
        <p:nvPicPr>
          <p:cNvPr id="2" name="Picture 1"/>
          <p:cNvPicPr>
            <a:picLocks noChangeAspect="1"/>
          </p:cNvPicPr>
          <p:nvPr/>
        </p:nvPicPr>
        <p:blipFill>
          <a:blip r:embed="rId2"/>
          <a:stretch>
            <a:fillRect/>
          </a:stretch>
        </p:blipFill>
        <p:spPr>
          <a:xfrm>
            <a:off x="418666" y="1673225"/>
            <a:ext cx="8309698" cy="461492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1077188"/>
          </a:xfrm>
          <a:prstGeom prst="rect">
            <a:avLst/>
          </a:prstGeom>
          <a:noFill/>
          <a:ln>
            <a:noFill/>
          </a:ln>
        </p:spPr>
        <p:txBody>
          <a:bodyPr spcFirstLastPara="1" wrap="square" lIns="91425" tIns="91425" rIns="91425" bIns="91425" anchor="t" anchorCtr="0">
            <a:spAutoFit/>
          </a:bodyPr>
          <a:lstStyle/>
          <a:p>
            <a:r>
              <a:rPr lang="vi-VN" dirty="0"/>
              <a:t>B4c (tt): Vì số lượng điểm dữ liệu cho cả hai nhánh (FALSE và TRUE) bằng</a:t>
            </a:r>
            <a:br>
              <a:rPr lang="vi-VN" dirty="0"/>
            </a:br>
            <a:r>
              <a:rPr lang="vi-VN" dirty="0"/>
              <a:t>nhau hoặc nhỏ hơn 3 nên chúng ta ngừng phân nhánh tiếp và gán giá trị</a:t>
            </a:r>
            <a:br>
              <a:rPr lang="vi-VN" dirty="0"/>
            </a:br>
            <a:r>
              <a:rPr lang="vi-VN" dirty="0"/>
              <a:t>trung bình của mỗi nhánh cho nút lá liên quan. </a:t>
            </a:r>
            <a:br>
              <a:rPr lang="vi-VN" dirty="0"/>
            </a:br>
            <a:endParaRPr lang="en-US" sz="1600" dirty="0"/>
          </a:p>
        </p:txBody>
      </p:sp>
      <p:pic>
        <p:nvPicPr>
          <p:cNvPr id="3" name="Picture 2"/>
          <p:cNvPicPr>
            <a:picLocks noChangeAspect="1"/>
          </p:cNvPicPr>
          <p:nvPr/>
        </p:nvPicPr>
        <p:blipFill>
          <a:blip r:embed="rId2"/>
          <a:stretch>
            <a:fillRect/>
          </a:stretch>
        </p:blipFill>
        <p:spPr>
          <a:xfrm>
            <a:off x="304800" y="1556615"/>
            <a:ext cx="8423564" cy="42257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1077188"/>
          </a:xfrm>
          <a:prstGeom prst="rect">
            <a:avLst/>
          </a:prstGeom>
          <a:noFill/>
          <a:ln>
            <a:noFill/>
          </a:ln>
        </p:spPr>
        <p:txBody>
          <a:bodyPr spcFirstLastPara="1" wrap="square" lIns="91425" tIns="91425" rIns="91425" bIns="91425" anchor="t" anchorCtr="0">
            <a:spAutoFit/>
          </a:bodyPr>
          <a:lstStyle/>
          <a:p>
            <a:r>
              <a:rPr lang="vi-VN" dirty="0"/>
              <a:t>B4d: Hơn nữa, nhánh “rainy” có CV (22%) vượt ngưỡng (10%). Chi nhánh</a:t>
            </a:r>
            <a:br>
              <a:rPr lang="vi-VN" dirty="0"/>
            </a:br>
            <a:r>
              <a:rPr lang="vi-VN" dirty="0"/>
              <a:t>này cần được tách thêm. Chúng ta chọn "Windy" là nút tốt nhất tốt nhất vì nó</a:t>
            </a:r>
            <a:br>
              <a:rPr lang="vi-VN" dirty="0"/>
            </a:br>
            <a:r>
              <a:rPr lang="vi-VN" dirty="0"/>
              <a:t>có SDR lớn nhất </a:t>
            </a:r>
            <a:br>
              <a:rPr lang="vi-VN" dirty="0"/>
            </a:br>
            <a:endParaRPr lang="en-US" sz="1600" dirty="0"/>
          </a:p>
        </p:txBody>
      </p:sp>
      <p:pic>
        <p:nvPicPr>
          <p:cNvPr id="2" name="Picture 1"/>
          <p:cNvPicPr>
            <a:picLocks noChangeAspect="1"/>
          </p:cNvPicPr>
          <p:nvPr/>
        </p:nvPicPr>
        <p:blipFill>
          <a:blip r:embed="rId2"/>
          <a:stretch>
            <a:fillRect/>
          </a:stretch>
        </p:blipFill>
        <p:spPr>
          <a:xfrm>
            <a:off x="304800" y="1593417"/>
            <a:ext cx="8515927" cy="487664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1077188"/>
          </a:xfrm>
          <a:prstGeom prst="rect">
            <a:avLst/>
          </a:prstGeom>
          <a:noFill/>
          <a:ln>
            <a:noFill/>
          </a:ln>
        </p:spPr>
        <p:txBody>
          <a:bodyPr spcFirstLastPara="1" wrap="square" lIns="91425" tIns="91425" rIns="91425" bIns="91425" anchor="t" anchorCtr="0">
            <a:spAutoFit/>
          </a:bodyPr>
          <a:lstStyle/>
          <a:p>
            <a:r>
              <a:rPr lang="vi-VN" dirty="0"/>
              <a:t>B4d (tt): Vì số lượng điểm dữ liệu cho cả ba nhánh (Cool, Hot và Mild) bằng</a:t>
            </a:r>
            <a:br>
              <a:rPr lang="vi-VN" dirty="0"/>
            </a:br>
            <a:r>
              <a:rPr lang="vi-VN" dirty="0"/>
              <a:t>nhau hoặc nhỏ hơn 3 nên chúng ta ngừng phân nhánh tiếp và gán giá trị</a:t>
            </a:r>
            <a:br>
              <a:rPr lang="vi-VN" dirty="0"/>
            </a:br>
            <a:r>
              <a:rPr lang="vi-VN" dirty="0"/>
              <a:t>trung bình của mỗi nhánh cho nút lá liên quan </a:t>
            </a:r>
            <a:br>
              <a:rPr lang="vi-VN" dirty="0"/>
            </a:br>
            <a:endParaRPr lang="en-US" sz="1600" dirty="0"/>
          </a:p>
        </p:txBody>
      </p:sp>
      <p:pic>
        <p:nvPicPr>
          <p:cNvPr id="3" name="Picture 2"/>
          <p:cNvPicPr>
            <a:picLocks noChangeAspect="1"/>
          </p:cNvPicPr>
          <p:nvPr/>
        </p:nvPicPr>
        <p:blipFill>
          <a:blip r:embed="rId2"/>
          <a:stretch>
            <a:fillRect/>
          </a:stretch>
        </p:blipFill>
        <p:spPr>
          <a:xfrm>
            <a:off x="413250" y="1726478"/>
            <a:ext cx="8495982" cy="397235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436ef0b6e3_0_117"/>
          <p:cNvSpPr txBox="1"/>
          <p:nvPr/>
        </p:nvSpPr>
        <p:spPr>
          <a:xfrm>
            <a:off x="304800" y="139783"/>
            <a:ext cx="52080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Decision tree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152;g2240524f1f3_0_0"/>
          <p:cNvSpPr txBox="1"/>
          <p:nvPr/>
        </p:nvSpPr>
        <p:spPr>
          <a:xfrm>
            <a:off x="304800" y="822266"/>
            <a:ext cx="8423564" cy="830966"/>
          </a:xfrm>
          <a:prstGeom prst="rect">
            <a:avLst/>
          </a:prstGeom>
          <a:noFill/>
          <a:ln>
            <a:noFill/>
          </a:ln>
        </p:spPr>
        <p:txBody>
          <a:bodyPr spcFirstLastPara="1" wrap="square" lIns="91425" tIns="91425" rIns="91425" bIns="91425" anchor="t" anchorCtr="0">
            <a:spAutoFit/>
          </a:bodyPr>
          <a:lstStyle/>
          <a:p>
            <a:r>
              <a:rPr lang="en-US" dirty="0" err="1" smtClean="0"/>
              <a:t>Công</a:t>
            </a:r>
            <a:r>
              <a:rPr lang="en-US" dirty="0" smtClean="0"/>
              <a:t> </a:t>
            </a:r>
            <a:r>
              <a:rPr lang="en-US" dirty="0" err="1" smtClean="0"/>
              <a:t>thức</a:t>
            </a:r>
            <a:r>
              <a:rPr lang="en-US" dirty="0" smtClean="0"/>
              <a:t> </a:t>
            </a:r>
            <a:r>
              <a:rPr lang="en-US" dirty="0" err="1" smtClean="0"/>
              <a:t>tính</a:t>
            </a:r>
            <a:r>
              <a:rPr lang="en-US" dirty="0" smtClean="0"/>
              <a:t> MSE: </a:t>
            </a:r>
            <a:r>
              <a:rPr lang="vi-VN" dirty="0"/>
              <a:t>Mean Squared Error (MSE) là một độ đo đánh giá hiệu suất của mô hình dự đoán và đo lường độ lớn của sai số bình phương trung bình giữa giá trị dự đoán và giá trị thực tế. Công thức chính của MSE được tính như sau:</a:t>
            </a:r>
            <a:endParaRPr lang="en-US" sz="1600" dirty="0"/>
          </a:p>
        </p:txBody>
      </p:sp>
      <p:pic>
        <p:nvPicPr>
          <p:cNvPr id="2" name="Picture 1"/>
          <p:cNvPicPr>
            <a:picLocks noChangeAspect="1"/>
          </p:cNvPicPr>
          <p:nvPr/>
        </p:nvPicPr>
        <p:blipFill>
          <a:blip r:embed="rId2"/>
          <a:stretch>
            <a:fillRect/>
          </a:stretch>
        </p:blipFill>
        <p:spPr>
          <a:xfrm>
            <a:off x="304800" y="1358754"/>
            <a:ext cx="5572125" cy="34385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8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5592</Words>
  <Application>WPS Presentation</Application>
  <PresentationFormat>On-screen Show (4:3)</PresentationFormat>
  <Paragraphs>258</Paragraphs>
  <Slides>27</Slides>
  <Notes>27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27</vt:i4>
      </vt:variant>
    </vt:vector>
  </HeadingPairs>
  <TitlesOfParts>
    <vt:vector size="41" baseType="lpstr">
      <vt:lpstr>Arial</vt:lpstr>
      <vt:lpstr>SimSun</vt:lpstr>
      <vt:lpstr>Wingdings</vt:lpstr>
      <vt:lpstr>Arial</vt:lpstr>
      <vt:lpstr>Calibri</vt:lpstr>
      <vt:lpstr>Maven Pro</vt:lpstr>
      <vt:lpstr>5</vt:lpstr>
      <vt:lpstr>Segoe Print</vt:lpstr>
      <vt:lpstr>Calibri</vt:lpstr>
      <vt:lpstr>SegoeUISymbol</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TGC</cp:lastModifiedBy>
  <cp:revision>37</cp:revision>
  <dcterms:created xsi:type="dcterms:W3CDTF">2021-10-18T16:01:00Z</dcterms:created>
  <dcterms:modified xsi:type="dcterms:W3CDTF">2025-08-26T15:42:02Z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AD9B122820B443AFB591DE7612833868_12</vt:lpwstr>
  </property>
  <property fmtid="{D5CDD505-2E9C-101B-9397-08002B2CF9AE}" pid="3" name="KSOProductBuildVer">
    <vt:lpwstr>1033-12.2.0.21931</vt:lpwstr>
  </property>
</Properties>
</file>