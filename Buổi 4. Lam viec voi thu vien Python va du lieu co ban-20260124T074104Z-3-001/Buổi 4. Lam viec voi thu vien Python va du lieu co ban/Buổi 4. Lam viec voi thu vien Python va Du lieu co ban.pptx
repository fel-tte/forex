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81" r:id="rId7"/>
    <p:sldId id="283" r:id="rId8"/>
    <p:sldId id="286" r:id="rId9"/>
    <p:sldId id="287" r:id="rId10"/>
    <p:sldId id="288" r:id="rId11"/>
    <p:sldId id="289" r:id="rId12"/>
    <p:sldId id="290" r:id="rId13"/>
    <p:sldId id="307" r:id="rId14"/>
    <p:sldId id="291" r:id="rId15"/>
    <p:sldId id="308" r:id="rId16"/>
    <p:sldId id="309" r:id="rId17"/>
    <p:sldId id="310" r:id="rId18"/>
    <p:sldId id="311" r:id="rId19"/>
    <p:sldId id="296" r:id="rId20"/>
    <p:sldId id="313" r:id="rId21"/>
    <p:sldId id="312" r:id="rId22"/>
    <p:sldId id="299" r:id="rId23"/>
    <p:sldId id="303" r:id="rId24"/>
    <p:sldId id="300" r:id="rId25"/>
    <p:sldId id="302" r:id="rId26"/>
    <p:sldId id="304" r:id="rId27"/>
    <p:sldId id="305" r:id="rId28"/>
    <p:sldId id="274" r:id="rId29"/>
  </p:sldIdLst>
  <p:sldSz cx="9144000" cy="6858000" type="screen4x3"/>
  <p:notesSz cx="6858000" cy="9144000"/>
  <p:embeddedFontLst>
    <p:embeddedFont>
      <p:font typeface="Calibri" panose="020F0502020204030204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0ee0ad700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g20ee0ad70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e3c454cfa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6" name="Google Shape;266;g22e3c454cf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e3c454cfa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g22e3c454cf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e3c454cfa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9" name="Google Shape;279;g22e3c454cfa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e3c454cfa_0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g22e3c454cfa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e3c454cfa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1" name="Google Shape;291;g22e3c454cfa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e3c454cfa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1" name="Google Shape;291;g22e3c454cfa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2e3c454cfa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g22e3c454cf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2e3c454cfa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g22e3c454cf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2e3c454cfa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g22e3c454cf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2e3c454cfa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g22e3c454cf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2e3c454cfa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g22e3c454cf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e3c454cfa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7" name="Google Shape;327;g22e3c454cf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e3c454cfa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7" name="Google Shape;327;g22e3c454cf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e3c454cfa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7" name="Google Shape;327;g22e3c454cf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2d808d3f43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Hợp đồng ràng buộc dựa trên giá trị của một loại tài sản khác</a:t>
            </a:r>
            <a:endParaRPr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5" name="Google Shape;345;g22d808d3f4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3" name="Google Shape;2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arngitbranching.js.org/?locale=vi" TargetMode="Externa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0ee0ad7006_1_0" descr="Logo&#10;&#10;Description automatically generated with medium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710635" y="1809406"/>
            <a:ext cx="653166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altLang="vi-VN" sz="2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Lập trình Auto Trading</a:t>
            </a:r>
            <a:endParaRPr lang="en-US" altLang="vi-VN" sz="28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781301" y="3025123"/>
            <a:ext cx="6191400" cy="138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Chủ đề: </a:t>
            </a:r>
            <a:r>
              <a:rPr lang="en-US" altLang="vi-VN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Làm việc với thư viện Python và Dữ liệu cơ bản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800" b="1" i="1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482524" y="4841000"/>
            <a:ext cx="3661500" cy="951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GV. Đặng Trí Thanh</a:t>
            </a:r>
            <a:endParaRPr sz="2800" b="0" i="1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800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 err="1" smtClean="0">
                <a:solidFill>
                  <a:schemeClr val="lt1"/>
                </a:solidFill>
              </a:rPr>
              <a:t>Đặt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câu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hỏi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b="1" dirty="0" err="1" smtClean="0">
                <a:solidFill>
                  <a:schemeClr val="dk1"/>
                </a:solidFill>
              </a:rPr>
              <a:t>Chúng</a:t>
            </a:r>
            <a:r>
              <a:rPr lang="en-US" sz="1800" b="1" dirty="0" smtClean="0">
                <a:solidFill>
                  <a:schemeClr val="dk1"/>
                </a:solidFill>
              </a:rPr>
              <a:t> ta </a:t>
            </a:r>
            <a:r>
              <a:rPr lang="en-US" sz="1800" b="1" dirty="0" err="1" smtClean="0">
                <a:solidFill>
                  <a:schemeClr val="dk1"/>
                </a:solidFill>
              </a:rPr>
              <a:t>có</a:t>
            </a:r>
            <a:r>
              <a:rPr lang="en-US" sz="1800" b="1" dirty="0" smtClean="0">
                <a:solidFill>
                  <a:schemeClr val="dk1"/>
                </a:solidFill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</a:rPr>
              <a:t>chiến</a:t>
            </a:r>
            <a:r>
              <a:rPr lang="en-US" sz="1800" b="1" dirty="0" smtClean="0">
                <a:solidFill>
                  <a:schemeClr val="dk1"/>
                </a:solidFill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</a:rPr>
              <a:t>lược</a:t>
            </a:r>
            <a:r>
              <a:rPr lang="en-US" sz="1800" b="1" dirty="0" smtClean="0">
                <a:solidFill>
                  <a:schemeClr val="dk1"/>
                </a:solidFill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</a:rPr>
              <a:t>như</a:t>
            </a:r>
            <a:r>
              <a:rPr lang="en-US" sz="1800" b="1" dirty="0" smtClean="0">
                <a:solidFill>
                  <a:schemeClr val="dk1"/>
                </a:solidFill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</a:rPr>
              <a:t>sau</a:t>
            </a:r>
            <a:r>
              <a:rPr lang="en-US" sz="1800" b="1" dirty="0">
                <a:solidFill>
                  <a:schemeClr val="dk1"/>
                </a:solidFill>
              </a:rPr>
              <a:t>:</a:t>
            </a:r>
            <a:endParaRPr lang="en-US" sz="1800" b="1" dirty="0" smtClean="0">
              <a:solidFill>
                <a:schemeClr val="dk1"/>
              </a:solidFill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ML, Momentum, RSI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hoặc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chiến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lược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MA, ATR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…</a:t>
            </a:r>
            <a:endParaRPr lang="en-US" sz="180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lvl="0" algn="just">
              <a:lnSpc>
                <a:spcPct val="115000"/>
              </a:lnSpc>
              <a:spcBef>
                <a:spcPts val="1600"/>
              </a:spcBef>
            </a:pPr>
            <a:r>
              <a:rPr lang="en-US" sz="1800" b="1" dirty="0" err="1">
                <a:solidFill>
                  <a:schemeClr val="dk1"/>
                </a:solidFill>
              </a:rPr>
              <a:t>để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làm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sao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thực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thi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chiến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lược</a:t>
            </a:r>
            <a:r>
              <a:rPr lang="en-US" sz="1800" b="1" dirty="0">
                <a:solidFill>
                  <a:schemeClr val="dk1"/>
                </a:solidFill>
              </a:rPr>
              <a:t> ML </a:t>
            </a:r>
            <a:r>
              <a:rPr lang="en-US" sz="1800" b="1" dirty="0" err="1">
                <a:solidFill>
                  <a:schemeClr val="dk1"/>
                </a:solidFill>
              </a:rPr>
              <a:t>này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tự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 err="1">
                <a:solidFill>
                  <a:schemeClr val="dk1"/>
                </a:solidFill>
              </a:rPr>
              <a:t>động</a:t>
            </a:r>
            <a:r>
              <a:rPr lang="en-US" sz="1800" b="1" dirty="0">
                <a:solidFill>
                  <a:schemeClr val="dk1"/>
                </a:solidFill>
              </a:rPr>
              <a:t>?</a:t>
            </a:r>
            <a:endParaRPr sz="1800" b="1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23" y="2484529"/>
            <a:ext cx="4237876" cy="20689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233" y="4159825"/>
            <a:ext cx="4075767" cy="20994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Nội dung chính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Giới thiệu các th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viện Python phổ biến: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Pandas: Làm việc với bảng dữ liệu.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NumPy: Xử l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ý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dữ liệu dạng ma trận, toán học.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Matplotlib: Trực quan hóa dữ liệu bằng biểu 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ồ.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Thao tác dữ liệu cơ bản với Pandas: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ọc và ghi file CSV/Excel.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Thao tác dữ liệu: thêm, sửa, xóa cột/dòng.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Sử dụng các hàm tính toán tổng, trung bình, và nhóm dữ liệu (groupby).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Trực quan hóa dữ liệu: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Tạo biểu 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ồ cột và biểu 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ồ 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đư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ờng từ dữ liệu tài chính.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Tích hợp các biểu 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ồ cơ bản vào báo cáo Python.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4. Bài tập thực hành: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Phân tích file dữ liệu giao dịch tài chính, tính tổng lợi nhuận hàng tháng và hiển thị biểu 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ồ xu h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25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ớng.</a:t>
            </a:r>
            <a:endParaRPr lang="en-US" altLang="en-US" sz="125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305"/>
            <a:ext cx="871029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2400" b="1" dirty="0" smtClean="0">
                <a:solidFill>
                  <a:schemeClr val="bg1"/>
                </a:solidFill>
                <a:sym typeface="Arial" panose="020B0604020202020204"/>
              </a:rPr>
              <a:t>1. Giới thiệu các thư viện Python phổ biến Pandas</a:t>
            </a:r>
            <a:endParaRPr lang="en-US" altLang="en-US" sz="2400" b="1" i="0" u="none" strike="noStrike" cap="none" dirty="0" smtClea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Pandas: Làm việc với bảng dữ liệu.</a:t>
            </a:r>
            <a:endParaRPr lang="en-US" altLang="en-US" sz="160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 Cài 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ặt th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viện</a:t>
            </a:r>
            <a:endParaRPr lang="en-US" altLang="en-US" sz="160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pip install pandas</a:t>
            </a: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# Sử dụng pandas</a:t>
            </a: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 pandas as pd</a:t>
            </a: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e3c454cfa_0_100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External libraries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9" name="Google Shape;269;g22e3c454cfa_0_10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406675"/>
            <a:ext cx="8839200" cy="357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2e3c454cfa_0_107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5" name="Google Shape;275;g22e3c454cfa_0_10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874175"/>
            <a:ext cx="8839200" cy="338541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22e3c454cfa_0_107"/>
          <p:cNvSpPr txBox="1"/>
          <p:nvPr/>
        </p:nvSpPr>
        <p:spPr>
          <a:xfrm>
            <a:off x="152400" y="967740"/>
            <a:ext cx="5375910" cy="54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750" dirty="0">
                <a:solidFill>
                  <a:schemeClr val="dk1"/>
                </a:solidFill>
                <a:latin typeface="Arial (Body)"/>
              </a:rPr>
              <a:t>Core components of pandas</a:t>
            </a:r>
            <a:r>
              <a:rPr lang="en-US" altLang="vi-VN" sz="1750" dirty="0">
                <a:solidFill>
                  <a:schemeClr val="dk1"/>
                </a:solidFill>
                <a:latin typeface="Arial (Body)"/>
              </a:rPr>
              <a:t>: </a:t>
            </a:r>
            <a:r>
              <a:rPr lang="en-US" altLang="vi-VN" sz="1750" b="1" dirty="0">
                <a:solidFill>
                  <a:schemeClr val="dk1"/>
                </a:solidFill>
                <a:latin typeface="Arial (Body)"/>
              </a:rPr>
              <a:t>pip install pandas</a:t>
            </a:r>
            <a:endParaRPr lang="en-US" altLang="vi-VN" sz="1750" b="1" dirty="0">
              <a:solidFill>
                <a:schemeClr val="dk1"/>
              </a:solidFill>
              <a:latin typeface="Arial (Body)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e3c454cfa_0_160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2" name="Google Shape;282;g22e3c454cfa_0_16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680725" y="949675"/>
            <a:ext cx="4696650" cy="516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2e3c454cfa_0_155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8" name="Google Shape;288;g22e3c454cfa_0_15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489550" y="848750"/>
            <a:ext cx="4762500" cy="54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e3c454cfa_0_185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6" name="Google Shape;276;g22e3c454cfa_0_107"/>
          <p:cNvSpPr txBox="1"/>
          <p:nvPr/>
        </p:nvSpPr>
        <p:spPr>
          <a:xfrm>
            <a:off x="152400" y="967740"/>
            <a:ext cx="8455660" cy="274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b="1" dirty="0">
                <a:solidFill>
                  <a:schemeClr val="dk1"/>
                </a:solidFill>
                <a:latin typeface="Arial (Body)"/>
              </a:rPr>
              <a:t>Read DataFrame from file</a:t>
            </a:r>
            <a:endParaRPr lang="en-US" altLang="en-US" sz="1750" b="1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Pandas có thể 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đ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ọc dữ liệu từ nhiều loại file, nh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ư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ng CSV là phổ biến nhất.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import pandas as pd 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dataCSV =</a:t>
            </a:r>
            <a:r>
              <a:rPr lang="en-US" altLang="en-US" sz="1750" b="1" dirty="0">
                <a:solidFill>
                  <a:schemeClr val="dk1"/>
                </a:solidFill>
                <a:latin typeface="Arial (Body)"/>
              </a:rPr>
              <a:t> pd.read_csv('data/data.csv')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dataCSV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20" y="3352800"/>
            <a:ext cx="7216140" cy="2842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e3c454cfa_0_185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6" name="Google Shape;276;g22e3c454cfa_0_107"/>
          <p:cNvSpPr txBox="1"/>
          <p:nvPr/>
        </p:nvSpPr>
        <p:spPr>
          <a:xfrm>
            <a:off x="152400" y="967740"/>
            <a:ext cx="8455660" cy="274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b="1" dirty="0">
                <a:solidFill>
                  <a:schemeClr val="dk1"/>
                </a:solidFill>
                <a:latin typeface="Arial (Body)"/>
              </a:rPr>
              <a:t>Read DataFrame from file</a:t>
            </a:r>
            <a:endParaRPr lang="en-US" altLang="en-US" sz="1750" b="1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Pandas có thể 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đ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ọc dữ liệu từ nhiều loại file, nh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ư</a:t>
            </a: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ng CSV là phổ biến nhất.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import pandas as pd 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dataCSV = pd.read_csv('data/data.csv')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50" dirty="0">
                <a:solidFill>
                  <a:schemeClr val="dk1"/>
                </a:solidFill>
                <a:latin typeface="Arial (Body)"/>
              </a:rPr>
              <a:t>dataCSV.head(4)</a:t>
            </a:r>
            <a:endParaRPr lang="en-US" altLang="en-US" sz="1750" dirty="0">
              <a:solidFill>
                <a:schemeClr val="dk1"/>
              </a:solidFill>
              <a:latin typeface="Arial (Body)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712210"/>
            <a:ext cx="8684260" cy="1675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e3c454cfa_0_181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181483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1600"/>
              <a:t>Phương thức </a:t>
            </a:r>
            <a:r>
              <a:rPr lang="en-US" altLang="zh-CN" sz="1600" b="1"/>
              <a:t>.info()</a:t>
            </a:r>
            <a:r>
              <a:rPr lang="en-US" altLang="zh-CN" sz="1600"/>
              <a:t> được sử dụng để hiển thị thông tin tổng quan về DataFrame, bao gồm:</a:t>
            </a:r>
            <a:endParaRPr lang="en-US" altLang="zh-CN" sz="1600"/>
          </a:p>
          <a:p>
            <a:pPr algn="just">
              <a:buFont typeface="Arial" panose="020B0604020202020204"/>
              <a:buChar char="•"/>
            </a:pPr>
            <a:r>
              <a:rPr lang="en-US" altLang="zh-CN" sz="1600"/>
              <a:t>Số lượng dòng (entries)</a:t>
            </a:r>
            <a:endParaRPr lang="en-US" altLang="zh-CN" sz="1600"/>
          </a:p>
          <a:p>
            <a:pPr algn="just">
              <a:buFont typeface="Arial" panose="020B0604020202020204"/>
              <a:buChar char="•"/>
            </a:pPr>
            <a:r>
              <a:rPr lang="en-US" altLang="zh-CN" sz="1600"/>
              <a:t>Số lượng cột</a:t>
            </a:r>
            <a:endParaRPr lang="en-US" altLang="zh-CN" sz="1600"/>
          </a:p>
          <a:p>
            <a:pPr algn="just">
              <a:buFont typeface="Arial" panose="020B0604020202020204"/>
              <a:buChar char="•"/>
            </a:pPr>
            <a:r>
              <a:rPr lang="en-US" altLang="zh-CN" sz="1600"/>
              <a:t>Tên cột và kiểu dữ liệu của từng cột</a:t>
            </a:r>
            <a:endParaRPr lang="en-US" altLang="zh-CN" sz="1600"/>
          </a:p>
          <a:p>
            <a:pPr algn="just">
              <a:buFont typeface="Arial" panose="020B0604020202020204"/>
              <a:buChar char="•"/>
            </a:pPr>
            <a:r>
              <a:rPr lang="en-US" altLang="zh-CN" sz="1600"/>
              <a:t>Số lượng giá trị không null trong mỗi cột</a:t>
            </a:r>
            <a:endParaRPr lang="en-US" altLang="zh-CN" sz="1600"/>
          </a:p>
          <a:p>
            <a:pPr algn="just">
              <a:buFont typeface="Arial" panose="020B0604020202020204"/>
              <a:buChar char="•"/>
            </a:pPr>
            <a:r>
              <a:rPr lang="en-US" altLang="zh-CN" sz="1600"/>
              <a:t>Dung lượng bộ nhớ của DataFrame</a:t>
            </a:r>
            <a:endParaRPr lang="en-US" altLang="zh-CN" sz="16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420" y="1379220"/>
            <a:ext cx="4446270" cy="5034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e3c454cfa_0_181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279971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1600"/>
              <a:t>Phương </a:t>
            </a:r>
            <a:r>
              <a:rPr lang="en-US" altLang="en-US" sz="1600"/>
              <a:t>thức </a:t>
            </a:r>
            <a:r>
              <a:rPr lang="en-US" altLang="en-US" sz="1600" b="1"/>
              <a:t>.describe() </a:t>
            </a:r>
            <a:r>
              <a:rPr lang="en-US" altLang="en-US" sz="1600"/>
              <a:t>đư</a:t>
            </a:r>
            <a:r>
              <a:rPr lang="en-US" altLang="en-US" sz="1600"/>
              <a:t>ợc sử dụng </a:t>
            </a:r>
            <a:r>
              <a:rPr lang="en-US" altLang="en-US" sz="1600"/>
              <a:t>đ</a:t>
            </a:r>
            <a:r>
              <a:rPr lang="en-US" altLang="en-US" sz="1600"/>
              <a:t>ể tính toán các thống kê mô tả cơ bản của DataFrame, bao gồm:</a:t>
            </a:r>
            <a:endParaRPr lang="en-US" altLang="en-US" sz="1600"/>
          </a:p>
          <a:p>
            <a:pPr algn="just"/>
            <a:endParaRPr lang="en-US" altLang="en-US" sz="1600"/>
          </a:p>
          <a:p>
            <a:pPr algn="just"/>
            <a:r>
              <a:rPr lang="en-US" altLang="en-US" sz="1600"/>
              <a:t>count: Số l</a:t>
            </a:r>
            <a:r>
              <a:rPr lang="en-US" altLang="en-US" sz="1600"/>
              <a:t>ư</a:t>
            </a:r>
            <a:r>
              <a:rPr lang="en-US" altLang="en-US" sz="1600"/>
              <a:t>ợng giá trị không null trong mỗi cột</a:t>
            </a:r>
            <a:endParaRPr lang="en-US" altLang="en-US" sz="1600"/>
          </a:p>
          <a:p>
            <a:pPr algn="just"/>
            <a:r>
              <a:rPr lang="en-US" altLang="en-US" sz="1600"/>
              <a:t>mean: Giá trị trung bình</a:t>
            </a:r>
            <a:endParaRPr lang="en-US" altLang="en-US" sz="1600"/>
          </a:p>
          <a:p>
            <a:pPr algn="just"/>
            <a:r>
              <a:rPr lang="en-US" altLang="en-US" sz="1600"/>
              <a:t>std: </a:t>
            </a:r>
            <a:r>
              <a:rPr lang="en-US" altLang="en-US" sz="1600"/>
              <a:t>Đ</a:t>
            </a:r>
            <a:r>
              <a:rPr lang="en-US" altLang="en-US" sz="1600"/>
              <a:t>ộ lệch chuẩn</a:t>
            </a:r>
            <a:endParaRPr lang="en-US" altLang="en-US" sz="1600"/>
          </a:p>
          <a:p>
            <a:pPr algn="just"/>
            <a:r>
              <a:rPr lang="en-US" altLang="en-US" sz="1600"/>
              <a:t>min: Giá trị nhỏ nhất</a:t>
            </a:r>
            <a:endParaRPr lang="en-US" altLang="en-US" sz="1600"/>
          </a:p>
          <a:p>
            <a:pPr algn="just"/>
            <a:r>
              <a:rPr lang="en-US" altLang="en-US" sz="1600"/>
              <a:t>25%: </a:t>
            </a:r>
            <a:r>
              <a:rPr lang="en-US" altLang="en-US" sz="1600" b="1"/>
              <a:t>Phân vị thứ 1 (Q1 – giá trị tại 25%)</a:t>
            </a:r>
            <a:endParaRPr lang="en-US" altLang="en-US" sz="1600" b="1"/>
          </a:p>
          <a:p>
            <a:pPr algn="just"/>
            <a:r>
              <a:rPr lang="en-US" altLang="en-US" sz="1600"/>
              <a:t>50%: Phân vị thứ 2 (Q2 – giá trị trung vị, median)</a:t>
            </a:r>
            <a:endParaRPr lang="en-US" altLang="en-US" sz="1600"/>
          </a:p>
          <a:p>
            <a:pPr algn="just"/>
            <a:r>
              <a:rPr lang="en-US" altLang="en-US" sz="1600"/>
              <a:t>75%: Phân vị thứ 3 (Q3 – giá trị tại 75%)</a:t>
            </a:r>
            <a:endParaRPr lang="en-US" altLang="en-US" sz="1600"/>
          </a:p>
          <a:p>
            <a:pPr algn="just"/>
            <a:r>
              <a:rPr lang="en-US" altLang="en-US" sz="1600"/>
              <a:t>max: Giá trị lớn nhất</a:t>
            </a:r>
            <a:endParaRPr lang="en-US" altLang="en-US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" y="3800475"/>
            <a:ext cx="8101965" cy="2221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e3c454cfa_0_181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1600"/>
              <a:t>Phương </a:t>
            </a:r>
            <a:r>
              <a:rPr lang="en-US" altLang="en-US" sz="1600"/>
              <a:t>thức</a:t>
            </a:r>
            <a:r>
              <a:rPr lang="en-US" altLang="en-US" sz="1600" b="1"/>
              <a:t> df.shape</a:t>
            </a:r>
            <a:r>
              <a:rPr lang="en-US" altLang="en-US" sz="1600"/>
              <a:t> – Kích th</a:t>
            </a:r>
            <a:r>
              <a:rPr lang="en-US" altLang="en-US" sz="1600"/>
              <a:t>ư</a:t>
            </a:r>
            <a:r>
              <a:rPr lang="en-US" altLang="en-US" sz="1600"/>
              <a:t>ớc của DataFrame</a:t>
            </a:r>
            <a:endParaRPr lang="en-US" altLang="en-US" sz="1600"/>
          </a:p>
          <a:p>
            <a:pPr algn="just"/>
            <a:r>
              <a:rPr lang="en-US" altLang="en-US" sz="1600"/>
              <a:t>df.index – Chỉ mục (Index) của DataFrame</a:t>
            </a:r>
            <a:endParaRPr lang="en-US" altLang="en-US" sz="1600"/>
          </a:p>
          <a:p>
            <a:pPr algn="just"/>
            <a:r>
              <a:rPr lang="en-US" altLang="en-US" sz="1600" b="1"/>
              <a:t>df.columns</a:t>
            </a:r>
            <a:r>
              <a:rPr lang="en-US" altLang="en-US" sz="1600"/>
              <a:t> – Danh sách tên cột trong DataFrame</a:t>
            </a:r>
            <a:endParaRPr lang="en-US" altLang="en-US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" y="1950720"/>
            <a:ext cx="8165465" cy="3425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e3c454cfa_0_181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1600"/>
              <a:t>Truy xuất vào cột</a:t>
            </a:r>
            <a:endParaRPr lang="en-US" altLang="en-US" sz="16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85" y="1048385"/>
            <a:ext cx="5130800" cy="476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e3c454cfa_0_181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1600"/>
              <a:t>Truy xuất vào hàng</a:t>
            </a:r>
            <a:endParaRPr lang="en-US" altLang="en-US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720" y="1005205"/>
            <a:ext cx="3266440" cy="3985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2e3c454cfa_0_199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en-US" sz="1600"/>
              <a:t>.loc[]: Truy cập dữ liệu theo tên cột.</a:t>
            </a:r>
            <a:endParaRPr lang="en-US" altLang="en-US" sz="1600"/>
          </a:p>
          <a:p>
            <a:pPr algn="just"/>
            <a:r>
              <a:rPr lang="en-US" altLang="en-US" sz="1600"/>
              <a:t>.iloc[]: Truy cập dữ liệu theo chỉ số cột.</a:t>
            </a:r>
            <a:endParaRPr lang="en-US" altLang="en-US" sz="16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644650"/>
            <a:ext cx="7228840" cy="1784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717925"/>
            <a:ext cx="7228840" cy="21818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2e3c454cfa_0_199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en-US" sz="1600"/>
              <a:t>Lọc dữ liệu: Chúng ta cần lọc dữ liệu Buy_Signal, Sell_Signal</a:t>
            </a:r>
            <a:endParaRPr lang="en-US" altLang="en-US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1421765"/>
            <a:ext cx="8573770" cy="31661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2e3c454cfa_0_199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Pandas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924560"/>
            <a:ext cx="832421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en-US" sz="1600"/>
              <a:t>Lưu dữ liệu</a:t>
            </a:r>
            <a:endParaRPr lang="en-US" altLang="en-US" sz="16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393825"/>
            <a:ext cx="6026785" cy="15227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d808d3f43_0_11"/>
          <p:cNvSpPr txBox="1"/>
          <p:nvPr/>
        </p:nvSpPr>
        <p:spPr>
          <a:xfrm>
            <a:off x="248400" y="150525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Một số tài liệu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8" name="Google Shape;348;g22d808d3f43_0_11"/>
          <p:cNvSpPr txBox="1"/>
          <p:nvPr/>
        </p:nvSpPr>
        <p:spPr>
          <a:xfrm>
            <a:off x="294075" y="1302275"/>
            <a:ext cx="601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vi-VN" sz="1600" dirty="0"/>
              <a:t>Git practice:</a:t>
            </a:r>
            <a:r>
              <a:rPr lang="en-US" sz="1600" dirty="0"/>
              <a:t> </a:t>
            </a:r>
            <a:r>
              <a:rPr lang="vi-VN" sz="1600" dirty="0">
                <a:hlinkClick r:id="rId2"/>
              </a:rPr>
              <a:t>https://learngitbranching.js.org/?locale=vi</a:t>
            </a:r>
            <a:r>
              <a:rPr lang="en-US" sz="1600" dirty="0"/>
              <a:t>  </a:t>
            </a:r>
            <a:endParaRPr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305"/>
            <a:ext cx="88392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2. Giới thiệu các thư viện Python phổ biến Yfinance, MT5, Mathpltlib, Plotly</a:t>
            </a:r>
            <a:endParaRPr lang="en-US" altLang="en-US" sz="1800" b="1" i="0" u="none" strike="noStrike" cap="none" dirty="0" smtClea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MT5: MetaTrader5</a:t>
            </a:r>
            <a:endParaRPr lang="en-US" altLang="en-US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Thư viện giao dịch</a:t>
            </a:r>
            <a:endParaRPr lang="en-US" altLang="en-US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Thư viện lấy dữ liệu: Lấy dữ liệu trực tiếp, lấy dữ liệu từ hàm tự viết, lấy dữ liệu từ module</a:t>
            </a:r>
            <a:endParaRPr lang="en-US" altLang="en-US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305"/>
            <a:ext cx="88392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2. Giới thiệu các thư viện Python phổ biến </a:t>
            </a:r>
            <a:r>
              <a:rPr lang="en-US" altLang="en-US" sz="1800" dirty="0" smtClean="0">
                <a:solidFill>
                  <a:schemeClr val="bg1"/>
                </a:solidFill>
                <a:sym typeface="Arial" panose="020B0604020202020204"/>
              </a:rPr>
              <a:t>Yfinance</a:t>
            </a: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, </a:t>
            </a:r>
            <a:r>
              <a:rPr lang="en-US" altLang="en-US" sz="1800" dirty="0" smtClean="0">
                <a:solidFill>
                  <a:schemeClr val="bg1"/>
                </a:solidFill>
                <a:sym typeface="Arial" panose="020B0604020202020204"/>
              </a:rPr>
              <a:t>MT5</a:t>
            </a: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, </a:t>
            </a:r>
            <a:r>
              <a:rPr lang="en-US" altLang="en-US" sz="1800" dirty="0" smtClean="0">
                <a:solidFill>
                  <a:schemeClr val="bg1"/>
                </a:solidFill>
                <a:sym typeface="Arial" panose="020B0604020202020204"/>
              </a:rPr>
              <a:t>Mathpltlib</a:t>
            </a: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, </a:t>
            </a:r>
            <a:r>
              <a:rPr lang="en-US" altLang="en-US" sz="1800" dirty="0" smtClean="0">
                <a:solidFill>
                  <a:schemeClr val="bg1"/>
                </a:solidFill>
                <a:sym typeface="Arial" panose="020B0604020202020204"/>
              </a:rPr>
              <a:t>Plotly</a:t>
            </a:r>
            <a:endParaRPr lang="en-US" altLang="en-US" sz="1800" i="0" u="none" strike="noStrike" cap="none" dirty="0" smtClea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YFinance</a:t>
            </a:r>
            <a:endParaRPr lang="en-US" altLang="en-US" sz="1600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Giới thiệu chung</a:t>
            </a: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Python là một trong những ngôn ngữ phổ biến nhất trong l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ĩ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nh vực tài chính và phân tích dữ liệu. Trong tài liệu này, chúng ta sẽ tìm hiểu về ba th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viện quan trọng:</a:t>
            </a: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6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Yfinance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Dùng 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để lấy dữ liệu tài chính từ </a:t>
            </a:r>
            <a:r>
              <a:rPr lang="en-US" altLang="en-US" sz="1600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Yahoo Finance</a:t>
            </a:r>
            <a:r>
              <a:rPr lang="en-US" altLang="en-US" sz="1600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altLang="en-US" sz="1600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305"/>
            <a:ext cx="88392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2. Giới thiệu các thư viện Python phổ biến Yfinance, MT5, Mathpltlib, Plotly</a:t>
            </a:r>
            <a:endParaRPr lang="en-US" altLang="en-US" sz="1800" b="1" i="0" u="none" strike="noStrike" cap="none" dirty="0" smtClea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YFinance</a:t>
            </a:r>
            <a:endParaRPr lang="en-US" altLang="en-US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Cài đặt và truy xuất dữ liệu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 Cài </a:t>
            </a: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đ</a:t>
            </a: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ặt th</a:t>
            </a: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ư</a:t>
            </a: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viện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pip install yfinance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2.2 Lấy dữ liệu cổ phiếu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 yfinance as yf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ticker = "AAPL"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= yf.download(ticker, start="2023-01-01", end="2024-01-01")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print(data.head())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2.3 Trích xuất thông tin cơ bản của cổ phiếu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stock = yf.Ticker("AAPL")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print(stock.info)</a:t>
            </a: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305"/>
            <a:ext cx="88392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2. Giới thiệu các thư viện Python phổ biến Yfinance, MT5, Mathpltlib, Plotly</a:t>
            </a:r>
            <a:endParaRPr lang="en-US" altLang="en-US" sz="1800" b="1" i="0" u="none" strike="noStrike" cap="none" dirty="0" smtClea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Matplotlib</a:t>
            </a:r>
            <a:endParaRPr lang="en-US" altLang="en-US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305"/>
            <a:ext cx="88392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sym typeface="Arial" panose="020B0604020202020204"/>
              </a:rPr>
              <a:t>2. Giới thiệu các thư viện Python phổ biến Yfinance, MT5, Mathpltlib, Plotly</a:t>
            </a:r>
            <a:endParaRPr lang="en-US" altLang="en-US" sz="1800" b="1" i="0" u="none" strike="noStrike" cap="none" dirty="0" smtClea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92425"/>
            <a:ext cx="82851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altLang="en-US" b="1" i="0" u="none" strike="noStrike" cap="none" dirty="0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Plotly</a:t>
            </a:r>
            <a:endParaRPr lang="en-US" altLang="en-US" b="1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 marR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US" altLang="en-US" i="0" u="none" strike="noStrike" cap="none" dirty="0" smtClea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3540</Words>
  <Application>WPS Presentation</Application>
  <PresentationFormat>On-screen Show (4:3)</PresentationFormat>
  <Paragraphs>163</Paragraphs>
  <Slides>26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Arial (Body)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Đặng Trí Thanh</cp:lastModifiedBy>
  <cp:revision>79</cp:revision>
  <dcterms:created xsi:type="dcterms:W3CDTF">2021-10-18T16:01:00Z</dcterms:created>
  <dcterms:modified xsi:type="dcterms:W3CDTF">2025-09-19T10:33:00Z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8DBBAECFE570400C9C9EA433CD5A1909_12</vt:lpwstr>
  </property>
  <property fmtid="{D5CDD505-2E9C-101B-9397-08002B2CF9AE}" pid="3" name="KSOProductBuildVer">
    <vt:lpwstr>1033-12.2.0.22549</vt:lpwstr>
  </property>
</Properties>
</file>